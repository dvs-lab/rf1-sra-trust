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3"/>
  </p:sldMasterIdLst>
  <p:notesMasterIdLst>
    <p:notesMasterId r:id="rId5"/>
  </p:notesMasterIdLst>
  <p:handoutMasterIdLst>
    <p:handoutMasterId r:id="rId6"/>
  </p:handoutMasterIdLst>
  <p:sldIdLst>
    <p:sldId id="256" r:id="rId4"/>
  </p:sldIdLst>
  <p:sldSz cx="43891200" cy="32918400"/>
  <p:notesSz cx="7023100" cy="9309100"/>
  <p:defaultTextStyle>
    <a:defPPr>
      <a:defRPr lang="en-US"/>
    </a:defPPr>
    <a:lvl1pPr algn="l" rtl="0" eaLnBrk="0" fontAlgn="base" hangingPunct="0">
      <a:spcBef>
        <a:spcPct val="0"/>
      </a:spcBef>
      <a:spcAft>
        <a:spcPct val="0"/>
      </a:spcAft>
      <a:defRPr kern="1200">
        <a:solidFill>
          <a:schemeClr val="tx1"/>
        </a:solidFill>
        <a:latin typeface="Helvetica" panose="020B0604020202020204" pitchFamily="34" charset="0"/>
        <a:ea typeface="MS PGothic" panose="020B0600070205080204" pitchFamily="34" charset="-128"/>
        <a:cs typeface="+mn-cs"/>
      </a:defRPr>
    </a:lvl1pPr>
    <a:lvl2pPr marL="453154" indent="-62200" algn="l" rtl="0" eaLnBrk="0" fontAlgn="base" hangingPunct="0">
      <a:spcBef>
        <a:spcPct val="0"/>
      </a:spcBef>
      <a:spcAft>
        <a:spcPct val="0"/>
      </a:spcAft>
      <a:defRPr kern="1200">
        <a:solidFill>
          <a:schemeClr val="tx1"/>
        </a:solidFill>
        <a:latin typeface="Helvetica" panose="020B0604020202020204" pitchFamily="34" charset="0"/>
        <a:ea typeface="MS PGothic" panose="020B0600070205080204" pitchFamily="34" charset="-128"/>
        <a:cs typeface="+mn-cs"/>
      </a:defRPr>
    </a:lvl2pPr>
    <a:lvl3pPr marL="912229" indent="-127357" algn="l" rtl="0" eaLnBrk="0" fontAlgn="base" hangingPunct="0">
      <a:spcBef>
        <a:spcPct val="0"/>
      </a:spcBef>
      <a:spcAft>
        <a:spcPct val="0"/>
      </a:spcAft>
      <a:defRPr kern="1200">
        <a:solidFill>
          <a:schemeClr val="tx1"/>
        </a:solidFill>
        <a:latin typeface="Helvetica" panose="020B0604020202020204" pitchFamily="34" charset="0"/>
        <a:ea typeface="MS PGothic" panose="020B0600070205080204" pitchFamily="34" charset="-128"/>
        <a:cs typeface="+mn-cs"/>
      </a:defRPr>
    </a:lvl3pPr>
    <a:lvl4pPr marL="1368346" indent="-192519" algn="l" rtl="0" eaLnBrk="0" fontAlgn="base" hangingPunct="0">
      <a:spcBef>
        <a:spcPct val="0"/>
      </a:spcBef>
      <a:spcAft>
        <a:spcPct val="0"/>
      </a:spcAft>
      <a:defRPr kern="1200">
        <a:solidFill>
          <a:schemeClr val="tx1"/>
        </a:solidFill>
        <a:latin typeface="Helvetica" panose="020B0604020202020204" pitchFamily="34" charset="0"/>
        <a:ea typeface="MS PGothic" panose="020B0600070205080204" pitchFamily="34" charset="-128"/>
        <a:cs typeface="+mn-cs"/>
      </a:defRPr>
    </a:lvl4pPr>
    <a:lvl5pPr marL="1824462" indent="-257677" algn="l" rtl="0" eaLnBrk="0" fontAlgn="base" hangingPunct="0">
      <a:spcBef>
        <a:spcPct val="0"/>
      </a:spcBef>
      <a:spcAft>
        <a:spcPct val="0"/>
      </a:spcAft>
      <a:defRPr kern="1200">
        <a:solidFill>
          <a:schemeClr val="tx1"/>
        </a:solidFill>
        <a:latin typeface="Helvetica" panose="020B0604020202020204" pitchFamily="34" charset="0"/>
        <a:ea typeface="MS PGothic" panose="020B0600070205080204" pitchFamily="34" charset="-128"/>
        <a:cs typeface="+mn-cs"/>
      </a:defRPr>
    </a:lvl5pPr>
    <a:lvl6pPr marL="4264975" algn="l" defTabSz="1705991" rtl="0" eaLnBrk="1" latinLnBrk="0" hangingPunct="1">
      <a:defRPr kern="1200">
        <a:solidFill>
          <a:schemeClr val="tx1"/>
        </a:solidFill>
        <a:latin typeface="Helvetica" panose="020B0604020202020204" pitchFamily="34" charset="0"/>
        <a:ea typeface="MS PGothic" panose="020B0600070205080204" pitchFamily="34" charset="-128"/>
        <a:cs typeface="+mn-cs"/>
      </a:defRPr>
    </a:lvl6pPr>
    <a:lvl7pPr marL="5117969" algn="l" defTabSz="1705991" rtl="0" eaLnBrk="1" latinLnBrk="0" hangingPunct="1">
      <a:defRPr kern="1200">
        <a:solidFill>
          <a:schemeClr val="tx1"/>
        </a:solidFill>
        <a:latin typeface="Helvetica" panose="020B0604020202020204" pitchFamily="34" charset="0"/>
        <a:ea typeface="MS PGothic" panose="020B0600070205080204" pitchFamily="34" charset="-128"/>
        <a:cs typeface="+mn-cs"/>
      </a:defRPr>
    </a:lvl7pPr>
    <a:lvl8pPr marL="5970966" algn="l" defTabSz="1705991" rtl="0" eaLnBrk="1" latinLnBrk="0" hangingPunct="1">
      <a:defRPr kern="1200">
        <a:solidFill>
          <a:schemeClr val="tx1"/>
        </a:solidFill>
        <a:latin typeface="Helvetica" panose="020B0604020202020204" pitchFamily="34" charset="0"/>
        <a:ea typeface="MS PGothic" panose="020B0600070205080204" pitchFamily="34" charset="-128"/>
        <a:cs typeface="+mn-cs"/>
      </a:defRPr>
    </a:lvl8pPr>
    <a:lvl9pPr marL="6823959" algn="l" defTabSz="1705991" rtl="0" eaLnBrk="1" latinLnBrk="0" hangingPunct="1">
      <a:defRPr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0368" userDrawn="1">
          <p15:clr>
            <a:srgbClr val="A4A3A4"/>
          </p15:clr>
        </p15:guide>
        <p15:guide id="2" pos="1382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Chiu" initials="MC" lastIdx="2" clrIdx="0">
    <p:extLst>
      <p:ext uri="{19B8F6BF-5375-455C-9EA6-DF929625EA0E}">
        <p15:presenceInfo xmlns:p15="http://schemas.microsoft.com/office/powerpoint/2012/main" userId="S-1-5-21-3496871491-3148157022-986074665-411994" providerId="AD"/>
      </p:ext>
    </p:extLst>
  </p:cmAuthor>
  <p:cmAuthor id="2" name="Dominic Fareri" initials="DF" lastIdx="7" clrIdx="1">
    <p:extLst>
      <p:ext uri="{19B8F6BF-5375-455C-9EA6-DF929625EA0E}">
        <p15:presenceInfo xmlns:p15="http://schemas.microsoft.com/office/powerpoint/2012/main" userId="Dominic Fareri" providerId="None"/>
      </p:ext>
    </p:extLst>
  </p:cmAuthor>
  <p:cmAuthor id="3" name="David V. Smith" initials="DVS" lastIdx="4" clrIdx="2">
    <p:extLst>
      <p:ext uri="{19B8F6BF-5375-455C-9EA6-DF929625EA0E}">
        <p15:presenceInfo xmlns:p15="http://schemas.microsoft.com/office/powerpoint/2012/main" userId="David V. Smith" providerId="None"/>
      </p:ext>
    </p:extLst>
  </p:cmAuthor>
  <p:cmAuthor id="4" name="Katherine Hackett" initials="KH" lastIdx="3" clrIdx="3">
    <p:extLst>
      <p:ext uri="{19B8F6BF-5375-455C-9EA6-DF929625EA0E}">
        <p15:presenceInfo xmlns:p15="http://schemas.microsoft.com/office/powerpoint/2012/main" userId="S::tug90253@temple.edu::140e704c-c617-467c-a834-32d4bb446dd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6C0B"/>
    <a:srgbClr val="FFCC00"/>
    <a:srgbClr val="52780E"/>
    <a:srgbClr val="679612"/>
    <a:srgbClr val="45640C"/>
    <a:srgbClr val="3333CC"/>
    <a:srgbClr val="FF0000"/>
    <a:srgbClr val="BE9CB8"/>
    <a:srgbClr val="00CC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45B709-D176-F6DA-2B08-295B0524E478}" v="387" dt="2022-10-27T19:37:13.856"/>
    <p1510:client id="{70D4063C-425C-4F05-B479-203B4DF8384F}" v="1038" dt="2022-10-27T16:08:28.376"/>
    <p1510:client id="{C26F907A-03E4-D3D3-9553-FA1D7685807A}" v="71" dt="2022-10-27T16:40:01.686"/>
    <p1510:client id="{FFADE9E6-E178-064C-93AC-55351BC050A2}" v="39" dt="2022-10-27T19:19:57.5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79"/>
    <p:restoredTop sz="94719"/>
  </p:normalViewPr>
  <p:slideViewPr>
    <p:cSldViewPr snapToGrid="0">
      <p:cViewPr>
        <p:scale>
          <a:sx n="41" d="100"/>
          <a:sy n="41" d="100"/>
        </p:scale>
        <p:origin x="-192" y="-1064"/>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1.xml"/><Relationship Id="rId7" Type="http://schemas.openxmlformats.org/officeDocument/2006/relationships/commentAuthors" Target="commentAuthor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43979" cy="467363"/>
          </a:xfrm>
          <a:prstGeom prst="rect">
            <a:avLst/>
          </a:prstGeom>
        </p:spPr>
        <p:txBody>
          <a:bodyPr vert="horz" wrap="square" lIns="91577" tIns="45789" rIns="91577" bIns="45789" numCol="1" anchor="t" anchorCtr="0" compatLnSpc="1">
            <a:prstTxWarp prst="textNoShape">
              <a:avLst/>
            </a:prstTxWarp>
          </a:bodyPr>
          <a:lstStyle>
            <a:lvl1pPr eaLnBrk="1" hangingPunct="1">
              <a:defRPr sz="1200" smtClean="0">
                <a:latin typeface="Helvetica" charset="0"/>
                <a:ea typeface="MS PGothic" charset="0"/>
                <a:cs typeface="MS PGothic" charset="0"/>
              </a:defRPr>
            </a:lvl1pPr>
          </a:lstStyle>
          <a:p>
            <a:pPr>
              <a:defRPr/>
            </a:pPr>
            <a:endParaRPr lang="en-US"/>
          </a:p>
        </p:txBody>
      </p:sp>
      <p:sp>
        <p:nvSpPr>
          <p:cNvPr id="3" name="Date Placeholder 2"/>
          <p:cNvSpPr>
            <a:spLocks noGrp="1"/>
          </p:cNvSpPr>
          <p:nvPr>
            <p:ph type="dt" sz="quarter" idx="1"/>
          </p:nvPr>
        </p:nvSpPr>
        <p:spPr>
          <a:xfrm>
            <a:off x="3977531" y="0"/>
            <a:ext cx="3043979" cy="467363"/>
          </a:xfrm>
          <a:prstGeom prst="rect">
            <a:avLst/>
          </a:prstGeom>
        </p:spPr>
        <p:txBody>
          <a:bodyPr vert="horz" wrap="square" lIns="91577" tIns="45789" rIns="91577" bIns="45789" numCol="1" anchor="t" anchorCtr="0" compatLnSpc="1">
            <a:prstTxWarp prst="textNoShape">
              <a:avLst/>
            </a:prstTxWarp>
          </a:bodyPr>
          <a:lstStyle>
            <a:lvl1pPr algn="r" eaLnBrk="1" hangingPunct="1">
              <a:defRPr sz="1200"/>
            </a:lvl1pPr>
          </a:lstStyle>
          <a:p>
            <a:fld id="{A12439DB-88A9-47CB-8306-24653602898A}" type="datetimeFigureOut">
              <a:rPr lang="en-US" altLang="en-US"/>
              <a:pPr/>
              <a:t>10/26/23</a:t>
            </a:fld>
            <a:endParaRPr lang="en-US" altLang="en-US"/>
          </a:p>
        </p:txBody>
      </p:sp>
      <p:sp>
        <p:nvSpPr>
          <p:cNvPr id="4" name="Footer Placeholder 3"/>
          <p:cNvSpPr>
            <a:spLocks noGrp="1"/>
          </p:cNvSpPr>
          <p:nvPr>
            <p:ph type="ftr" sz="quarter" idx="2"/>
          </p:nvPr>
        </p:nvSpPr>
        <p:spPr>
          <a:xfrm>
            <a:off x="1" y="8841738"/>
            <a:ext cx="3043979" cy="467363"/>
          </a:xfrm>
          <a:prstGeom prst="rect">
            <a:avLst/>
          </a:prstGeom>
        </p:spPr>
        <p:txBody>
          <a:bodyPr vert="horz" wrap="square" lIns="91577" tIns="45789" rIns="91577" bIns="45789" numCol="1" anchor="b" anchorCtr="0" compatLnSpc="1">
            <a:prstTxWarp prst="textNoShape">
              <a:avLst/>
            </a:prstTxWarp>
          </a:bodyPr>
          <a:lstStyle>
            <a:lvl1pPr eaLnBrk="1" hangingPunct="1">
              <a:defRPr sz="1200" smtClean="0">
                <a:latin typeface="Helvetica" charset="0"/>
                <a:ea typeface="MS PGothic" charset="0"/>
                <a:cs typeface="MS PGothic" charset="0"/>
              </a:defRPr>
            </a:lvl1pPr>
          </a:lstStyle>
          <a:p>
            <a:pPr>
              <a:defRPr/>
            </a:pPr>
            <a:endParaRPr lang="en-US"/>
          </a:p>
        </p:txBody>
      </p:sp>
      <p:sp>
        <p:nvSpPr>
          <p:cNvPr id="5" name="Slide Number Placeholder 4"/>
          <p:cNvSpPr>
            <a:spLocks noGrp="1"/>
          </p:cNvSpPr>
          <p:nvPr>
            <p:ph type="sldNum" sz="quarter" idx="3"/>
          </p:nvPr>
        </p:nvSpPr>
        <p:spPr>
          <a:xfrm>
            <a:off x="3977531" y="8841738"/>
            <a:ext cx="3043979" cy="467363"/>
          </a:xfrm>
          <a:prstGeom prst="rect">
            <a:avLst/>
          </a:prstGeom>
        </p:spPr>
        <p:txBody>
          <a:bodyPr vert="horz" wrap="square" lIns="91577" tIns="45789" rIns="91577" bIns="45789" numCol="1" anchor="b" anchorCtr="0" compatLnSpc="1">
            <a:prstTxWarp prst="textNoShape">
              <a:avLst/>
            </a:prstTxWarp>
          </a:bodyPr>
          <a:lstStyle>
            <a:lvl1pPr algn="r" eaLnBrk="1" hangingPunct="1">
              <a:defRPr sz="1200"/>
            </a:lvl1pPr>
          </a:lstStyle>
          <a:p>
            <a:fld id="{BE2D3955-F8C1-45A6-BC0E-23ADC1AD9BD5}"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1" y="0"/>
            <a:ext cx="3043979" cy="465773"/>
          </a:xfrm>
          <a:prstGeom prst="rect">
            <a:avLst/>
          </a:prstGeom>
          <a:noFill/>
          <a:ln>
            <a:noFill/>
          </a:ln>
        </p:spPr>
        <p:txBody>
          <a:bodyPr vert="horz" wrap="square" lIns="91564" tIns="45783" rIns="91564" bIns="45783" numCol="1" anchor="t" anchorCtr="0" compatLnSpc="1">
            <a:prstTxWarp prst="textNoShape">
              <a:avLst/>
            </a:prstTxWarp>
          </a:bodyPr>
          <a:lstStyle>
            <a:lvl1pPr eaLnBrk="1" hangingPunct="1">
              <a:defRPr sz="1200" smtClean="0">
                <a:latin typeface="Arial" charset="0"/>
                <a:ea typeface="MS PGothic" charset="0"/>
                <a:cs typeface="MS PGothic" charset="0"/>
              </a:defRPr>
            </a:lvl1pPr>
          </a:lstStyle>
          <a:p>
            <a:pPr>
              <a:defRPr/>
            </a:pPr>
            <a:endParaRPr lang="en-US"/>
          </a:p>
        </p:txBody>
      </p:sp>
      <p:sp>
        <p:nvSpPr>
          <p:cNvPr id="5123" name="Rectangle 3"/>
          <p:cNvSpPr>
            <a:spLocks noGrp="1" noChangeArrowheads="1"/>
          </p:cNvSpPr>
          <p:nvPr>
            <p:ph type="dt" idx="1"/>
          </p:nvPr>
        </p:nvSpPr>
        <p:spPr bwMode="auto">
          <a:xfrm>
            <a:off x="3977531" y="0"/>
            <a:ext cx="3043979" cy="465773"/>
          </a:xfrm>
          <a:prstGeom prst="rect">
            <a:avLst/>
          </a:prstGeom>
          <a:noFill/>
          <a:ln>
            <a:noFill/>
          </a:ln>
        </p:spPr>
        <p:txBody>
          <a:bodyPr vert="horz" wrap="square" lIns="91564" tIns="45783" rIns="91564" bIns="45783" numCol="1" anchor="t" anchorCtr="0" compatLnSpc="1">
            <a:prstTxWarp prst="textNoShape">
              <a:avLst/>
            </a:prstTxWarp>
          </a:bodyPr>
          <a:lstStyle>
            <a:lvl1pPr algn="r" eaLnBrk="1" hangingPunct="1">
              <a:defRPr sz="1200" smtClean="0">
                <a:latin typeface="Arial" charset="0"/>
                <a:ea typeface="MS PGothic" charset="0"/>
                <a:cs typeface="MS PGothic" charset="0"/>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1184275" y="698500"/>
            <a:ext cx="4654550" cy="34909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702946" y="4422459"/>
            <a:ext cx="5617208" cy="4188778"/>
          </a:xfrm>
          <a:prstGeom prst="rect">
            <a:avLst/>
          </a:prstGeom>
          <a:noFill/>
          <a:ln>
            <a:noFill/>
          </a:ln>
        </p:spPr>
        <p:txBody>
          <a:bodyPr vert="horz" wrap="square" lIns="91564" tIns="45783" rIns="91564" bIns="4578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1" y="8841738"/>
            <a:ext cx="3043979" cy="465773"/>
          </a:xfrm>
          <a:prstGeom prst="rect">
            <a:avLst/>
          </a:prstGeom>
          <a:noFill/>
          <a:ln>
            <a:noFill/>
          </a:ln>
        </p:spPr>
        <p:txBody>
          <a:bodyPr vert="horz" wrap="square" lIns="91564" tIns="45783" rIns="91564" bIns="45783" numCol="1" anchor="b" anchorCtr="0" compatLnSpc="1">
            <a:prstTxWarp prst="textNoShape">
              <a:avLst/>
            </a:prstTxWarp>
          </a:bodyPr>
          <a:lstStyle>
            <a:lvl1pPr eaLnBrk="1" hangingPunct="1">
              <a:defRPr sz="1200" smtClean="0">
                <a:latin typeface="Arial" charset="0"/>
                <a:ea typeface="MS PGothic" charset="0"/>
                <a:cs typeface="MS PGothic" charset="0"/>
              </a:defRPr>
            </a:lvl1pPr>
          </a:lstStyle>
          <a:p>
            <a:pPr>
              <a:defRPr/>
            </a:pPr>
            <a:endParaRPr lang="en-US"/>
          </a:p>
        </p:txBody>
      </p:sp>
      <p:sp>
        <p:nvSpPr>
          <p:cNvPr id="5127" name="Rectangle 7"/>
          <p:cNvSpPr>
            <a:spLocks noGrp="1" noChangeArrowheads="1"/>
          </p:cNvSpPr>
          <p:nvPr>
            <p:ph type="sldNum" sz="quarter" idx="5"/>
          </p:nvPr>
        </p:nvSpPr>
        <p:spPr bwMode="auto">
          <a:xfrm>
            <a:off x="3977531" y="8841738"/>
            <a:ext cx="3043979" cy="465773"/>
          </a:xfrm>
          <a:prstGeom prst="rect">
            <a:avLst/>
          </a:prstGeom>
          <a:noFill/>
          <a:ln>
            <a:noFill/>
          </a:ln>
        </p:spPr>
        <p:txBody>
          <a:bodyPr vert="horz" wrap="square" lIns="91564" tIns="45783" rIns="91564" bIns="45783" numCol="1" anchor="b" anchorCtr="0" compatLnSpc="1">
            <a:prstTxWarp prst="textNoShape">
              <a:avLst/>
            </a:prstTxWarp>
          </a:bodyPr>
          <a:lstStyle>
            <a:lvl1pPr algn="r" eaLnBrk="1" hangingPunct="1">
              <a:defRPr sz="1200">
                <a:latin typeface="Arial" panose="020B0604020202020204" pitchFamily="34" charset="0"/>
              </a:defRPr>
            </a:lvl1pPr>
          </a:lstStyle>
          <a:p>
            <a:fld id="{3F6F6737-73D4-41EA-8E23-BF979942D6DD}"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120" kern="1200">
        <a:solidFill>
          <a:schemeClr val="tx1"/>
        </a:solidFill>
        <a:latin typeface="Arial" charset="0"/>
        <a:ea typeface="MS PGothic" panose="020B0600070205080204" pitchFamily="34" charset="-128"/>
        <a:cs typeface="Arial" charset="0"/>
      </a:defRPr>
    </a:lvl1pPr>
    <a:lvl2pPr marL="453154" algn="l" rtl="0" eaLnBrk="0" fontAlgn="base" hangingPunct="0">
      <a:spcBef>
        <a:spcPct val="30000"/>
      </a:spcBef>
      <a:spcAft>
        <a:spcPct val="0"/>
      </a:spcAft>
      <a:defRPr sz="1120" kern="1200">
        <a:solidFill>
          <a:schemeClr val="tx1"/>
        </a:solidFill>
        <a:latin typeface="Arial" charset="0"/>
        <a:ea typeface="Arial" charset="0"/>
        <a:cs typeface="Arial" charset="0"/>
      </a:defRPr>
    </a:lvl2pPr>
    <a:lvl3pPr marL="912229" algn="l" rtl="0" eaLnBrk="0" fontAlgn="base" hangingPunct="0">
      <a:spcBef>
        <a:spcPct val="30000"/>
      </a:spcBef>
      <a:spcAft>
        <a:spcPct val="0"/>
      </a:spcAft>
      <a:defRPr sz="1120" kern="1200">
        <a:solidFill>
          <a:schemeClr val="tx1"/>
        </a:solidFill>
        <a:latin typeface="Arial" charset="0"/>
        <a:ea typeface="Arial" charset="0"/>
        <a:cs typeface="Arial" charset="0"/>
      </a:defRPr>
    </a:lvl3pPr>
    <a:lvl4pPr marL="1368346" algn="l" rtl="0" eaLnBrk="0" fontAlgn="base" hangingPunct="0">
      <a:spcBef>
        <a:spcPct val="30000"/>
      </a:spcBef>
      <a:spcAft>
        <a:spcPct val="0"/>
      </a:spcAft>
      <a:defRPr sz="1120" kern="1200">
        <a:solidFill>
          <a:schemeClr val="tx1"/>
        </a:solidFill>
        <a:latin typeface="Arial" charset="0"/>
        <a:ea typeface="Arial" charset="0"/>
        <a:cs typeface="Arial" charset="0"/>
      </a:defRPr>
    </a:lvl4pPr>
    <a:lvl5pPr marL="1824462" algn="l" rtl="0" eaLnBrk="0" fontAlgn="base" hangingPunct="0">
      <a:spcBef>
        <a:spcPct val="30000"/>
      </a:spcBef>
      <a:spcAft>
        <a:spcPct val="0"/>
      </a:spcAft>
      <a:defRPr sz="1120" kern="1200">
        <a:solidFill>
          <a:schemeClr val="tx1"/>
        </a:solidFill>
        <a:latin typeface="Arial" charset="0"/>
        <a:ea typeface="Arial" charset="0"/>
        <a:cs typeface="Arial" charset="0"/>
      </a:defRPr>
    </a:lvl5pPr>
    <a:lvl6pPr marL="2284261" algn="l" defTabSz="913704" rtl="0" eaLnBrk="1" latinLnBrk="0" hangingPunct="1">
      <a:defRPr sz="1200" kern="1200">
        <a:solidFill>
          <a:schemeClr val="tx1"/>
        </a:solidFill>
        <a:latin typeface="+mn-lt"/>
        <a:ea typeface="+mn-ea"/>
        <a:cs typeface="+mn-cs"/>
      </a:defRPr>
    </a:lvl6pPr>
    <a:lvl7pPr marL="2741115" algn="l" defTabSz="913704" rtl="0" eaLnBrk="1" latinLnBrk="0" hangingPunct="1">
      <a:defRPr sz="1200" kern="1200">
        <a:solidFill>
          <a:schemeClr val="tx1"/>
        </a:solidFill>
        <a:latin typeface="+mn-lt"/>
        <a:ea typeface="+mn-ea"/>
        <a:cs typeface="+mn-cs"/>
      </a:defRPr>
    </a:lvl7pPr>
    <a:lvl8pPr marL="3197968" algn="l" defTabSz="913704" rtl="0" eaLnBrk="1" latinLnBrk="0" hangingPunct="1">
      <a:defRPr sz="1200" kern="1200">
        <a:solidFill>
          <a:schemeClr val="tx1"/>
        </a:solidFill>
        <a:latin typeface="+mn-lt"/>
        <a:ea typeface="+mn-ea"/>
        <a:cs typeface="+mn-cs"/>
      </a:defRPr>
    </a:lvl8pPr>
    <a:lvl9pPr marL="3654816" algn="l" defTabSz="91370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Helvetica" panose="020B0604020202020204" pitchFamily="34" charset="0"/>
                <a:ea typeface="MS PGothic" panose="020B0600070205080204" pitchFamily="34" charset="-128"/>
              </a:defRPr>
            </a:lvl1pPr>
            <a:lvl2pPr marL="744064" indent="-286179">
              <a:defRPr sz="2400">
                <a:solidFill>
                  <a:schemeClr val="tx1"/>
                </a:solidFill>
                <a:latin typeface="Helvetica" panose="020B0604020202020204" pitchFamily="34" charset="0"/>
                <a:ea typeface="MS PGothic" panose="020B0600070205080204" pitchFamily="34" charset="-128"/>
              </a:defRPr>
            </a:lvl2pPr>
            <a:lvl3pPr marL="1144715" indent="-228943">
              <a:defRPr sz="2400">
                <a:solidFill>
                  <a:schemeClr val="tx1"/>
                </a:solidFill>
                <a:latin typeface="Helvetica" panose="020B0604020202020204" pitchFamily="34" charset="0"/>
                <a:ea typeface="MS PGothic" panose="020B0600070205080204" pitchFamily="34" charset="-128"/>
              </a:defRPr>
            </a:lvl3pPr>
            <a:lvl4pPr marL="1602600" indent="-228943">
              <a:defRPr sz="2400">
                <a:solidFill>
                  <a:schemeClr val="tx1"/>
                </a:solidFill>
                <a:latin typeface="Helvetica" panose="020B0604020202020204" pitchFamily="34" charset="0"/>
                <a:ea typeface="MS PGothic" panose="020B0600070205080204" pitchFamily="34" charset="-128"/>
              </a:defRPr>
            </a:lvl4pPr>
            <a:lvl5pPr marL="2060486" indent="-228943">
              <a:defRPr sz="2400">
                <a:solidFill>
                  <a:schemeClr val="tx1"/>
                </a:solidFill>
                <a:latin typeface="Helvetica" panose="020B0604020202020204" pitchFamily="34" charset="0"/>
                <a:ea typeface="MS PGothic" panose="020B0600070205080204" pitchFamily="34" charset="-128"/>
              </a:defRPr>
            </a:lvl5pPr>
            <a:lvl6pPr marL="2518372" indent="-228943"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6258" indent="-228943"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34144" indent="-228943"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92029" indent="-228943"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EE4736F1-11A1-4F15-821F-373E647BE191}" type="slidenum">
              <a:rPr lang="en-US" altLang="en-US" sz="1200">
                <a:latin typeface="Arial" panose="020B0604020202020204" pitchFamily="34" charset="0"/>
              </a:rPr>
              <a:pPr/>
              <a:t>1</a:t>
            </a:fld>
            <a:endParaRPr lang="en-US" altLang="en-US" sz="1200">
              <a:latin typeface="Arial" panose="020B0604020202020204" pitchFamily="34" charset="0"/>
            </a:endParaRPr>
          </a:p>
        </p:txBody>
      </p:sp>
      <p:sp>
        <p:nvSpPr>
          <p:cNvPr id="16386" name="Rectangle 2"/>
          <p:cNvSpPr>
            <a:spLocks noGrp="1" noRot="1" noChangeAspect="1" noChangeArrowheads="1" noTextEdit="1"/>
          </p:cNvSpPr>
          <p:nvPr>
            <p:ph type="sldImg"/>
          </p:nvPr>
        </p:nvSpPr>
        <p:spPr>
          <a:xfrm>
            <a:off x="1184275" y="698500"/>
            <a:ext cx="4654550" cy="3490913"/>
          </a:xfrm>
          <a:ln/>
        </p:spPr>
      </p:sp>
      <p:sp>
        <p:nvSpPr>
          <p:cNvPr id="1638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eaLnBrk="1" hangingPunct="1">
              <a:buFontTx/>
              <a:buChar char="-"/>
            </a:pPr>
            <a:endParaRPr lang="en-US" altLang="en-US"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82" y="10226677"/>
            <a:ext cx="37306249" cy="7054850"/>
          </a:xfrm>
        </p:spPr>
        <p:txBody>
          <a:bodyPr/>
          <a:lstStyle/>
          <a:p>
            <a:r>
              <a:rPr lang="en-US"/>
              <a:t>Click to edit Master title style</a:t>
            </a:r>
          </a:p>
        </p:txBody>
      </p:sp>
      <p:sp>
        <p:nvSpPr>
          <p:cNvPr id="3" name="Subtitle 2"/>
          <p:cNvSpPr>
            <a:spLocks noGrp="1"/>
          </p:cNvSpPr>
          <p:nvPr>
            <p:ph type="subTitle" idx="1"/>
          </p:nvPr>
        </p:nvSpPr>
        <p:spPr>
          <a:xfrm>
            <a:off x="6583365" y="18653127"/>
            <a:ext cx="30724474" cy="8413750"/>
          </a:xfrm>
        </p:spPr>
        <p:txBody>
          <a:bodyPr/>
          <a:lstStyle>
            <a:lvl1pPr marL="0" indent="0" algn="ctr">
              <a:buNone/>
              <a:defRPr/>
            </a:lvl1pPr>
            <a:lvl2pPr marL="406356" indent="0" algn="ctr">
              <a:buNone/>
              <a:defRPr/>
            </a:lvl2pPr>
            <a:lvl3pPr marL="812714" indent="0" algn="ctr">
              <a:buNone/>
              <a:defRPr/>
            </a:lvl3pPr>
            <a:lvl4pPr marL="1219072" indent="0" algn="ctr">
              <a:buNone/>
              <a:defRPr/>
            </a:lvl4pPr>
            <a:lvl5pPr marL="1625431" indent="0" algn="ctr">
              <a:buNone/>
              <a:defRPr/>
            </a:lvl5pPr>
            <a:lvl6pPr marL="2031789" indent="0" algn="ctr">
              <a:buNone/>
              <a:defRPr/>
            </a:lvl6pPr>
            <a:lvl7pPr marL="2438145" indent="0" algn="ctr">
              <a:buNone/>
              <a:defRPr/>
            </a:lvl7pPr>
            <a:lvl8pPr marL="2844503" indent="0" algn="ctr">
              <a:buNone/>
              <a:defRPr/>
            </a:lvl8pPr>
            <a:lvl9pPr marL="3250859"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CE045733-9CD5-4A39-AF19-1576EAAC5827}" type="slidenum">
              <a:rPr lang="en-US" altLang="en-US"/>
              <a:pPr/>
              <a:t>‹#›</a:t>
            </a:fld>
            <a:endParaRPr lang="en-US" altLang="en-US"/>
          </a:p>
        </p:txBody>
      </p:sp>
    </p:spTree>
    <p:extLst>
      <p:ext uri="{BB962C8B-B14F-4D97-AF65-F5344CB8AC3E}">
        <p14:creationId xmlns:p14="http://schemas.microsoft.com/office/powerpoint/2010/main" val="210065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D5AEFD10-DBAF-4AE2-89A0-5AF92A9DB40B}" type="slidenum">
              <a:rPr lang="en-US" altLang="en-US"/>
              <a:pPr/>
              <a:t>‹#›</a:t>
            </a:fld>
            <a:endParaRPr lang="en-US" altLang="en-US"/>
          </a:p>
        </p:txBody>
      </p:sp>
    </p:spTree>
    <p:extLst>
      <p:ext uri="{BB962C8B-B14F-4D97-AF65-F5344CB8AC3E}">
        <p14:creationId xmlns:p14="http://schemas.microsoft.com/office/powerpoint/2010/main" val="1684105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6" y="21153440"/>
            <a:ext cx="37307838" cy="6537324"/>
          </a:xfrm>
        </p:spPr>
        <p:txBody>
          <a:bodyPr anchor="t"/>
          <a:lstStyle>
            <a:lvl1pPr algn="l">
              <a:defRPr sz="3580" b="1" cap="all"/>
            </a:lvl1pPr>
          </a:lstStyle>
          <a:p>
            <a:r>
              <a:rPr lang="en-US"/>
              <a:t>Click to edit Master title style</a:t>
            </a:r>
          </a:p>
        </p:txBody>
      </p:sp>
      <p:sp>
        <p:nvSpPr>
          <p:cNvPr id="3" name="Text Placeholder 2"/>
          <p:cNvSpPr>
            <a:spLocks noGrp="1"/>
          </p:cNvSpPr>
          <p:nvPr>
            <p:ph type="body" idx="1"/>
          </p:nvPr>
        </p:nvSpPr>
        <p:spPr>
          <a:xfrm>
            <a:off x="3467106" y="13952538"/>
            <a:ext cx="37307838" cy="7200900"/>
          </a:xfrm>
        </p:spPr>
        <p:txBody>
          <a:bodyPr anchor="b"/>
          <a:lstStyle>
            <a:lvl1pPr marL="0" indent="0">
              <a:buNone/>
              <a:defRPr sz="1753"/>
            </a:lvl1pPr>
            <a:lvl2pPr marL="406356" indent="0">
              <a:buNone/>
              <a:defRPr sz="1600"/>
            </a:lvl2pPr>
            <a:lvl3pPr marL="812714" indent="0">
              <a:buNone/>
              <a:defRPr sz="1447"/>
            </a:lvl3pPr>
            <a:lvl4pPr marL="1219072" indent="0">
              <a:buNone/>
              <a:defRPr sz="1220"/>
            </a:lvl4pPr>
            <a:lvl5pPr marL="1625431" indent="0">
              <a:buNone/>
              <a:defRPr sz="1220"/>
            </a:lvl5pPr>
            <a:lvl6pPr marL="2031789" indent="0">
              <a:buNone/>
              <a:defRPr sz="1220"/>
            </a:lvl6pPr>
            <a:lvl7pPr marL="2438145" indent="0">
              <a:buNone/>
              <a:defRPr sz="1220"/>
            </a:lvl7pPr>
            <a:lvl8pPr marL="2844503" indent="0">
              <a:buNone/>
              <a:defRPr sz="1220"/>
            </a:lvl8pPr>
            <a:lvl9pPr marL="3250859" indent="0">
              <a:buNone/>
              <a:defRPr sz="122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EDC3906F-68E1-40D4-92B5-7E5E62F91829}" type="slidenum">
              <a:rPr lang="en-US" altLang="en-US"/>
              <a:pPr/>
              <a:t>‹#›</a:t>
            </a:fld>
            <a:endParaRPr lang="en-US" altLang="en-US"/>
          </a:p>
        </p:txBody>
      </p:sp>
    </p:spTree>
    <p:extLst>
      <p:ext uri="{BB962C8B-B14F-4D97-AF65-F5344CB8AC3E}">
        <p14:creationId xmlns:p14="http://schemas.microsoft.com/office/powerpoint/2010/main" val="2813903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193931" y="7680331"/>
            <a:ext cx="19675475" cy="21724938"/>
          </a:xfrm>
        </p:spPr>
        <p:txBody>
          <a:bodyPr/>
          <a:lstStyle>
            <a:lvl1pPr>
              <a:defRPr sz="2514"/>
            </a:lvl1pPr>
            <a:lvl2pPr>
              <a:defRPr sz="2133"/>
            </a:lvl2pPr>
            <a:lvl3pPr>
              <a:defRPr sz="175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21806" y="7680331"/>
            <a:ext cx="19675475" cy="21724938"/>
          </a:xfrm>
        </p:spPr>
        <p:txBody>
          <a:bodyPr/>
          <a:lstStyle>
            <a:lvl1pPr>
              <a:defRPr sz="2514"/>
            </a:lvl1pPr>
            <a:lvl2pPr>
              <a:defRPr sz="2133"/>
            </a:lvl2pPr>
            <a:lvl3pPr>
              <a:defRPr sz="175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A46F8588-11AB-46DB-B65B-0DA5B032DFB0}" type="slidenum">
              <a:rPr lang="en-US" altLang="en-US"/>
              <a:pPr/>
              <a:t>‹#›</a:t>
            </a:fld>
            <a:endParaRPr lang="en-US" altLang="en-US"/>
          </a:p>
        </p:txBody>
      </p:sp>
    </p:spTree>
    <p:extLst>
      <p:ext uri="{BB962C8B-B14F-4D97-AF65-F5344CB8AC3E}">
        <p14:creationId xmlns:p14="http://schemas.microsoft.com/office/powerpoint/2010/main" val="740729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6" y="7369176"/>
            <a:ext cx="19392899" cy="3070224"/>
          </a:xfrm>
        </p:spPr>
        <p:txBody>
          <a:bodyPr anchor="b"/>
          <a:lstStyle>
            <a:lvl1pPr marL="0" indent="0">
              <a:buNone/>
              <a:defRPr sz="2133" b="1"/>
            </a:lvl1pPr>
            <a:lvl2pPr marL="406356" indent="0">
              <a:buNone/>
              <a:defRPr sz="1753" b="1"/>
            </a:lvl2pPr>
            <a:lvl3pPr marL="812714" indent="0">
              <a:buNone/>
              <a:defRPr sz="1600" b="1"/>
            </a:lvl3pPr>
            <a:lvl4pPr marL="1219072" indent="0">
              <a:buNone/>
              <a:defRPr sz="1447" b="1"/>
            </a:lvl4pPr>
            <a:lvl5pPr marL="1625431" indent="0">
              <a:buNone/>
              <a:defRPr sz="1447" b="1"/>
            </a:lvl5pPr>
            <a:lvl6pPr marL="2031789" indent="0">
              <a:buNone/>
              <a:defRPr sz="1447" b="1"/>
            </a:lvl6pPr>
            <a:lvl7pPr marL="2438145" indent="0">
              <a:buNone/>
              <a:defRPr sz="1447" b="1"/>
            </a:lvl7pPr>
            <a:lvl8pPr marL="2844503" indent="0">
              <a:buNone/>
              <a:defRPr sz="1447" b="1"/>
            </a:lvl8pPr>
            <a:lvl9pPr marL="3250859" indent="0">
              <a:buNone/>
              <a:defRPr sz="1447" b="1"/>
            </a:lvl9pPr>
          </a:lstStyle>
          <a:p>
            <a:pPr lvl="0"/>
            <a:r>
              <a:rPr lang="en-US"/>
              <a:t>Click to edit Master text styles</a:t>
            </a:r>
          </a:p>
        </p:txBody>
      </p:sp>
      <p:sp>
        <p:nvSpPr>
          <p:cNvPr id="4" name="Content Placeholder 3"/>
          <p:cNvSpPr>
            <a:spLocks noGrp="1"/>
          </p:cNvSpPr>
          <p:nvPr>
            <p:ph sz="half" idx="2"/>
          </p:nvPr>
        </p:nvSpPr>
        <p:spPr>
          <a:xfrm>
            <a:off x="2193926" y="10439407"/>
            <a:ext cx="19392899" cy="18965862"/>
          </a:xfrm>
        </p:spPr>
        <p:txBody>
          <a:bodyPr/>
          <a:lstStyle>
            <a:lvl1pPr>
              <a:defRPr sz="2133"/>
            </a:lvl1pPr>
            <a:lvl2pPr>
              <a:defRPr sz="1753"/>
            </a:lvl2pPr>
            <a:lvl3pPr>
              <a:defRPr sz="1600"/>
            </a:lvl3pPr>
            <a:lvl4pPr>
              <a:defRPr sz="1447"/>
            </a:lvl4pPr>
            <a:lvl5pPr>
              <a:defRPr sz="1447"/>
            </a:lvl5pPr>
            <a:lvl6pPr>
              <a:defRPr sz="1447"/>
            </a:lvl6pPr>
            <a:lvl7pPr>
              <a:defRPr sz="1447"/>
            </a:lvl7pPr>
            <a:lvl8pPr>
              <a:defRPr sz="1447"/>
            </a:lvl8pPr>
            <a:lvl9pPr>
              <a:defRPr sz="144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40" y="7369176"/>
            <a:ext cx="19400837" cy="3070224"/>
          </a:xfrm>
        </p:spPr>
        <p:txBody>
          <a:bodyPr anchor="b"/>
          <a:lstStyle>
            <a:lvl1pPr marL="0" indent="0">
              <a:buNone/>
              <a:defRPr sz="2133" b="1"/>
            </a:lvl1pPr>
            <a:lvl2pPr marL="406356" indent="0">
              <a:buNone/>
              <a:defRPr sz="1753" b="1"/>
            </a:lvl2pPr>
            <a:lvl3pPr marL="812714" indent="0">
              <a:buNone/>
              <a:defRPr sz="1600" b="1"/>
            </a:lvl3pPr>
            <a:lvl4pPr marL="1219072" indent="0">
              <a:buNone/>
              <a:defRPr sz="1447" b="1"/>
            </a:lvl4pPr>
            <a:lvl5pPr marL="1625431" indent="0">
              <a:buNone/>
              <a:defRPr sz="1447" b="1"/>
            </a:lvl5pPr>
            <a:lvl6pPr marL="2031789" indent="0">
              <a:buNone/>
              <a:defRPr sz="1447" b="1"/>
            </a:lvl6pPr>
            <a:lvl7pPr marL="2438145" indent="0">
              <a:buNone/>
              <a:defRPr sz="1447" b="1"/>
            </a:lvl7pPr>
            <a:lvl8pPr marL="2844503" indent="0">
              <a:buNone/>
              <a:defRPr sz="1447" b="1"/>
            </a:lvl8pPr>
            <a:lvl9pPr marL="3250859" indent="0">
              <a:buNone/>
              <a:defRPr sz="1447" b="1"/>
            </a:lvl9pPr>
          </a:lstStyle>
          <a:p>
            <a:pPr lvl="0"/>
            <a:r>
              <a:rPr lang="en-US"/>
              <a:t>Click to edit Master text styles</a:t>
            </a:r>
          </a:p>
        </p:txBody>
      </p:sp>
      <p:sp>
        <p:nvSpPr>
          <p:cNvPr id="6" name="Content Placeholder 5"/>
          <p:cNvSpPr>
            <a:spLocks noGrp="1"/>
          </p:cNvSpPr>
          <p:nvPr>
            <p:ph sz="quarter" idx="4"/>
          </p:nvPr>
        </p:nvSpPr>
        <p:spPr>
          <a:xfrm>
            <a:off x="22296440" y="10439407"/>
            <a:ext cx="19400837" cy="18965862"/>
          </a:xfrm>
        </p:spPr>
        <p:txBody>
          <a:bodyPr/>
          <a:lstStyle>
            <a:lvl1pPr>
              <a:defRPr sz="2133"/>
            </a:lvl1pPr>
            <a:lvl2pPr>
              <a:defRPr sz="1753"/>
            </a:lvl2pPr>
            <a:lvl3pPr>
              <a:defRPr sz="1600"/>
            </a:lvl3pPr>
            <a:lvl4pPr>
              <a:defRPr sz="1447"/>
            </a:lvl4pPr>
            <a:lvl5pPr>
              <a:defRPr sz="1447"/>
            </a:lvl5pPr>
            <a:lvl6pPr>
              <a:defRPr sz="1447"/>
            </a:lvl6pPr>
            <a:lvl7pPr>
              <a:defRPr sz="1447"/>
            </a:lvl7pPr>
            <a:lvl8pPr>
              <a:defRPr sz="1447"/>
            </a:lvl8pPr>
            <a:lvl9pPr>
              <a:defRPr sz="144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D8F70D44-9EE5-494F-B24D-9088C4F630A4}" type="slidenum">
              <a:rPr lang="en-US" altLang="en-US"/>
              <a:pPr/>
              <a:t>‹#›</a:t>
            </a:fld>
            <a:endParaRPr lang="en-US" altLang="en-US"/>
          </a:p>
        </p:txBody>
      </p:sp>
    </p:spTree>
    <p:extLst>
      <p:ext uri="{BB962C8B-B14F-4D97-AF65-F5344CB8AC3E}">
        <p14:creationId xmlns:p14="http://schemas.microsoft.com/office/powerpoint/2010/main" val="2465950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7B282EB0-6A1C-42AA-BBF4-30A498DC98E8}" type="slidenum">
              <a:rPr lang="en-US" altLang="en-US"/>
              <a:pPr/>
              <a:t>‹#›</a:t>
            </a:fld>
            <a:endParaRPr lang="en-US" altLang="en-US"/>
          </a:p>
        </p:txBody>
      </p:sp>
    </p:spTree>
    <p:extLst>
      <p:ext uri="{BB962C8B-B14F-4D97-AF65-F5344CB8AC3E}">
        <p14:creationId xmlns:p14="http://schemas.microsoft.com/office/powerpoint/2010/main" val="2078102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A58D00DC-00D9-48A8-8591-ED180EF32D4C}" type="slidenum">
              <a:rPr lang="en-US" altLang="en-US"/>
              <a:pPr/>
              <a:t>‹#›</a:t>
            </a:fld>
            <a:endParaRPr lang="en-US" altLang="en-US"/>
          </a:p>
        </p:txBody>
      </p:sp>
    </p:spTree>
    <p:extLst>
      <p:ext uri="{BB962C8B-B14F-4D97-AF65-F5344CB8AC3E}">
        <p14:creationId xmlns:p14="http://schemas.microsoft.com/office/powerpoint/2010/main" val="2389963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1276"/>
            <a:ext cx="14439901" cy="5576888"/>
          </a:xfrm>
        </p:spPr>
        <p:txBody>
          <a:bodyPr anchor="b"/>
          <a:lstStyle>
            <a:lvl1pPr algn="l">
              <a:defRPr sz="1753" b="1"/>
            </a:lvl1pPr>
          </a:lstStyle>
          <a:p>
            <a:r>
              <a:rPr lang="en-US"/>
              <a:t>Click to edit Master title style</a:t>
            </a:r>
          </a:p>
        </p:txBody>
      </p:sp>
      <p:sp>
        <p:nvSpPr>
          <p:cNvPr id="3" name="Content Placeholder 2"/>
          <p:cNvSpPr>
            <a:spLocks noGrp="1"/>
          </p:cNvSpPr>
          <p:nvPr>
            <p:ph idx="1"/>
          </p:nvPr>
        </p:nvSpPr>
        <p:spPr>
          <a:xfrm>
            <a:off x="17160875" y="1311276"/>
            <a:ext cx="24536400" cy="28093988"/>
          </a:xfrm>
        </p:spPr>
        <p:txBody>
          <a:bodyPr/>
          <a:lstStyle>
            <a:lvl1pPr>
              <a:defRPr sz="2820"/>
            </a:lvl1pPr>
            <a:lvl2pPr>
              <a:defRPr sz="2514"/>
            </a:lvl2pPr>
            <a:lvl3pPr>
              <a:defRPr sz="2133"/>
            </a:lvl3pPr>
            <a:lvl4pPr>
              <a:defRPr sz="1753"/>
            </a:lvl4pPr>
            <a:lvl5pPr>
              <a:defRPr sz="1753"/>
            </a:lvl5pPr>
            <a:lvl6pPr>
              <a:defRPr sz="1753"/>
            </a:lvl6pPr>
            <a:lvl7pPr>
              <a:defRPr sz="1753"/>
            </a:lvl7pPr>
            <a:lvl8pPr>
              <a:defRPr sz="1753"/>
            </a:lvl8pPr>
            <a:lvl9pPr>
              <a:defRPr sz="17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5" y="6888162"/>
            <a:ext cx="14439901" cy="22517100"/>
          </a:xfrm>
        </p:spPr>
        <p:txBody>
          <a:bodyPr/>
          <a:lstStyle>
            <a:lvl1pPr marL="0" indent="0">
              <a:buNone/>
              <a:defRPr sz="1220"/>
            </a:lvl1pPr>
            <a:lvl2pPr marL="406356" indent="0">
              <a:buNone/>
              <a:defRPr sz="1066"/>
            </a:lvl2pPr>
            <a:lvl3pPr marL="812714" indent="0">
              <a:buNone/>
              <a:defRPr sz="914"/>
            </a:lvl3pPr>
            <a:lvl4pPr marL="1219072" indent="0">
              <a:buNone/>
              <a:defRPr sz="763"/>
            </a:lvl4pPr>
            <a:lvl5pPr marL="1625431" indent="0">
              <a:buNone/>
              <a:defRPr sz="763"/>
            </a:lvl5pPr>
            <a:lvl6pPr marL="2031789" indent="0">
              <a:buNone/>
              <a:defRPr sz="763"/>
            </a:lvl6pPr>
            <a:lvl7pPr marL="2438145" indent="0">
              <a:buNone/>
              <a:defRPr sz="763"/>
            </a:lvl7pPr>
            <a:lvl8pPr marL="2844503" indent="0">
              <a:buNone/>
              <a:defRPr sz="763"/>
            </a:lvl8pPr>
            <a:lvl9pPr marL="3250859" indent="0">
              <a:buNone/>
              <a:defRPr sz="763"/>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C0D8C0C4-CE81-4EEF-9770-5470521DE371}" type="slidenum">
              <a:rPr lang="en-US" altLang="en-US"/>
              <a:pPr/>
              <a:t>‹#›</a:t>
            </a:fld>
            <a:endParaRPr lang="en-US" altLang="en-US"/>
          </a:p>
        </p:txBody>
      </p:sp>
    </p:spTree>
    <p:extLst>
      <p:ext uri="{BB962C8B-B14F-4D97-AF65-F5344CB8AC3E}">
        <p14:creationId xmlns:p14="http://schemas.microsoft.com/office/powerpoint/2010/main" val="733836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5" y="23042564"/>
            <a:ext cx="26335036" cy="2720976"/>
          </a:xfrm>
        </p:spPr>
        <p:txBody>
          <a:bodyPr anchor="b"/>
          <a:lstStyle>
            <a:lvl1pPr algn="l">
              <a:defRPr sz="1753" b="1"/>
            </a:lvl1pPr>
          </a:lstStyle>
          <a:p>
            <a:r>
              <a:rPr lang="en-US"/>
              <a:t>Click to edit Master title style</a:t>
            </a:r>
          </a:p>
        </p:txBody>
      </p:sp>
      <p:sp>
        <p:nvSpPr>
          <p:cNvPr id="3" name="Picture Placeholder 2"/>
          <p:cNvSpPr>
            <a:spLocks noGrp="1"/>
          </p:cNvSpPr>
          <p:nvPr>
            <p:ph type="pic" idx="1"/>
          </p:nvPr>
        </p:nvSpPr>
        <p:spPr>
          <a:xfrm>
            <a:off x="8602665" y="2941645"/>
            <a:ext cx="26335036" cy="19750086"/>
          </a:xfrm>
        </p:spPr>
        <p:txBody>
          <a:bodyPr/>
          <a:lstStyle>
            <a:lvl1pPr marL="0" indent="0">
              <a:buNone/>
              <a:defRPr sz="2820"/>
            </a:lvl1pPr>
            <a:lvl2pPr marL="406356" indent="0">
              <a:buNone/>
              <a:defRPr sz="2514"/>
            </a:lvl2pPr>
            <a:lvl3pPr marL="812714" indent="0">
              <a:buNone/>
              <a:defRPr sz="2133"/>
            </a:lvl3pPr>
            <a:lvl4pPr marL="1219072" indent="0">
              <a:buNone/>
              <a:defRPr sz="1753"/>
            </a:lvl4pPr>
            <a:lvl5pPr marL="1625431" indent="0">
              <a:buNone/>
              <a:defRPr sz="1753"/>
            </a:lvl5pPr>
            <a:lvl6pPr marL="2031789" indent="0">
              <a:buNone/>
              <a:defRPr sz="1753"/>
            </a:lvl6pPr>
            <a:lvl7pPr marL="2438145" indent="0">
              <a:buNone/>
              <a:defRPr sz="1753"/>
            </a:lvl7pPr>
            <a:lvl8pPr marL="2844503" indent="0">
              <a:buNone/>
              <a:defRPr sz="1753"/>
            </a:lvl8pPr>
            <a:lvl9pPr marL="3250859" indent="0">
              <a:buNone/>
              <a:defRPr sz="1753"/>
            </a:lvl9pPr>
          </a:lstStyle>
          <a:p>
            <a:pPr lvl="0"/>
            <a:endParaRPr lang="en-US" noProof="0"/>
          </a:p>
        </p:txBody>
      </p:sp>
      <p:sp>
        <p:nvSpPr>
          <p:cNvPr id="4" name="Text Placeholder 3"/>
          <p:cNvSpPr>
            <a:spLocks noGrp="1"/>
          </p:cNvSpPr>
          <p:nvPr>
            <p:ph type="body" sz="half" idx="2"/>
          </p:nvPr>
        </p:nvSpPr>
        <p:spPr>
          <a:xfrm>
            <a:off x="8602665" y="25763545"/>
            <a:ext cx="26335036" cy="3862386"/>
          </a:xfrm>
        </p:spPr>
        <p:txBody>
          <a:bodyPr/>
          <a:lstStyle>
            <a:lvl1pPr marL="0" indent="0">
              <a:buNone/>
              <a:defRPr sz="1220"/>
            </a:lvl1pPr>
            <a:lvl2pPr marL="406356" indent="0">
              <a:buNone/>
              <a:defRPr sz="1066"/>
            </a:lvl2pPr>
            <a:lvl3pPr marL="812714" indent="0">
              <a:buNone/>
              <a:defRPr sz="914"/>
            </a:lvl3pPr>
            <a:lvl4pPr marL="1219072" indent="0">
              <a:buNone/>
              <a:defRPr sz="763"/>
            </a:lvl4pPr>
            <a:lvl5pPr marL="1625431" indent="0">
              <a:buNone/>
              <a:defRPr sz="763"/>
            </a:lvl5pPr>
            <a:lvl6pPr marL="2031789" indent="0">
              <a:buNone/>
              <a:defRPr sz="763"/>
            </a:lvl6pPr>
            <a:lvl7pPr marL="2438145" indent="0">
              <a:buNone/>
              <a:defRPr sz="763"/>
            </a:lvl7pPr>
            <a:lvl8pPr marL="2844503" indent="0">
              <a:buNone/>
              <a:defRPr sz="763"/>
            </a:lvl8pPr>
            <a:lvl9pPr marL="3250859" indent="0">
              <a:buNone/>
              <a:defRPr sz="763"/>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AEF393D9-CF7B-4330-B265-DED19A74F3DD}" type="slidenum">
              <a:rPr lang="en-US" altLang="en-US"/>
              <a:pPr/>
              <a:t>‹#›</a:t>
            </a:fld>
            <a:endParaRPr lang="en-US" altLang="en-US"/>
          </a:p>
        </p:txBody>
      </p:sp>
    </p:spTree>
    <p:extLst>
      <p:ext uri="{BB962C8B-B14F-4D97-AF65-F5344CB8AC3E}">
        <p14:creationId xmlns:p14="http://schemas.microsoft.com/office/powerpoint/2010/main" val="2425251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46C7718-C7BA-4E2F-9613-1867C7C3438F}" type="slidenum">
              <a:rPr lang="en-US" altLang="en-US"/>
              <a:pPr/>
              <a:t>‹#›</a:t>
            </a:fld>
            <a:endParaRPr lang="en-US" altLang="en-US"/>
          </a:p>
        </p:txBody>
      </p:sp>
    </p:spTree>
    <p:extLst>
      <p:ext uri="{BB962C8B-B14F-4D97-AF65-F5344CB8AC3E}">
        <p14:creationId xmlns:p14="http://schemas.microsoft.com/office/powerpoint/2010/main" val="827206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440" y="1317631"/>
            <a:ext cx="9875836" cy="280876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193926" y="1317631"/>
            <a:ext cx="29475113" cy="280876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132C855F-A866-40A9-8FAF-89579C6C0437}" type="slidenum">
              <a:rPr lang="en-US" altLang="en-US"/>
              <a:pPr/>
              <a:t>‹#›</a:t>
            </a:fld>
            <a:endParaRPr lang="en-US" altLang="en-US"/>
          </a:p>
        </p:txBody>
      </p:sp>
    </p:spTree>
    <p:extLst>
      <p:ext uri="{BB962C8B-B14F-4D97-AF65-F5344CB8AC3E}">
        <p14:creationId xmlns:p14="http://schemas.microsoft.com/office/powerpoint/2010/main" val="3638186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192873" y="1317626"/>
            <a:ext cx="39505467"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512035" tIns="256017" rIns="512035" bIns="256017"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2192873" y="7680331"/>
            <a:ext cx="39505467" cy="2172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512035" tIns="256017" rIns="512035" bIns="256017"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2192873" y="29975176"/>
            <a:ext cx="10244667" cy="2286000"/>
          </a:xfrm>
          <a:prstGeom prst="rect">
            <a:avLst/>
          </a:prstGeom>
          <a:noFill/>
          <a:ln w="9525">
            <a:noFill/>
            <a:miter lim="800000"/>
            <a:headEnd/>
            <a:tailEnd/>
          </a:ln>
          <a:effectLst/>
        </p:spPr>
        <p:txBody>
          <a:bodyPr vert="horz" wrap="square" lIns="512035" tIns="256017" rIns="512035" bIns="256017" numCol="1" anchor="t" anchorCtr="0" compatLnSpc="1">
            <a:prstTxWarp prst="textNoShape">
              <a:avLst/>
            </a:prstTxWarp>
          </a:bodyPr>
          <a:lstStyle>
            <a:lvl1pPr eaLnBrk="1" hangingPunct="1">
              <a:defRPr sz="5867" smtClean="0">
                <a:latin typeface="Arial" charset="0"/>
                <a:ea typeface="MS PGothic" charset="0"/>
                <a:cs typeface="MS PGothic" charset="0"/>
              </a:defRPr>
            </a:lvl1pPr>
          </a:lstStyle>
          <a:p>
            <a:pPr>
              <a:defRPr/>
            </a:pPr>
            <a:endParaRPr lang="en-US"/>
          </a:p>
        </p:txBody>
      </p:sp>
      <p:sp>
        <p:nvSpPr>
          <p:cNvPr id="1029" name="Rectangle 5"/>
          <p:cNvSpPr>
            <a:spLocks noGrp="1" noChangeArrowheads="1"/>
          </p:cNvSpPr>
          <p:nvPr>
            <p:ph type="ftr" sz="quarter" idx="3"/>
          </p:nvPr>
        </p:nvSpPr>
        <p:spPr bwMode="auto">
          <a:xfrm>
            <a:off x="14994473" y="29975176"/>
            <a:ext cx="13902267" cy="2286000"/>
          </a:xfrm>
          <a:prstGeom prst="rect">
            <a:avLst/>
          </a:prstGeom>
          <a:noFill/>
          <a:ln w="9525">
            <a:noFill/>
            <a:miter lim="800000"/>
            <a:headEnd/>
            <a:tailEnd/>
          </a:ln>
          <a:effectLst/>
        </p:spPr>
        <p:txBody>
          <a:bodyPr vert="horz" wrap="square" lIns="512035" tIns="256017" rIns="512035" bIns="256017" numCol="1" anchor="t" anchorCtr="0" compatLnSpc="1">
            <a:prstTxWarp prst="textNoShape">
              <a:avLst/>
            </a:prstTxWarp>
          </a:bodyPr>
          <a:lstStyle>
            <a:lvl1pPr algn="ctr" eaLnBrk="1" hangingPunct="1">
              <a:defRPr sz="5867" smtClean="0">
                <a:latin typeface="Arial" charset="0"/>
                <a:ea typeface="MS PGothic" charset="0"/>
                <a:cs typeface="MS PGothic" charset="0"/>
              </a:defRPr>
            </a:lvl1pPr>
          </a:lstStyle>
          <a:p>
            <a:pPr>
              <a:defRPr/>
            </a:pPr>
            <a:endParaRPr lang="en-US"/>
          </a:p>
        </p:txBody>
      </p:sp>
      <p:sp>
        <p:nvSpPr>
          <p:cNvPr id="1030" name="Rectangle 6"/>
          <p:cNvSpPr>
            <a:spLocks noGrp="1" noChangeArrowheads="1"/>
          </p:cNvSpPr>
          <p:nvPr>
            <p:ph type="sldNum" sz="quarter" idx="4"/>
          </p:nvPr>
        </p:nvSpPr>
        <p:spPr bwMode="auto">
          <a:xfrm>
            <a:off x="31453673" y="29975176"/>
            <a:ext cx="10244667" cy="2286000"/>
          </a:xfrm>
          <a:prstGeom prst="rect">
            <a:avLst/>
          </a:prstGeom>
          <a:noFill/>
          <a:ln w="9525">
            <a:noFill/>
            <a:miter lim="800000"/>
            <a:headEnd/>
            <a:tailEnd/>
          </a:ln>
          <a:effectLst/>
        </p:spPr>
        <p:txBody>
          <a:bodyPr vert="horz" wrap="square" lIns="512035" tIns="256017" rIns="512035" bIns="256017" numCol="1" anchor="t" anchorCtr="0" compatLnSpc="1">
            <a:prstTxWarp prst="textNoShape">
              <a:avLst/>
            </a:prstTxWarp>
          </a:bodyPr>
          <a:lstStyle>
            <a:lvl1pPr algn="r" eaLnBrk="1" hangingPunct="1">
              <a:defRPr sz="5867">
                <a:latin typeface="Arial" panose="020B0604020202020204" pitchFamily="34" charset="0"/>
              </a:defRPr>
            </a:lvl1pPr>
          </a:lstStyle>
          <a:p>
            <a:fld id="{0BDB88F5-6D3C-44D6-BE49-529E82C2D525}"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899866" rtl="0" eaLnBrk="0" fontAlgn="base" hangingPunct="0">
        <a:spcBef>
          <a:spcPct val="0"/>
        </a:spcBef>
        <a:spcAft>
          <a:spcPct val="0"/>
        </a:spcAft>
        <a:defRPr sz="18664">
          <a:solidFill>
            <a:schemeClr val="tx2"/>
          </a:solidFill>
          <a:latin typeface="+mj-lt"/>
          <a:ea typeface="MS PGothic" panose="020B0600070205080204" pitchFamily="34" charset="-128"/>
          <a:cs typeface="+mj-cs"/>
        </a:defRPr>
      </a:lvl1pPr>
      <a:lvl2pPr algn="ctr" defTabSz="3899866" rtl="0" eaLnBrk="0" fontAlgn="base" hangingPunct="0">
        <a:spcBef>
          <a:spcPct val="0"/>
        </a:spcBef>
        <a:spcAft>
          <a:spcPct val="0"/>
        </a:spcAft>
        <a:defRPr sz="18664">
          <a:solidFill>
            <a:schemeClr val="tx2"/>
          </a:solidFill>
          <a:latin typeface="Arial" charset="0"/>
          <a:ea typeface="MS PGothic" panose="020B0600070205080204" pitchFamily="34" charset="-128"/>
          <a:cs typeface="Arial" charset="0"/>
        </a:defRPr>
      </a:lvl2pPr>
      <a:lvl3pPr algn="ctr" defTabSz="3899866" rtl="0" eaLnBrk="0" fontAlgn="base" hangingPunct="0">
        <a:spcBef>
          <a:spcPct val="0"/>
        </a:spcBef>
        <a:spcAft>
          <a:spcPct val="0"/>
        </a:spcAft>
        <a:defRPr sz="18664">
          <a:solidFill>
            <a:schemeClr val="tx2"/>
          </a:solidFill>
          <a:latin typeface="Arial" charset="0"/>
          <a:ea typeface="MS PGothic" panose="020B0600070205080204" pitchFamily="34" charset="-128"/>
          <a:cs typeface="Arial" charset="0"/>
        </a:defRPr>
      </a:lvl3pPr>
      <a:lvl4pPr algn="ctr" defTabSz="3899866" rtl="0" eaLnBrk="0" fontAlgn="base" hangingPunct="0">
        <a:spcBef>
          <a:spcPct val="0"/>
        </a:spcBef>
        <a:spcAft>
          <a:spcPct val="0"/>
        </a:spcAft>
        <a:defRPr sz="18664">
          <a:solidFill>
            <a:schemeClr val="tx2"/>
          </a:solidFill>
          <a:latin typeface="Arial" charset="0"/>
          <a:ea typeface="MS PGothic" panose="020B0600070205080204" pitchFamily="34" charset="-128"/>
          <a:cs typeface="Arial" charset="0"/>
        </a:defRPr>
      </a:lvl4pPr>
      <a:lvl5pPr algn="ctr" defTabSz="3899866" rtl="0" eaLnBrk="0" fontAlgn="base" hangingPunct="0">
        <a:spcBef>
          <a:spcPct val="0"/>
        </a:spcBef>
        <a:spcAft>
          <a:spcPct val="0"/>
        </a:spcAft>
        <a:defRPr sz="18664">
          <a:solidFill>
            <a:schemeClr val="tx2"/>
          </a:solidFill>
          <a:latin typeface="Arial" charset="0"/>
          <a:ea typeface="MS PGothic" panose="020B0600070205080204" pitchFamily="34" charset="-128"/>
          <a:cs typeface="Arial" charset="0"/>
        </a:defRPr>
      </a:lvl5pPr>
      <a:lvl6pPr marL="406356" algn="ctr" defTabSz="3901315" rtl="0" fontAlgn="base">
        <a:spcBef>
          <a:spcPct val="0"/>
        </a:spcBef>
        <a:spcAft>
          <a:spcPct val="0"/>
        </a:spcAft>
        <a:defRPr sz="18742">
          <a:solidFill>
            <a:schemeClr val="tx2"/>
          </a:solidFill>
          <a:latin typeface="Arial" charset="0"/>
          <a:cs typeface="Arial" charset="0"/>
        </a:defRPr>
      </a:lvl6pPr>
      <a:lvl7pPr marL="812714" algn="ctr" defTabSz="3901315" rtl="0" fontAlgn="base">
        <a:spcBef>
          <a:spcPct val="0"/>
        </a:spcBef>
        <a:spcAft>
          <a:spcPct val="0"/>
        </a:spcAft>
        <a:defRPr sz="18742">
          <a:solidFill>
            <a:schemeClr val="tx2"/>
          </a:solidFill>
          <a:latin typeface="Arial" charset="0"/>
          <a:cs typeface="Arial" charset="0"/>
        </a:defRPr>
      </a:lvl7pPr>
      <a:lvl8pPr marL="1219072" algn="ctr" defTabSz="3901315" rtl="0" fontAlgn="base">
        <a:spcBef>
          <a:spcPct val="0"/>
        </a:spcBef>
        <a:spcAft>
          <a:spcPct val="0"/>
        </a:spcAft>
        <a:defRPr sz="18742">
          <a:solidFill>
            <a:schemeClr val="tx2"/>
          </a:solidFill>
          <a:latin typeface="Arial" charset="0"/>
          <a:cs typeface="Arial" charset="0"/>
        </a:defRPr>
      </a:lvl8pPr>
      <a:lvl9pPr marL="1625431" algn="ctr" defTabSz="3901315" rtl="0" fontAlgn="base">
        <a:spcBef>
          <a:spcPct val="0"/>
        </a:spcBef>
        <a:spcAft>
          <a:spcPct val="0"/>
        </a:spcAft>
        <a:defRPr sz="18742">
          <a:solidFill>
            <a:schemeClr val="tx2"/>
          </a:solidFill>
          <a:latin typeface="Arial" charset="0"/>
          <a:cs typeface="Arial" charset="0"/>
        </a:defRPr>
      </a:lvl9pPr>
    </p:titleStyle>
    <p:bodyStyle>
      <a:lvl1pPr marL="1461745" indent="-1461745" algn="l" defTabSz="3899866" rtl="0" eaLnBrk="0" fontAlgn="base" hangingPunct="0">
        <a:spcBef>
          <a:spcPct val="20000"/>
        </a:spcBef>
        <a:spcAft>
          <a:spcPct val="0"/>
        </a:spcAft>
        <a:buChar char="•"/>
        <a:defRPr sz="13689">
          <a:solidFill>
            <a:schemeClr val="tx1"/>
          </a:solidFill>
          <a:latin typeface="+mn-lt"/>
          <a:ea typeface="MS PGothic" panose="020B0600070205080204" pitchFamily="34" charset="-128"/>
          <a:cs typeface="+mn-cs"/>
        </a:defRPr>
      </a:lvl1pPr>
      <a:lvl2pPr marL="3166173" indent="-1216240" algn="l" defTabSz="3899866" rtl="0" eaLnBrk="0" fontAlgn="base" hangingPunct="0">
        <a:spcBef>
          <a:spcPct val="20000"/>
        </a:spcBef>
        <a:spcAft>
          <a:spcPct val="0"/>
        </a:spcAft>
        <a:buChar char="–"/>
        <a:defRPr sz="11731">
          <a:solidFill>
            <a:schemeClr val="tx1"/>
          </a:solidFill>
          <a:latin typeface="+mn-lt"/>
          <a:ea typeface="Arial" charset="0"/>
          <a:cs typeface="+mn-cs"/>
        </a:defRPr>
      </a:lvl2pPr>
      <a:lvl3pPr marL="4873424" indent="-973557" algn="l" defTabSz="3899866" rtl="0" eaLnBrk="0" fontAlgn="base" hangingPunct="0">
        <a:spcBef>
          <a:spcPct val="20000"/>
        </a:spcBef>
        <a:spcAft>
          <a:spcPct val="0"/>
        </a:spcAft>
        <a:buChar char="•"/>
        <a:defRPr sz="10131">
          <a:solidFill>
            <a:schemeClr val="tx1"/>
          </a:solidFill>
          <a:latin typeface="+mn-lt"/>
          <a:ea typeface="Arial" charset="0"/>
          <a:cs typeface="+mn-cs"/>
        </a:defRPr>
      </a:lvl3pPr>
      <a:lvl4pPr marL="6826179" indent="-973557" algn="l" defTabSz="3899866" rtl="0" eaLnBrk="0" fontAlgn="base" hangingPunct="0">
        <a:spcBef>
          <a:spcPct val="20000"/>
        </a:spcBef>
        <a:spcAft>
          <a:spcPct val="0"/>
        </a:spcAft>
        <a:buChar char="–"/>
        <a:defRPr sz="8533">
          <a:solidFill>
            <a:schemeClr val="tx1"/>
          </a:solidFill>
          <a:latin typeface="+mn-lt"/>
          <a:ea typeface="Arial" charset="0"/>
          <a:cs typeface="+mn-cs"/>
        </a:defRPr>
      </a:lvl4pPr>
      <a:lvl5pPr marL="8776112" indent="-973557" algn="l" defTabSz="3899866" rtl="0" eaLnBrk="0" fontAlgn="base" hangingPunct="0">
        <a:spcBef>
          <a:spcPct val="20000"/>
        </a:spcBef>
        <a:spcAft>
          <a:spcPct val="0"/>
        </a:spcAft>
        <a:buChar char="»"/>
        <a:defRPr sz="8533">
          <a:solidFill>
            <a:schemeClr val="tx1"/>
          </a:solidFill>
          <a:latin typeface="+mn-lt"/>
          <a:ea typeface="Arial" charset="0"/>
          <a:cs typeface="+mn-cs"/>
        </a:defRPr>
      </a:lvl5pPr>
      <a:lvl6pPr marL="9183963" indent="-974977" algn="l" defTabSz="3901315" rtl="0" fontAlgn="base">
        <a:spcBef>
          <a:spcPct val="20000"/>
        </a:spcBef>
        <a:spcAft>
          <a:spcPct val="0"/>
        </a:spcAft>
        <a:buChar char="»"/>
        <a:defRPr sz="8533">
          <a:solidFill>
            <a:schemeClr val="tx1"/>
          </a:solidFill>
          <a:latin typeface="+mn-lt"/>
          <a:cs typeface="+mn-cs"/>
        </a:defRPr>
      </a:lvl6pPr>
      <a:lvl7pPr marL="9590323" indent="-974977" algn="l" defTabSz="3901315" rtl="0" fontAlgn="base">
        <a:spcBef>
          <a:spcPct val="20000"/>
        </a:spcBef>
        <a:spcAft>
          <a:spcPct val="0"/>
        </a:spcAft>
        <a:buChar char="»"/>
        <a:defRPr sz="8533">
          <a:solidFill>
            <a:schemeClr val="tx1"/>
          </a:solidFill>
          <a:latin typeface="+mn-lt"/>
          <a:cs typeface="+mn-cs"/>
        </a:defRPr>
      </a:lvl7pPr>
      <a:lvl8pPr marL="9996680" indent="-974977" algn="l" defTabSz="3901315" rtl="0" fontAlgn="base">
        <a:spcBef>
          <a:spcPct val="20000"/>
        </a:spcBef>
        <a:spcAft>
          <a:spcPct val="0"/>
        </a:spcAft>
        <a:buChar char="»"/>
        <a:defRPr sz="8533">
          <a:solidFill>
            <a:schemeClr val="tx1"/>
          </a:solidFill>
          <a:latin typeface="+mn-lt"/>
          <a:cs typeface="+mn-cs"/>
        </a:defRPr>
      </a:lvl8pPr>
      <a:lvl9pPr marL="10403038" indent="-974977" algn="l" defTabSz="3901315" rtl="0" fontAlgn="base">
        <a:spcBef>
          <a:spcPct val="20000"/>
        </a:spcBef>
        <a:spcAft>
          <a:spcPct val="0"/>
        </a:spcAft>
        <a:buChar char="»"/>
        <a:defRPr sz="8533">
          <a:solidFill>
            <a:schemeClr val="tx1"/>
          </a:solidFill>
          <a:latin typeface="+mn-lt"/>
          <a:cs typeface="+mn-cs"/>
        </a:defRPr>
      </a:lvl9pPr>
    </p:bodyStyle>
    <p:otherStyle>
      <a:defPPr>
        <a:defRPr lang="en-US"/>
      </a:defPPr>
      <a:lvl1pPr marL="0" algn="l" defTabSz="812714" rtl="0" eaLnBrk="1" latinLnBrk="0" hangingPunct="1">
        <a:defRPr sz="1600" kern="1200">
          <a:solidFill>
            <a:schemeClr val="tx1"/>
          </a:solidFill>
          <a:latin typeface="+mn-lt"/>
          <a:ea typeface="+mn-ea"/>
          <a:cs typeface="+mn-cs"/>
        </a:defRPr>
      </a:lvl1pPr>
      <a:lvl2pPr marL="406356" algn="l" defTabSz="812714" rtl="0" eaLnBrk="1" latinLnBrk="0" hangingPunct="1">
        <a:defRPr sz="1600" kern="1200">
          <a:solidFill>
            <a:schemeClr val="tx1"/>
          </a:solidFill>
          <a:latin typeface="+mn-lt"/>
          <a:ea typeface="+mn-ea"/>
          <a:cs typeface="+mn-cs"/>
        </a:defRPr>
      </a:lvl2pPr>
      <a:lvl3pPr marL="812714" algn="l" defTabSz="812714" rtl="0" eaLnBrk="1" latinLnBrk="0" hangingPunct="1">
        <a:defRPr sz="1600" kern="1200">
          <a:solidFill>
            <a:schemeClr val="tx1"/>
          </a:solidFill>
          <a:latin typeface="+mn-lt"/>
          <a:ea typeface="+mn-ea"/>
          <a:cs typeface="+mn-cs"/>
        </a:defRPr>
      </a:lvl3pPr>
      <a:lvl4pPr marL="1219072" algn="l" defTabSz="812714" rtl="0" eaLnBrk="1" latinLnBrk="0" hangingPunct="1">
        <a:defRPr sz="1600" kern="1200">
          <a:solidFill>
            <a:schemeClr val="tx1"/>
          </a:solidFill>
          <a:latin typeface="+mn-lt"/>
          <a:ea typeface="+mn-ea"/>
          <a:cs typeface="+mn-cs"/>
        </a:defRPr>
      </a:lvl4pPr>
      <a:lvl5pPr marL="1625431" algn="l" defTabSz="812714" rtl="0" eaLnBrk="1" latinLnBrk="0" hangingPunct="1">
        <a:defRPr sz="1600" kern="1200">
          <a:solidFill>
            <a:schemeClr val="tx1"/>
          </a:solidFill>
          <a:latin typeface="+mn-lt"/>
          <a:ea typeface="+mn-ea"/>
          <a:cs typeface="+mn-cs"/>
        </a:defRPr>
      </a:lvl5pPr>
      <a:lvl6pPr marL="2031789" algn="l" defTabSz="812714" rtl="0" eaLnBrk="1" latinLnBrk="0" hangingPunct="1">
        <a:defRPr sz="1600" kern="1200">
          <a:solidFill>
            <a:schemeClr val="tx1"/>
          </a:solidFill>
          <a:latin typeface="+mn-lt"/>
          <a:ea typeface="+mn-ea"/>
          <a:cs typeface="+mn-cs"/>
        </a:defRPr>
      </a:lvl6pPr>
      <a:lvl7pPr marL="2438145" algn="l" defTabSz="812714" rtl="0" eaLnBrk="1" latinLnBrk="0" hangingPunct="1">
        <a:defRPr sz="1600" kern="1200">
          <a:solidFill>
            <a:schemeClr val="tx1"/>
          </a:solidFill>
          <a:latin typeface="+mn-lt"/>
          <a:ea typeface="+mn-ea"/>
          <a:cs typeface="+mn-cs"/>
        </a:defRPr>
      </a:lvl7pPr>
      <a:lvl8pPr marL="2844503" algn="l" defTabSz="812714" rtl="0" eaLnBrk="1" latinLnBrk="0" hangingPunct="1">
        <a:defRPr sz="1600" kern="1200">
          <a:solidFill>
            <a:schemeClr val="tx1"/>
          </a:solidFill>
          <a:latin typeface="+mn-lt"/>
          <a:ea typeface="+mn-ea"/>
          <a:cs typeface="+mn-cs"/>
        </a:defRPr>
      </a:lvl8pPr>
      <a:lvl9pPr marL="3250859" algn="l" defTabSz="812714" rtl="0" eaLnBrk="1" latinLnBrk="0" hangingPunct="1">
        <a:defRPr sz="1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jpe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19" name="Picture 15418">
            <a:extLst>
              <a:ext uri="{FF2B5EF4-FFF2-40B4-BE49-F238E27FC236}">
                <a16:creationId xmlns:a16="http://schemas.microsoft.com/office/drawing/2014/main" id="{3DEE09E8-3642-9692-62D9-025C5C2AC14D}"/>
              </a:ext>
            </a:extLst>
          </p:cNvPr>
          <p:cNvPicPr>
            <a:picLocks noChangeAspect="1"/>
          </p:cNvPicPr>
          <p:nvPr/>
        </p:nvPicPr>
        <p:blipFill rotWithShape="1">
          <a:blip r:embed="rId3"/>
          <a:srcRect r="15362"/>
          <a:stretch/>
        </p:blipFill>
        <p:spPr>
          <a:xfrm>
            <a:off x="16219381" y="15121672"/>
            <a:ext cx="7118354" cy="6719107"/>
          </a:xfrm>
          <a:prstGeom prst="rect">
            <a:avLst/>
          </a:prstGeom>
        </p:spPr>
      </p:pic>
      <p:pic>
        <p:nvPicPr>
          <p:cNvPr id="15360" name="Picture 15359">
            <a:extLst>
              <a:ext uri="{FF2B5EF4-FFF2-40B4-BE49-F238E27FC236}">
                <a16:creationId xmlns:a16="http://schemas.microsoft.com/office/drawing/2014/main" id="{AC270702-158B-C1B1-4591-6A59B625B856}"/>
              </a:ext>
            </a:extLst>
          </p:cNvPr>
          <p:cNvPicPr>
            <a:picLocks noChangeAspect="1"/>
          </p:cNvPicPr>
          <p:nvPr/>
        </p:nvPicPr>
        <p:blipFill>
          <a:blip r:embed="rId4"/>
          <a:stretch>
            <a:fillRect/>
          </a:stretch>
        </p:blipFill>
        <p:spPr>
          <a:xfrm>
            <a:off x="731391" y="14786609"/>
            <a:ext cx="13809387" cy="11990694"/>
          </a:xfrm>
          <a:prstGeom prst="rect">
            <a:avLst/>
          </a:prstGeom>
        </p:spPr>
      </p:pic>
      <p:sp>
        <p:nvSpPr>
          <p:cNvPr id="15362" name="TextBox 189"/>
          <p:cNvSpPr txBox="1">
            <a:spLocks noChangeArrowheads="1"/>
          </p:cNvSpPr>
          <p:nvPr/>
        </p:nvSpPr>
        <p:spPr bwMode="auto">
          <a:xfrm>
            <a:off x="515553" y="4761579"/>
            <a:ext cx="14526988" cy="5016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spcBef>
                <a:spcPts val="0"/>
              </a:spcBef>
              <a:spcAft>
                <a:spcPts val="0"/>
              </a:spcAft>
              <a:buFont typeface="Arial" panose="020B0604020202020204" pitchFamily="34" charset="0"/>
              <a:buChar char="•"/>
            </a:pPr>
            <a:r>
              <a:rPr lang="en-US" sz="4000" dirty="0">
                <a:latin typeface="Helvetica"/>
                <a:ea typeface="MS PGothic"/>
                <a:cs typeface="Helvetica"/>
              </a:rPr>
              <a:t> </a:t>
            </a:r>
            <a:r>
              <a:rPr lang="en-US" sz="4000" b="0" i="0" dirty="0">
                <a:solidFill>
                  <a:srgbClr val="000000"/>
                </a:solidFill>
                <a:effectLst/>
                <a:latin typeface="Helvetica" pitchFamily="2" charset="0"/>
              </a:rPr>
              <a:t>Social relationships influence our behaviors and may modulate our neural responses to reward.</a:t>
            </a:r>
            <a:endParaRPr lang="en-US" sz="4000" dirty="0">
              <a:latin typeface="Helvetica" pitchFamily="2" charset="0"/>
              <a:ea typeface="MS PGothic"/>
              <a:cs typeface="Helvetica"/>
            </a:endParaRPr>
          </a:p>
          <a:p>
            <a:pPr>
              <a:spcBef>
                <a:spcPts val="0"/>
              </a:spcBef>
              <a:spcAft>
                <a:spcPts val="0"/>
              </a:spcAft>
              <a:buFont typeface="Arial" panose="020B0604020202020204" pitchFamily="34" charset="0"/>
              <a:buChar char="•"/>
            </a:pPr>
            <a:r>
              <a:rPr lang="en-US" sz="4000" dirty="0">
                <a:latin typeface="Helvetica"/>
                <a:ea typeface="MS PGothic"/>
                <a:cs typeface="Helvetica"/>
              </a:rPr>
              <a:t> </a:t>
            </a:r>
            <a:r>
              <a:rPr lang="en-US" sz="4000" dirty="0">
                <a:solidFill>
                  <a:srgbClr val="000000"/>
                </a:solidFill>
                <a:latin typeface="Helvetica" pitchFamily="2" charset="0"/>
                <a:ea typeface="MS PGothic"/>
                <a:cs typeface="Helvetica"/>
              </a:rPr>
              <a:t>Th</a:t>
            </a:r>
            <a:r>
              <a:rPr lang="en-US" sz="4000" b="0" i="0" dirty="0">
                <a:solidFill>
                  <a:srgbClr val="000000"/>
                </a:solidFill>
                <a:effectLst/>
                <a:latin typeface="Helvetica" pitchFamily="2" charset="0"/>
              </a:rPr>
              <a:t>e effect of relationships on behavior and reward may change as we age.</a:t>
            </a:r>
          </a:p>
          <a:p>
            <a:pPr>
              <a:spcBef>
                <a:spcPts val="0"/>
              </a:spcBef>
              <a:spcAft>
                <a:spcPts val="0"/>
              </a:spcAft>
            </a:pPr>
            <a:endParaRPr lang="en-US" sz="4000" dirty="0">
              <a:latin typeface="Helvetica" pitchFamily="2" charset="0"/>
              <a:ea typeface="MS PGothic"/>
              <a:cs typeface="Helvetica"/>
            </a:endParaRPr>
          </a:p>
          <a:p>
            <a:pPr>
              <a:spcBef>
                <a:spcPts val="0"/>
              </a:spcBef>
              <a:spcAft>
                <a:spcPts val="0"/>
              </a:spcAft>
            </a:pPr>
            <a:r>
              <a:rPr lang="en-US" sz="4000" b="0" i="1" dirty="0">
                <a:solidFill>
                  <a:srgbClr val="000000"/>
                </a:solidFill>
                <a:effectLst/>
                <a:latin typeface="Helvetica" pitchFamily="2" charset="0"/>
              </a:rPr>
              <a:t>It remains unclear whether age-related differences in responses to trust are associated with maladaptive outcomes such as financial exploitation.</a:t>
            </a:r>
            <a:endParaRPr lang="en-US" sz="4000" i="1" dirty="0">
              <a:latin typeface="Helvetica" pitchFamily="2" charset="0"/>
              <a:ea typeface="MS PGothic"/>
              <a:cs typeface="Helvetica"/>
            </a:endParaRPr>
          </a:p>
        </p:txBody>
      </p:sp>
      <p:cxnSp>
        <p:nvCxnSpPr>
          <p:cNvPr id="20" name="Connector: Elbow 19">
            <a:extLst>
              <a:ext uri="{FF2B5EF4-FFF2-40B4-BE49-F238E27FC236}">
                <a16:creationId xmlns:a16="http://schemas.microsoft.com/office/drawing/2014/main" id="{4C9C54D6-8639-996D-7EDB-4A5B70577FDF}"/>
              </a:ext>
            </a:extLst>
          </p:cNvPr>
          <p:cNvCxnSpPr>
            <a:cxnSpLocks/>
          </p:cNvCxnSpPr>
          <p:nvPr/>
        </p:nvCxnSpPr>
        <p:spPr bwMode="auto">
          <a:xfrm rot="5400000" flipH="1" flipV="1">
            <a:off x="12669884" y="17644497"/>
            <a:ext cx="1688566" cy="1086896"/>
          </a:xfrm>
          <a:prstGeom prst="bentConnector3">
            <a:avLst>
              <a:gd name="adj1" fmla="val -2742"/>
            </a:avLst>
          </a:prstGeom>
          <a:solidFill>
            <a:schemeClr val="accent1"/>
          </a:solidFill>
          <a:ln w="76200" cap="flat" cmpd="sng" algn="ctr">
            <a:solidFill>
              <a:schemeClr val="tx1"/>
            </a:solidFill>
            <a:prstDash val="dash"/>
            <a:round/>
            <a:headEnd type="none" w="med" len="med"/>
            <a:tailEnd type="triangle"/>
          </a:ln>
          <a:effectLst/>
        </p:spPr>
      </p:cxnSp>
      <p:sp>
        <p:nvSpPr>
          <p:cNvPr id="15365" name="Rectangle 162"/>
          <p:cNvSpPr>
            <a:spLocks noChangeArrowheads="1"/>
          </p:cNvSpPr>
          <p:nvPr/>
        </p:nvSpPr>
        <p:spPr bwMode="auto">
          <a:xfrm>
            <a:off x="338498" y="12420397"/>
            <a:ext cx="14710114" cy="20245086"/>
          </a:xfrm>
          <a:prstGeom prst="rect">
            <a:avLst/>
          </a:prstGeom>
          <a:noFill/>
          <a:ln w="762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lIns="81274" tIns="40638" rIns="81274" bIns="40638" anchor="ct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eaLnBrk="1" hangingPunct="1"/>
            <a:endParaRPr lang="en-US" altLang="en-US" sz="1245">
              <a:latin typeface="Trebuchet MS" panose="020B0603020202020204" pitchFamily="34" charset="0"/>
            </a:endParaRPr>
          </a:p>
        </p:txBody>
      </p:sp>
      <p:sp>
        <p:nvSpPr>
          <p:cNvPr id="15367" name="Rectangle 162"/>
          <p:cNvSpPr>
            <a:spLocks noChangeArrowheads="1"/>
          </p:cNvSpPr>
          <p:nvPr/>
        </p:nvSpPr>
        <p:spPr bwMode="auto">
          <a:xfrm>
            <a:off x="15456311" y="4238464"/>
            <a:ext cx="14842502" cy="9451143"/>
          </a:xfrm>
          <a:prstGeom prst="rect">
            <a:avLst/>
          </a:prstGeom>
          <a:noFill/>
          <a:ln w="762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lIns="81274" tIns="40638" rIns="81274" bIns="40638" anchor="ct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eaLnBrk="1" hangingPunct="1"/>
            <a:endParaRPr lang="en-US" altLang="en-US" sz="1245">
              <a:latin typeface="Trebuchet MS" panose="020B0603020202020204" pitchFamily="34" charset="0"/>
            </a:endParaRPr>
          </a:p>
        </p:txBody>
      </p:sp>
      <p:sp>
        <p:nvSpPr>
          <p:cNvPr id="15369" name="Rectangle 162"/>
          <p:cNvSpPr>
            <a:spLocks noChangeArrowheads="1"/>
          </p:cNvSpPr>
          <p:nvPr/>
        </p:nvSpPr>
        <p:spPr bwMode="auto">
          <a:xfrm>
            <a:off x="338497" y="4246055"/>
            <a:ext cx="14720168" cy="7760911"/>
          </a:xfrm>
          <a:prstGeom prst="rect">
            <a:avLst/>
          </a:prstGeom>
          <a:noFill/>
          <a:ln w="762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lIns="81274" tIns="40638" rIns="81274" bIns="40638" anchor="ct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eaLnBrk="1" hangingPunct="1"/>
            <a:endParaRPr lang="en-US" altLang="en-US" sz="1245">
              <a:latin typeface="Trebuchet MS" panose="020B0603020202020204" pitchFamily="34" charset="0"/>
            </a:endParaRPr>
          </a:p>
        </p:txBody>
      </p:sp>
      <p:sp>
        <p:nvSpPr>
          <p:cNvPr id="15388" name="TextBox 2"/>
          <p:cNvSpPr txBox="1">
            <a:spLocks noChangeArrowheads="1"/>
          </p:cNvSpPr>
          <p:nvPr/>
        </p:nvSpPr>
        <p:spPr bwMode="auto">
          <a:xfrm>
            <a:off x="4842671" y="1958662"/>
            <a:ext cx="33932768"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eaLnBrk="1" hangingPunct="1"/>
            <a:r>
              <a:rPr lang="en-US" sz="4000" i="0" dirty="0">
                <a:solidFill>
                  <a:srgbClr val="000000"/>
                </a:solidFill>
                <a:effectLst/>
                <a:latin typeface="Times New Roman" panose="02020603050405020304" pitchFamily="18" charset="0"/>
              </a:rPr>
              <a:t>Abraham Dachs</a:t>
            </a:r>
            <a:r>
              <a:rPr lang="en-US" sz="4000" i="0" baseline="30000" dirty="0">
                <a:solidFill>
                  <a:srgbClr val="000000"/>
                </a:solidFill>
                <a:effectLst/>
                <a:latin typeface="Times New Roman" panose="02020603050405020304" pitchFamily="18" charset="0"/>
              </a:rPr>
              <a:t>1</a:t>
            </a:r>
            <a:r>
              <a:rPr lang="en-US" sz="4000" i="0" dirty="0">
                <a:solidFill>
                  <a:srgbClr val="000000"/>
                </a:solidFill>
                <a:effectLst/>
                <a:latin typeface="Times New Roman" panose="02020603050405020304" pitchFamily="18" charset="0"/>
              </a:rPr>
              <a:t>, Cooper J. Sharp</a:t>
            </a:r>
            <a:r>
              <a:rPr lang="en-US" sz="4000" i="0" baseline="30000" dirty="0">
                <a:solidFill>
                  <a:srgbClr val="000000"/>
                </a:solidFill>
                <a:effectLst/>
                <a:latin typeface="Times New Roman" panose="02020603050405020304" pitchFamily="18" charset="0"/>
              </a:rPr>
              <a:t>1</a:t>
            </a:r>
            <a:r>
              <a:rPr lang="en-US" sz="4000" i="0" dirty="0">
                <a:solidFill>
                  <a:srgbClr val="000000"/>
                </a:solidFill>
                <a:effectLst/>
                <a:latin typeface="Times New Roman" panose="02020603050405020304" pitchFamily="18" charset="0"/>
              </a:rPr>
              <a:t>, Enes Yanilmaz</a:t>
            </a:r>
            <a:r>
              <a:rPr lang="en-US" sz="4000" i="0" baseline="30000" dirty="0">
                <a:solidFill>
                  <a:srgbClr val="000000"/>
                </a:solidFill>
                <a:effectLst/>
                <a:latin typeface="Times New Roman" panose="02020603050405020304" pitchFamily="18" charset="0"/>
              </a:rPr>
              <a:t>1</a:t>
            </a:r>
            <a:r>
              <a:rPr lang="en-US" sz="4000" i="0" dirty="0">
                <a:solidFill>
                  <a:srgbClr val="000000"/>
                </a:solidFill>
                <a:effectLst/>
                <a:latin typeface="Times New Roman" panose="02020603050405020304" pitchFamily="18" charset="0"/>
              </a:rPr>
              <a:t>, James B. </a:t>
            </a:r>
            <a:r>
              <a:rPr lang="en-US" sz="4000" i="0" dirty="0" err="1">
                <a:solidFill>
                  <a:srgbClr val="000000"/>
                </a:solidFill>
                <a:effectLst/>
                <a:latin typeface="Times New Roman" panose="02020603050405020304" pitchFamily="18" charset="0"/>
              </a:rPr>
              <a:t>Wyngaarden</a:t>
            </a:r>
            <a:r>
              <a:rPr lang="en-US" sz="4000" i="0" dirty="0">
                <a:solidFill>
                  <a:srgbClr val="000000"/>
                </a:solidFill>
                <a:effectLst/>
                <a:latin typeface="Times New Roman" panose="02020603050405020304" pitchFamily="18" charset="0"/>
              </a:rPr>
              <a:t> III</a:t>
            </a:r>
            <a:r>
              <a:rPr lang="en-US" sz="4000" i="0" baseline="30000" dirty="0">
                <a:solidFill>
                  <a:srgbClr val="000000"/>
                </a:solidFill>
                <a:effectLst/>
                <a:latin typeface="Times New Roman" panose="02020603050405020304" pitchFamily="18" charset="0"/>
              </a:rPr>
              <a:t>1</a:t>
            </a:r>
            <a:r>
              <a:rPr lang="en-US" sz="4000" i="0" dirty="0">
                <a:solidFill>
                  <a:srgbClr val="000000"/>
                </a:solidFill>
                <a:effectLst/>
                <a:latin typeface="Times New Roman" panose="02020603050405020304" pitchFamily="18" charset="0"/>
              </a:rPr>
              <a:t>, Ori Zaff</a:t>
            </a:r>
            <a:r>
              <a:rPr lang="en-US" sz="4000" i="0" baseline="30000" dirty="0">
                <a:solidFill>
                  <a:srgbClr val="000000"/>
                </a:solidFill>
                <a:effectLst/>
                <a:latin typeface="Times New Roman" panose="02020603050405020304" pitchFamily="18" charset="0"/>
              </a:rPr>
              <a:t>2</a:t>
            </a:r>
            <a:r>
              <a:rPr lang="en-US" sz="4000" i="0" dirty="0">
                <a:solidFill>
                  <a:srgbClr val="000000"/>
                </a:solidFill>
                <a:effectLst/>
                <a:latin typeface="Times New Roman" panose="02020603050405020304" pitchFamily="18" charset="0"/>
              </a:rPr>
              <a:t>, Tia Tropea</a:t>
            </a:r>
            <a:r>
              <a:rPr lang="en-US" sz="4000" i="0" baseline="30000" dirty="0">
                <a:solidFill>
                  <a:srgbClr val="000000"/>
                </a:solidFill>
                <a:effectLst/>
                <a:latin typeface="Times New Roman" panose="02020603050405020304" pitchFamily="18" charset="0"/>
              </a:rPr>
              <a:t>1</a:t>
            </a:r>
            <a:r>
              <a:rPr lang="en-US" sz="4000" i="0" dirty="0">
                <a:solidFill>
                  <a:srgbClr val="000000"/>
                </a:solidFill>
                <a:effectLst/>
                <a:latin typeface="Times New Roman" panose="02020603050405020304" pitchFamily="18" charset="0"/>
              </a:rPr>
              <a:t>, Daniel Sazhin</a:t>
            </a:r>
            <a:r>
              <a:rPr lang="en-US" sz="4000" i="0" baseline="30000" dirty="0">
                <a:solidFill>
                  <a:srgbClr val="000000"/>
                </a:solidFill>
                <a:effectLst/>
                <a:latin typeface="Times New Roman" panose="02020603050405020304" pitchFamily="18" charset="0"/>
              </a:rPr>
              <a:t>1</a:t>
            </a:r>
            <a:r>
              <a:rPr lang="en-US" sz="4000" i="0" dirty="0">
                <a:solidFill>
                  <a:srgbClr val="000000"/>
                </a:solidFill>
                <a:effectLst/>
                <a:latin typeface="Times New Roman" panose="02020603050405020304" pitchFamily="18" charset="0"/>
              </a:rPr>
              <a:t>, Rita Ludwig</a:t>
            </a:r>
            <a:r>
              <a:rPr lang="en-US" sz="4000" i="0" baseline="30000" dirty="0">
                <a:solidFill>
                  <a:srgbClr val="000000"/>
                </a:solidFill>
                <a:effectLst/>
                <a:latin typeface="Times New Roman" panose="02020603050405020304" pitchFamily="18" charset="0"/>
              </a:rPr>
              <a:t>2</a:t>
            </a:r>
            <a:r>
              <a:rPr lang="en-US" sz="4000" i="0" dirty="0">
                <a:solidFill>
                  <a:srgbClr val="000000"/>
                </a:solidFill>
                <a:effectLst/>
                <a:latin typeface="Times New Roman" panose="02020603050405020304" pitchFamily="18" charset="0"/>
              </a:rPr>
              <a:t>, Tania Giovannetti</a:t>
            </a:r>
            <a:r>
              <a:rPr lang="en-US" sz="4000" i="0" baseline="30000" dirty="0">
                <a:solidFill>
                  <a:srgbClr val="000000"/>
                </a:solidFill>
                <a:effectLst/>
                <a:latin typeface="Times New Roman" panose="02020603050405020304" pitchFamily="18" charset="0"/>
              </a:rPr>
              <a:t>1</a:t>
            </a:r>
            <a:r>
              <a:rPr lang="en-US" sz="4000" i="0" dirty="0">
                <a:solidFill>
                  <a:srgbClr val="000000"/>
                </a:solidFill>
                <a:effectLst/>
                <a:latin typeface="Times New Roman" panose="02020603050405020304" pitchFamily="18" charset="0"/>
              </a:rPr>
              <a:t>, Dominic S. Fareri</a:t>
            </a:r>
            <a:r>
              <a:rPr lang="en-US" sz="4000" baseline="30000" dirty="0">
                <a:solidFill>
                  <a:srgbClr val="000000"/>
                </a:solidFill>
                <a:latin typeface="Times New Roman" panose="02020603050405020304" pitchFamily="18" charset="0"/>
              </a:rPr>
              <a:t>3</a:t>
            </a:r>
            <a:r>
              <a:rPr lang="en-US" sz="4000" i="0" dirty="0">
                <a:solidFill>
                  <a:srgbClr val="000000"/>
                </a:solidFill>
                <a:effectLst/>
                <a:latin typeface="Times New Roman" panose="02020603050405020304" pitchFamily="18" charset="0"/>
              </a:rPr>
              <a:t>, David V. Smith</a:t>
            </a:r>
            <a:r>
              <a:rPr lang="en-US" sz="4000" i="0" baseline="30000" dirty="0">
                <a:solidFill>
                  <a:srgbClr val="000000"/>
                </a:solidFill>
                <a:effectLst/>
                <a:latin typeface="Times New Roman" panose="02020603050405020304" pitchFamily="18" charset="0"/>
              </a:rPr>
              <a:t>1</a:t>
            </a:r>
            <a:r>
              <a:rPr lang="en-US" sz="4000" i="0" dirty="0">
                <a:solidFill>
                  <a:srgbClr val="000000"/>
                </a:solidFill>
                <a:effectLst/>
                <a:latin typeface="Times New Roman" panose="02020603050405020304" pitchFamily="18" charset="0"/>
              </a:rPr>
              <a:t> </a:t>
            </a:r>
            <a:br>
              <a:rPr lang="en-US" sz="4000" dirty="0">
                <a:cs typeface="Helvetica" panose="020B0604020202020204" pitchFamily="34" charset="0"/>
              </a:rPr>
            </a:br>
            <a:endParaRPr lang="en-US" altLang="en-US" sz="4000" dirty="0">
              <a:cs typeface="Helvetica" panose="020B0604020202020204" pitchFamily="34" charset="0"/>
            </a:endParaRPr>
          </a:p>
        </p:txBody>
      </p:sp>
      <p:sp>
        <p:nvSpPr>
          <p:cNvPr id="15371" name="TextBox 15370"/>
          <p:cNvSpPr txBox="1"/>
          <p:nvPr/>
        </p:nvSpPr>
        <p:spPr>
          <a:xfrm>
            <a:off x="4914676" y="503969"/>
            <a:ext cx="33151930" cy="1353960"/>
          </a:xfrm>
          <a:prstGeom prst="rect">
            <a:avLst/>
          </a:prstGeom>
          <a:noFill/>
        </p:spPr>
        <p:txBody>
          <a:bodyPr wrap="square" lIns="91440" tIns="45720" rIns="91440" bIns="45720" rtlCol="0" anchor="t">
            <a:spAutoFit/>
          </a:bodyPr>
          <a:lstStyle/>
          <a:p>
            <a:pPr algn="ctr">
              <a:lnSpc>
                <a:spcPct val="107000"/>
              </a:lnSpc>
              <a:spcBef>
                <a:spcPts val="0"/>
              </a:spcBef>
              <a:spcAft>
                <a:spcPts val="800"/>
              </a:spcAft>
            </a:pPr>
            <a:r>
              <a:rPr lang="en-US" sz="8000" b="1" i="0" dirty="0">
                <a:solidFill>
                  <a:srgbClr val="000000"/>
                </a:solidFill>
                <a:effectLst/>
                <a:latin typeface="Times New Roman" panose="02020603050405020304" pitchFamily="18" charset="0"/>
              </a:rPr>
              <a:t>Examining Age-Related Differences in Neural Responses to Trust</a:t>
            </a:r>
            <a:endParaRPr lang="en-US" sz="8000" dirty="0">
              <a:effectLst/>
              <a:latin typeface="Helvetica"/>
              <a:ea typeface="Calibri" panose="020F0502020204030204" pitchFamily="34" charset="0"/>
              <a:cs typeface="Helvetica"/>
            </a:endParaRPr>
          </a:p>
        </p:txBody>
      </p:sp>
      <p:sp>
        <p:nvSpPr>
          <p:cNvPr id="15361" name="Rectangle 200"/>
          <p:cNvSpPr>
            <a:spLocks noChangeArrowheads="1"/>
          </p:cNvSpPr>
          <p:nvPr/>
        </p:nvSpPr>
        <p:spPr bwMode="auto">
          <a:xfrm>
            <a:off x="4858205" y="3968278"/>
            <a:ext cx="4805795" cy="738724"/>
          </a:xfrm>
          <a:prstGeom prst="rect">
            <a:avLst/>
          </a:prstGeom>
          <a:solidFill>
            <a:schemeClr val="bg1"/>
          </a:solidFill>
          <a:ln>
            <a:noFill/>
          </a:ln>
        </p:spPr>
        <p:txBody>
          <a:bodyPr wrap="square" lIns="81274" tIns="40638" rIns="81274" bIns="40638">
            <a:spAutoFit/>
          </a:bodyPr>
          <a:lstStyle>
            <a:lvl1pPr defTabSz="5119688">
              <a:defRPr sz="2400">
                <a:solidFill>
                  <a:schemeClr val="tx1"/>
                </a:solidFill>
                <a:latin typeface="Helvetica" panose="020B0604020202020204" pitchFamily="34" charset="0"/>
                <a:ea typeface="MS PGothic" panose="020B0600070205080204" pitchFamily="34" charset="-128"/>
              </a:defRPr>
            </a:lvl1pPr>
            <a:lvl2pPr marL="742950" indent="-285750" defTabSz="5119688">
              <a:defRPr sz="2400">
                <a:solidFill>
                  <a:schemeClr val="tx1"/>
                </a:solidFill>
                <a:latin typeface="Helvetica" panose="020B0604020202020204" pitchFamily="34" charset="0"/>
                <a:ea typeface="MS PGothic" panose="020B0600070205080204" pitchFamily="34" charset="-128"/>
              </a:defRPr>
            </a:lvl2pPr>
            <a:lvl3pPr marL="1143000" indent="-228600" defTabSz="5119688">
              <a:defRPr sz="2400">
                <a:solidFill>
                  <a:schemeClr val="tx1"/>
                </a:solidFill>
                <a:latin typeface="Helvetica" panose="020B0604020202020204" pitchFamily="34" charset="0"/>
                <a:ea typeface="MS PGothic" panose="020B0600070205080204" pitchFamily="34" charset="-128"/>
              </a:defRPr>
            </a:lvl3pPr>
            <a:lvl4pPr marL="1600200" indent="-228600" defTabSz="5119688">
              <a:defRPr sz="2400">
                <a:solidFill>
                  <a:schemeClr val="tx1"/>
                </a:solidFill>
                <a:latin typeface="Helvetica" panose="020B0604020202020204" pitchFamily="34" charset="0"/>
                <a:ea typeface="MS PGothic" panose="020B0600070205080204" pitchFamily="34" charset="-128"/>
              </a:defRPr>
            </a:lvl4pPr>
            <a:lvl5pPr marL="2057400" indent="-228600" defTabSz="5119688">
              <a:defRPr sz="2400">
                <a:solidFill>
                  <a:schemeClr val="tx1"/>
                </a:solidFill>
                <a:latin typeface="Helvetica" panose="020B0604020202020204" pitchFamily="34" charset="0"/>
                <a:ea typeface="MS PGothic" panose="020B0600070205080204" pitchFamily="34" charset="-128"/>
              </a:defRPr>
            </a:lvl5pPr>
            <a:lvl6pPr marL="2514600" indent="-228600" defTabSz="5119688"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defTabSz="5119688"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defTabSz="5119688"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defTabSz="5119688"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spcBef>
                <a:spcPct val="50000"/>
              </a:spcBef>
            </a:pPr>
            <a:r>
              <a:rPr lang="en-US" altLang="en-US" sz="4267" b="1">
                <a:solidFill>
                  <a:srgbClr val="C00000"/>
                </a:solidFill>
                <a:latin typeface="Trebuchet MS" panose="020B0603020202020204" pitchFamily="34" charset="0"/>
              </a:rPr>
              <a:t>1. Introduction</a:t>
            </a:r>
          </a:p>
        </p:txBody>
      </p:sp>
      <p:sp>
        <p:nvSpPr>
          <p:cNvPr id="15364" name="TextBox 4"/>
          <p:cNvSpPr txBox="1">
            <a:spLocks noChangeArrowheads="1"/>
          </p:cNvSpPr>
          <p:nvPr/>
        </p:nvSpPr>
        <p:spPr bwMode="auto">
          <a:xfrm>
            <a:off x="5483063" y="12207796"/>
            <a:ext cx="4095681" cy="748988"/>
          </a:xfrm>
          <a:prstGeom prst="rect">
            <a:avLst/>
          </a:prstGeom>
          <a:solidFill>
            <a:schemeClr val="bg1"/>
          </a:solidFill>
          <a:ln>
            <a:noFill/>
          </a:ln>
        </p:spPr>
        <p:txBody>
          <a:bodyPr wrap="square">
            <a:spAutoFit/>
          </a:bodyP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sz="4267" b="1" dirty="0">
                <a:solidFill>
                  <a:srgbClr val="C00000"/>
                </a:solidFill>
                <a:latin typeface="Trebuchet MS" panose="020B0603020202020204" pitchFamily="34" charset="0"/>
              </a:rPr>
              <a:t>2. Methods</a:t>
            </a:r>
          </a:p>
        </p:txBody>
      </p:sp>
      <p:sp>
        <p:nvSpPr>
          <p:cNvPr id="15366" name="TextBox 86"/>
          <p:cNvSpPr txBox="1">
            <a:spLocks noChangeArrowheads="1"/>
          </p:cNvSpPr>
          <p:nvPr/>
        </p:nvSpPr>
        <p:spPr bwMode="auto">
          <a:xfrm>
            <a:off x="15671037" y="3834958"/>
            <a:ext cx="14465760" cy="748988"/>
          </a:xfrm>
          <a:prstGeom prst="rect">
            <a:avLst/>
          </a:prstGeom>
          <a:solidFill>
            <a:schemeClr val="bg1"/>
          </a:solidFill>
          <a:ln>
            <a:noFill/>
          </a:ln>
        </p:spPr>
        <p:txBody>
          <a:bodyPr wrap="square">
            <a:spAutoFit/>
          </a:bodyP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sz="4267" b="1" dirty="0">
                <a:solidFill>
                  <a:srgbClr val="C00000"/>
                </a:solidFill>
                <a:latin typeface="Trebuchet MS" panose="020B0603020202020204" pitchFamily="34" charset="0"/>
              </a:rPr>
              <a:t>3. Behavioral Results Indicate Subjects Act Strategically </a:t>
            </a:r>
          </a:p>
        </p:txBody>
      </p:sp>
      <p:sp>
        <p:nvSpPr>
          <p:cNvPr id="59" name="Rectangle 162"/>
          <p:cNvSpPr>
            <a:spLocks noChangeArrowheads="1"/>
          </p:cNvSpPr>
          <p:nvPr/>
        </p:nvSpPr>
        <p:spPr bwMode="auto">
          <a:xfrm>
            <a:off x="15470884" y="23615697"/>
            <a:ext cx="14827930" cy="9081591"/>
          </a:xfrm>
          <a:prstGeom prst="rect">
            <a:avLst/>
          </a:prstGeom>
          <a:noFill/>
          <a:ln w="762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lIns="81274" tIns="40638" rIns="81274" bIns="40638" anchor="ct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eaLnBrk="1" hangingPunct="1"/>
            <a:endParaRPr lang="en-US" altLang="en-US" sz="1245" u="sng">
              <a:latin typeface="Trebuchet MS" panose="020B0603020202020204" pitchFamily="34" charset="0"/>
            </a:endParaRPr>
          </a:p>
        </p:txBody>
      </p:sp>
      <p:sp>
        <p:nvSpPr>
          <p:cNvPr id="69" name="TextBox 86">
            <a:extLst>
              <a:ext uri="{FF2B5EF4-FFF2-40B4-BE49-F238E27FC236}">
                <a16:creationId xmlns:a16="http://schemas.microsoft.com/office/drawing/2014/main" id="{339DA1BB-33FF-4114-BF82-410123DBAF36}"/>
              </a:ext>
            </a:extLst>
          </p:cNvPr>
          <p:cNvSpPr txBox="1">
            <a:spLocks noChangeArrowheads="1"/>
          </p:cNvSpPr>
          <p:nvPr/>
        </p:nvSpPr>
        <p:spPr bwMode="auto">
          <a:xfrm>
            <a:off x="16115146" y="23250026"/>
            <a:ext cx="13562675" cy="746358"/>
          </a:xfrm>
          <a:prstGeom prst="rect">
            <a:avLst/>
          </a:prstGeom>
          <a:solidFill>
            <a:schemeClr val="bg1"/>
          </a:solidFill>
          <a:ln>
            <a:noFill/>
          </a:ln>
        </p:spPr>
        <p:txBody>
          <a:bodyPr wrap="square" lIns="91440" tIns="45720" rIns="91440" bIns="45720" anchor="t">
            <a:spAutoFit/>
          </a:bodyP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sz="4250" b="1">
                <a:solidFill>
                  <a:srgbClr val="C00000"/>
                </a:solidFill>
                <a:latin typeface="Trebuchet MS"/>
                <a:ea typeface="MS PGothic"/>
              </a:rPr>
              <a:t>5. </a:t>
            </a:r>
            <a:r>
              <a:rPr lang="en-US" sz="4250" b="1" i="0">
                <a:solidFill>
                  <a:srgbClr val="C00000"/>
                </a:solidFill>
                <a:effectLst/>
                <a:latin typeface="Trebuchet MS"/>
                <a:ea typeface="MS PGothic"/>
              </a:rPr>
              <a:t>Strategic Decisions Enhance VS-</a:t>
            </a:r>
            <a:r>
              <a:rPr lang="en-US" sz="4250" b="1" i="0" err="1">
                <a:solidFill>
                  <a:srgbClr val="C00000"/>
                </a:solidFill>
                <a:effectLst/>
                <a:latin typeface="Trebuchet MS"/>
                <a:ea typeface="MS PGothic"/>
              </a:rPr>
              <a:t>pTPJ</a:t>
            </a:r>
            <a:r>
              <a:rPr lang="en-US" sz="4250" b="1">
                <a:solidFill>
                  <a:srgbClr val="C00000"/>
                </a:solidFill>
                <a:latin typeface="Trebuchet MS"/>
                <a:ea typeface="MS PGothic"/>
              </a:rPr>
              <a:t> Connectivity</a:t>
            </a:r>
            <a:endParaRPr lang="en-US" altLang="en-US" sz="4250" b="1">
              <a:solidFill>
                <a:srgbClr val="C00000"/>
              </a:solidFill>
              <a:latin typeface="Trebuchet MS"/>
              <a:ea typeface="MS PGothic"/>
            </a:endParaRPr>
          </a:p>
        </p:txBody>
      </p:sp>
      <p:sp>
        <p:nvSpPr>
          <p:cNvPr id="13" name="TextBox 12">
            <a:extLst>
              <a:ext uri="{FF2B5EF4-FFF2-40B4-BE49-F238E27FC236}">
                <a16:creationId xmlns:a16="http://schemas.microsoft.com/office/drawing/2014/main" id="{52042A99-5FFC-0E4E-8C20-72304DDA44FF}"/>
              </a:ext>
            </a:extLst>
          </p:cNvPr>
          <p:cNvSpPr txBox="1"/>
          <p:nvPr/>
        </p:nvSpPr>
        <p:spPr>
          <a:xfrm>
            <a:off x="631650" y="13229302"/>
            <a:ext cx="14016335" cy="1569660"/>
          </a:xfrm>
          <a:prstGeom prst="rect">
            <a:avLst/>
          </a:prstGeom>
          <a:noFill/>
        </p:spPr>
        <p:txBody>
          <a:bodyPr wrap="square" rtlCol="0">
            <a:spAutoFit/>
          </a:bodyPr>
          <a:lstStyle/>
          <a:p>
            <a:pPr algn="ctr"/>
            <a:r>
              <a:rPr lang="en-US" sz="3200" i="1" dirty="0"/>
              <a:t>The Ultimatum (UG) and Dictator (DG) Games were used to assess neural and behavioral responses to perceived fairness. We defined strategic behavior as the difference in offers (high vs. low) in the proposer conditions.</a:t>
            </a:r>
          </a:p>
        </p:txBody>
      </p:sp>
      <p:sp>
        <p:nvSpPr>
          <p:cNvPr id="45" name="Rectangle 162">
            <a:extLst>
              <a:ext uri="{FF2B5EF4-FFF2-40B4-BE49-F238E27FC236}">
                <a16:creationId xmlns:a16="http://schemas.microsoft.com/office/drawing/2014/main" id="{FA585F15-03D7-754B-AA26-E340A32F9A67}"/>
              </a:ext>
            </a:extLst>
          </p:cNvPr>
          <p:cNvSpPr>
            <a:spLocks noChangeArrowheads="1"/>
          </p:cNvSpPr>
          <p:nvPr/>
        </p:nvSpPr>
        <p:spPr bwMode="auto">
          <a:xfrm>
            <a:off x="30653599" y="4250489"/>
            <a:ext cx="12957755" cy="10032177"/>
          </a:xfrm>
          <a:prstGeom prst="rect">
            <a:avLst/>
          </a:prstGeom>
          <a:noFill/>
          <a:ln w="762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lIns="81274" tIns="40638" rIns="81274" bIns="40638" anchor="ct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eaLnBrk="1" hangingPunct="1"/>
            <a:endParaRPr lang="en-US" altLang="en-US" sz="1245">
              <a:latin typeface="Trebuchet MS" panose="020B0603020202020204" pitchFamily="34" charset="0"/>
            </a:endParaRPr>
          </a:p>
        </p:txBody>
      </p:sp>
      <p:sp>
        <p:nvSpPr>
          <p:cNvPr id="55" name="TextBox 86">
            <a:extLst>
              <a:ext uri="{FF2B5EF4-FFF2-40B4-BE49-F238E27FC236}">
                <a16:creationId xmlns:a16="http://schemas.microsoft.com/office/drawing/2014/main" id="{1CF89B97-C9DF-F948-91B0-4A8F54D0C0E5}"/>
              </a:ext>
            </a:extLst>
          </p:cNvPr>
          <p:cNvSpPr txBox="1">
            <a:spLocks noChangeArrowheads="1"/>
          </p:cNvSpPr>
          <p:nvPr/>
        </p:nvSpPr>
        <p:spPr bwMode="auto">
          <a:xfrm>
            <a:off x="31681341" y="3949848"/>
            <a:ext cx="10791668" cy="1400383"/>
          </a:xfrm>
          <a:prstGeom prst="rect">
            <a:avLst/>
          </a:prstGeom>
          <a:solidFill>
            <a:schemeClr val="bg1"/>
          </a:solidFill>
          <a:ln>
            <a:noFill/>
          </a:ln>
        </p:spPr>
        <p:txBody>
          <a:bodyPr wrap="square" lIns="91440" tIns="45720" rIns="91440" bIns="45720" anchor="t">
            <a:spAutoFit/>
          </a:bodyP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sz="4250" b="1" dirty="0">
                <a:solidFill>
                  <a:srgbClr val="C00000"/>
                </a:solidFill>
                <a:latin typeface="Trebuchet MS"/>
                <a:ea typeface="MS PGothic"/>
              </a:rPr>
              <a:t>6. </a:t>
            </a:r>
            <a:r>
              <a:rPr lang="en-US" altLang="en-US" sz="4250" b="1" dirty="0" err="1">
                <a:solidFill>
                  <a:srgbClr val="C00000"/>
                </a:solidFill>
                <a:latin typeface="Trebuchet MS"/>
                <a:ea typeface="MS PGothic"/>
              </a:rPr>
              <a:t>Corticostriatal</a:t>
            </a:r>
            <a:r>
              <a:rPr lang="en-US" altLang="en-US" sz="4250" b="1" dirty="0">
                <a:solidFill>
                  <a:srgbClr val="C00000"/>
                </a:solidFill>
                <a:latin typeface="Trebuchet MS"/>
                <a:ea typeface="MS PGothic"/>
              </a:rPr>
              <a:t> Connectivity Underlying Strategic Behavior</a:t>
            </a:r>
            <a:endParaRPr lang="en-US" altLang="en-US" sz="4250" b="1" dirty="0">
              <a:solidFill>
                <a:srgbClr val="C00000"/>
              </a:solidFill>
              <a:latin typeface="Trebuchet MS"/>
            </a:endParaRPr>
          </a:p>
        </p:txBody>
      </p:sp>
      <p:sp>
        <p:nvSpPr>
          <p:cNvPr id="64" name="Rectangle 63">
            <a:extLst>
              <a:ext uri="{FF2B5EF4-FFF2-40B4-BE49-F238E27FC236}">
                <a16:creationId xmlns:a16="http://schemas.microsoft.com/office/drawing/2014/main" id="{4A3E022D-37CE-084F-8459-C39A496F8F91}"/>
              </a:ext>
            </a:extLst>
          </p:cNvPr>
          <p:cNvSpPr/>
          <p:nvPr/>
        </p:nvSpPr>
        <p:spPr>
          <a:xfrm>
            <a:off x="30578131" y="12540404"/>
            <a:ext cx="12850408" cy="1569660"/>
          </a:xfrm>
          <a:prstGeom prst="rect">
            <a:avLst/>
          </a:prstGeom>
        </p:spPr>
        <p:txBody>
          <a:bodyPr wrap="square" lIns="91440" tIns="45720" rIns="91440" bIns="45720" anchor="t">
            <a:spAutoFit/>
          </a:bodyPr>
          <a:lstStyle/>
          <a:p>
            <a:pPr algn="ctr"/>
            <a:r>
              <a:rPr lang="en-US" sz="3200" spc="15" dirty="0">
                <a:latin typeface="Helvetica"/>
                <a:ea typeface="MS PGothic"/>
                <a:cs typeface="Helvetica"/>
              </a:rPr>
              <a:t>As participants made fairer offers while making strategic decisions (UG &gt; DG), we found enhanced effective connectivity between a VS seed and Posterior Cingulate Cortex (PCC) target.</a:t>
            </a:r>
            <a:endParaRPr lang="en-US" sz="3200" dirty="0">
              <a:latin typeface="Helvetica"/>
              <a:ea typeface="MS PGothic"/>
              <a:cs typeface="Helvetica"/>
            </a:endParaRPr>
          </a:p>
        </p:txBody>
      </p:sp>
      <p:sp>
        <p:nvSpPr>
          <p:cNvPr id="68" name="Rectangle 162">
            <a:extLst>
              <a:ext uri="{FF2B5EF4-FFF2-40B4-BE49-F238E27FC236}">
                <a16:creationId xmlns:a16="http://schemas.microsoft.com/office/drawing/2014/main" id="{CA8DA663-8989-0040-A19E-2D41018BB05F}"/>
              </a:ext>
            </a:extLst>
          </p:cNvPr>
          <p:cNvSpPr>
            <a:spLocks noChangeArrowheads="1"/>
          </p:cNvSpPr>
          <p:nvPr/>
        </p:nvSpPr>
        <p:spPr bwMode="auto">
          <a:xfrm>
            <a:off x="15470883" y="14071787"/>
            <a:ext cx="14827930" cy="9126039"/>
          </a:xfrm>
          <a:prstGeom prst="rect">
            <a:avLst/>
          </a:prstGeom>
          <a:noFill/>
          <a:ln w="762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lIns="81274" tIns="40638" rIns="81274" bIns="40638" anchor="ct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eaLnBrk="1" hangingPunct="1"/>
            <a:endParaRPr lang="en-US" altLang="en-US" sz="1245">
              <a:latin typeface="Trebuchet MS" panose="020B0603020202020204" pitchFamily="34" charset="0"/>
            </a:endParaRPr>
          </a:p>
        </p:txBody>
      </p:sp>
      <p:sp>
        <p:nvSpPr>
          <p:cNvPr id="70" name="TextBox 86">
            <a:extLst>
              <a:ext uri="{FF2B5EF4-FFF2-40B4-BE49-F238E27FC236}">
                <a16:creationId xmlns:a16="http://schemas.microsoft.com/office/drawing/2014/main" id="{ED758D76-DD2F-7D44-83F3-6BA6250C10E5}"/>
              </a:ext>
            </a:extLst>
          </p:cNvPr>
          <p:cNvSpPr txBox="1">
            <a:spLocks noChangeArrowheads="1"/>
          </p:cNvSpPr>
          <p:nvPr/>
        </p:nvSpPr>
        <p:spPr bwMode="auto">
          <a:xfrm>
            <a:off x="17842418" y="13831228"/>
            <a:ext cx="10223153" cy="746358"/>
          </a:xfrm>
          <a:prstGeom prst="rect">
            <a:avLst/>
          </a:prstGeom>
          <a:solidFill>
            <a:schemeClr val="bg1"/>
          </a:solidFill>
          <a:ln>
            <a:noFill/>
          </a:ln>
        </p:spPr>
        <p:txBody>
          <a:bodyPr wrap="square" lIns="91440" tIns="45720" rIns="91440" bIns="45720" anchor="t">
            <a:spAutoFit/>
          </a:bodyP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sz="4250" b="1" dirty="0">
                <a:solidFill>
                  <a:srgbClr val="C00000"/>
                </a:solidFill>
                <a:latin typeface="Trebuchet MS"/>
                <a:ea typeface="MS PGothic"/>
              </a:rPr>
              <a:t>4. Activation during Strategic Decisions </a:t>
            </a:r>
            <a:endParaRPr lang="en-US" altLang="en-US" sz="4267" b="1" dirty="0">
              <a:solidFill>
                <a:srgbClr val="C00000"/>
              </a:solidFill>
              <a:latin typeface="Trebuchet MS" panose="020B0603020202020204" pitchFamily="34" charset="0"/>
            </a:endParaRPr>
          </a:p>
        </p:txBody>
      </p:sp>
      <p:sp>
        <p:nvSpPr>
          <p:cNvPr id="25" name="Rectangle 24">
            <a:extLst>
              <a:ext uri="{FF2B5EF4-FFF2-40B4-BE49-F238E27FC236}">
                <a16:creationId xmlns:a16="http://schemas.microsoft.com/office/drawing/2014/main" id="{5AEA1BD0-929B-B248-91B7-4A1AD3CCB35E}"/>
              </a:ext>
            </a:extLst>
          </p:cNvPr>
          <p:cNvSpPr/>
          <p:nvPr/>
        </p:nvSpPr>
        <p:spPr>
          <a:xfrm>
            <a:off x="15519258" y="24092634"/>
            <a:ext cx="14625853" cy="1569660"/>
          </a:xfrm>
          <a:prstGeom prst="rect">
            <a:avLst/>
          </a:prstGeom>
        </p:spPr>
        <p:txBody>
          <a:bodyPr wrap="square" lIns="91440" tIns="45720" rIns="91440" bIns="45720" anchor="t">
            <a:spAutoFit/>
          </a:bodyPr>
          <a:lstStyle/>
          <a:p>
            <a:pPr algn="ctr"/>
            <a:r>
              <a:rPr lang="en-US" sz="3200" i="1">
                <a:latin typeface="Helvetica"/>
                <a:ea typeface="MS PGothic"/>
                <a:cs typeface="Helvetica"/>
              </a:rPr>
              <a:t> During strategic decisions (DG-P &gt; UG-P), we expected that elevated ventral striatal (VS) responses will be associated with enhanced effective connectivity in the posterior temporoparietal junction (</a:t>
            </a:r>
            <a:r>
              <a:rPr lang="en-US" sz="3200" i="1" err="1">
                <a:latin typeface="Helvetica"/>
                <a:ea typeface="MS PGothic"/>
                <a:cs typeface="Helvetica"/>
              </a:rPr>
              <a:t>pTPJ</a:t>
            </a:r>
            <a:r>
              <a:rPr lang="en-US" sz="3200" i="1">
                <a:latin typeface="Helvetica"/>
                <a:ea typeface="MS PGothic"/>
                <a:cs typeface="Helvetica"/>
              </a:rPr>
              <a:t>).</a:t>
            </a:r>
            <a:endParaRPr lang="en-US" sz="3200" i="1">
              <a:latin typeface="Helvetica"/>
              <a:cs typeface="Helvetica"/>
            </a:endParaRPr>
          </a:p>
        </p:txBody>
      </p:sp>
      <p:sp>
        <p:nvSpPr>
          <p:cNvPr id="26" name="Rectangle 25">
            <a:extLst>
              <a:ext uri="{FF2B5EF4-FFF2-40B4-BE49-F238E27FC236}">
                <a16:creationId xmlns:a16="http://schemas.microsoft.com/office/drawing/2014/main" id="{A472AF7A-C3B6-5B44-9093-FB3FB96D32E8}"/>
              </a:ext>
            </a:extLst>
          </p:cNvPr>
          <p:cNvSpPr/>
          <p:nvPr/>
        </p:nvSpPr>
        <p:spPr>
          <a:xfrm>
            <a:off x="15724394" y="14746184"/>
            <a:ext cx="14650695" cy="3046988"/>
          </a:xfrm>
          <a:prstGeom prst="rect">
            <a:avLst/>
          </a:prstGeom>
        </p:spPr>
        <p:txBody>
          <a:bodyPr wrap="square" lIns="91440" tIns="45720" rIns="91440" bIns="45720" anchor="t">
            <a:spAutoFit/>
          </a:bodyPr>
          <a:lstStyle/>
          <a:p>
            <a:pPr>
              <a:spcBef>
                <a:spcPts val="0"/>
              </a:spcBef>
              <a:spcAft>
                <a:spcPts val="1200"/>
              </a:spcAft>
            </a:pPr>
            <a:r>
              <a:rPr lang="en-US" sz="3200" i="1" dirty="0">
                <a:latin typeface="Helvetica"/>
                <a:ea typeface="MS PGothic"/>
                <a:cs typeface="Helvetica"/>
              </a:rPr>
              <a:t>We replicated previous findings (Spitzer et al., 2007) during strategic decisions.</a:t>
            </a:r>
            <a:br>
              <a:rPr lang="en-US" sz="3200" b="0" i="1" dirty="0">
                <a:effectLst/>
                <a:cs typeface="Helvetica" panose="020B0604020202020204" pitchFamily="34" charset="0"/>
              </a:rPr>
            </a:br>
            <a:br>
              <a:rPr lang="en-US" sz="3200" b="0" i="1" dirty="0">
                <a:effectLst/>
                <a:cs typeface="Helvetica" panose="020B0604020202020204" pitchFamily="34" charset="0"/>
              </a:rPr>
            </a:br>
            <a:br>
              <a:rPr lang="en-US" sz="3200" b="0" i="1" dirty="0">
                <a:effectLst/>
                <a:cs typeface="Helvetica" panose="020B0604020202020204" pitchFamily="34" charset="0"/>
              </a:rPr>
            </a:br>
            <a:br>
              <a:rPr lang="en-US" sz="3200" b="0" i="1" dirty="0">
                <a:effectLst/>
                <a:cs typeface="Helvetica" panose="020B0604020202020204" pitchFamily="34" charset="0"/>
              </a:rPr>
            </a:br>
            <a:br>
              <a:rPr lang="en-US" sz="3200" b="0" i="1" dirty="0">
                <a:effectLst/>
                <a:cs typeface="Helvetica" panose="020B0604020202020204" pitchFamily="34" charset="0"/>
              </a:rPr>
            </a:br>
            <a:endParaRPr lang="en-US" sz="3200" i="1" dirty="0">
              <a:cs typeface="Helvetica" panose="020B0604020202020204" pitchFamily="34" charset="0"/>
            </a:endParaRPr>
          </a:p>
        </p:txBody>
      </p:sp>
      <p:sp>
        <p:nvSpPr>
          <p:cNvPr id="83" name="Rectangle 82">
            <a:extLst>
              <a:ext uri="{FF2B5EF4-FFF2-40B4-BE49-F238E27FC236}">
                <a16:creationId xmlns:a16="http://schemas.microsoft.com/office/drawing/2014/main" id="{AF629186-1EF0-4042-8881-0E3C5287458A}"/>
              </a:ext>
            </a:extLst>
          </p:cNvPr>
          <p:cNvSpPr/>
          <p:nvPr/>
        </p:nvSpPr>
        <p:spPr>
          <a:xfrm>
            <a:off x="15599737" y="31508836"/>
            <a:ext cx="14699076" cy="1077218"/>
          </a:xfrm>
          <a:prstGeom prst="rect">
            <a:avLst/>
          </a:prstGeom>
        </p:spPr>
        <p:txBody>
          <a:bodyPr wrap="square" lIns="91440" tIns="45720" rIns="91440" bIns="45720" anchor="t">
            <a:spAutoFit/>
          </a:bodyPr>
          <a:lstStyle/>
          <a:p>
            <a:pPr algn="ctr"/>
            <a:r>
              <a:rPr lang="en-US" sz="3200" spc="15" dirty="0">
                <a:latin typeface="Helvetica"/>
                <a:ea typeface="MS PGothic"/>
                <a:cs typeface="Helvetica"/>
              </a:rPr>
              <a:t>As participants made fairer offers while making strategic decisions (UG &gt; DG)</a:t>
            </a:r>
            <a:r>
              <a:rPr lang="en-US" altLang="en-US" sz="3200" dirty="0">
                <a:latin typeface="Helvetica"/>
                <a:ea typeface="MS PGothic"/>
              </a:rPr>
              <a:t>, we found enhanced VS</a:t>
            </a:r>
            <a:r>
              <a:rPr lang="en-US" sz="3200" dirty="0">
                <a:latin typeface="Helvetica"/>
                <a:ea typeface="MS PGothic"/>
                <a:cs typeface="Helvetica"/>
              </a:rPr>
              <a:t> effective connectivity with the </a:t>
            </a:r>
            <a:r>
              <a:rPr lang="en-US" sz="3200" dirty="0" err="1">
                <a:latin typeface="Helvetica"/>
                <a:ea typeface="MS PGothic"/>
                <a:cs typeface="Helvetica"/>
              </a:rPr>
              <a:t>pTPJ</a:t>
            </a:r>
            <a:r>
              <a:rPr lang="en-US" sz="3200" dirty="0">
                <a:latin typeface="Helvetica"/>
                <a:ea typeface="MS PGothic"/>
                <a:cs typeface="Helvetica"/>
              </a:rPr>
              <a:t>.</a:t>
            </a:r>
            <a:endParaRPr lang="en-US" sz="3200" dirty="0">
              <a:ea typeface="MS PGothic"/>
              <a:cs typeface="Helvetica"/>
            </a:endParaRPr>
          </a:p>
        </p:txBody>
      </p:sp>
      <p:sp>
        <p:nvSpPr>
          <p:cNvPr id="62" name="Rectangle 61">
            <a:extLst>
              <a:ext uri="{FF2B5EF4-FFF2-40B4-BE49-F238E27FC236}">
                <a16:creationId xmlns:a16="http://schemas.microsoft.com/office/drawing/2014/main" id="{FD9986E8-E0AD-DE42-B169-F6823087703D}"/>
              </a:ext>
            </a:extLst>
          </p:cNvPr>
          <p:cNvSpPr/>
          <p:nvPr/>
        </p:nvSpPr>
        <p:spPr>
          <a:xfrm>
            <a:off x="30692751" y="5397447"/>
            <a:ext cx="12756880" cy="1077218"/>
          </a:xfrm>
          <a:prstGeom prst="rect">
            <a:avLst/>
          </a:prstGeom>
        </p:spPr>
        <p:txBody>
          <a:bodyPr wrap="square" lIns="91440" tIns="45720" rIns="91440" bIns="45720" anchor="t">
            <a:spAutoFit/>
          </a:bodyPr>
          <a:lstStyle/>
          <a:p>
            <a:pPr algn="ctr"/>
            <a:r>
              <a:rPr lang="en-US" sz="3200" i="1" spc="15" dirty="0">
                <a:latin typeface="Helvetica"/>
                <a:ea typeface="MS PGothic"/>
              </a:rPr>
              <a:t>We investigated connectivity between a VS seed and other possible target regions during strategic behavior.</a:t>
            </a:r>
            <a:endParaRPr lang="en-US" sz="3200" i="1" spc="15" dirty="0">
              <a:latin typeface="Helvetica" pitchFamily="2" charset="0"/>
            </a:endParaRPr>
          </a:p>
        </p:txBody>
      </p:sp>
      <p:sp>
        <p:nvSpPr>
          <p:cNvPr id="51" name="Rectangle 50">
            <a:extLst>
              <a:ext uri="{FF2B5EF4-FFF2-40B4-BE49-F238E27FC236}">
                <a16:creationId xmlns:a16="http://schemas.microsoft.com/office/drawing/2014/main" id="{B7EA6B8E-31C1-4977-AB6F-3CEB3BE564DF}"/>
              </a:ext>
            </a:extLst>
          </p:cNvPr>
          <p:cNvSpPr/>
          <p:nvPr/>
        </p:nvSpPr>
        <p:spPr>
          <a:xfrm>
            <a:off x="15519865" y="12287600"/>
            <a:ext cx="14861925" cy="1077218"/>
          </a:xfrm>
          <a:prstGeom prst="rect">
            <a:avLst/>
          </a:prstGeom>
        </p:spPr>
        <p:txBody>
          <a:bodyPr wrap="square" lIns="91440" tIns="45720" rIns="91440" bIns="45720" anchor="t">
            <a:spAutoFit/>
          </a:bodyPr>
          <a:lstStyle/>
          <a:p>
            <a:pPr algn="ctr"/>
            <a:r>
              <a:rPr lang="en-US" sz="3200" dirty="0">
                <a:latin typeface="Helvetica"/>
                <a:ea typeface="MS PGothic"/>
              </a:rPr>
              <a:t>Using a mixed effects model, we found that task as a proposer predicts decisions. A binary logistic regression showed that participants reject more with lower offers. </a:t>
            </a:r>
            <a:endParaRPr lang="en-US" sz="3200" dirty="0">
              <a:latin typeface="Helvetica"/>
              <a:ea typeface="MS PGothic"/>
              <a:cs typeface="Helvetica"/>
            </a:endParaRPr>
          </a:p>
        </p:txBody>
      </p:sp>
      <p:sp>
        <p:nvSpPr>
          <p:cNvPr id="56" name="TextBox 55">
            <a:extLst>
              <a:ext uri="{FF2B5EF4-FFF2-40B4-BE49-F238E27FC236}">
                <a16:creationId xmlns:a16="http://schemas.microsoft.com/office/drawing/2014/main" id="{4CFFF830-B4D0-45F1-9D03-A4780549AB6A}"/>
              </a:ext>
            </a:extLst>
          </p:cNvPr>
          <p:cNvSpPr txBox="1"/>
          <p:nvPr/>
        </p:nvSpPr>
        <p:spPr>
          <a:xfrm>
            <a:off x="15599737" y="21846431"/>
            <a:ext cx="14650695" cy="1077218"/>
          </a:xfrm>
          <a:prstGeom prst="rect">
            <a:avLst/>
          </a:prstGeom>
          <a:noFill/>
        </p:spPr>
        <p:txBody>
          <a:bodyPr wrap="square" lIns="91440" tIns="45720" rIns="91440" bIns="45720" anchor="t">
            <a:spAutoFit/>
          </a:bodyPr>
          <a:lstStyle/>
          <a:p>
            <a:pPr algn="ctr"/>
            <a:r>
              <a:rPr lang="en-US" altLang="en-US" sz="3200" dirty="0">
                <a:latin typeface="Helvetica"/>
                <a:ea typeface="MS PGothic"/>
              </a:rPr>
              <a:t>As participants proposed fairer offers during strategic decisions (DG-P &gt; UG-P), we found increasing activation in the Inferior Frontal Gyrus (IFG).</a:t>
            </a:r>
          </a:p>
        </p:txBody>
      </p:sp>
      <p:sp>
        <p:nvSpPr>
          <p:cNvPr id="88" name="TextBox 87">
            <a:extLst>
              <a:ext uri="{FF2B5EF4-FFF2-40B4-BE49-F238E27FC236}">
                <a16:creationId xmlns:a16="http://schemas.microsoft.com/office/drawing/2014/main" id="{D0D1788F-40E9-4B4B-8F80-BF8EDB08248D}"/>
              </a:ext>
            </a:extLst>
          </p:cNvPr>
          <p:cNvSpPr txBox="1"/>
          <p:nvPr/>
        </p:nvSpPr>
        <p:spPr>
          <a:xfrm>
            <a:off x="10972800" y="3193375"/>
            <a:ext cx="21945600" cy="523220"/>
          </a:xfrm>
          <a:prstGeom prst="rect">
            <a:avLst/>
          </a:prstGeom>
          <a:noFill/>
        </p:spPr>
        <p:txBody>
          <a:bodyPr wrap="square">
            <a:spAutoFit/>
          </a:bodyPr>
          <a:lstStyle/>
          <a:p>
            <a:pPr algn="ctr"/>
            <a:r>
              <a:rPr lang="en-US" sz="2800" b="0" i="0" u="none" strike="noStrike" dirty="0">
                <a:solidFill>
                  <a:srgbClr val="000000"/>
                </a:solidFill>
                <a:effectLst/>
                <a:cs typeface="Helvetica" panose="020B0604020202020204" pitchFamily="34" charset="0"/>
              </a:rPr>
              <a:t>1. Temple University, Philadelphia, PA; 2. University of Pennsylvania, Philadelphia, PA; 3. Adelphi University, Garden City, NY</a:t>
            </a:r>
            <a:endParaRPr lang="en-US" sz="2800" dirty="0">
              <a:cs typeface="Helvetica" panose="020B0604020202020204" pitchFamily="34" charset="0"/>
            </a:endParaRPr>
          </a:p>
        </p:txBody>
      </p:sp>
      <p:sp>
        <p:nvSpPr>
          <p:cNvPr id="104" name="TextBox 103">
            <a:extLst>
              <a:ext uri="{FF2B5EF4-FFF2-40B4-BE49-F238E27FC236}">
                <a16:creationId xmlns:a16="http://schemas.microsoft.com/office/drawing/2014/main" id="{2FAB1541-73A6-4ECD-9FD7-5103A9935C34}"/>
              </a:ext>
            </a:extLst>
          </p:cNvPr>
          <p:cNvSpPr txBox="1"/>
          <p:nvPr/>
        </p:nvSpPr>
        <p:spPr>
          <a:xfrm>
            <a:off x="15984278" y="4706069"/>
            <a:ext cx="14436268" cy="523220"/>
          </a:xfrm>
          <a:prstGeom prst="rect">
            <a:avLst/>
          </a:prstGeom>
          <a:noFill/>
        </p:spPr>
        <p:txBody>
          <a:bodyPr wrap="square">
            <a:spAutoFit/>
          </a:bodyPr>
          <a:lstStyle/>
          <a:p>
            <a:r>
              <a:rPr lang="en-US" sz="2800" i="1" dirty="0">
                <a:solidFill>
                  <a:srgbClr val="1D1C1D"/>
                </a:solidFill>
                <a:effectLst/>
                <a:ea typeface="Times New Roman" panose="02020603050405020304" pitchFamily="18" charset="0"/>
                <a:cs typeface="Helvetica" panose="020B0604020202020204" pitchFamily="34" charset="0"/>
              </a:rPr>
              <a:t>To assess if people behaved strategically as proposers, we used a mixed effects model. </a:t>
            </a:r>
            <a:endParaRPr lang="en-US" sz="2800" i="1" dirty="0">
              <a:cs typeface="Helvetica" panose="020B0604020202020204" pitchFamily="34" charset="0"/>
            </a:endParaRPr>
          </a:p>
        </p:txBody>
      </p:sp>
      <p:sp>
        <p:nvSpPr>
          <p:cNvPr id="66" name="TextBox 65">
            <a:extLst>
              <a:ext uri="{FF2B5EF4-FFF2-40B4-BE49-F238E27FC236}">
                <a16:creationId xmlns:a16="http://schemas.microsoft.com/office/drawing/2014/main" id="{828EF0BF-392F-46C6-BF23-BF99B2CEA917}"/>
              </a:ext>
            </a:extLst>
          </p:cNvPr>
          <p:cNvSpPr txBox="1"/>
          <p:nvPr/>
        </p:nvSpPr>
        <p:spPr>
          <a:xfrm>
            <a:off x="333765" y="9945451"/>
            <a:ext cx="14639262" cy="2031325"/>
          </a:xfrm>
          <a:prstGeom prst="rect">
            <a:avLst/>
          </a:prstGeom>
          <a:noFill/>
        </p:spPr>
        <p:txBody>
          <a:bodyPr wrap="square" lIns="91440" tIns="45720" rIns="91440" bIns="45720" anchor="t">
            <a:spAutoFit/>
          </a:bodyPr>
          <a:lstStyle/>
          <a:p>
            <a:pPr algn="ctr">
              <a:spcBef>
                <a:spcPts val="360"/>
              </a:spcBef>
              <a:spcAft>
                <a:spcPts val="0"/>
              </a:spcAft>
            </a:pPr>
            <a:r>
              <a:rPr lang="en-US" sz="4200" b="1" dirty="0">
                <a:latin typeface="Helvetica"/>
                <a:ea typeface="MS PGothic"/>
                <a:cs typeface="Helvetica"/>
              </a:rPr>
              <a:t>We</a:t>
            </a:r>
            <a:r>
              <a:rPr lang="en-US" sz="4200" b="1" i="0" u="none" strike="noStrike" dirty="0">
                <a:effectLst/>
                <a:latin typeface="Helvetica"/>
                <a:ea typeface="MS PGothic"/>
                <a:cs typeface="Helvetica"/>
              </a:rPr>
              <a:t> investigated </a:t>
            </a:r>
            <a:r>
              <a:rPr lang="en-US" sz="4200" b="1" dirty="0">
                <a:latin typeface="Helvetica"/>
                <a:ea typeface="MS PGothic"/>
                <a:cs typeface="Helvetica"/>
              </a:rPr>
              <a:t>whether social trust decisions change as we age, and how those changes could be related to financial exploitation.</a:t>
            </a:r>
            <a:endParaRPr lang="en-US" sz="4200" b="1" dirty="0">
              <a:cs typeface="Helvetica"/>
            </a:endParaRPr>
          </a:p>
        </p:txBody>
      </p:sp>
      <p:sp>
        <p:nvSpPr>
          <p:cNvPr id="10" name="TextBox 9">
            <a:extLst>
              <a:ext uri="{FF2B5EF4-FFF2-40B4-BE49-F238E27FC236}">
                <a16:creationId xmlns:a16="http://schemas.microsoft.com/office/drawing/2014/main" id="{4AB407E9-BEB3-D218-CD83-988A678E0B05}"/>
              </a:ext>
            </a:extLst>
          </p:cNvPr>
          <p:cNvSpPr txBox="1"/>
          <p:nvPr/>
        </p:nvSpPr>
        <p:spPr>
          <a:xfrm>
            <a:off x="25967104" y="20815752"/>
            <a:ext cx="140738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Helvetica"/>
                <a:ea typeface="MS PGothic"/>
              </a:rPr>
              <a:t>DG-P</a:t>
            </a:r>
            <a:endParaRPr lang="en-US" sz="3200" b="1" dirty="0">
              <a:latin typeface="Helvetica"/>
            </a:endParaRPr>
          </a:p>
        </p:txBody>
      </p:sp>
      <p:sp>
        <p:nvSpPr>
          <p:cNvPr id="11" name="TextBox 10">
            <a:extLst>
              <a:ext uri="{FF2B5EF4-FFF2-40B4-BE49-F238E27FC236}">
                <a16:creationId xmlns:a16="http://schemas.microsoft.com/office/drawing/2014/main" id="{15A9E228-6973-C2ED-2ED9-68A8827A34A1}"/>
              </a:ext>
            </a:extLst>
          </p:cNvPr>
          <p:cNvSpPr txBox="1"/>
          <p:nvPr/>
        </p:nvSpPr>
        <p:spPr>
          <a:xfrm>
            <a:off x="27179133" y="20813843"/>
            <a:ext cx="140738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Helvetica"/>
                <a:ea typeface="MS PGothic"/>
              </a:rPr>
              <a:t>UG-P</a:t>
            </a:r>
            <a:endParaRPr lang="en-US" sz="3200" b="1" dirty="0">
              <a:latin typeface="Helvetica"/>
            </a:endParaRPr>
          </a:p>
        </p:txBody>
      </p:sp>
      <p:sp>
        <p:nvSpPr>
          <p:cNvPr id="12" name="TextBox 11">
            <a:extLst>
              <a:ext uri="{FF2B5EF4-FFF2-40B4-BE49-F238E27FC236}">
                <a16:creationId xmlns:a16="http://schemas.microsoft.com/office/drawing/2014/main" id="{44DDB010-6601-97C7-5461-EE51937A697B}"/>
              </a:ext>
            </a:extLst>
          </p:cNvPr>
          <p:cNvSpPr txBox="1"/>
          <p:nvPr/>
        </p:nvSpPr>
        <p:spPr>
          <a:xfrm>
            <a:off x="28395010" y="20818239"/>
            <a:ext cx="140738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Helvetica"/>
                <a:ea typeface="MS PGothic"/>
              </a:rPr>
              <a:t>UG-R</a:t>
            </a:r>
            <a:endParaRPr lang="en-US" sz="3200" b="1" dirty="0">
              <a:latin typeface="Helvetica"/>
            </a:endParaRPr>
          </a:p>
        </p:txBody>
      </p:sp>
      <p:sp>
        <p:nvSpPr>
          <p:cNvPr id="4" name="TextBox 3">
            <a:extLst>
              <a:ext uri="{FF2B5EF4-FFF2-40B4-BE49-F238E27FC236}">
                <a16:creationId xmlns:a16="http://schemas.microsoft.com/office/drawing/2014/main" id="{C2E936D7-9AF3-F0C1-388A-40D4AD6F87D3}"/>
              </a:ext>
            </a:extLst>
          </p:cNvPr>
          <p:cNvSpPr txBox="1"/>
          <p:nvPr/>
        </p:nvSpPr>
        <p:spPr>
          <a:xfrm>
            <a:off x="23869686" y="15662664"/>
            <a:ext cx="1046440" cy="5697861"/>
          </a:xfrm>
          <a:prstGeom prst="rect">
            <a:avLst/>
          </a:prstGeom>
          <a:noFill/>
        </p:spPr>
        <p:txBody>
          <a:bodyPr rot="0" spcFirstLastPara="0" vertOverflow="overflow" horzOverflow="overflow" vert="vert270" wrap="square" lIns="91440" tIns="45720" rIns="91440" bIns="45720" numCol="1" spcCol="0" rtlCol="0" fromWordArt="0" anchor="t" anchorCtr="0" forceAA="0" compatLnSpc="1">
            <a:prstTxWarp prst="textNoShape">
              <a:avLst/>
            </a:prstTxWarp>
            <a:spAutoFit/>
          </a:bodyPr>
          <a:lstStyle/>
          <a:p>
            <a:pPr algn="ctr"/>
            <a:r>
              <a:rPr lang="en-US" sz="2800" dirty="0">
                <a:latin typeface="Helvetica"/>
                <a:ea typeface="MS PGothic"/>
              </a:rPr>
              <a:t>IFG Activation (</a:t>
            </a:r>
            <a:r>
              <a:rPr lang="el-GR" sz="2800" dirty="0">
                <a:latin typeface="Helvetica"/>
                <a:ea typeface="MS PGothic"/>
              </a:rPr>
              <a:t>β)</a:t>
            </a:r>
            <a:r>
              <a:rPr lang="en-US" sz="2800" dirty="0">
                <a:latin typeface="Helvetica"/>
                <a:ea typeface="MS PGothic"/>
              </a:rPr>
              <a:t> </a:t>
            </a:r>
          </a:p>
          <a:p>
            <a:pPr algn="ctr"/>
            <a:r>
              <a:rPr lang="en-US" sz="2800" dirty="0">
                <a:latin typeface="Helvetica"/>
                <a:ea typeface="MS PGothic"/>
              </a:rPr>
              <a:t>Parametric Effect of Fairness</a:t>
            </a:r>
            <a:endParaRPr lang="en-US" sz="2800" dirty="0">
              <a:latin typeface="Helvetica"/>
            </a:endParaRPr>
          </a:p>
        </p:txBody>
      </p:sp>
      <p:sp>
        <p:nvSpPr>
          <p:cNvPr id="23" name="TextBox 22">
            <a:extLst>
              <a:ext uri="{FF2B5EF4-FFF2-40B4-BE49-F238E27FC236}">
                <a16:creationId xmlns:a16="http://schemas.microsoft.com/office/drawing/2014/main" id="{2146309B-EED2-981B-5C01-7DC5AD3210E9}"/>
              </a:ext>
            </a:extLst>
          </p:cNvPr>
          <p:cNvSpPr txBox="1"/>
          <p:nvPr/>
        </p:nvSpPr>
        <p:spPr>
          <a:xfrm>
            <a:off x="25146473" y="17983729"/>
            <a:ext cx="1817883" cy="523220"/>
          </a:xfrm>
          <a:prstGeom prst="rect">
            <a:avLst/>
          </a:prstGeom>
          <a:noFill/>
        </p:spPr>
        <p:txBody>
          <a:bodyPr wrap="square">
            <a:spAutoFit/>
          </a:bodyPr>
          <a:lstStyle/>
          <a:p>
            <a:r>
              <a:rPr lang="en-US" sz="2800">
                <a:latin typeface="Helvetica"/>
                <a:ea typeface="MS PGothic"/>
              </a:rPr>
              <a:t>0</a:t>
            </a:r>
            <a:endParaRPr lang="en-US" sz="2800">
              <a:latin typeface="Helvetica"/>
            </a:endParaRPr>
          </a:p>
        </p:txBody>
      </p:sp>
      <p:sp>
        <p:nvSpPr>
          <p:cNvPr id="27" name="TextBox 26">
            <a:extLst>
              <a:ext uri="{FF2B5EF4-FFF2-40B4-BE49-F238E27FC236}">
                <a16:creationId xmlns:a16="http://schemas.microsoft.com/office/drawing/2014/main" id="{9AD52618-BC17-B99E-F4EF-72C7B533E574}"/>
              </a:ext>
            </a:extLst>
          </p:cNvPr>
          <p:cNvSpPr txBox="1"/>
          <p:nvPr/>
        </p:nvSpPr>
        <p:spPr>
          <a:xfrm>
            <a:off x="24816037" y="16219186"/>
            <a:ext cx="1817883" cy="523220"/>
          </a:xfrm>
          <a:prstGeom prst="rect">
            <a:avLst/>
          </a:prstGeom>
          <a:noFill/>
        </p:spPr>
        <p:txBody>
          <a:bodyPr wrap="square">
            <a:spAutoFit/>
          </a:bodyPr>
          <a:lstStyle/>
          <a:p>
            <a:r>
              <a:rPr lang="en-US" sz="2800">
                <a:latin typeface="Helvetica"/>
                <a:ea typeface="MS PGothic"/>
              </a:rPr>
              <a:t>100</a:t>
            </a:r>
            <a:endParaRPr lang="en-US" sz="2800">
              <a:latin typeface="Helvetica"/>
            </a:endParaRPr>
          </a:p>
        </p:txBody>
      </p:sp>
      <p:sp>
        <p:nvSpPr>
          <p:cNvPr id="28" name="TextBox 27">
            <a:extLst>
              <a:ext uri="{FF2B5EF4-FFF2-40B4-BE49-F238E27FC236}">
                <a16:creationId xmlns:a16="http://schemas.microsoft.com/office/drawing/2014/main" id="{9A8BD43D-8317-7797-CEB5-A56981AF26E1}"/>
              </a:ext>
            </a:extLst>
          </p:cNvPr>
          <p:cNvSpPr txBox="1"/>
          <p:nvPr/>
        </p:nvSpPr>
        <p:spPr>
          <a:xfrm>
            <a:off x="24680791" y="19722701"/>
            <a:ext cx="1817883" cy="523220"/>
          </a:xfrm>
          <a:prstGeom prst="rect">
            <a:avLst/>
          </a:prstGeom>
          <a:noFill/>
        </p:spPr>
        <p:txBody>
          <a:bodyPr wrap="square">
            <a:spAutoFit/>
          </a:bodyPr>
          <a:lstStyle/>
          <a:p>
            <a:r>
              <a:rPr lang="en-US" sz="2800">
                <a:latin typeface="Helvetica"/>
                <a:ea typeface="MS PGothic"/>
              </a:rPr>
              <a:t>-100</a:t>
            </a:r>
            <a:endParaRPr lang="en-US" sz="2800">
              <a:latin typeface="Helvetica"/>
            </a:endParaRPr>
          </a:p>
        </p:txBody>
      </p:sp>
      <p:sp>
        <p:nvSpPr>
          <p:cNvPr id="29" name="TextBox 28">
            <a:extLst>
              <a:ext uri="{FF2B5EF4-FFF2-40B4-BE49-F238E27FC236}">
                <a16:creationId xmlns:a16="http://schemas.microsoft.com/office/drawing/2014/main" id="{CC2C4C7D-F3DE-C76E-6FFA-7D21377D6A49}"/>
              </a:ext>
            </a:extLst>
          </p:cNvPr>
          <p:cNvSpPr txBox="1"/>
          <p:nvPr/>
        </p:nvSpPr>
        <p:spPr>
          <a:xfrm>
            <a:off x="24805015" y="15399832"/>
            <a:ext cx="1817883" cy="523220"/>
          </a:xfrm>
          <a:prstGeom prst="rect">
            <a:avLst/>
          </a:prstGeom>
          <a:noFill/>
        </p:spPr>
        <p:txBody>
          <a:bodyPr wrap="square">
            <a:spAutoFit/>
          </a:bodyPr>
          <a:lstStyle/>
          <a:p>
            <a:r>
              <a:rPr lang="en-US" sz="2800">
                <a:latin typeface="Helvetica"/>
                <a:ea typeface="MS PGothic"/>
              </a:rPr>
              <a:t>150</a:t>
            </a:r>
            <a:endParaRPr lang="en-US" sz="2800">
              <a:latin typeface="Helvetica"/>
            </a:endParaRPr>
          </a:p>
        </p:txBody>
      </p:sp>
      <p:sp>
        <p:nvSpPr>
          <p:cNvPr id="31" name="TextBox 30">
            <a:extLst>
              <a:ext uri="{FF2B5EF4-FFF2-40B4-BE49-F238E27FC236}">
                <a16:creationId xmlns:a16="http://schemas.microsoft.com/office/drawing/2014/main" id="{8A60D2C5-9283-4BB3-5E8A-7369BE925F8A}"/>
              </a:ext>
            </a:extLst>
          </p:cNvPr>
          <p:cNvSpPr txBox="1"/>
          <p:nvPr/>
        </p:nvSpPr>
        <p:spPr>
          <a:xfrm>
            <a:off x="25003081" y="17073419"/>
            <a:ext cx="1817883" cy="523220"/>
          </a:xfrm>
          <a:prstGeom prst="rect">
            <a:avLst/>
          </a:prstGeom>
          <a:noFill/>
        </p:spPr>
        <p:txBody>
          <a:bodyPr wrap="square">
            <a:spAutoFit/>
          </a:bodyPr>
          <a:lstStyle/>
          <a:p>
            <a:r>
              <a:rPr lang="en-US" sz="2800">
                <a:latin typeface="Helvetica"/>
                <a:ea typeface="MS PGothic"/>
              </a:rPr>
              <a:t>50</a:t>
            </a:r>
            <a:endParaRPr lang="en-US" sz="2800">
              <a:latin typeface="Helvetica"/>
            </a:endParaRPr>
          </a:p>
        </p:txBody>
      </p:sp>
      <p:sp>
        <p:nvSpPr>
          <p:cNvPr id="32" name="TextBox 31">
            <a:extLst>
              <a:ext uri="{FF2B5EF4-FFF2-40B4-BE49-F238E27FC236}">
                <a16:creationId xmlns:a16="http://schemas.microsoft.com/office/drawing/2014/main" id="{355ACB0D-EFFD-1F04-EB5F-17E97CC051AF}"/>
              </a:ext>
            </a:extLst>
          </p:cNvPr>
          <p:cNvSpPr txBox="1"/>
          <p:nvPr/>
        </p:nvSpPr>
        <p:spPr>
          <a:xfrm>
            <a:off x="24891181" y="18832596"/>
            <a:ext cx="1817883" cy="523220"/>
          </a:xfrm>
          <a:prstGeom prst="rect">
            <a:avLst/>
          </a:prstGeom>
          <a:noFill/>
        </p:spPr>
        <p:txBody>
          <a:bodyPr wrap="square">
            <a:spAutoFit/>
          </a:bodyPr>
          <a:lstStyle/>
          <a:p>
            <a:r>
              <a:rPr lang="en-US" sz="2800">
                <a:latin typeface="Helvetica"/>
                <a:ea typeface="MS PGothic"/>
              </a:rPr>
              <a:t>-50</a:t>
            </a:r>
            <a:endParaRPr lang="en-US" sz="2800">
              <a:latin typeface="Helvetica"/>
            </a:endParaRPr>
          </a:p>
        </p:txBody>
      </p:sp>
      <p:pic>
        <p:nvPicPr>
          <p:cNvPr id="34" name="Graphic 33">
            <a:extLst>
              <a:ext uri="{FF2B5EF4-FFF2-40B4-BE49-F238E27FC236}">
                <a16:creationId xmlns:a16="http://schemas.microsoft.com/office/drawing/2014/main" id="{7F39EFD2-EC6F-E30A-AF41-D09C2F79B59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21398225" y="16008317"/>
            <a:ext cx="470321" cy="1423362"/>
          </a:xfrm>
          <a:prstGeom prst="rect">
            <a:avLst/>
          </a:prstGeom>
        </p:spPr>
      </p:pic>
      <p:sp>
        <p:nvSpPr>
          <p:cNvPr id="35" name="TextBox 34">
            <a:extLst>
              <a:ext uri="{FF2B5EF4-FFF2-40B4-BE49-F238E27FC236}">
                <a16:creationId xmlns:a16="http://schemas.microsoft.com/office/drawing/2014/main" id="{D37958DE-5E24-D58C-4A7D-3AB8A936FE13}"/>
              </a:ext>
            </a:extLst>
          </p:cNvPr>
          <p:cNvSpPr txBox="1"/>
          <p:nvPr/>
        </p:nvSpPr>
        <p:spPr>
          <a:xfrm>
            <a:off x="21656929" y="15472026"/>
            <a:ext cx="1817883" cy="584775"/>
          </a:xfrm>
          <a:prstGeom prst="rect">
            <a:avLst/>
          </a:prstGeom>
          <a:noFill/>
        </p:spPr>
        <p:txBody>
          <a:bodyPr wrap="square">
            <a:spAutoFit/>
          </a:bodyPr>
          <a:lstStyle/>
          <a:p>
            <a:r>
              <a:rPr lang="en-US" sz="3200" b="1" dirty="0">
                <a:latin typeface="Helvetica"/>
                <a:ea typeface="MS PGothic"/>
              </a:rPr>
              <a:t>IFG</a:t>
            </a:r>
            <a:endParaRPr lang="en-US" sz="3200" b="1" dirty="0">
              <a:latin typeface="Helvetica"/>
            </a:endParaRPr>
          </a:p>
        </p:txBody>
      </p:sp>
      <p:sp>
        <p:nvSpPr>
          <p:cNvPr id="39" name="TextBox 38">
            <a:extLst>
              <a:ext uri="{FF2B5EF4-FFF2-40B4-BE49-F238E27FC236}">
                <a16:creationId xmlns:a16="http://schemas.microsoft.com/office/drawing/2014/main" id="{D99AB7A3-EC66-2E69-D984-AA56725B49BC}"/>
              </a:ext>
            </a:extLst>
          </p:cNvPr>
          <p:cNvSpPr txBox="1"/>
          <p:nvPr/>
        </p:nvSpPr>
        <p:spPr>
          <a:xfrm>
            <a:off x="20840738" y="20412559"/>
            <a:ext cx="2660825" cy="954107"/>
          </a:xfrm>
          <a:prstGeom prst="rect">
            <a:avLst/>
          </a:prstGeom>
          <a:noFill/>
        </p:spPr>
        <p:txBody>
          <a:bodyPr wrap="square" lIns="91440" tIns="45720" rIns="91440" bIns="45720" anchor="t">
            <a:spAutoFit/>
          </a:bodyPr>
          <a:lstStyle/>
          <a:p>
            <a:pPr algn="ctr"/>
            <a:r>
              <a:rPr lang="en-US" sz="2800" dirty="0">
                <a:latin typeface="Helvetica"/>
                <a:ea typeface="MS PGothic"/>
              </a:rPr>
              <a:t>X=54</a:t>
            </a:r>
          </a:p>
          <a:p>
            <a:pPr algn="ctr"/>
            <a:endParaRPr lang="en-US" sz="2800" dirty="0">
              <a:latin typeface="Helvetica"/>
            </a:endParaRPr>
          </a:p>
        </p:txBody>
      </p:sp>
      <p:pic>
        <p:nvPicPr>
          <p:cNvPr id="41" name="Picture 40">
            <a:extLst>
              <a:ext uri="{FF2B5EF4-FFF2-40B4-BE49-F238E27FC236}">
                <a16:creationId xmlns:a16="http://schemas.microsoft.com/office/drawing/2014/main" id="{3C942EA9-A4AA-7EC7-CB18-DD300F54A4F5}"/>
              </a:ext>
            </a:extLst>
          </p:cNvPr>
          <p:cNvPicPr>
            <a:picLocks noChangeAspect="1"/>
          </p:cNvPicPr>
          <p:nvPr/>
        </p:nvPicPr>
        <p:blipFill>
          <a:blip r:embed="rId7"/>
          <a:stretch>
            <a:fillRect/>
          </a:stretch>
        </p:blipFill>
        <p:spPr>
          <a:xfrm>
            <a:off x="15814320" y="26870218"/>
            <a:ext cx="8920689" cy="4178935"/>
          </a:xfrm>
          <a:prstGeom prst="rect">
            <a:avLst/>
          </a:prstGeom>
        </p:spPr>
      </p:pic>
      <p:pic>
        <p:nvPicPr>
          <p:cNvPr id="43" name="Picture 42">
            <a:extLst>
              <a:ext uri="{FF2B5EF4-FFF2-40B4-BE49-F238E27FC236}">
                <a16:creationId xmlns:a16="http://schemas.microsoft.com/office/drawing/2014/main" id="{AAC5D960-CDB0-EC34-2A20-BB42B0562EEF}"/>
              </a:ext>
            </a:extLst>
          </p:cNvPr>
          <p:cNvPicPr>
            <a:picLocks noChangeAspect="1"/>
          </p:cNvPicPr>
          <p:nvPr/>
        </p:nvPicPr>
        <p:blipFill>
          <a:blip r:embed="rId8"/>
          <a:stretch>
            <a:fillRect/>
          </a:stretch>
        </p:blipFill>
        <p:spPr>
          <a:xfrm>
            <a:off x="26760574" y="25642927"/>
            <a:ext cx="3138113" cy="5054526"/>
          </a:xfrm>
          <a:prstGeom prst="rect">
            <a:avLst/>
          </a:prstGeom>
        </p:spPr>
      </p:pic>
      <p:sp>
        <p:nvSpPr>
          <p:cNvPr id="47" name="TextBox 46">
            <a:extLst>
              <a:ext uri="{FF2B5EF4-FFF2-40B4-BE49-F238E27FC236}">
                <a16:creationId xmlns:a16="http://schemas.microsoft.com/office/drawing/2014/main" id="{5900B96E-BCA6-755E-5EDC-6280C35A3352}"/>
              </a:ext>
            </a:extLst>
          </p:cNvPr>
          <p:cNvSpPr txBox="1"/>
          <p:nvPr/>
        </p:nvSpPr>
        <p:spPr>
          <a:xfrm>
            <a:off x="27055962" y="30668040"/>
            <a:ext cx="140738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Helvetica"/>
                <a:ea typeface="MS PGothic"/>
              </a:rPr>
              <a:t>DG-P</a:t>
            </a:r>
            <a:endParaRPr lang="en-US" sz="3200" b="1" dirty="0">
              <a:latin typeface="Helvetica"/>
            </a:endParaRPr>
          </a:p>
        </p:txBody>
      </p:sp>
      <p:sp>
        <p:nvSpPr>
          <p:cNvPr id="48" name="TextBox 47">
            <a:extLst>
              <a:ext uri="{FF2B5EF4-FFF2-40B4-BE49-F238E27FC236}">
                <a16:creationId xmlns:a16="http://schemas.microsoft.com/office/drawing/2014/main" id="{CF376929-1D20-7DFA-12FD-79DC709EE305}"/>
              </a:ext>
            </a:extLst>
          </p:cNvPr>
          <p:cNvSpPr txBox="1"/>
          <p:nvPr/>
        </p:nvSpPr>
        <p:spPr>
          <a:xfrm>
            <a:off x="28376140" y="30668039"/>
            <a:ext cx="140738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Helvetica"/>
                <a:ea typeface="MS PGothic"/>
              </a:rPr>
              <a:t>UG-P</a:t>
            </a:r>
            <a:endParaRPr lang="en-US" sz="3200" b="1" dirty="0">
              <a:latin typeface="Helvetica"/>
            </a:endParaRPr>
          </a:p>
        </p:txBody>
      </p:sp>
      <p:sp>
        <p:nvSpPr>
          <p:cNvPr id="50" name="TextBox 49">
            <a:extLst>
              <a:ext uri="{FF2B5EF4-FFF2-40B4-BE49-F238E27FC236}">
                <a16:creationId xmlns:a16="http://schemas.microsoft.com/office/drawing/2014/main" id="{3E5D8420-A794-E6A2-1628-ED1203DBAD11}"/>
              </a:ext>
            </a:extLst>
          </p:cNvPr>
          <p:cNvSpPr txBox="1"/>
          <p:nvPr/>
        </p:nvSpPr>
        <p:spPr>
          <a:xfrm>
            <a:off x="25100581" y="25168250"/>
            <a:ext cx="1046440" cy="6220601"/>
          </a:xfrm>
          <a:prstGeom prst="rect">
            <a:avLst/>
          </a:prstGeom>
          <a:noFill/>
        </p:spPr>
        <p:txBody>
          <a:bodyPr vert="vert270" wrap="square">
            <a:spAutoFit/>
          </a:bodyPr>
          <a:lstStyle/>
          <a:p>
            <a:pPr algn="ctr"/>
            <a:r>
              <a:rPr lang="en-US" sz="2800" dirty="0">
                <a:latin typeface="Helvetica"/>
                <a:ea typeface="MS PGothic"/>
              </a:rPr>
              <a:t>VS-</a:t>
            </a:r>
            <a:r>
              <a:rPr lang="en-US" sz="2800" dirty="0" err="1">
                <a:latin typeface="Helvetica"/>
                <a:ea typeface="MS PGothic"/>
              </a:rPr>
              <a:t>pTPJ</a:t>
            </a:r>
            <a:r>
              <a:rPr lang="en-US" sz="2800" dirty="0">
                <a:latin typeface="Helvetica"/>
                <a:ea typeface="MS PGothic"/>
              </a:rPr>
              <a:t> Connectivity (</a:t>
            </a:r>
            <a:r>
              <a:rPr lang="el-GR" sz="2800" dirty="0">
                <a:latin typeface="Helvetica"/>
                <a:ea typeface="MS PGothic"/>
              </a:rPr>
              <a:t>β) </a:t>
            </a:r>
            <a:endParaRPr lang="en-US" sz="2800" dirty="0">
              <a:latin typeface="Helvetica"/>
              <a:ea typeface="MS PGothic"/>
            </a:endParaRPr>
          </a:p>
          <a:p>
            <a:pPr algn="ctr"/>
            <a:r>
              <a:rPr lang="en-US" sz="2800" dirty="0">
                <a:latin typeface="Helvetica"/>
                <a:ea typeface="MS PGothic"/>
              </a:rPr>
              <a:t>Parametric Effect of Fairness</a:t>
            </a:r>
            <a:endParaRPr lang="en-US" sz="2800" dirty="0">
              <a:latin typeface="Helvetica"/>
            </a:endParaRPr>
          </a:p>
        </p:txBody>
      </p:sp>
      <p:sp>
        <p:nvSpPr>
          <p:cNvPr id="58" name="TextBox 57">
            <a:extLst>
              <a:ext uri="{FF2B5EF4-FFF2-40B4-BE49-F238E27FC236}">
                <a16:creationId xmlns:a16="http://schemas.microsoft.com/office/drawing/2014/main" id="{CF8F959E-0952-02EF-7EAF-5D5E65A0EC8B}"/>
              </a:ext>
            </a:extLst>
          </p:cNvPr>
          <p:cNvSpPr txBox="1"/>
          <p:nvPr/>
        </p:nvSpPr>
        <p:spPr>
          <a:xfrm>
            <a:off x="26019365" y="30226433"/>
            <a:ext cx="1817883" cy="523220"/>
          </a:xfrm>
          <a:prstGeom prst="rect">
            <a:avLst/>
          </a:prstGeom>
          <a:noFill/>
        </p:spPr>
        <p:txBody>
          <a:bodyPr wrap="square">
            <a:spAutoFit/>
          </a:bodyPr>
          <a:lstStyle/>
          <a:p>
            <a:r>
              <a:rPr lang="en-US" sz="2800">
                <a:latin typeface="Helvetica"/>
                <a:ea typeface="MS PGothic"/>
              </a:rPr>
              <a:t>-1.2</a:t>
            </a:r>
            <a:endParaRPr lang="en-US" sz="2800">
              <a:latin typeface="Helvetica"/>
            </a:endParaRPr>
          </a:p>
        </p:txBody>
      </p:sp>
      <p:sp>
        <p:nvSpPr>
          <p:cNvPr id="60" name="TextBox 59">
            <a:extLst>
              <a:ext uri="{FF2B5EF4-FFF2-40B4-BE49-F238E27FC236}">
                <a16:creationId xmlns:a16="http://schemas.microsoft.com/office/drawing/2014/main" id="{E3BA5B0D-B1AC-644C-79D7-BC70641DADED}"/>
              </a:ext>
            </a:extLst>
          </p:cNvPr>
          <p:cNvSpPr txBox="1"/>
          <p:nvPr/>
        </p:nvSpPr>
        <p:spPr>
          <a:xfrm>
            <a:off x="26147021" y="26687545"/>
            <a:ext cx="1817883" cy="523220"/>
          </a:xfrm>
          <a:prstGeom prst="rect">
            <a:avLst/>
          </a:prstGeom>
          <a:noFill/>
        </p:spPr>
        <p:txBody>
          <a:bodyPr wrap="square">
            <a:spAutoFit/>
          </a:bodyPr>
          <a:lstStyle/>
          <a:p>
            <a:r>
              <a:rPr lang="en-US" sz="2800">
                <a:latin typeface="Helvetica"/>
                <a:ea typeface="MS PGothic"/>
              </a:rPr>
              <a:t>0.4</a:t>
            </a:r>
            <a:endParaRPr lang="en-US" sz="2800">
              <a:latin typeface="Helvetica"/>
            </a:endParaRPr>
          </a:p>
        </p:txBody>
      </p:sp>
      <p:sp>
        <p:nvSpPr>
          <p:cNvPr id="61" name="TextBox 60">
            <a:extLst>
              <a:ext uri="{FF2B5EF4-FFF2-40B4-BE49-F238E27FC236}">
                <a16:creationId xmlns:a16="http://schemas.microsoft.com/office/drawing/2014/main" id="{9A5C9908-4E1F-77B3-0715-66DB554C7C7A}"/>
              </a:ext>
            </a:extLst>
          </p:cNvPr>
          <p:cNvSpPr txBox="1"/>
          <p:nvPr/>
        </p:nvSpPr>
        <p:spPr>
          <a:xfrm>
            <a:off x="26380686" y="27536397"/>
            <a:ext cx="1817883" cy="523220"/>
          </a:xfrm>
          <a:prstGeom prst="rect">
            <a:avLst/>
          </a:prstGeom>
          <a:noFill/>
        </p:spPr>
        <p:txBody>
          <a:bodyPr wrap="square">
            <a:spAutoFit/>
          </a:bodyPr>
          <a:lstStyle/>
          <a:p>
            <a:r>
              <a:rPr lang="en-US" sz="2800">
                <a:latin typeface="Helvetica"/>
                <a:ea typeface="MS PGothic"/>
              </a:rPr>
              <a:t>0</a:t>
            </a:r>
            <a:endParaRPr lang="en-US" sz="2800">
              <a:latin typeface="Helvetica"/>
            </a:endParaRPr>
          </a:p>
        </p:txBody>
      </p:sp>
      <p:sp>
        <p:nvSpPr>
          <p:cNvPr id="67" name="TextBox 66">
            <a:extLst>
              <a:ext uri="{FF2B5EF4-FFF2-40B4-BE49-F238E27FC236}">
                <a16:creationId xmlns:a16="http://schemas.microsoft.com/office/drawing/2014/main" id="{1DAE6AE4-74C8-D8FC-8129-FF3D04D3A2CD}"/>
              </a:ext>
            </a:extLst>
          </p:cNvPr>
          <p:cNvSpPr txBox="1"/>
          <p:nvPr/>
        </p:nvSpPr>
        <p:spPr>
          <a:xfrm>
            <a:off x="26055551" y="29295977"/>
            <a:ext cx="1817883" cy="523220"/>
          </a:xfrm>
          <a:prstGeom prst="rect">
            <a:avLst/>
          </a:prstGeom>
          <a:noFill/>
        </p:spPr>
        <p:txBody>
          <a:bodyPr wrap="square">
            <a:spAutoFit/>
          </a:bodyPr>
          <a:lstStyle/>
          <a:p>
            <a:r>
              <a:rPr lang="en-US" sz="2800">
                <a:latin typeface="Helvetica"/>
                <a:ea typeface="MS PGothic"/>
              </a:rPr>
              <a:t>-0.8</a:t>
            </a:r>
            <a:endParaRPr lang="en-US" sz="2800">
              <a:latin typeface="Helvetica"/>
            </a:endParaRPr>
          </a:p>
        </p:txBody>
      </p:sp>
      <p:sp>
        <p:nvSpPr>
          <p:cNvPr id="75" name="TextBox 74">
            <a:extLst>
              <a:ext uri="{FF2B5EF4-FFF2-40B4-BE49-F238E27FC236}">
                <a16:creationId xmlns:a16="http://schemas.microsoft.com/office/drawing/2014/main" id="{CF19FF0D-8F2A-7FE3-57AA-717C50B39DBD}"/>
              </a:ext>
            </a:extLst>
          </p:cNvPr>
          <p:cNvSpPr txBox="1"/>
          <p:nvPr/>
        </p:nvSpPr>
        <p:spPr>
          <a:xfrm>
            <a:off x="26177518" y="25839671"/>
            <a:ext cx="1817883" cy="523220"/>
          </a:xfrm>
          <a:prstGeom prst="rect">
            <a:avLst/>
          </a:prstGeom>
          <a:noFill/>
        </p:spPr>
        <p:txBody>
          <a:bodyPr wrap="square">
            <a:spAutoFit/>
          </a:bodyPr>
          <a:lstStyle/>
          <a:p>
            <a:r>
              <a:rPr lang="en-US" sz="2800">
                <a:latin typeface="Helvetica"/>
                <a:ea typeface="MS PGothic"/>
              </a:rPr>
              <a:t>0.8</a:t>
            </a:r>
            <a:endParaRPr lang="en-US" sz="2800">
              <a:latin typeface="Helvetica"/>
            </a:endParaRPr>
          </a:p>
        </p:txBody>
      </p:sp>
      <p:sp>
        <p:nvSpPr>
          <p:cNvPr id="76" name="TextBox 75">
            <a:extLst>
              <a:ext uri="{FF2B5EF4-FFF2-40B4-BE49-F238E27FC236}">
                <a16:creationId xmlns:a16="http://schemas.microsoft.com/office/drawing/2014/main" id="{768A634B-F98A-84A5-06C5-1A7352586B5B}"/>
              </a:ext>
            </a:extLst>
          </p:cNvPr>
          <p:cNvSpPr txBox="1"/>
          <p:nvPr/>
        </p:nvSpPr>
        <p:spPr>
          <a:xfrm>
            <a:off x="26060705" y="28400723"/>
            <a:ext cx="1817883" cy="523220"/>
          </a:xfrm>
          <a:prstGeom prst="rect">
            <a:avLst/>
          </a:prstGeom>
          <a:noFill/>
        </p:spPr>
        <p:txBody>
          <a:bodyPr wrap="square">
            <a:spAutoFit/>
          </a:bodyPr>
          <a:lstStyle/>
          <a:p>
            <a:r>
              <a:rPr lang="en-US" sz="2800">
                <a:latin typeface="Helvetica"/>
                <a:ea typeface="MS PGothic"/>
              </a:rPr>
              <a:t>-0.4</a:t>
            </a:r>
            <a:endParaRPr lang="en-US" sz="2800">
              <a:latin typeface="Helvetica"/>
            </a:endParaRPr>
          </a:p>
        </p:txBody>
      </p:sp>
      <p:sp>
        <p:nvSpPr>
          <p:cNvPr id="77" name="TextBox 76">
            <a:extLst>
              <a:ext uri="{FF2B5EF4-FFF2-40B4-BE49-F238E27FC236}">
                <a16:creationId xmlns:a16="http://schemas.microsoft.com/office/drawing/2014/main" id="{B15BBA0A-DD67-6B9C-B5BB-76CF43AFFA0A}"/>
              </a:ext>
            </a:extLst>
          </p:cNvPr>
          <p:cNvSpPr txBox="1"/>
          <p:nvPr/>
        </p:nvSpPr>
        <p:spPr>
          <a:xfrm>
            <a:off x="19957299" y="25908025"/>
            <a:ext cx="4584887"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latin typeface="Helvetica"/>
                <a:ea typeface="MS PGothic"/>
              </a:rPr>
              <a:t>A Priori ROI</a:t>
            </a:r>
          </a:p>
          <a:p>
            <a:pPr algn="ctr"/>
            <a:r>
              <a:rPr lang="en-US" sz="3200" b="1" dirty="0">
                <a:latin typeface="Helvetica"/>
                <a:ea typeface="MS PGothic"/>
              </a:rPr>
              <a:t>Target: </a:t>
            </a:r>
            <a:r>
              <a:rPr lang="en-US" sz="3200" b="1" dirty="0" err="1">
                <a:latin typeface="Helvetica"/>
                <a:ea typeface="MS PGothic"/>
              </a:rPr>
              <a:t>pTPJ</a:t>
            </a:r>
            <a:endParaRPr lang="en-US" sz="3200" b="1" dirty="0">
              <a:latin typeface="Helvetica"/>
              <a:ea typeface="MS PGothic"/>
            </a:endParaRPr>
          </a:p>
        </p:txBody>
      </p:sp>
      <p:sp>
        <p:nvSpPr>
          <p:cNvPr id="78" name="TextBox 77">
            <a:extLst>
              <a:ext uri="{FF2B5EF4-FFF2-40B4-BE49-F238E27FC236}">
                <a16:creationId xmlns:a16="http://schemas.microsoft.com/office/drawing/2014/main" id="{DE8BE16A-2A4F-200C-4E2D-E5657714A5B0}"/>
              </a:ext>
            </a:extLst>
          </p:cNvPr>
          <p:cNvSpPr txBox="1"/>
          <p:nvPr/>
        </p:nvSpPr>
        <p:spPr>
          <a:xfrm>
            <a:off x="20785502" y="30697453"/>
            <a:ext cx="2771296" cy="954107"/>
          </a:xfrm>
          <a:prstGeom prst="rect">
            <a:avLst/>
          </a:prstGeom>
          <a:noFill/>
        </p:spPr>
        <p:txBody>
          <a:bodyPr wrap="square" lIns="91440" tIns="45720" rIns="91440" bIns="45720" anchor="t">
            <a:spAutoFit/>
          </a:bodyPr>
          <a:lstStyle/>
          <a:p>
            <a:pPr algn="ctr"/>
            <a:r>
              <a:rPr lang="en-US" sz="2800" dirty="0">
                <a:latin typeface="Helvetica"/>
                <a:ea typeface="MS PGothic"/>
              </a:rPr>
              <a:t>X=50</a:t>
            </a:r>
          </a:p>
          <a:p>
            <a:pPr algn="ctr"/>
            <a:endParaRPr lang="en-US" sz="2800" dirty="0">
              <a:latin typeface="Helvetica"/>
            </a:endParaRPr>
          </a:p>
        </p:txBody>
      </p:sp>
      <p:sp>
        <p:nvSpPr>
          <p:cNvPr id="79" name="TextBox 78">
            <a:extLst>
              <a:ext uri="{FF2B5EF4-FFF2-40B4-BE49-F238E27FC236}">
                <a16:creationId xmlns:a16="http://schemas.microsoft.com/office/drawing/2014/main" id="{4787F7ED-B77A-D580-B1DD-ED37BB4E8ECF}"/>
              </a:ext>
            </a:extLst>
          </p:cNvPr>
          <p:cNvSpPr txBox="1"/>
          <p:nvPr/>
        </p:nvSpPr>
        <p:spPr>
          <a:xfrm>
            <a:off x="15671037" y="25910689"/>
            <a:ext cx="4584887"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latin typeface="Helvetica"/>
                <a:ea typeface="MS PGothic"/>
              </a:rPr>
              <a:t>Seed Region:</a:t>
            </a:r>
            <a:br>
              <a:rPr lang="en-US" sz="3200" b="1" dirty="0">
                <a:latin typeface="Helvetica"/>
                <a:ea typeface="MS PGothic"/>
              </a:rPr>
            </a:br>
            <a:r>
              <a:rPr lang="en-US" sz="3200" b="1" dirty="0">
                <a:latin typeface="Helvetica"/>
                <a:ea typeface="MS PGothic"/>
              </a:rPr>
              <a:t>Ventral Striatum</a:t>
            </a:r>
          </a:p>
        </p:txBody>
      </p:sp>
      <p:sp>
        <p:nvSpPr>
          <p:cNvPr id="80" name="TextBox 79">
            <a:extLst>
              <a:ext uri="{FF2B5EF4-FFF2-40B4-BE49-F238E27FC236}">
                <a16:creationId xmlns:a16="http://schemas.microsoft.com/office/drawing/2014/main" id="{FD72DC14-1E2D-4557-BD08-7DD34FFE9083}"/>
              </a:ext>
            </a:extLst>
          </p:cNvPr>
          <p:cNvSpPr txBox="1"/>
          <p:nvPr/>
        </p:nvSpPr>
        <p:spPr>
          <a:xfrm>
            <a:off x="15886074" y="30749653"/>
            <a:ext cx="4068810" cy="954107"/>
          </a:xfrm>
          <a:prstGeom prst="rect">
            <a:avLst/>
          </a:prstGeom>
          <a:noFill/>
        </p:spPr>
        <p:txBody>
          <a:bodyPr wrap="square" lIns="91440" tIns="45720" rIns="91440" bIns="45720" anchor="t">
            <a:spAutoFit/>
          </a:bodyPr>
          <a:lstStyle/>
          <a:p>
            <a:pPr algn="ctr"/>
            <a:r>
              <a:rPr lang="en-US" sz="2800">
                <a:latin typeface="Helvetica"/>
                <a:ea typeface="MS PGothic"/>
              </a:rPr>
              <a:t>Y=12</a:t>
            </a:r>
          </a:p>
          <a:p>
            <a:pPr algn="ctr"/>
            <a:endParaRPr lang="en-US" sz="2800">
              <a:latin typeface="Helvetica"/>
            </a:endParaRPr>
          </a:p>
        </p:txBody>
      </p:sp>
      <p:pic>
        <p:nvPicPr>
          <p:cNvPr id="86" name="Picture 85">
            <a:extLst>
              <a:ext uri="{FF2B5EF4-FFF2-40B4-BE49-F238E27FC236}">
                <a16:creationId xmlns:a16="http://schemas.microsoft.com/office/drawing/2014/main" id="{E573EADA-30C2-3A64-D8A6-17A8202D8868}"/>
              </a:ext>
            </a:extLst>
          </p:cNvPr>
          <p:cNvPicPr>
            <a:picLocks noChangeAspect="1"/>
          </p:cNvPicPr>
          <p:nvPr/>
        </p:nvPicPr>
        <p:blipFill>
          <a:blip r:embed="rId9"/>
          <a:stretch>
            <a:fillRect/>
          </a:stretch>
        </p:blipFill>
        <p:spPr>
          <a:xfrm>
            <a:off x="24078661" y="5660814"/>
            <a:ext cx="6106112" cy="5158921"/>
          </a:xfrm>
          <a:prstGeom prst="rect">
            <a:avLst/>
          </a:prstGeom>
        </p:spPr>
      </p:pic>
      <p:pic>
        <p:nvPicPr>
          <p:cNvPr id="89" name="Picture 88">
            <a:extLst>
              <a:ext uri="{FF2B5EF4-FFF2-40B4-BE49-F238E27FC236}">
                <a16:creationId xmlns:a16="http://schemas.microsoft.com/office/drawing/2014/main" id="{E684E0F0-91B9-C649-829B-E3B24E052782}"/>
              </a:ext>
            </a:extLst>
          </p:cNvPr>
          <p:cNvPicPr>
            <a:picLocks noChangeAspect="1"/>
          </p:cNvPicPr>
          <p:nvPr/>
        </p:nvPicPr>
        <p:blipFill>
          <a:blip r:embed="rId10"/>
          <a:stretch>
            <a:fillRect/>
          </a:stretch>
        </p:blipFill>
        <p:spPr>
          <a:xfrm>
            <a:off x="16706497" y="5647661"/>
            <a:ext cx="6124575" cy="5172075"/>
          </a:xfrm>
          <a:prstGeom prst="rect">
            <a:avLst/>
          </a:prstGeom>
        </p:spPr>
      </p:pic>
      <p:sp>
        <p:nvSpPr>
          <p:cNvPr id="90" name="TextBox 89">
            <a:extLst>
              <a:ext uri="{FF2B5EF4-FFF2-40B4-BE49-F238E27FC236}">
                <a16:creationId xmlns:a16="http://schemas.microsoft.com/office/drawing/2014/main" id="{9423D2D3-0C9E-E28A-9C32-476C547B0E0D}"/>
              </a:ext>
            </a:extLst>
          </p:cNvPr>
          <p:cNvSpPr txBox="1"/>
          <p:nvPr/>
        </p:nvSpPr>
        <p:spPr>
          <a:xfrm>
            <a:off x="24916126" y="10998177"/>
            <a:ext cx="235728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dirty="0">
                <a:latin typeface="Helvetica"/>
                <a:ea typeface="MS PGothic"/>
              </a:rPr>
              <a:t>Accept</a:t>
            </a:r>
            <a:endParaRPr lang="en-US" sz="3600" b="1" dirty="0">
              <a:latin typeface="Helvetica"/>
            </a:endParaRPr>
          </a:p>
        </p:txBody>
      </p:sp>
      <p:sp>
        <p:nvSpPr>
          <p:cNvPr id="91" name="TextBox 90">
            <a:extLst>
              <a:ext uri="{FF2B5EF4-FFF2-40B4-BE49-F238E27FC236}">
                <a16:creationId xmlns:a16="http://schemas.microsoft.com/office/drawing/2014/main" id="{0F9B3295-0257-132C-F2E5-B66280D1D176}"/>
              </a:ext>
            </a:extLst>
          </p:cNvPr>
          <p:cNvSpPr txBox="1"/>
          <p:nvPr/>
        </p:nvSpPr>
        <p:spPr>
          <a:xfrm>
            <a:off x="27633887" y="10971622"/>
            <a:ext cx="47630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dirty="0">
                <a:latin typeface="Helvetica"/>
                <a:ea typeface="MS PGothic"/>
              </a:rPr>
              <a:t>Reject</a:t>
            </a:r>
            <a:endParaRPr lang="en-US" sz="3600" b="1" dirty="0">
              <a:latin typeface="Helvetica"/>
            </a:endParaRPr>
          </a:p>
        </p:txBody>
      </p:sp>
      <p:sp>
        <p:nvSpPr>
          <p:cNvPr id="93" name="TextBox 92">
            <a:extLst>
              <a:ext uri="{FF2B5EF4-FFF2-40B4-BE49-F238E27FC236}">
                <a16:creationId xmlns:a16="http://schemas.microsoft.com/office/drawing/2014/main" id="{F1DFC545-7F08-C79C-CAF5-AE6325C65C62}"/>
              </a:ext>
            </a:extLst>
          </p:cNvPr>
          <p:cNvSpPr txBox="1"/>
          <p:nvPr/>
        </p:nvSpPr>
        <p:spPr>
          <a:xfrm>
            <a:off x="17348239" y="10960844"/>
            <a:ext cx="235728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dirty="0">
                <a:latin typeface="Helvetica"/>
                <a:ea typeface="MS PGothic"/>
              </a:rPr>
              <a:t>Dictator Game</a:t>
            </a:r>
            <a:endParaRPr lang="en-US" sz="3600" b="1" dirty="0">
              <a:latin typeface="Helvetica"/>
            </a:endParaRPr>
          </a:p>
        </p:txBody>
      </p:sp>
      <p:sp>
        <p:nvSpPr>
          <p:cNvPr id="94" name="TextBox 93">
            <a:extLst>
              <a:ext uri="{FF2B5EF4-FFF2-40B4-BE49-F238E27FC236}">
                <a16:creationId xmlns:a16="http://schemas.microsoft.com/office/drawing/2014/main" id="{44956700-BC52-8EE1-3309-9A6C96BD931D}"/>
              </a:ext>
            </a:extLst>
          </p:cNvPr>
          <p:cNvSpPr txBox="1"/>
          <p:nvPr/>
        </p:nvSpPr>
        <p:spPr>
          <a:xfrm>
            <a:off x="19393758" y="10960843"/>
            <a:ext cx="303654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dirty="0">
                <a:latin typeface="Helvetica"/>
                <a:ea typeface="MS PGothic"/>
              </a:rPr>
              <a:t>Ultimatum Game</a:t>
            </a:r>
            <a:endParaRPr lang="en-US" sz="3600" b="1" dirty="0">
              <a:latin typeface="Helvetica"/>
            </a:endParaRPr>
          </a:p>
        </p:txBody>
      </p:sp>
      <p:sp>
        <p:nvSpPr>
          <p:cNvPr id="96" name="TextBox 95">
            <a:extLst>
              <a:ext uri="{FF2B5EF4-FFF2-40B4-BE49-F238E27FC236}">
                <a16:creationId xmlns:a16="http://schemas.microsoft.com/office/drawing/2014/main" id="{D700C43A-8116-A383-86C5-66A49D723886}"/>
              </a:ext>
            </a:extLst>
          </p:cNvPr>
          <p:cNvSpPr txBox="1"/>
          <p:nvPr/>
        </p:nvSpPr>
        <p:spPr>
          <a:xfrm>
            <a:off x="22954653" y="4735753"/>
            <a:ext cx="615553" cy="7433855"/>
          </a:xfrm>
          <a:prstGeom prst="rect">
            <a:avLst/>
          </a:prstGeom>
          <a:noFill/>
        </p:spPr>
        <p:txBody>
          <a:bodyPr rot="0" spcFirstLastPara="0" vertOverflow="overflow" horzOverflow="overflow" vert="vert270" wrap="square" lIns="91440" tIns="45720" rIns="91440" bIns="45720" numCol="1" spcCol="0" rtlCol="0" fromWordArt="0" anchor="t" anchorCtr="0" forceAA="0" compatLnSpc="1">
            <a:prstTxWarp prst="textNoShape">
              <a:avLst/>
            </a:prstTxWarp>
            <a:spAutoFit/>
          </a:bodyPr>
          <a:lstStyle/>
          <a:p>
            <a:pPr algn="ctr"/>
            <a:r>
              <a:rPr lang="en-US" sz="2800" dirty="0">
                <a:latin typeface="Helvetica"/>
                <a:ea typeface="MS PGothic"/>
              </a:rPr>
              <a:t>Proportion of Endowment Offered (0-1)</a:t>
            </a:r>
            <a:endParaRPr lang="en-US" sz="2800" dirty="0">
              <a:latin typeface="Helvetica"/>
            </a:endParaRPr>
          </a:p>
        </p:txBody>
      </p:sp>
      <p:sp>
        <p:nvSpPr>
          <p:cNvPr id="99" name="TextBox 98">
            <a:extLst>
              <a:ext uri="{FF2B5EF4-FFF2-40B4-BE49-F238E27FC236}">
                <a16:creationId xmlns:a16="http://schemas.microsoft.com/office/drawing/2014/main" id="{0EC7C372-E726-B3AE-72CB-E6DC8B9E6B60}"/>
              </a:ext>
            </a:extLst>
          </p:cNvPr>
          <p:cNvSpPr txBox="1"/>
          <p:nvPr/>
        </p:nvSpPr>
        <p:spPr>
          <a:xfrm>
            <a:off x="16386345" y="10433948"/>
            <a:ext cx="1817883" cy="523220"/>
          </a:xfrm>
          <a:prstGeom prst="rect">
            <a:avLst/>
          </a:prstGeom>
          <a:noFill/>
        </p:spPr>
        <p:txBody>
          <a:bodyPr wrap="square">
            <a:spAutoFit/>
          </a:bodyPr>
          <a:lstStyle/>
          <a:p>
            <a:r>
              <a:rPr lang="en-US" sz="2800" dirty="0">
                <a:latin typeface="Helvetica"/>
                <a:ea typeface="MS PGothic"/>
              </a:rPr>
              <a:t>0</a:t>
            </a:r>
            <a:endParaRPr lang="en-US" sz="2800" dirty="0">
              <a:latin typeface="Helvetica"/>
            </a:endParaRPr>
          </a:p>
        </p:txBody>
      </p:sp>
      <p:sp>
        <p:nvSpPr>
          <p:cNvPr id="101" name="TextBox 100">
            <a:extLst>
              <a:ext uri="{FF2B5EF4-FFF2-40B4-BE49-F238E27FC236}">
                <a16:creationId xmlns:a16="http://schemas.microsoft.com/office/drawing/2014/main" id="{352CD731-0A31-C39E-3986-4C7BAE418058}"/>
              </a:ext>
            </a:extLst>
          </p:cNvPr>
          <p:cNvSpPr txBox="1"/>
          <p:nvPr/>
        </p:nvSpPr>
        <p:spPr>
          <a:xfrm>
            <a:off x="16149427" y="8928783"/>
            <a:ext cx="1817883" cy="523220"/>
          </a:xfrm>
          <a:prstGeom prst="rect">
            <a:avLst/>
          </a:prstGeom>
          <a:noFill/>
        </p:spPr>
        <p:txBody>
          <a:bodyPr wrap="square">
            <a:spAutoFit/>
          </a:bodyPr>
          <a:lstStyle/>
          <a:p>
            <a:r>
              <a:rPr lang="en-US" sz="2800" dirty="0">
                <a:latin typeface="Helvetica"/>
                <a:ea typeface="MS PGothic"/>
              </a:rPr>
              <a:t>0.1</a:t>
            </a:r>
            <a:endParaRPr lang="en-US" sz="2800" dirty="0">
              <a:latin typeface="Helvetica"/>
            </a:endParaRPr>
          </a:p>
        </p:txBody>
      </p:sp>
      <p:sp>
        <p:nvSpPr>
          <p:cNvPr id="102" name="TextBox 101">
            <a:extLst>
              <a:ext uri="{FF2B5EF4-FFF2-40B4-BE49-F238E27FC236}">
                <a16:creationId xmlns:a16="http://schemas.microsoft.com/office/drawing/2014/main" id="{A0B12FD1-045A-E8E7-6566-088307F7069D}"/>
              </a:ext>
            </a:extLst>
          </p:cNvPr>
          <p:cNvSpPr txBox="1"/>
          <p:nvPr/>
        </p:nvSpPr>
        <p:spPr>
          <a:xfrm>
            <a:off x="16130377" y="7651527"/>
            <a:ext cx="1817883" cy="523220"/>
          </a:xfrm>
          <a:prstGeom prst="rect">
            <a:avLst/>
          </a:prstGeom>
          <a:noFill/>
        </p:spPr>
        <p:txBody>
          <a:bodyPr wrap="square">
            <a:spAutoFit/>
          </a:bodyPr>
          <a:lstStyle/>
          <a:p>
            <a:r>
              <a:rPr lang="en-US" sz="2800" dirty="0">
                <a:latin typeface="Helvetica"/>
                <a:ea typeface="MS PGothic"/>
              </a:rPr>
              <a:t>0.2</a:t>
            </a:r>
            <a:endParaRPr lang="en-US" sz="2800" dirty="0">
              <a:latin typeface="Helvetica"/>
            </a:endParaRPr>
          </a:p>
        </p:txBody>
      </p:sp>
      <p:sp>
        <p:nvSpPr>
          <p:cNvPr id="103" name="TextBox 102">
            <a:extLst>
              <a:ext uri="{FF2B5EF4-FFF2-40B4-BE49-F238E27FC236}">
                <a16:creationId xmlns:a16="http://schemas.microsoft.com/office/drawing/2014/main" id="{E0A59D14-E0F4-0E4C-E778-C09B9F6709D7}"/>
              </a:ext>
            </a:extLst>
          </p:cNvPr>
          <p:cNvSpPr txBox="1"/>
          <p:nvPr/>
        </p:nvSpPr>
        <p:spPr>
          <a:xfrm>
            <a:off x="16149426" y="6258657"/>
            <a:ext cx="1817883" cy="523220"/>
          </a:xfrm>
          <a:prstGeom prst="rect">
            <a:avLst/>
          </a:prstGeom>
          <a:noFill/>
        </p:spPr>
        <p:txBody>
          <a:bodyPr wrap="square">
            <a:spAutoFit/>
          </a:bodyPr>
          <a:lstStyle/>
          <a:p>
            <a:r>
              <a:rPr lang="en-US" sz="2800" dirty="0">
                <a:latin typeface="Helvetica"/>
                <a:ea typeface="MS PGothic"/>
              </a:rPr>
              <a:t>0.3</a:t>
            </a:r>
            <a:endParaRPr lang="en-US" sz="2800" dirty="0">
              <a:latin typeface="Helvetica"/>
            </a:endParaRPr>
          </a:p>
        </p:txBody>
      </p:sp>
      <p:sp>
        <p:nvSpPr>
          <p:cNvPr id="105" name="TextBox 104">
            <a:extLst>
              <a:ext uri="{FF2B5EF4-FFF2-40B4-BE49-F238E27FC236}">
                <a16:creationId xmlns:a16="http://schemas.microsoft.com/office/drawing/2014/main" id="{FD3F7893-1792-538C-F399-D2C0D940A284}"/>
              </a:ext>
            </a:extLst>
          </p:cNvPr>
          <p:cNvSpPr txBox="1"/>
          <p:nvPr/>
        </p:nvSpPr>
        <p:spPr>
          <a:xfrm>
            <a:off x="23699990" y="10282900"/>
            <a:ext cx="1817883" cy="523220"/>
          </a:xfrm>
          <a:prstGeom prst="rect">
            <a:avLst/>
          </a:prstGeom>
          <a:noFill/>
        </p:spPr>
        <p:txBody>
          <a:bodyPr wrap="square">
            <a:spAutoFit/>
          </a:bodyPr>
          <a:lstStyle/>
          <a:p>
            <a:r>
              <a:rPr lang="en-US" sz="2800">
                <a:latin typeface="Helvetica"/>
                <a:ea typeface="MS PGothic"/>
              </a:rPr>
              <a:t>0</a:t>
            </a:r>
            <a:endParaRPr lang="en-US" sz="2800">
              <a:latin typeface="Helvetica"/>
            </a:endParaRPr>
          </a:p>
        </p:txBody>
      </p:sp>
      <p:sp>
        <p:nvSpPr>
          <p:cNvPr id="106" name="TextBox 105">
            <a:extLst>
              <a:ext uri="{FF2B5EF4-FFF2-40B4-BE49-F238E27FC236}">
                <a16:creationId xmlns:a16="http://schemas.microsoft.com/office/drawing/2014/main" id="{AC6F7B51-B63B-037E-C078-B001D07947EE}"/>
              </a:ext>
            </a:extLst>
          </p:cNvPr>
          <p:cNvSpPr txBox="1"/>
          <p:nvPr/>
        </p:nvSpPr>
        <p:spPr>
          <a:xfrm>
            <a:off x="23483337" y="5479300"/>
            <a:ext cx="1817883" cy="523220"/>
          </a:xfrm>
          <a:prstGeom prst="rect">
            <a:avLst/>
          </a:prstGeom>
          <a:noFill/>
        </p:spPr>
        <p:txBody>
          <a:bodyPr wrap="square">
            <a:spAutoFit/>
          </a:bodyPr>
          <a:lstStyle/>
          <a:p>
            <a:r>
              <a:rPr lang="en-US" sz="2800">
                <a:latin typeface="Helvetica"/>
                <a:ea typeface="MS PGothic"/>
              </a:rPr>
              <a:t>0.4</a:t>
            </a:r>
            <a:endParaRPr lang="en-US" sz="2800">
              <a:latin typeface="Helvetica"/>
            </a:endParaRPr>
          </a:p>
        </p:txBody>
      </p:sp>
      <p:sp>
        <p:nvSpPr>
          <p:cNvPr id="107" name="TextBox 106">
            <a:extLst>
              <a:ext uri="{FF2B5EF4-FFF2-40B4-BE49-F238E27FC236}">
                <a16:creationId xmlns:a16="http://schemas.microsoft.com/office/drawing/2014/main" id="{66987275-F712-8C2D-BC6D-55CEACEEBA56}"/>
              </a:ext>
            </a:extLst>
          </p:cNvPr>
          <p:cNvSpPr txBox="1"/>
          <p:nvPr/>
        </p:nvSpPr>
        <p:spPr>
          <a:xfrm>
            <a:off x="23460259" y="7769060"/>
            <a:ext cx="1817883" cy="523220"/>
          </a:xfrm>
          <a:prstGeom prst="rect">
            <a:avLst/>
          </a:prstGeom>
          <a:noFill/>
        </p:spPr>
        <p:txBody>
          <a:bodyPr wrap="square">
            <a:spAutoFit/>
          </a:bodyPr>
          <a:lstStyle/>
          <a:p>
            <a:r>
              <a:rPr lang="en-US" sz="2800" dirty="0">
                <a:latin typeface="Helvetica"/>
                <a:ea typeface="MS PGothic"/>
              </a:rPr>
              <a:t>0.2</a:t>
            </a:r>
            <a:endParaRPr lang="en-US" sz="2800" dirty="0">
              <a:latin typeface="Helvetica"/>
            </a:endParaRPr>
          </a:p>
        </p:txBody>
      </p:sp>
      <p:sp>
        <p:nvSpPr>
          <p:cNvPr id="108" name="TextBox 107">
            <a:extLst>
              <a:ext uri="{FF2B5EF4-FFF2-40B4-BE49-F238E27FC236}">
                <a16:creationId xmlns:a16="http://schemas.microsoft.com/office/drawing/2014/main" id="{96C0B954-F7DA-580D-2D50-40EC59AD2768}"/>
              </a:ext>
            </a:extLst>
          </p:cNvPr>
          <p:cNvSpPr txBox="1"/>
          <p:nvPr/>
        </p:nvSpPr>
        <p:spPr>
          <a:xfrm>
            <a:off x="23483115" y="6647804"/>
            <a:ext cx="1817883" cy="523220"/>
          </a:xfrm>
          <a:prstGeom prst="rect">
            <a:avLst/>
          </a:prstGeom>
          <a:noFill/>
        </p:spPr>
        <p:txBody>
          <a:bodyPr wrap="square">
            <a:spAutoFit/>
          </a:bodyPr>
          <a:lstStyle/>
          <a:p>
            <a:r>
              <a:rPr lang="en-US" sz="2800" dirty="0">
                <a:latin typeface="Helvetica"/>
                <a:ea typeface="MS PGothic"/>
              </a:rPr>
              <a:t>0.3</a:t>
            </a:r>
            <a:endParaRPr lang="en-US" sz="2800" dirty="0">
              <a:latin typeface="Helvetica"/>
            </a:endParaRPr>
          </a:p>
        </p:txBody>
      </p:sp>
      <p:sp>
        <p:nvSpPr>
          <p:cNvPr id="109" name="TextBox 108">
            <a:extLst>
              <a:ext uri="{FF2B5EF4-FFF2-40B4-BE49-F238E27FC236}">
                <a16:creationId xmlns:a16="http://schemas.microsoft.com/office/drawing/2014/main" id="{2E742941-8495-D2EF-9C15-FE49828B1F16}"/>
              </a:ext>
            </a:extLst>
          </p:cNvPr>
          <p:cNvSpPr txBox="1"/>
          <p:nvPr/>
        </p:nvSpPr>
        <p:spPr>
          <a:xfrm>
            <a:off x="23482823" y="8965007"/>
            <a:ext cx="1817883" cy="523220"/>
          </a:xfrm>
          <a:prstGeom prst="rect">
            <a:avLst/>
          </a:prstGeom>
          <a:noFill/>
        </p:spPr>
        <p:txBody>
          <a:bodyPr wrap="square">
            <a:spAutoFit/>
          </a:bodyPr>
          <a:lstStyle/>
          <a:p>
            <a:r>
              <a:rPr lang="en-US" sz="2800" dirty="0">
                <a:latin typeface="Helvetica"/>
                <a:ea typeface="MS PGothic"/>
              </a:rPr>
              <a:t>0.1</a:t>
            </a:r>
            <a:endParaRPr lang="en-US" sz="2800" dirty="0">
              <a:latin typeface="Helvetica"/>
            </a:endParaRPr>
          </a:p>
        </p:txBody>
      </p:sp>
      <p:sp>
        <p:nvSpPr>
          <p:cNvPr id="110" name="TextBox 109">
            <a:extLst>
              <a:ext uri="{FF2B5EF4-FFF2-40B4-BE49-F238E27FC236}">
                <a16:creationId xmlns:a16="http://schemas.microsoft.com/office/drawing/2014/main" id="{5A79AFF0-CE8A-7BBE-AAFC-B04F28956552}"/>
              </a:ext>
            </a:extLst>
          </p:cNvPr>
          <p:cNvSpPr txBox="1"/>
          <p:nvPr/>
        </p:nvSpPr>
        <p:spPr>
          <a:xfrm>
            <a:off x="17100435" y="5711814"/>
            <a:ext cx="527056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latin typeface="Helvetica"/>
                <a:ea typeface="MS PGothic"/>
              </a:rPr>
              <a:t>Proposer Conditions</a:t>
            </a:r>
            <a:endParaRPr lang="en-US" sz="3600" b="1">
              <a:latin typeface="Helvetica"/>
            </a:endParaRPr>
          </a:p>
        </p:txBody>
      </p:sp>
      <p:sp>
        <p:nvSpPr>
          <p:cNvPr id="113" name="TextBox 112">
            <a:extLst>
              <a:ext uri="{FF2B5EF4-FFF2-40B4-BE49-F238E27FC236}">
                <a16:creationId xmlns:a16="http://schemas.microsoft.com/office/drawing/2014/main" id="{3E67F4B1-3E32-DC3E-6314-095C5E6BBEDE}"/>
              </a:ext>
            </a:extLst>
          </p:cNvPr>
          <p:cNvSpPr txBox="1"/>
          <p:nvPr/>
        </p:nvSpPr>
        <p:spPr>
          <a:xfrm>
            <a:off x="24628126" y="5711814"/>
            <a:ext cx="527056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dirty="0">
                <a:latin typeface="Helvetica"/>
                <a:ea typeface="MS PGothic"/>
              </a:rPr>
              <a:t>Recipient Conditions</a:t>
            </a:r>
            <a:endParaRPr lang="en-US" sz="3600" b="1" dirty="0">
              <a:latin typeface="Helvetica"/>
            </a:endParaRPr>
          </a:p>
        </p:txBody>
      </p:sp>
      <p:pic>
        <p:nvPicPr>
          <p:cNvPr id="117" name="Picture 116">
            <a:extLst>
              <a:ext uri="{FF2B5EF4-FFF2-40B4-BE49-F238E27FC236}">
                <a16:creationId xmlns:a16="http://schemas.microsoft.com/office/drawing/2014/main" id="{1AA6DF01-059A-4F02-C030-B755B3F77CBE}"/>
              </a:ext>
            </a:extLst>
          </p:cNvPr>
          <p:cNvPicPr>
            <a:picLocks noChangeAspect="1"/>
          </p:cNvPicPr>
          <p:nvPr/>
        </p:nvPicPr>
        <p:blipFill>
          <a:blip r:embed="rId11"/>
          <a:stretch>
            <a:fillRect/>
          </a:stretch>
        </p:blipFill>
        <p:spPr>
          <a:xfrm>
            <a:off x="25507636" y="15420862"/>
            <a:ext cx="4703423" cy="5407688"/>
          </a:xfrm>
          <a:prstGeom prst="rect">
            <a:avLst/>
          </a:prstGeom>
        </p:spPr>
      </p:pic>
      <p:pic>
        <p:nvPicPr>
          <p:cNvPr id="123" name="Picture 122">
            <a:extLst>
              <a:ext uri="{FF2B5EF4-FFF2-40B4-BE49-F238E27FC236}">
                <a16:creationId xmlns:a16="http://schemas.microsoft.com/office/drawing/2014/main" id="{196AE785-0F3C-F161-A966-A7BE5EDE0EA3}"/>
              </a:ext>
            </a:extLst>
          </p:cNvPr>
          <p:cNvPicPr>
            <a:picLocks noChangeAspect="1"/>
          </p:cNvPicPr>
          <p:nvPr/>
        </p:nvPicPr>
        <p:blipFill>
          <a:blip r:embed="rId12"/>
          <a:stretch>
            <a:fillRect/>
          </a:stretch>
        </p:blipFill>
        <p:spPr>
          <a:xfrm>
            <a:off x="1689014" y="28784346"/>
            <a:ext cx="5386732" cy="2861134"/>
          </a:xfrm>
          <a:prstGeom prst="rect">
            <a:avLst/>
          </a:prstGeom>
        </p:spPr>
      </p:pic>
      <p:sp>
        <p:nvSpPr>
          <p:cNvPr id="15370" name="TextBox 15369">
            <a:extLst>
              <a:ext uri="{FF2B5EF4-FFF2-40B4-BE49-F238E27FC236}">
                <a16:creationId xmlns:a16="http://schemas.microsoft.com/office/drawing/2014/main" id="{44CEA27A-75B0-70C0-3B0F-C19448EAB5AD}"/>
              </a:ext>
            </a:extLst>
          </p:cNvPr>
          <p:cNvSpPr txBox="1"/>
          <p:nvPr/>
        </p:nvSpPr>
        <p:spPr>
          <a:xfrm>
            <a:off x="551421" y="23782602"/>
            <a:ext cx="6297699" cy="2062103"/>
          </a:xfrm>
          <a:prstGeom prst="rect">
            <a:avLst/>
          </a:prstGeom>
          <a:noFill/>
        </p:spPr>
        <p:txBody>
          <a:bodyPr wrap="square">
            <a:spAutoFit/>
          </a:bodyPr>
          <a:lstStyle/>
          <a:p>
            <a:r>
              <a:rPr lang="en-US" sz="3200" dirty="0">
                <a:latin typeface="Helvetica"/>
                <a:ea typeface="Times New Roman" panose="02020603050405020304" pitchFamily="18" charset="0"/>
                <a:cs typeface="Helvetica"/>
              </a:rPr>
              <a:t>Proposers offer a high/low split</a:t>
            </a:r>
          </a:p>
          <a:p>
            <a:r>
              <a:rPr lang="en-US" sz="3200" dirty="0">
                <a:latin typeface="Helvetica"/>
                <a:ea typeface="Times New Roman" panose="02020603050405020304" pitchFamily="18" charset="0"/>
                <a:cs typeface="Helvetica"/>
              </a:rPr>
              <a:t>Recipients accept or reject offers</a:t>
            </a:r>
          </a:p>
          <a:p>
            <a:r>
              <a:rPr lang="en-US" sz="3200" dirty="0">
                <a:latin typeface="Helvetica"/>
                <a:ea typeface="Times New Roman" panose="02020603050405020304" pitchFamily="18" charset="0"/>
                <a:cs typeface="Helvetica"/>
              </a:rPr>
              <a:t>In UG, offers could be rejected and both partners earn $0</a:t>
            </a:r>
            <a:endParaRPr lang="en-US" sz="3200" dirty="0">
              <a:ea typeface="Times New Roman" panose="02020603050405020304" pitchFamily="18" charset="0"/>
              <a:cs typeface="Helvetica" panose="020B0604020202020204" pitchFamily="34" charset="0"/>
            </a:endParaRPr>
          </a:p>
        </p:txBody>
      </p:sp>
      <p:sp>
        <p:nvSpPr>
          <p:cNvPr id="15374" name="TextBox 15373">
            <a:extLst>
              <a:ext uri="{FF2B5EF4-FFF2-40B4-BE49-F238E27FC236}">
                <a16:creationId xmlns:a16="http://schemas.microsoft.com/office/drawing/2014/main" id="{C63C04BB-12EF-2AA7-6C66-EE859E187CD0}"/>
              </a:ext>
            </a:extLst>
          </p:cNvPr>
          <p:cNvSpPr txBox="1"/>
          <p:nvPr/>
        </p:nvSpPr>
        <p:spPr>
          <a:xfrm>
            <a:off x="6378352" y="17079310"/>
            <a:ext cx="1865874" cy="430887"/>
          </a:xfrm>
          <a:prstGeom prst="rect">
            <a:avLst/>
          </a:prstGeom>
          <a:noFill/>
          <a:ln w="28575">
            <a:solidFill>
              <a:srgbClr val="FFC000"/>
            </a:solidFill>
          </a:ln>
        </p:spPr>
        <p:txBody>
          <a:bodyPr wrap="square">
            <a:spAutoFit/>
          </a:bodyPr>
          <a:lstStyle/>
          <a:p>
            <a:pPr algn="ctr"/>
            <a:r>
              <a:rPr lang="en-US" sz="2200" dirty="0">
                <a:effectLst/>
                <a:ea typeface="Times New Roman" panose="02020603050405020304" pitchFamily="18" charset="0"/>
                <a:cs typeface="Helvetica" panose="020B0604020202020204" pitchFamily="34" charset="0"/>
              </a:rPr>
              <a:t>UG Proposer</a:t>
            </a:r>
            <a:endParaRPr lang="en-US" sz="2200" dirty="0"/>
          </a:p>
        </p:txBody>
      </p:sp>
      <p:sp>
        <p:nvSpPr>
          <p:cNvPr id="15376" name="TextBox 15375">
            <a:extLst>
              <a:ext uri="{FF2B5EF4-FFF2-40B4-BE49-F238E27FC236}">
                <a16:creationId xmlns:a16="http://schemas.microsoft.com/office/drawing/2014/main" id="{D9AE2644-B8FA-9A17-0C1B-EABE2C273A87}"/>
              </a:ext>
            </a:extLst>
          </p:cNvPr>
          <p:cNvSpPr txBox="1"/>
          <p:nvPr/>
        </p:nvSpPr>
        <p:spPr>
          <a:xfrm>
            <a:off x="8387257" y="17080327"/>
            <a:ext cx="1822118" cy="430887"/>
          </a:xfrm>
          <a:prstGeom prst="rect">
            <a:avLst/>
          </a:prstGeom>
          <a:noFill/>
          <a:ln w="28575">
            <a:solidFill>
              <a:srgbClr val="002060"/>
            </a:solidFill>
          </a:ln>
        </p:spPr>
        <p:txBody>
          <a:bodyPr wrap="square">
            <a:spAutoFit/>
          </a:bodyPr>
          <a:lstStyle/>
          <a:p>
            <a:pPr algn="ctr"/>
            <a:r>
              <a:rPr lang="en-US" sz="2200" dirty="0">
                <a:effectLst/>
                <a:ea typeface="Times New Roman" panose="02020603050405020304" pitchFamily="18" charset="0"/>
                <a:cs typeface="Helvetica" panose="020B0604020202020204" pitchFamily="34" charset="0"/>
              </a:rPr>
              <a:t>DG Proposer</a:t>
            </a:r>
            <a:endParaRPr lang="en-US" sz="2200" dirty="0"/>
          </a:p>
        </p:txBody>
      </p:sp>
      <p:sp>
        <p:nvSpPr>
          <p:cNvPr id="15378" name="TextBox 15377">
            <a:extLst>
              <a:ext uri="{FF2B5EF4-FFF2-40B4-BE49-F238E27FC236}">
                <a16:creationId xmlns:a16="http://schemas.microsoft.com/office/drawing/2014/main" id="{8A556C94-22AB-1E72-9E15-241BF91BDEBC}"/>
              </a:ext>
            </a:extLst>
          </p:cNvPr>
          <p:cNvSpPr txBox="1"/>
          <p:nvPr/>
        </p:nvSpPr>
        <p:spPr>
          <a:xfrm>
            <a:off x="10375066" y="17077816"/>
            <a:ext cx="1857626" cy="430887"/>
          </a:xfrm>
          <a:prstGeom prst="rect">
            <a:avLst/>
          </a:prstGeom>
          <a:noFill/>
          <a:ln w="28575">
            <a:solidFill>
              <a:srgbClr val="FFFF00"/>
            </a:solidFill>
          </a:ln>
        </p:spPr>
        <p:txBody>
          <a:bodyPr wrap="square">
            <a:spAutoFit/>
          </a:bodyPr>
          <a:lstStyle/>
          <a:p>
            <a:pPr algn="ctr"/>
            <a:r>
              <a:rPr lang="en-US" sz="2200" dirty="0">
                <a:effectLst/>
                <a:ea typeface="Times New Roman" panose="02020603050405020304" pitchFamily="18" charset="0"/>
                <a:cs typeface="Helvetica" panose="020B0604020202020204" pitchFamily="34" charset="0"/>
              </a:rPr>
              <a:t>UG Recipient</a:t>
            </a:r>
            <a:endParaRPr lang="en-US" sz="2200" dirty="0"/>
          </a:p>
        </p:txBody>
      </p:sp>
      <p:sp>
        <p:nvSpPr>
          <p:cNvPr id="15381" name="TextBox 15380">
            <a:extLst>
              <a:ext uri="{FF2B5EF4-FFF2-40B4-BE49-F238E27FC236}">
                <a16:creationId xmlns:a16="http://schemas.microsoft.com/office/drawing/2014/main" id="{4BA820D7-9113-7504-F050-71ECF76261EB}"/>
              </a:ext>
            </a:extLst>
          </p:cNvPr>
          <p:cNvSpPr txBox="1"/>
          <p:nvPr/>
        </p:nvSpPr>
        <p:spPr>
          <a:xfrm>
            <a:off x="705420" y="19534597"/>
            <a:ext cx="2921077" cy="1077218"/>
          </a:xfrm>
          <a:prstGeom prst="rect">
            <a:avLst/>
          </a:prstGeom>
          <a:noFill/>
        </p:spPr>
        <p:txBody>
          <a:bodyPr wrap="square">
            <a:spAutoFit/>
          </a:bodyPr>
          <a:lstStyle/>
          <a:p>
            <a:pPr algn="ctr"/>
            <a:r>
              <a:rPr lang="en-US" sz="3200" dirty="0">
                <a:effectLst/>
                <a:ea typeface="Times New Roman" panose="02020603050405020304" pitchFamily="18" charset="0"/>
                <a:cs typeface="Helvetica" panose="020B0604020202020204" pitchFamily="34" charset="0"/>
              </a:rPr>
              <a:t>Endowment</a:t>
            </a:r>
          </a:p>
          <a:p>
            <a:pPr algn="ctr"/>
            <a:r>
              <a:rPr lang="en-US" sz="3200" dirty="0">
                <a:cs typeface="Helvetica" panose="020B0604020202020204" pitchFamily="34" charset="0"/>
              </a:rPr>
              <a:t>Phase (1s)</a:t>
            </a:r>
            <a:endParaRPr lang="en-US" sz="3200" dirty="0"/>
          </a:p>
        </p:txBody>
      </p:sp>
      <p:sp>
        <p:nvSpPr>
          <p:cNvPr id="15382" name="TextBox 15381">
            <a:extLst>
              <a:ext uri="{FF2B5EF4-FFF2-40B4-BE49-F238E27FC236}">
                <a16:creationId xmlns:a16="http://schemas.microsoft.com/office/drawing/2014/main" id="{2C6EB6F5-123D-4DB5-64D9-8B138BD6462E}"/>
              </a:ext>
            </a:extLst>
          </p:cNvPr>
          <p:cNvSpPr txBox="1"/>
          <p:nvPr/>
        </p:nvSpPr>
        <p:spPr>
          <a:xfrm>
            <a:off x="3567757" y="22092071"/>
            <a:ext cx="2921077" cy="1077218"/>
          </a:xfrm>
          <a:prstGeom prst="rect">
            <a:avLst/>
          </a:prstGeom>
          <a:noFill/>
        </p:spPr>
        <p:txBody>
          <a:bodyPr wrap="square">
            <a:spAutoFit/>
          </a:bodyPr>
          <a:lstStyle/>
          <a:p>
            <a:pPr algn="ctr"/>
            <a:r>
              <a:rPr lang="en-US" sz="3200" dirty="0">
                <a:effectLst/>
                <a:ea typeface="Times New Roman" panose="02020603050405020304" pitchFamily="18" charset="0"/>
                <a:cs typeface="Helvetica" panose="020B0604020202020204" pitchFamily="34" charset="0"/>
              </a:rPr>
              <a:t>ISI </a:t>
            </a:r>
          </a:p>
          <a:p>
            <a:pPr algn="ctr"/>
            <a:r>
              <a:rPr lang="en-US" sz="3200" dirty="0">
                <a:cs typeface="Helvetica" panose="020B0604020202020204" pitchFamily="34" charset="0"/>
              </a:rPr>
              <a:t>(jittered 1-8s)</a:t>
            </a:r>
            <a:endParaRPr lang="en-US" sz="3200" dirty="0"/>
          </a:p>
        </p:txBody>
      </p:sp>
      <p:sp>
        <p:nvSpPr>
          <p:cNvPr id="15383" name="TextBox 15382">
            <a:extLst>
              <a:ext uri="{FF2B5EF4-FFF2-40B4-BE49-F238E27FC236}">
                <a16:creationId xmlns:a16="http://schemas.microsoft.com/office/drawing/2014/main" id="{D3CBF784-3B5B-D763-5BCE-DB73121FEDF5}"/>
              </a:ext>
            </a:extLst>
          </p:cNvPr>
          <p:cNvSpPr txBox="1"/>
          <p:nvPr/>
        </p:nvSpPr>
        <p:spPr>
          <a:xfrm>
            <a:off x="6395954" y="24590800"/>
            <a:ext cx="2921077" cy="1077218"/>
          </a:xfrm>
          <a:prstGeom prst="rect">
            <a:avLst/>
          </a:prstGeom>
          <a:noFill/>
        </p:spPr>
        <p:txBody>
          <a:bodyPr wrap="square">
            <a:spAutoFit/>
          </a:bodyPr>
          <a:lstStyle/>
          <a:p>
            <a:pPr algn="ctr"/>
            <a:r>
              <a:rPr lang="en-US" sz="3200" dirty="0">
                <a:effectLst/>
                <a:ea typeface="Times New Roman" panose="02020603050405020304" pitchFamily="18" charset="0"/>
                <a:cs typeface="Helvetica" panose="020B0604020202020204" pitchFamily="34" charset="0"/>
              </a:rPr>
              <a:t>Decision</a:t>
            </a:r>
          </a:p>
          <a:p>
            <a:pPr algn="ctr"/>
            <a:r>
              <a:rPr lang="en-US" sz="3200" dirty="0">
                <a:cs typeface="Helvetica" panose="020B0604020202020204" pitchFamily="34" charset="0"/>
              </a:rPr>
              <a:t>Phase 3s</a:t>
            </a:r>
            <a:endParaRPr lang="en-US" sz="3200" dirty="0"/>
          </a:p>
        </p:txBody>
      </p:sp>
      <p:sp>
        <p:nvSpPr>
          <p:cNvPr id="15384" name="TextBox 15383">
            <a:extLst>
              <a:ext uri="{FF2B5EF4-FFF2-40B4-BE49-F238E27FC236}">
                <a16:creationId xmlns:a16="http://schemas.microsoft.com/office/drawing/2014/main" id="{5872442E-1E45-A9C3-8BF6-B5BFAA26D908}"/>
              </a:ext>
            </a:extLst>
          </p:cNvPr>
          <p:cNvSpPr txBox="1"/>
          <p:nvPr/>
        </p:nvSpPr>
        <p:spPr>
          <a:xfrm>
            <a:off x="8757193" y="26931259"/>
            <a:ext cx="4877946" cy="1077218"/>
          </a:xfrm>
          <a:prstGeom prst="rect">
            <a:avLst/>
          </a:prstGeom>
          <a:noFill/>
        </p:spPr>
        <p:txBody>
          <a:bodyPr wrap="square">
            <a:spAutoFit/>
          </a:bodyPr>
          <a:lstStyle/>
          <a:p>
            <a:pPr algn="ctr"/>
            <a:r>
              <a:rPr lang="en-US" sz="3200" dirty="0">
                <a:effectLst/>
                <a:ea typeface="Times New Roman" panose="02020603050405020304" pitchFamily="18" charset="0"/>
                <a:cs typeface="Helvetica" panose="020B0604020202020204" pitchFamily="34" charset="0"/>
              </a:rPr>
              <a:t>ITI</a:t>
            </a:r>
          </a:p>
          <a:p>
            <a:pPr algn="ctr"/>
            <a:r>
              <a:rPr lang="en-US" sz="3200" dirty="0">
                <a:cs typeface="Helvetica" panose="020B0604020202020204" pitchFamily="34" charset="0"/>
              </a:rPr>
              <a:t>(jittered 1.5-4.5s)</a:t>
            </a:r>
            <a:endParaRPr lang="en-US" sz="3200" dirty="0"/>
          </a:p>
        </p:txBody>
      </p:sp>
      <p:sp>
        <p:nvSpPr>
          <p:cNvPr id="15385" name="Rectangle 15384">
            <a:extLst>
              <a:ext uri="{FF2B5EF4-FFF2-40B4-BE49-F238E27FC236}">
                <a16:creationId xmlns:a16="http://schemas.microsoft.com/office/drawing/2014/main" id="{3285C709-B618-5904-7A31-44E8D825CD5B}"/>
              </a:ext>
            </a:extLst>
          </p:cNvPr>
          <p:cNvSpPr/>
          <p:nvPr/>
        </p:nvSpPr>
        <p:spPr bwMode="auto">
          <a:xfrm>
            <a:off x="7964033" y="29192296"/>
            <a:ext cx="6652707" cy="2732092"/>
          </a:xfrm>
          <a:prstGeom prst="rect">
            <a:avLst/>
          </a:prstGeom>
          <a:noFill/>
          <a:ln w="571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5387" name="TextBox 15386">
            <a:extLst>
              <a:ext uri="{FF2B5EF4-FFF2-40B4-BE49-F238E27FC236}">
                <a16:creationId xmlns:a16="http://schemas.microsoft.com/office/drawing/2014/main" id="{05E5766B-3559-5152-42B4-205546A1ED5E}"/>
              </a:ext>
            </a:extLst>
          </p:cNvPr>
          <p:cNvSpPr txBox="1"/>
          <p:nvPr/>
        </p:nvSpPr>
        <p:spPr>
          <a:xfrm>
            <a:off x="555450" y="26315066"/>
            <a:ext cx="7636528" cy="2062103"/>
          </a:xfrm>
          <a:prstGeom prst="rect">
            <a:avLst/>
          </a:prstGeom>
          <a:noFill/>
        </p:spPr>
        <p:txBody>
          <a:bodyPr wrap="square" lIns="91440" tIns="45720" rIns="91440" bIns="45720" anchor="t">
            <a:spAutoFit/>
          </a:bodyPr>
          <a:lstStyle/>
          <a:p>
            <a:r>
              <a:rPr lang="en-US" sz="3200" dirty="0">
                <a:effectLst/>
                <a:latin typeface="Helvetica"/>
                <a:ea typeface="Times New Roman" panose="02020603050405020304" pitchFamily="18" charset="0"/>
                <a:cs typeface="Helvetica"/>
              </a:rPr>
              <a:t>N =</a:t>
            </a:r>
            <a:r>
              <a:rPr lang="en-US" sz="3200" dirty="0">
                <a:latin typeface="Helvetica"/>
                <a:ea typeface="Times New Roman" panose="02020603050405020304" pitchFamily="18" charset="0"/>
                <a:cs typeface="Helvetica"/>
              </a:rPr>
              <a:t> 54</a:t>
            </a:r>
            <a:r>
              <a:rPr lang="en-US" sz="3200" dirty="0">
                <a:effectLst/>
                <a:latin typeface="Helvetica"/>
                <a:ea typeface="Times New Roman" panose="02020603050405020304" pitchFamily="18" charset="0"/>
                <a:cs typeface="Helvetica"/>
              </a:rPr>
              <a:t> completed the </a:t>
            </a:r>
            <a:r>
              <a:rPr lang="en-US" sz="3200" dirty="0">
                <a:latin typeface="Helvetica"/>
                <a:ea typeface="Times New Roman" panose="02020603050405020304" pitchFamily="18" charset="0"/>
                <a:cs typeface="Helvetica"/>
              </a:rPr>
              <a:t>Behavioral Activation System (Carver &amp; White, 1994) and Sensitivity to Reward (</a:t>
            </a:r>
            <a:r>
              <a:rPr lang="en-US" sz="3200" dirty="0" err="1">
                <a:latin typeface="Helvetica"/>
                <a:ea typeface="Times New Roman" panose="02020603050405020304" pitchFamily="18" charset="0"/>
                <a:cs typeface="Helvetica"/>
              </a:rPr>
              <a:t>Torrubia</a:t>
            </a:r>
            <a:r>
              <a:rPr lang="en-US" sz="3200" dirty="0">
                <a:latin typeface="Helvetica"/>
                <a:ea typeface="Times New Roman" panose="02020603050405020304" pitchFamily="18" charset="0"/>
                <a:cs typeface="Helvetica"/>
              </a:rPr>
              <a:t> &amp; </a:t>
            </a:r>
            <a:r>
              <a:rPr lang="en-US" sz="3200" dirty="0" err="1">
                <a:latin typeface="Helvetica"/>
                <a:ea typeface="Times New Roman" panose="02020603050405020304" pitchFamily="18" charset="0"/>
                <a:cs typeface="Helvetica"/>
              </a:rPr>
              <a:t>Tobeña</a:t>
            </a:r>
            <a:r>
              <a:rPr lang="en-US" sz="3200" dirty="0">
                <a:latin typeface="Helvetica"/>
                <a:ea typeface="Times New Roman" panose="02020603050405020304" pitchFamily="18" charset="0"/>
                <a:cs typeface="Helvetica"/>
              </a:rPr>
              <a:t>, 1984) questionnaires. </a:t>
            </a:r>
            <a:endParaRPr lang="en-US" sz="3200" dirty="0">
              <a:effectLst/>
              <a:latin typeface="Helvetica"/>
              <a:ea typeface="Times New Roman" panose="02020603050405020304" pitchFamily="18" charset="0"/>
              <a:cs typeface="Helvetica"/>
            </a:endParaRPr>
          </a:p>
        </p:txBody>
      </p:sp>
      <p:sp>
        <p:nvSpPr>
          <p:cNvPr id="15390" name="Rectangle 15389">
            <a:extLst>
              <a:ext uri="{FF2B5EF4-FFF2-40B4-BE49-F238E27FC236}">
                <a16:creationId xmlns:a16="http://schemas.microsoft.com/office/drawing/2014/main" id="{BFB21DEE-6C4F-6CD5-23CA-B6ACC6FF8B44}"/>
              </a:ext>
            </a:extLst>
          </p:cNvPr>
          <p:cNvSpPr/>
          <p:nvPr/>
        </p:nvSpPr>
        <p:spPr bwMode="auto">
          <a:xfrm>
            <a:off x="553264" y="23730269"/>
            <a:ext cx="6047195" cy="2206630"/>
          </a:xfrm>
          <a:prstGeom prst="rect">
            <a:avLst/>
          </a:prstGeom>
          <a:noFill/>
          <a:ln w="571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5392" name="TextBox 15391">
            <a:extLst>
              <a:ext uri="{FF2B5EF4-FFF2-40B4-BE49-F238E27FC236}">
                <a16:creationId xmlns:a16="http://schemas.microsoft.com/office/drawing/2014/main" id="{0AF23D3A-AAE3-02E5-5BE6-2692D788A1B0}"/>
              </a:ext>
            </a:extLst>
          </p:cNvPr>
          <p:cNvSpPr txBox="1"/>
          <p:nvPr/>
        </p:nvSpPr>
        <p:spPr>
          <a:xfrm>
            <a:off x="698960" y="28784346"/>
            <a:ext cx="677108" cy="3166262"/>
          </a:xfrm>
          <a:prstGeom prst="rect">
            <a:avLst/>
          </a:prstGeom>
          <a:noFill/>
        </p:spPr>
        <p:txBody>
          <a:bodyPr rot="0" spcFirstLastPara="0" vertOverflow="overflow" horzOverflow="overflow" vert="vert270" wrap="square" lIns="91440" tIns="45720" rIns="91440" bIns="45720" numCol="1" spcCol="0" rtlCol="0" fromWordArt="0" anchor="t" anchorCtr="0" forceAA="0" compatLnSpc="1">
            <a:prstTxWarp prst="textNoShape">
              <a:avLst/>
            </a:prstTxWarp>
            <a:spAutoFit/>
          </a:bodyPr>
          <a:lstStyle/>
          <a:p>
            <a:pPr algn="ctr"/>
            <a:r>
              <a:rPr lang="en-US" sz="3200">
                <a:latin typeface="Helvetica"/>
                <a:ea typeface="MS PGothic"/>
              </a:rPr>
              <a:t>Frequency</a:t>
            </a:r>
            <a:endParaRPr lang="en-US" sz="3200">
              <a:latin typeface="Helvetica"/>
            </a:endParaRPr>
          </a:p>
        </p:txBody>
      </p:sp>
      <p:sp>
        <p:nvSpPr>
          <p:cNvPr id="15393" name="TextBox 15392">
            <a:extLst>
              <a:ext uri="{FF2B5EF4-FFF2-40B4-BE49-F238E27FC236}">
                <a16:creationId xmlns:a16="http://schemas.microsoft.com/office/drawing/2014/main" id="{9EEF0278-9B75-8A8B-A32C-70F4A55522D7}"/>
              </a:ext>
            </a:extLst>
          </p:cNvPr>
          <p:cNvSpPr txBox="1"/>
          <p:nvPr/>
        </p:nvSpPr>
        <p:spPr>
          <a:xfrm>
            <a:off x="1470408" y="31994150"/>
            <a:ext cx="5764484" cy="584775"/>
          </a:xfrm>
          <a:prstGeom prst="rect">
            <a:avLst/>
          </a:prstGeom>
          <a:noFill/>
        </p:spPr>
        <p:txBody>
          <a:bodyPr wrap="square">
            <a:spAutoFit/>
          </a:bodyPr>
          <a:lstStyle/>
          <a:p>
            <a:pPr algn="ctr"/>
            <a:r>
              <a:rPr lang="en-US" sz="3200">
                <a:effectLst/>
                <a:ea typeface="Times New Roman" panose="02020603050405020304" pitchFamily="18" charset="0"/>
                <a:cs typeface="Helvetica" panose="020B0604020202020204" pitchFamily="34" charset="0"/>
              </a:rPr>
              <a:t>Composite Reward Sensitivity</a:t>
            </a:r>
            <a:endParaRPr lang="en-US" sz="3200"/>
          </a:p>
        </p:txBody>
      </p:sp>
      <p:sp>
        <p:nvSpPr>
          <p:cNvPr id="15408" name="TextBox 15407">
            <a:extLst>
              <a:ext uri="{FF2B5EF4-FFF2-40B4-BE49-F238E27FC236}">
                <a16:creationId xmlns:a16="http://schemas.microsoft.com/office/drawing/2014/main" id="{C4B7DEE0-B862-89E8-0A74-CF0E391E07A5}"/>
              </a:ext>
            </a:extLst>
          </p:cNvPr>
          <p:cNvSpPr txBox="1"/>
          <p:nvPr/>
        </p:nvSpPr>
        <p:spPr>
          <a:xfrm>
            <a:off x="1411414" y="31351810"/>
            <a:ext cx="1817883" cy="523220"/>
          </a:xfrm>
          <a:prstGeom prst="rect">
            <a:avLst/>
          </a:prstGeom>
          <a:noFill/>
        </p:spPr>
        <p:txBody>
          <a:bodyPr wrap="square">
            <a:spAutoFit/>
          </a:bodyPr>
          <a:lstStyle/>
          <a:p>
            <a:r>
              <a:rPr lang="en-US" sz="2800">
                <a:latin typeface="Helvetica"/>
                <a:ea typeface="MS PGothic"/>
              </a:rPr>
              <a:t>0</a:t>
            </a:r>
            <a:endParaRPr lang="en-US" sz="2800">
              <a:latin typeface="Helvetica"/>
            </a:endParaRPr>
          </a:p>
        </p:txBody>
      </p:sp>
      <p:sp>
        <p:nvSpPr>
          <p:cNvPr id="15409" name="TextBox 15408">
            <a:extLst>
              <a:ext uri="{FF2B5EF4-FFF2-40B4-BE49-F238E27FC236}">
                <a16:creationId xmlns:a16="http://schemas.microsoft.com/office/drawing/2014/main" id="{3A3C92D9-C2BD-9B53-6549-0E9C44A4593B}"/>
              </a:ext>
            </a:extLst>
          </p:cNvPr>
          <p:cNvSpPr txBox="1"/>
          <p:nvPr/>
        </p:nvSpPr>
        <p:spPr>
          <a:xfrm>
            <a:off x="1396613" y="28677341"/>
            <a:ext cx="1817883" cy="523220"/>
          </a:xfrm>
          <a:prstGeom prst="rect">
            <a:avLst/>
          </a:prstGeom>
          <a:noFill/>
        </p:spPr>
        <p:txBody>
          <a:bodyPr wrap="square">
            <a:spAutoFit/>
          </a:bodyPr>
          <a:lstStyle/>
          <a:p>
            <a:r>
              <a:rPr lang="en-US" sz="2800">
                <a:latin typeface="Helvetica"/>
                <a:ea typeface="MS PGothic"/>
              </a:rPr>
              <a:t>6</a:t>
            </a:r>
            <a:endParaRPr lang="en-US" sz="2800">
              <a:latin typeface="Helvetica"/>
            </a:endParaRPr>
          </a:p>
        </p:txBody>
      </p:sp>
      <p:sp>
        <p:nvSpPr>
          <p:cNvPr id="15410" name="TextBox 15409">
            <a:extLst>
              <a:ext uri="{FF2B5EF4-FFF2-40B4-BE49-F238E27FC236}">
                <a16:creationId xmlns:a16="http://schemas.microsoft.com/office/drawing/2014/main" id="{051A78CA-DE0C-B426-A4B3-CE764F9D70B2}"/>
              </a:ext>
            </a:extLst>
          </p:cNvPr>
          <p:cNvSpPr txBox="1"/>
          <p:nvPr/>
        </p:nvSpPr>
        <p:spPr>
          <a:xfrm>
            <a:off x="1396613" y="30030339"/>
            <a:ext cx="1817883" cy="523220"/>
          </a:xfrm>
          <a:prstGeom prst="rect">
            <a:avLst/>
          </a:prstGeom>
          <a:noFill/>
        </p:spPr>
        <p:txBody>
          <a:bodyPr wrap="square">
            <a:spAutoFit/>
          </a:bodyPr>
          <a:lstStyle/>
          <a:p>
            <a:r>
              <a:rPr lang="en-US" sz="2800">
                <a:latin typeface="Helvetica"/>
                <a:ea typeface="MS PGothic"/>
              </a:rPr>
              <a:t>3</a:t>
            </a:r>
            <a:endParaRPr lang="en-US" sz="2800">
              <a:latin typeface="Helvetica"/>
            </a:endParaRPr>
          </a:p>
        </p:txBody>
      </p:sp>
      <p:sp>
        <p:nvSpPr>
          <p:cNvPr id="15411" name="TextBox 15410">
            <a:extLst>
              <a:ext uri="{FF2B5EF4-FFF2-40B4-BE49-F238E27FC236}">
                <a16:creationId xmlns:a16="http://schemas.microsoft.com/office/drawing/2014/main" id="{F77AE9F3-D5AD-65E6-3D1F-F4AEFEA5944E}"/>
              </a:ext>
            </a:extLst>
          </p:cNvPr>
          <p:cNvSpPr txBox="1"/>
          <p:nvPr/>
        </p:nvSpPr>
        <p:spPr>
          <a:xfrm>
            <a:off x="6411156" y="31531614"/>
            <a:ext cx="1817883" cy="523220"/>
          </a:xfrm>
          <a:prstGeom prst="rect">
            <a:avLst/>
          </a:prstGeom>
          <a:noFill/>
        </p:spPr>
        <p:txBody>
          <a:bodyPr wrap="square">
            <a:spAutoFit/>
          </a:bodyPr>
          <a:lstStyle/>
          <a:p>
            <a:r>
              <a:rPr lang="en-US" sz="2800">
                <a:latin typeface="Helvetica"/>
                <a:ea typeface="MS PGothic"/>
              </a:rPr>
              <a:t>5</a:t>
            </a:r>
            <a:endParaRPr lang="en-US" sz="2800">
              <a:latin typeface="Helvetica"/>
            </a:endParaRPr>
          </a:p>
        </p:txBody>
      </p:sp>
      <p:sp>
        <p:nvSpPr>
          <p:cNvPr id="15412" name="TextBox 15411">
            <a:extLst>
              <a:ext uri="{FF2B5EF4-FFF2-40B4-BE49-F238E27FC236}">
                <a16:creationId xmlns:a16="http://schemas.microsoft.com/office/drawing/2014/main" id="{89AE3856-3093-564E-D942-309D2DB9C2F1}"/>
              </a:ext>
            </a:extLst>
          </p:cNvPr>
          <p:cNvSpPr txBox="1"/>
          <p:nvPr/>
        </p:nvSpPr>
        <p:spPr>
          <a:xfrm>
            <a:off x="1983825" y="31557487"/>
            <a:ext cx="1817883" cy="523220"/>
          </a:xfrm>
          <a:prstGeom prst="rect">
            <a:avLst/>
          </a:prstGeom>
          <a:noFill/>
        </p:spPr>
        <p:txBody>
          <a:bodyPr wrap="square">
            <a:spAutoFit/>
          </a:bodyPr>
          <a:lstStyle/>
          <a:p>
            <a:r>
              <a:rPr lang="en-US" sz="2800">
                <a:latin typeface="Helvetica"/>
                <a:ea typeface="MS PGothic"/>
              </a:rPr>
              <a:t>-5</a:t>
            </a:r>
            <a:endParaRPr lang="en-US" sz="2800">
              <a:latin typeface="Helvetica"/>
            </a:endParaRPr>
          </a:p>
        </p:txBody>
      </p:sp>
      <p:sp>
        <p:nvSpPr>
          <p:cNvPr id="15413" name="TextBox 15412">
            <a:extLst>
              <a:ext uri="{FF2B5EF4-FFF2-40B4-BE49-F238E27FC236}">
                <a16:creationId xmlns:a16="http://schemas.microsoft.com/office/drawing/2014/main" id="{FE481461-FC45-2471-3452-383C635F7584}"/>
              </a:ext>
            </a:extLst>
          </p:cNvPr>
          <p:cNvSpPr txBox="1"/>
          <p:nvPr/>
        </p:nvSpPr>
        <p:spPr>
          <a:xfrm>
            <a:off x="4243393" y="31557487"/>
            <a:ext cx="1817883" cy="523220"/>
          </a:xfrm>
          <a:prstGeom prst="rect">
            <a:avLst/>
          </a:prstGeom>
          <a:noFill/>
        </p:spPr>
        <p:txBody>
          <a:bodyPr wrap="square">
            <a:spAutoFit/>
          </a:bodyPr>
          <a:lstStyle/>
          <a:p>
            <a:r>
              <a:rPr lang="en-US" sz="2800">
                <a:latin typeface="Helvetica"/>
                <a:ea typeface="MS PGothic"/>
              </a:rPr>
              <a:t>0</a:t>
            </a:r>
            <a:endParaRPr lang="en-US" sz="2800">
              <a:latin typeface="Helvetica"/>
            </a:endParaRPr>
          </a:p>
        </p:txBody>
      </p:sp>
      <p:pic>
        <p:nvPicPr>
          <p:cNvPr id="15425" name="Picture 15424">
            <a:extLst>
              <a:ext uri="{FF2B5EF4-FFF2-40B4-BE49-F238E27FC236}">
                <a16:creationId xmlns:a16="http://schemas.microsoft.com/office/drawing/2014/main" id="{41E6EE32-8586-1A6C-0642-4C65CE040DE6}"/>
              </a:ext>
            </a:extLst>
          </p:cNvPr>
          <p:cNvPicPr>
            <a:picLocks noChangeAspect="1"/>
          </p:cNvPicPr>
          <p:nvPr/>
        </p:nvPicPr>
        <p:blipFill rotWithShape="1">
          <a:blip r:embed="rId13"/>
          <a:srcRect r="10312"/>
          <a:stretch/>
        </p:blipFill>
        <p:spPr>
          <a:xfrm>
            <a:off x="30769234" y="7543125"/>
            <a:ext cx="8759930" cy="4397805"/>
          </a:xfrm>
          <a:prstGeom prst="rect">
            <a:avLst/>
          </a:prstGeom>
        </p:spPr>
      </p:pic>
      <p:pic>
        <p:nvPicPr>
          <p:cNvPr id="15427" name="Picture 15426">
            <a:extLst>
              <a:ext uri="{FF2B5EF4-FFF2-40B4-BE49-F238E27FC236}">
                <a16:creationId xmlns:a16="http://schemas.microsoft.com/office/drawing/2014/main" id="{3AA2EAA7-8EF3-E258-853A-1E3FFEC72591}"/>
              </a:ext>
            </a:extLst>
          </p:cNvPr>
          <p:cNvPicPr>
            <a:picLocks noChangeAspect="1"/>
          </p:cNvPicPr>
          <p:nvPr/>
        </p:nvPicPr>
        <p:blipFill>
          <a:blip r:embed="rId14"/>
          <a:stretch>
            <a:fillRect/>
          </a:stretch>
        </p:blipFill>
        <p:spPr>
          <a:xfrm>
            <a:off x="41001778" y="6768422"/>
            <a:ext cx="2437018" cy="4483488"/>
          </a:xfrm>
          <a:prstGeom prst="rect">
            <a:avLst/>
          </a:prstGeom>
        </p:spPr>
      </p:pic>
      <p:sp>
        <p:nvSpPr>
          <p:cNvPr id="15430" name="TextBox 15429">
            <a:extLst>
              <a:ext uri="{FF2B5EF4-FFF2-40B4-BE49-F238E27FC236}">
                <a16:creationId xmlns:a16="http://schemas.microsoft.com/office/drawing/2014/main" id="{EFA792C8-B452-9B85-65F6-6A5F05B88A13}"/>
              </a:ext>
            </a:extLst>
          </p:cNvPr>
          <p:cNvSpPr txBox="1"/>
          <p:nvPr/>
        </p:nvSpPr>
        <p:spPr>
          <a:xfrm>
            <a:off x="41122508" y="11368706"/>
            <a:ext cx="140738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Helvetica"/>
                <a:ea typeface="MS PGothic"/>
              </a:rPr>
              <a:t>DG-P</a:t>
            </a:r>
            <a:endParaRPr lang="en-US" sz="3200" b="1" dirty="0">
              <a:latin typeface="Helvetica"/>
            </a:endParaRPr>
          </a:p>
        </p:txBody>
      </p:sp>
      <p:sp>
        <p:nvSpPr>
          <p:cNvPr id="15431" name="TextBox 15430">
            <a:extLst>
              <a:ext uri="{FF2B5EF4-FFF2-40B4-BE49-F238E27FC236}">
                <a16:creationId xmlns:a16="http://schemas.microsoft.com/office/drawing/2014/main" id="{18CDDB8A-F7CA-4251-3403-5381FA3BA0D0}"/>
              </a:ext>
            </a:extLst>
          </p:cNvPr>
          <p:cNvSpPr txBox="1"/>
          <p:nvPr/>
        </p:nvSpPr>
        <p:spPr>
          <a:xfrm>
            <a:off x="42333911" y="11355880"/>
            <a:ext cx="140738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Helvetica"/>
                <a:ea typeface="MS PGothic"/>
              </a:rPr>
              <a:t>UG-P</a:t>
            </a:r>
            <a:endParaRPr lang="en-US" sz="3200" b="1" dirty="0">
              <a:latin typeface="Helvetica"/>
            </a:endParaRPr>
          </a:p>
        </p:txBody>
      </p:sp>
      <p:sp>
        <p:nvSpPr>
          <p:cNvPr id="15434" name="TextBox 15433">
            <a:extLst>
              <a:ext uri="{FF2B5EF4-FFF2-40B4-BE49-F238E27FC236}">
                <a16:creationId xmlns:a16="http://schemas.microsoft.com/office/drawing/2014/main" id="{F42DD616-45E9-33CA-3CBB-04AC7B550D62}"/>
              </a:ext>
            </a:extLst>
          </p:cNvPr>
          <p:cNvSpPr txBox="1"/>
          <p:nvPr/>
        </p:nvSpPr>
        <p:spPr>
          <a:xfrm>
            <a:off x="39465643" y="6178839"/>
            <a:ext cx="1046440" cy="6220601"/>
          </a:xfrm>
          <a:prstGeom prst="rect">
            <a:avLst/>
          </a:prstGeom>
          <a:noFill/>
        </p:spPr>
        <p:txBody>
          <a:bodyPr vert="vert270" wrap="square">
            <a:spAutoFit/>
          </a:bodyPr>
          <a:lstStyle/>
          <a:p>
            <a:pPr algn="ctr"/>
            <a:r>
              <a:rPr lang="en-US" sz="2800" dirty="0">
                <a:latin typeface="Helvetica"/>
                <a:ea typeface="MS PGothic"/>
              </a:rPr>
              <a:t>VS-PCC Connectivity (</a:t>
            </a:r>
            <a:r>
              <a:rPr lang="el-GR" sz="2800" dirty="0">
                <a:latin typeface="Helvetica"/>
                <a:ea typeface="MS PGothic"/>
              </a:rPr>
              <a:t>β) </a:t>
            </a:r>
            <a:endParaRPr lang="en-US" sz="2800" dirty="0">
              <a:latin typeface="Helvetica"/>
              <a:ea typeface="MS PGothic"/>
            </a:endParaRPr>
          </a:p>
          <a:p>
            <a:pPr algn="ctr"/>
            <a:r>
              <a:rPr lang="en-US" sz="2800" dirty="0">
                <a:latin typeface="Helvetica"/>
                <a:ea typeface="MS PGothic"/>
              </a:rPr>
              <a:t>Parametric Effect of Fairness</a:t>
            </a:r>
            <a:endParaRPr lang="en-US" sz="2800" dirty="0">
              <a:latin typeface="Helvetica"/>
            </a:endParaRPr>
          </a:p>
        </p:txBody>
      </p:sp>
      <p:sp>
        <p:nvSpPr>
          <p:cNvPr id="15436" name="TextBox 15435">
            <a:extLst>
              <a:ext uri="{FF2B5EF4-FFF2-40B4-BE49-F238E27FC236}">
                <a16:creationId xmlns:a16="http://schemas.microsoft.com/office/drawing/2014/main" id="{AA2A6186-6088-E61B-A525-4AEC54236EAF}"/>
              </a:ext>
            </a:extLst>
          </p:cNvPr>
          <p:cNvSpPr txBox="1"/>
          <p:nvPr/>
        </p:nvSpPr>
        <p:spPr>
          <a:xfrm>
            <a:off x="40327093" y="10363719"/>
            <a:ext cx="1817883" cy="523220"/>
          </a:xfrm>
          <a:prstGeom prst="rect">
            <a:avLst/>
          </a:prstGeom>
          <a:noFill/>
        </p:spPr>
        <p:txBody>
          <a:bodyPr wrap="square">
            <a:spAutoFit/>
          </a:bodyPr>
          <a:lstStyle/>
          <a:p>
            <a:r>
              <a:rPr lang="en-US" sz="2800">
                <a:latin typeface="Helvetica"/>
                <a:ea typeface="MS PGothic"/>
              </a:rPr>
              <a:t>-2.0</a:t>
            </a:r>
            <a:endParaRPr lang="en-US" sz="2800">
              <a:latin typeface="Helvetica"/>
            </a:endParaRPr>
          </a:p>
        </p:txBody>
      </p:sp>
      <p:sp>
        <p:nvSpPr>
          <p:cNvPr id="15437" name="TextBox 15436">
            <a:extLst>
              <a:ext uri="{FF2B5EF4-FFF2-40B4-BE49-F238E27FC236}">
                <a16:creationId xmlns:a16="http://schemas.microsoft.com/office/drawing/2014/main" id="{7832693E-BD6C-1AD3-B37D-BAAE7717155E}"/>
              </a:ext>
            </a:extLst>
          </p:cNvPr>
          <p:cNvSpPr txBox="1"/>
          <p:nvPr/>
        </p:nvSpPr>
        <p:spPr>
          <a:xfrm>
            <a:off x="40395725" y="6676745"/>
            <a:ext cx="1817883" cy="523220"/>
          </a:xfrm>
          <a:prstGeom prst="rect">
            <a:avLst/>
          </a:prstGeom>
          <a:noFill/>
        </p:spPr>
        <p:txBody>
          <a:bodyPr wrap="square">
            <a:spAutoFit/>
          </a:bodyPr>
          <a:lstStyle/>
          <a:p>
            <a:r>
              <a:rPr lang="en-US" sz="2800">
                <a:latin typeface="Helvetica"/>
                <a:ea typeface="MS PGothic"/>
              </a:rPr>
              <a:t>2.0</a:t>
            </a:r>
            <a:endParaRPr lang="en-US" sz="2800">
              <a:latin typeface="Helvetica"/>
            </a:endParaRPr>
          </a:p>
        </p:txBody>
      </p:sp>
      <p:sp>
        <p:nvSpPr>
          <p:cNvPr id="15438" name="TextBox 15437">
            <a:extLst>
              <a:ext uri="{FF2B5EF4-FFF2-40B4-BE49-F238E27FC236}">
                <a16:creationId xmlns:a16="http://schemas.microsoft.com/office/drawing/2014/main" id="{E9A9AA80-AFAF-6B65-AAD2-AFD58A35294C}"/>
              </a:ext>
            </a:extLst>
          </p:cNvPr>
          <p:cNvSpPr txBox="1"/>
          <p:nvPr/>
        </p:nvSpPr>
        <p:spPr>
          <a:xfrm>
            <a:off x="40692729" y="8571051"/>
            <a:ext cx="1817883" cy="523220"/>
          </a:xfrm>
          <a:prstGeom prst="rect">
            <a:avLst/>
          </a:prstGeom>
          <a:noFill/>
        </p:spPr>
        <p:txBody>
          <a:bodyPr wrap="square">
            <a:spAutoFit/>
          </a:bodyPr>
          <a:lstStyle/>
          <a:p>
            <a:r>
              <a:rPr lang="en-US" sz="2800">
                <a:latin typeface="Helvetica"/>
                <a:ea typeface="MS PGothic"/>
              </a:rPr>
              <a:t>0</a:t>
            </a:r>
            <a:endParaRPr lang="en-US" sz="2800">
              <a:latin typeface="Helvetica"/>
            </a:endParaRPr>
          </a:p>
        </p:txBody>
      </p:sp>
      <p:sp>
        <p:nvSpPr>
          <p:cNvPr id="15439" name="TextBox 15438">
            <a:extLst>
              <a:ext uri="{FF2B5EF4-FFF2-40B4-BE49-F238E27FC236}">
                <a16:creationId xmlns:a16="http://schemas.microsoft.com/office/drawing/2014/main" id="{D68EBFA3-6A4D-DADE-19FD-AAAA2BD6CD6A}"/>
              </a:ext>
            </a:extLst>
          </p:cNvPr>
          <p:cNvSpPr txBox="1"/>
          <p:nvPr/>
        </p:nvSpPr>
        <p:spPr>
          <a:xfrm>
            <a:off x="40341073" y="9424007"/>
            <a:ext cx="1817883" cy="523220"/>
          </a:xfrm>
          <a:prstGeom prst="rect">
            <a:avLst/>
          </a:prstGeom>
          <a:noFill/>
        </p:spPr>
        <p:txBody>
          <a:bodyPr wrap="square">
            <a:spAutoFit/>
          </a:bodyPr>
          <a:lstStyle/>
          <a:p>
            <a:r>
              <a:rPr lang="en-US" sz="2800">
                <a:latin typeface="Helvetica"/>
                <a:ea typeface="MS PGothic"/>
              </a:rPr>
              <a:t>-1.0</a:t>
            </a:r>
            <a:endParaRPr lang="en-US" sz="2800">
              <a:latin typeface="Helvetica"/>
            </a:endParaRPr>
          </a:p>
        </p:txBody>
      </p:sp>
      <p:sp>
        <p:nvSpPr>
          <p:cNvPr id="15440" name="TextBox 15439">
            <a:extLst>
              <a:ext uri="{FF2B5EF4-FFF2-40B4-BE49-F238E27FC236}">
                <a16:creationId xmlns:a16="http://schemas.microsoft.com/office/drawing/2014/main" id="{4095C4F3-B201-0B06-6593-AA44A3FEB92E}"/>
              </a:ext>
            </a:extLst>
          </p:cNvPr>
          <p:cNvSpPr txBox="1"/>
          <p:nvPr/>
        </p:nvSpPr>
        <p:spPr>
          <a:xfrm>
            <a:off x="40422405" y="7609149"/>
            <a:ext cx="1817883" cy="523220"/>
          </a:xfrm>
          <a:prstGeom prst="rect">
            <a:avLst/>
          </a:prstGeom>
          <a:noFill/>
        </p:spPr>
        <p:txBody>
          <a:bodyPr wrap="square">
            <a:spAutoFit/>
          </a:bodyPr>
          <a:lstStyle/>
          <a:p>
            <a:r>
              <a:rPr lang="en-US" sz="2800">
                <a:latin typeface="Helvetica"/>
                <a:ea typeface="MS PGothic"/>
              </a:rPr>
              <a:t>1.0</a:t>
            </a:r>
            <a:endParaRPr lang="en-US" sz="2800">
              <a:latin typeface="Helvetica"/>
            </a:endParaRPr>
          </a:p>
        </p:txBody>
      </p:sp>
      <p:sp>
        <p:nvSpPr>
          <p:cNvPr id="15443" name="TextBox 15442">
            <a:extLst>
              <a:ext uri="{FF2B5EF4-FFF2-40B4-BE49-F238E27FC236}">
                <a16:creationId xmlns:a16="http://schemas.microsoft.com/office/drawing/2014/main" id="{B82B59E1-A452-0E40-28EE-53E6ACEBCBC6}"/>
              </a:ext>
            </a:extLst>
          </p:cNvPr>
          <p:cNvSpPr txBox="1"/>
          <p:nvPr/>
        </p:nvSpPr>
        <p:spPr>
          <a:xfrm>
            <a:off x="34893845" y="6761176"/>
            <a:ext cx="4584887"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latin typeface="Helvetica"/>
                <a:ea typeface="MS PGothic"/>
              </a:rPr>
              <a:t>Target Region:</a:t>
            </a:r>
            <a:br>
              <a:rPr lang="en-US" sz="3200" b="1" dirty="0">
                <a:latin typeface="Helvetica"/>
                <a:ea typeface="MS PGothic"/>
              </a:rPr>
            </a:br>
            <a:r>
              <a:rPr lang="en-US" sz="3200" b="1" dirty="0">
                <a:latin typeface="Helvetica"/>
                <a:ea typeface="MS PGothic"/>
              </a:rPr>
              <a:t>PCC</a:t>
            </a:r>
          </a:p>
        </p:txBody>
      </p:sp>
      <p:sp>
        <p:nvSpPr>
          <p:cNvPr id="15444" name="TextBox 15443">
            <a:extLst>
              <a:ext uri="{FF2B5EF4-FFF2-40B4-BE49-F238E27FC236}">
                <a16:creationId xmlns:a16="http://schemas.microsoft.com/office/drawing/2014/main" id="{02E532E1-793E-E9DC-B7B7-AEBDAAB37CEC}"/>
              </a:ext>
            </a:extLst>
          </p:cNvPr>
          <p:cNvSpPr txBox="1"/>
          <p:nvPr/>
        </p:nvSpPr>
        <p:spPr>
          <a:xfrm>
            <a:off x="30459342" y="6777195"/>
            <a:ext cx="4584887"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latin typeface="Helvetica"/>
                <a:ea typeface="MS PGothic"/>
              </a:rPr>
              <a:t>Seed Region:</a:t>
            </a:r>
            <a:br>
              <a:rPr lang="en-US" sz="3200" b="1" dirty="0">
                <a:latin typeface="Helvetica"/>
                <a:ea typeface="MS PGothic"/>
              </a:rPr>
            </a:br>
            <a:r>
              <a:rPr lang="en-US" sz="3200" b="1" dirty="0">
                <a:latin typeface="Helvetica"/>
                <a:ea typeface="MS PGothic"/>
              </a:rPr>
              <a:t>Ventral Striatum</a:t>
            </a:r>
          </a:p>
        </p:txBody>
      </p:sp>
      <p:sp>
        <p:nvSpPr>
          <p:cNvPr id="15445" name="TextBox 15444">
            <a:extLst>
              <a:ext uri="{FF2B5EF4-FFF2-40B4-BE49-F238E27FC236}">
                <a16:creationId xmlns:a16="http://schemas.microsoft.com/office/drawing/2014/main" id="{5F9767C7-9148-0338-0338-1E5922D38D49}"/>
              </a:ext>
            </a:extLst>
          </p:cNvPr>
          <p:cNvSpPr txBox="1"/>
          <p:nvPr/>
        </p:nvSpPr>
        <p:spPr>
          <a:xfrm>
            <a:off x="30685516" y="11683360"/>
            <a:ext cx="4068810" cy="954107"/>
          </a:xfrm>
          <a:prstGeom prst="rect">
            <a:avLst/>
          </a:prstGeom>
          <a:noFill/>
        </p:spPr>
        <p:txBody>
          <a:bodyPr wrap="square" lIns="91440" tIns="45720" rIns="91440" bIns="45720" anchor="t">
            <a:spAutoFit/>
          </a:bodyPr>
          <a:lstStyle/>
          <a:p>
            <a:pPr algn="ctr"/>
            <a:r>
              <a:rPr lang="en-US" sz="2800" dirty="0">
                <a:latin typeface="Helvetica"/>
                <a:ea typeface="MS PGothic"/>
              </a:rPr>
              <a:t>Y=12</a:t>
            </a:r>
          </a:p>
          <a:p>
            <a:pPr algn="ctr"/>
            <a:endParaRPr lang="en-US" sz="2800" dirty="0">
              <a:latin typeface="Helvetica"/>
            </a:endParaRPr>
          </a:p>
        </p:txBody>
      </p:sp>
      <p:sp>
        <p:nvSpPr>
          <p:cNvPr id="15446" name="TextBox 15445">
            <a:extLst>
              <a:ext uri="{FF2B5EF4-FFF2-40B4-BE49-F238E27FC236}">
                <a16:creationId xmlns:a16="http://schemas.microsoft.com/office/drawing/2014/main" id="{915A9CF4-93AF-1DFB-FA20-09D374B0635B}"/>
              </a:ext>
            </a:extLst>
          </p:cNvPr>
          <p:cNvSpPr txBox="1"/>
          <p:nvPr/>
        </p:nvSpPr>
        <p:spPr>
          <a:xfrm>
            <a:off x="36220357" y="11545724"/>
            <a:ext cx="2660825" cy="954107"/>
          </a:xfrm>
          <a:prstGeom prst="rect">
            <a:avLst/>
          </a:prstGeom>
          <a:noFill/>
        </p:spPr>
        <p:txBody>
          <a:bodyPr wrap="square" lIns="91440" tIns="45720" rIns="91440" bIns="45720" anchor="t">
            <a:spAutoFit/>
          </a:bodyPr>
          <a:lstStyle/>
          <a:p>
            <a:pPr algn="ctr"/>
            <a:r>
              <a:rPr lang="en-US" sz="2800" dirty="0">
                <a:latin typeface="Helvetica"/>
                <a:ea typeface="MS PGothic"/>
              </a:rPr>
              <a:t>X=4</a:t>
            </a:r>
          </a:p>
          <a:p>
            <a:pPr algn="ctr"/>
            <a:endParaRPr lang="en-US" sz="2800" dirty="0">
              <a:latin typeface="Helvetica"/>
            </a:endParaRPr>
          </a:p>
        </p:txBody>
      </p:sp>
      <p:sp>
        <p:nvSpPr>
          <p:cNvPr id="15473" name="Oval 15472">
            <a:extLst>
              <a:ext uri="{FF2B5EF4-FFF2-40B4-BE49-F238E27FC236}">
                <a16:creationId xmlns:a16="http://schemas.microsoft.com/office/drawing/2014/main" id="{23DE8B73-D33E-6A7F-B49B-A701C39EFCCA}"/>
              </a:ext>
            </a:extLst>
          </p:cNvPr>
          <p:cNvSpPr/>
          <p:nvPr/>
        </p:nvSpPr>
        <p:spPr bwMode="auto">
          <a:xfrm>
            <a:off x="35672654" y="9042659"/>
            <a:ext cx="759267" cy="679965"/>
          </a:xfrm>
          <a:prstGeom prst="ellipse">
            <a:avLst/>
          </a:prstGeom>
          <a:noFill/>
          <a:ln w="57150" cap="flat" cmpd="sng" algn="ctr">
            <a:solidFill>
              <a:srgbClr val="FFCC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2" name="Rectangle 1">
            <a:extLst>
              <a:ext uri="{FF2B5EF4-FFF2-40B4-BE49-F238E27FC236}">
                <a16:creationId xmlns:a16="http://schemas.microsoft.com/office/drawing/2014/main" id="{7DF677AF-CCA7-3603-6675-25A047C2E384}"/>
              </a:ext>
            </a:extLst>
          </p:cNvPr>
          <p:cNvSpPr/>
          <p:nvPr/>
        </p:nvSpPr>
        <p:spPr bwMode="auto">
          <a:xfrm>
            <a:off x="569101" y="26252269"/>
            <a:ext cx="7710086" cy="2271116"/>
          </a:xfrm>
          <a:prstGeom prst="rect">
            <a:avLst/>
          </a:prstGeom>
          <a:noFill/>
          <a:ln w="571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3" name="TextBox 2">
            <a:extLst>
              <a:ext uri="{FF2B5EF4-FFF2-40B4-BE49-F238E27FC236}">
                <a16:creationId xmlns:a16="http://schemas.microsoft.com/office/drawing/2014/main" id="{D0B0B240-43AB-5B1F-C75F-FEA7463EE9F3}"/>
              </a:ext>
            </a:extLst>
          </p:cNvPr>
          <p:cNvSpPr txBox="1"/>
          <p:nvPr/>
        </p:nvSpPr>
        <p:spPr>
          <a:xfrm>
            <a:off x="8051909" y="29301311"/>
            <a:ext cx="6775918" cy="2554545"/>
          </a:xfrm>
          <a:prstGeom prst="rect">
            <a:avLst/>
          </a:prstGeom>
          <a:noFill/>
        </p:spPr>
        <p:txBody>
          <a:bodyPr wrap="square" lIns="91440" tIns="45720" rIns="91440" bIns="45720" anchor="t">
            <a:spAutoFit/>
          </a:bodyPr>
          <a:lstStyle/>
          <a:p>
            <a:r>
              <a:rPr lang="en-US" sz="3200" dirty="0">
                <a:latin typeface="Helvetica"/>
                <a:ea typeface="MS PGothic"/>
                <a:cs typeface="Helvetica"/>
              </a:rPr>
              <a:t>Whole brain results were </a:t>
            </a:r>
            <a:r>
              <a:rPr lang="en-US" sz="3200" dirty="0" err="1">
                <a:latin typeface="Helvetica"/>
                <a:ea typeface="MS PGothic"/>
                <a:cs typeface="Helvetica"/>
              </a:rPr>
              <a:t>thresholded</a:t>
            </a:r>
            <a:r>
              <a:rPr lang="en-US" sz="3200" dirty="0">
                <a:latin typeface="Helvetica"/>
                <a:ea typeface="MS PGothic"/>
                <a:cs typeface="Helvetica"/>
              </a:rPr>
              <a:t> at Z &gt; 3.1 and Family Wise Error corrected at p &gt; .05</a:t>
            </a:r>
          </a:p>
          <a:p>
            <a:r>
              <a:rPr lang="en-US" sz="3200" dirty="0">
                <a:latin typeface="Helvetica"/>
                <a:ea typeface="MS PGothic"/>
                <a:cs typeface="Helvetica"/>
              </a:rPr>
              <a:t>Masks were extracted from Harvard–Oxford and Mars atlases. </a:t>
            </a:r>
            <a:endParaRPr lang="en-US" sz="3200" dirty="0">
              <a:ea typeface="MS PGothic"/>
              <a:cs typeface="Helvetica"/>
            </a:endParaRPr>
          </a:p>
        </p:txBody>
      </p:sp>
      <p:sp>
        <p:nvSpPr>
          <p:cNvPr id="8" name="TextBox 7">
            <a:extLst>
              <a:ext uri="{FF2B5EF4-FFF2-40B4-BE49-F238E27FC236}">
                <a16:creationId xmlns:a16="http://schemas.microsoft.com/office/drawing/2014/main" id="{8F94C34F-C114-09E7-7592-2C68A047774A}"/>
              </a:ext>
            </a:extLst>
          </p:cNvPr>
          <p:cNvSpPr txBox="1"/>
          <p:nvPr/>
        </p:nvSpPr>
        <p:spPr>
          <a:xfrm>
            <a:off x="9542390" y="18581185"/>
            <a:ext cx="3434963"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latin typeface="Helvetica"/>
                <a:ea typeface="MS PGothic"/>
              </a:rPr>
              <a:t>Scan the QR code to see the</a:t>
            </a:r>
            <a:endParaRPr lang="en-US" sz="3200" b="1" dirty="0"/>
          </a:p>
          <a:p>
            <a:pPr algn="ctr"/>
            <a:r>
              <a:rPr lang="en-US" sz="3200" b="1" u="sng" dirty="0">
                <a:latin typeface="Helvetica"/>
                <a:ea typeface="MS PGothic"/>
              </a:rPr>
              <a:t>Pre-registration!</a:t>
            </a:r>
            <a:endParaRPr lang="en-US" sz="3200" b="1" u="sng" dirty="0"/>
          </a:p>
        </p:txBody>
      </p:sp>
      <p:sp>
        <p:nvSpPr>
          <p:cNvPr id="15" name="Rectangle 14">
            <a:extLst>
              <a:ext uri="{FF2B5EF4-FFF2-40B4-BE49-F238E27FC236}">
                <a16:creationId xmlns:a16="http://schemas.microsoft.com/office/drawing/2014/main" id="{353421B0-7681-A37B-CA3F-986E07C1DB77}"/>
              </a:ext>
            </a:extLst>
          </p:cNvPr>
          <p:cNvSpPr/>
          <p:nvPr/>
        </p:nvSpPr>
        <p:spPr bwMode="auto">
          <a:xfrm>
            <a:off x="9590560" y="18506949"/>
            <a:ext cx="3375557" cy="1716829"/>
          </a:xfrm>
          <a:prstGeom prst="rect">
            <a:avLst/>
          </a:prstGeom>
          <a:noFill/>
          <a:ln w="571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pic>
        <p:nvPicPr>
          <p:cNvPr id="15389" name="Picture 1006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94755" y="252918"/>
            <a:ext cx="3037143" cy="339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00" name="Rectangle 54"/>
          <p:cNvSpPr>
            <a:spLocks noChangeArrowheads="1"/>
          </p:cNvSpPr>
          <p:nvPr/>
        </p:nvSpPr>
        <p:spPr bwMode="auto">
          <a:xfrm>
            <a:off x="30676645" y="24531321"/>
            <a:ext cx="12928282" cy="6994361"/>
          </a:xfrm>
          <a:prstGeom prst="rect">
            <a:avLst/>
          </a:prstGeom>
          <a:noFill/>
          <a:ln w="762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lIns="81274" tIns="40638" rIns="81274" bIns="40638" anchor="ct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eaLnBrk="1" hangingPunct="1"/>
            <a:endParaRPr lang="en-US" altLang="en-US" sz="1245">
              <a:latin typeface="Trebuchet MS" panose="020B0603020202020204" pitchFamily="34" charset="0"/>
            </a:endParaRPr>
          </a:p>
        </p:txBody>
      </p:sp>
      <p:sp>
        <p:nvSpPr>
          <p:cNvPr id="72" name="TextBox 86">
            <a:extLst>
              <a:ext uri="{FF2B5EF4-FFF2-40B4-BE49-F238E27FC236}">
                <a16:creationId xmlns:a16="http://schemas.microsoft.com/office/drawing/2014/main" id="{7876542B-4364-4FD7-BCA2-651EBF34C355}"/>
              </a:ext>
            </a:extLst>
          </p:cNvPr>
          <p:cNvSpPr txBox="1">
            <a:spLocks noChangeArrowheads="1"/>
          </p:cNvSpPr>
          <p:nvPr/>
        </p:nvSpPr>
        <p:spPr bwMode="auto">
          <a:xfrm>
            <a:off x="32230620" y="24371337"/>
            <a:ext cx="9797258" cy="748988"/>
          </a:xfrm>
          <a:prstGeom prst="rect">
            <a:avLst/>
          </a:prstGeom>
          <a:solidFill>
            <a:schemeClr val="bg1"/>
          </a:solidFill>
          <a:ln>
            <a:noFill/>
          </a:ln>
        </p:spPr>
        <p:txBody>
          <a:bodyPr wrap="square">
            <a:spAutoFit/>
          </a:bodyP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sz="4267" b="1" dirty="0">
                <a:solidFill>
                  <a:srgbClr val="C00000"/>
                </a:solidFill>
                <a:latin typeface="Trebuchet MS" panose="020B0603020202020204" pitchFamily="34" charset="0"/>
              </a:rPr>
              <a:t>8. Conclusions and Future Directions</a:t>
            </a:r>
          </a:p>
        </p:txBody>
      </p:sp>
      <p:sp>
        <p:nvSpPr>
          <p:cNvPr id="5" name="Rectangle 4">
            <a:extLst>
              <a:ext uri="{FF2B5EF4-FFF2-40B4-BE49-F238E27FC236}">
                <a16:creationId xmlns:a16="http://schemas.microsoft.com/office/drawing/2014/main" id="{F27FB003-669C-6748-AC0B-0C13B0734BA6}"/>
              </a:ext>
            </a:extLst>
          </p:cNvPr>
          <p:cNvSpPr/>
          <p:nvPr/>
        </p:nvSpPr>
        <p:spPr>
          <a:xfrm>
            <a:off x="30912367" y="25351882"/>
            <a:ext cx="12914399" cy="4555093"/>
          </a:xfrm>
          <a:prstGeom prst="rect">
            <a:avLst/>
          </a:prstGeom>
        </p:spPr>
        <p:txBody>
          <a:bodyPr wrap="square" lIns="91440" tIns="45720" rIns="91440" bIns="45720" anchor="t">
            <a:spAutoFit/>
          </a:bodyPr>
          <a:lstStyle/>
          <a:p>
            <a:pPr>
              <a:spcBef>
                <a:spcPts val="360"/>
              </a:spcBef>
              <a:spcAft>
                <a:spcPts val="0"/>
              </a:spcAft>
              <a:buFont typeface="Arial" panose="020B0604020202020204" pitchFamily="34" charset="0"/>
              <a:buChar char="•"/>
            </a:pPr>
            <a:r>
              <a:rPr lang="en-US" sz="4000" dirty="0">
                <a:latin typeface="Helvetica"/>
                <a:ea typeface="MS PGothic"/>
                <a:cs typeface="Helvetica"/>
              </a:rPr>
              <a:t> We found that the VS has stronger connectivity with the </a:t>
            </a:r>
            <a:r>
              <a:rPr lang="en-US" sz="4000" dirty="0" err="1">
                <a:latin typeface="Helvetica"/>
                <a:ea typeface="MS PGothic"/>
                <a:cs typeface="Helvetica"/>
              </a:rPr>
              <a:t>pTPJ</a:t>
            </a:r>
            <a:r>
              <a:rPr lang="en-US" sz="4000" dirty="0">
                <a:latin typeface="Helvetica"/>
                <a:ea typeface="MS PGothic"/>
                <a:cs typeface="Helvetica"/>
              </a:rPr>
              <a:t> and PCC while making strategic decisions.</a:t>
            </a:r>
            <a:endParaRPr lang="en-US" dirty="0">
              <a:cs typeface="Arial"/>
            </a:endParaRPr>
          </a:p>
          <a:p>
            <a:pPr>
              <a:spcBef>
                <a:spcPts val="360"/>
              </a:spcBef>
              <a:spcAft>
                <a:spcPts val="0"/>
              </a:spcAft>
              <a:buFont typeface="Arial" panose="020B0604020202020204" pitchFamily="34" charset="0"/>
              <a:buChar char="•"/>
            </a:pPr>
            <a:r>
              <a:rPr lang="en-US" sz="4000" b="1" dirty="0">
                <a:latin typeface="Helvetica"/>
                <a:ea typeface="MS PGothic"/>
                <a:cs typeface="Helvetica"/>
              </a:rPr>
              <a:t> </a:t>
            </a:r>
            <a:r>
              <a:rPr lang="en-US" sz="4000" dirty="0">
                <a:latin typeface="Helvetica"/>
                <a:ea typeface="MS PGothic"/>
                <a:cs typeface="Helvetica"/>
              </a:rPr>
              <a:t>Effective connectivity between the VS and ACC tracks fairness, modulated by reward sensitivity. </a:t>
            </a:r>
            <a:endParaRPr lang="en-US" sz="4000" dirty="0">
              <a:cs typeface="Helvetica"/>
            </a:endParaRPr>
          </a:p>
          <a:p>
            <a:pPr>
              <a:spcBef>
                <a:spcPts val="360"/>
              </a:spcBef>
              <a:spcAft>
                <a:spcPts val="0"/>
              </a:spcAft>
              <a:buFont typeface="Arial" panose="020B0604020202020204" pitchFamily="34" charset="0"/>
              <a:buChar char="•"/>
            </a:pPr>
            <a:r>
              <a:rPr lang="en-US" sz="4000" dirty="0">
                <a:latin typeface="Helvetica"/>
                <a:ea typeface="MS PGothic"/>
                <a:cs typeface="Helvetica"/>
              </a:rPr>
              <a:t> Future investigations could assess </a:t>
            </a:r>
            <a:r>
              <a:rPr lang="en-US" sz="4000" dirty="0" err="1">
                <a:latin typeface="Helvetica"/>
                <a:ea typeface="MS PGothic"/>
                <a:cs typeface="Helvetica"/>
              </a:rPr>
              <a:t>corticostriatal</a:t>
            </a:r>
            <a:r>
              <a:rPr lang="en-US" sz="4000" dirty="0">
                <a:latin typeface="Helvetica"/>
                <a:ea typeface="MS PGothic"/>
                <a:cs typeface="Helvetica"/>
              </a:rPr>
              <a:t> connectivity and substance use in a clinical population.</a:t>
            </a:r>
          </a:p>
          <a:p>
            <a:pPr>
              <a:spcBef>
                <a:spcPts val="360"/>
              </a:spcBef>
              <a:spcAft>
                <a:spcPts val="0"/>
              </a:spcAft>
            </a:pPr>
            <a:endParaRPr lang="en-US" sz="4000" b="1" dirty="0">
              <a:latin typeface="Helvetica"/>
              <a:ea typeface="MS PGothic"/>
              <a:cs typeface="Helvetica"/>
            </a:endParaRPr>
          </a:p>
        </p:txBody>
      </p:sp>
      <p:sp>
        <p:nvSpPr>
          <p:cNvPr id="74" name="TextBox 73">
            <a:extLst>
              <a:ext uri="{FF2B5EF4-FFF2-40B4-BE49-F238E27FC236}">
                <a16:creationId xmlns:a16="http://schemas.microsoft.com/office/drawing/2014/main" id="{DEEE4F8F-8A70-494E-B38E-CD75EC41499F}"/>
              </a:ext>
            </a:extLst>
          </p:cNvPr>
          <p:cNvSpPr txBox="1"/>
          <p:nvPr/>
        </p:nvSpPr>
        <p:spPr>
          <a:xfrm>
            <a:off x="30721197" y="22389707"/>
            <a:ext cx="12773897" cy="1569660"/>
          </a:xfrm>
          <a:prstGeom prst="rect">
            <a:avLst/>
          </a:prstGeom>
          <a:noFill/>
        </p:spPr>
        <p:txBody>
          <a:bodyPr wrap="square" lIns="91440" tIns="45720" rIns="91440" bIns="45720" anchor="t">
            <a:spAutoFit/>
          </a:bodyPr>
          <a:lstStyle/>
          <a:p>
            <a:pPr algn="ctr"/>
            <a:r>
              <a:rPr lang="en-US" sz="3200" spc="15" dirty="0">
                <a:latin typeface="Helvetica"/>
                <a:ea typeface="MS PGothic"/>
                <a:cs typeface="Helvetica"/>
              </a:rPr>
              <a:t>As participants with aberrant reward sensitivity made fairer offers, they expressed stronger effective connectivity between a VS seed and an Anterior Cingulate Cortex (ACC) target.</a:t>
            </a:r>
            <a:endParaRPr lang="en-US" sz="3200" dirty="0"/>
          </a:p>
        </p:txBody>
      </p:sp>
      <p:pic>
        <p:nvPicPr>
          <p:cNvPr id="82" name="Picture 2" descr="Image result for adelphi university">
            <a:extLst>
              <a:ext uri="{FF2B5EF4-FFF2-40B4-BE49-F238E27FC236}">
                <a16:creationId xmlns:a16="http://schemas.microsoft.com/office/drawing/2014/main" id="{28154B0C-9082-4664-BE4E-292BAAFD349C}"/>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331346" y="1633353"/>
            <a:ext cx="1986759" cy="1986759"/>
          </a:xfrm>
          <a:prstGeom prst="rect">
            <a:avLst/>
          </a:prstGeom>
          <a:noFill/>
          <a:extLst>
            <a:ext uri="{909E8E84-426E-40DD-AFC4-6F175D3DCCD1}">
              <a14:hiddenFill xmlns:a14="http://schemas.microsoft.com/office/drawing/2010/main">
                <a:solidFill>
                  <a:srgbClr val="FFFFFF"/>
                </a:solidFill>
              </a14:hiddenFill>
            </a:ext>
          </a:extLst>
        </p:spPr>
      </p:pic>
      <p:sp>
        <p:nvSpPr>
          <p:cNvPr id="127" name="Rectangle 54">
            <a:extLst>
              <a:ext uri="{FF2B5EF4-FFF2-40B4-BE49-F238E27FC236}">
                <a16:creationId xmlns:a16="http://schemas.microsoft.com/office/drawing/2014/main" id="{CCC8C574-2C37-4FF8-83CC-02DE2FB92E37}"/>
              </a:ext>
            </a:extLst>
          </p:cNvPr>
          <p:cNvSpPr>
            <a:spLocks noChangeArrowheads="1"/>
          </p:cNvSpPr>
          <p:nvPr/>
        </p:nvSpPr>
        <p:spPr bwMode="auto">
          <a:xfrm>
            <a:off x="30667546" y="31846944"/>
            <a:ext cx="12923262" cy="813380"/>
          </a:xfrm>
          <a:prstGeom prst="rect">
            <a:avLst/>
          </a:prstGeom>
          <a:noFill/>
          <a:ln w="762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lIns="81274" tIns="40638" rIns="81274" bIns="40638" anchor="ct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eaLnBrk="1" hangingPunct="1"/>
            <a:endParaRPr lang="en-US" altLang="en-US" sz="1245">
              <a:latin typeface="Trebuchet MS" panose="020B0603020202020204" pitchFamily="34" charset="0"/>
            </a:endParaRPr>
          </a:p>
        </p:txBody>
      </p:sp>
      <p:sp>
        <p:nvSpPr>
          <p:cNvPr id="15415" name="TextBox 86">
            <a:extLst>
              <a:ext uri="{FF2B5EF4-FFF2-40B4-BE49-F238E27FC236}">
                <a16:creationId xmlns:a16="http://schemas.microsoft.com/office/drawing/2014/main" id="{B1E3A897-53DA-649F-39B9-6F4056C35336}"/>
              </a:ext>
            </a:extLst>
          </p:cNvPr>
          <p:cNvSpPr txBox="1">
            <a:spLocks noChangeArrowheads="1"/>
          </p:cNvSpPr>
          <p:nvPr/>
        </p:nvSpPr>
        <p:spPr bwMode="auto">
          <a:xfrm>
            <a:off x="31057107" y="14486346"/>
            <a:ext cx="12355359" cy="1406539"/>
          </a:xfrm>
          <a:prstGeom prst="rect">
            <a:avLst/>
          </a:prstGeom>
          <a:solidFill>
            <a:schemeClr val="bg1"/>
          </a:solidFill>
          <a:ln>
            <a:noFill/>
          </a:ln>
        </p:spPr>
        <p:txBody>
          <a:bodyPr wrap="square" lIns="91440" tIns="45720" rIns="91440" bIns="45720" anchor="t">
            <a:spAutoFit/>
          </a:bodyP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sz="4270" b="1" dirty="0">
                <a:solidFill>
                  <a:srgbClr val="C00000"/>
                </a:solidFill>
                <a:latin typeface="Trebuchet MS"/>
                <a:ea typeface="MS PGothic"/>
              </a:rPr>
              <a:t>7. Aberrant Reward Sensitivity Modulates </a:t>
            </a:r>
            <a:r>
              <a:rPr lang="en-US" altLang="en-US" sz="4270" b="1" dirty="0" err="1">
                <a:solidFill>
                  <a:srgbClr val="C00000"/>
                </a:solidFill>
                <a:latin typeface="Trebuchet MS"/>
                <a:ea typeface="MS PGothic"/>
              </a:rPr>
              <a:t>Corticostriatal</a:t>
            </a:r>
            <a:r>
              <a:rPr lang="en-US" altLang="en-US" sz="4270" b="1" dirty="0">
                <a:solidFill>
                  <a:srgbClr val="C00000"/>
                </a:solidFill>
                <a:latin typeface="Trebuchet MS"/>
                <a:ea typeface="MS PGothic"/>
              </a:rPr>
              <a:t> Connectivity Underlying Fairness</a:t>
            </a:r>
            <a:endParaRPr lang="en-US" altLang="en-US" sz="4270" b="1" dirty="0">
              <a:solidFill>
                <a:srgbClr val="C00000"/>
              </a:solidFill>
              <a:latin typeface="Trebuchet MS" panose="020B0603020202020204" pitchFamily="34" charset="0"/>
            </a:endParaRPr>
          </a:p>
        </p:txBody>
      </p:sp>
      <p:sp>
        <p:nvSpPr>
          <p:cNvPr id="15417" name="TextBox 15416">
            <a:extLst>
              <a:ext uri="{FF2B5EF4-FFF2-40B4-BE49-F238E27FC236}">
                <a16:creationId xmlns:a16="http://schemas.microsoft.com/office/drawing/2014/main" id="{67AF8949-755A-E964-685E-DF2A5F35BDE8}"/>
              </a:ext>
            </a:extLst>
          </p:cNvPr>
          <p:cNvSpPr txBox="1"/>
          <p:nvPr/>
        </p:nvSpPr>
        <p:spPr>
          <a:xfrm>
            <a:off x="30805042" y="31928090"/>
            <a:ext cx="12648270" cy="646331"/>
          </a:xfrm>
          <a:prstGeom prst="rect">
            <a:avLst/>
          </a:prstGeom>
          <a:noFill/>
        </p:spPr>
        <p:txBody>
          <a:bodyPr wrap="square">
            <a:spAutoFit/>
          </a:bodyPr>
          <a:lstStyle/>
          <a:p>
            <a:r>
              <a:rPr lang="en-US" sz="1800" i="1"/>
              <a:t>This study was supported by a grant from the National Institutes of Health (R03-DA046733 (DVS). Contact information for Daniel Sazhin: daniel.sazhin@temple.edu.</a:t>
            </a:r>
            <a:r>
              <a:rPr lang="en-US" sz="1800" b="0" i="0">
                <a:solidFill>
                  <a:srgbClr val="000000"/>
                </a:solidFill>
                <a:effectLst/>
                <a:latin typeface="Times New Roman" panose="02020603050405020304" pitchFamily="18" charset="0"/>
              </a:rPr>
              <a:t> </a:t>
            </a:r>
            <a:endParaRPr lang="en-US" sz="1800" i="1"/>
          </a:p>
        </p:txBody>
      </p:sp>
      <p:pic>
        <p:nvPicPr>
          <p:cNvPr id="15448" name="Picture 15447">
            <a:extLst>
              <a:ext uri="{FF2B5EF4-FFF2-40B4-BE49-F238E27FC236}">
                <a16:creationId xmlns:a16="http://schemas.microsoft.com/office/drawing/2014/main" id="{81766F6E-65B6-18E3-F22C-AF2D8B5E62BB}"/>
              </a:ext>
            </a:extLst>
          </p:cNvPr>
          <p:cNvPicPr>
            <a:picLocks noChangeAspect="1"/>
          </p:cNvPicPr>
          <p:nvPr/>
        </p:nvPicPr>
        <p:blipFill rotWithShape="1">
          <a:blip r:embed="rId17"/>
          <a:srcRect r="7280"/>
          <a:stretch/>
        </p:blipFill>
        <p:spPr>
          <a:xfrm>
            <a:off x="30816804" y="17644390"/>
            <a:ext cx="7789455" cy="4379416"/>
          </a:xfrm>
          <a:prstGeom prst="rect">
            <a:avLst/>
          </a:prstGeom>
        </p:spPr>
      </p:pic>
      <p:pic>
        <p:nvPicPr>
          <p:cNvPr id="15450" name="Picture 15449">
            <a:extLst>
              <a:ext uri="{FF2B5EF4-FFF2-40B4-BE49-F238E27FC236}">
                <a16:creationId xmlns:a16="http://schemas.microsoft.com/office/drawing/2014/main" id="{FE0B9D97-2D2D-AA93-6F5F-FC0FFE58C800}"/>
              </a:ext>
            </a:extLst>
          </p:cNvPr>
          <p:cNvPicPr>
            <a:picLocks noChangeAspect="1"/>
          </p:cNvPicPr>
          <p:nvPr/>
        </p:nvPicPr>
        <p:blipFill>
          <a:blip r:embed="rId18"/>
          <a:stretch>
            <a:fillRect/>
          </a:stretch>
        </p:blipFill>
        <p:spPr>
          <a:xfrm>
            <a:off x="40187382" y="17398961"/>
            <a:ext cx="3393142" cy="3577552"/>
          </a:xfrm>
          <a:prstGeom prst="rect">
            <a:avLst/>
          </a:prstGeom>
        </p:spPr>
      </p:pic>
      <p:sp>
        <p:nvSpPr>
          <p:cNvPr id="15453" name="TextBox 15452">
            <a:extLst>
              <a:ext uri="{FF2B5EF4-FFF2-40B4-BE49-F238E27FC236}">
                <a16:creationId xmlns:a16="http://schemas.microsoft.com/office/drawing/2014/main" id="{54253D06-A27E-D304-5A43-9CE683DD93BC}"/>
              </a:ext>
            </a:extLst>
          </p:cNvPr>
          <p:cNvSpPr txBox="1"/>
          <p:nvPr/>
        </p:nvSpPr>
        <p:spPr>
          <a:xfrm>
            <a:off x="38658757" y="16524759"/>
            <a:ext cx="1046440" cy="6220601"/>
          </a:xfrm>
          <a:prstGeom prst="rect">
            <a:avLst/>
          </a:prstGeom>
          <a:noFill/>
        </p:spPr>
        <p:txBody>
          <a:bodyPr vert="vert270" wrap="square">
            <a:spAutoFit/>
          </a:bodyPr>
          <a:lstStyle/>
          <a:p>
            <a:pPr algn="ctr"/>
            <a:r>
              <a:rPr lang="en-US" sz="2800" dirty="0">
                <a:latin typeface="Helvetica"/>
                <a:ea typeface="MS PGothic"/>
              </a:rPr>
              <a:t>VS-ACC Connectivity (</a:t>
            </a:r>
            <a:r>
              <a:rPr lang="el-GR" sz="2800" dirty="0">
                <a:latin typeface="Helvetica"/>
                <a:ea typeface="MS PGothic"/>
              </a:rPr>
              <a:t>β) </a:t>
            </a:r>
            <a:endParaRPr lang="en-US" sz="2800" dirty="0">
              <a:latin typeface="Helvetica"/>
              <a:ea typeface="MS PGothic"/>
            </a:endParaRPr>
          </a:p>
          <a:p>
            <a:pPr algn="ctr"/>
            <a:r>
              <a:rPr lang="en-US" sz="2800" dirty="0">
                <a:latin typeface="Helvetica"/>
                <a:ea typeface="MS PGothic"/>
              </a:rPr>
              <a:t>Parametric Effect of Fairness</a:t>
            </a:r>
            <a:endParaRPr lang="en-US" sz="2800" dirty="0">
              <a:latin typeface="Helvetica"/>
            </a:endParaRPr>
          </a:p>
        </p:txBody>
      </p:sp>
      <p:sp>
        <p:nvSpPr>
          <p:cNvPr id="15454" name="TextBox 15453">
            <a:extLst>
              <a:ext uri="{FF2B5EF4-FFF2-40B4-BE49-F238E27FC236}">
                <a16:creationId xmlns:a16="http://schemas.microsoft.com/office/drawing/2014/main" id="{13B2FFDE-8D7C-898B-769D-CAF01351FCBA}"/>
              </a:ext>
            </a:extLst>
          </p:cNvPr>
          <p:cNvSpPr txBox="1"/>
          <p:nvPr/>
        </p:nvSpPr>
        <p:spPr>
          <a:xfrm>
            <a:off x="40013181" y="21477911"/>
            <a:ext cx="3784646" cy="523220"/>
          </a:xfrm>
          <a:prstGeom prst="rect">
            <a:avLst/>
          </a:prstGeom>
          <a:noFill/>
        </p:spPr>
        <p:txBody>
          <a:bodyPr wrap="square">
            <a:spAutoFit/>
          </a:bodyPr>
          <a:lstStyle/>
          <a:p>
            <a:pPr algn="ctr"/>
            <a:r>
              <a:rPr lang="en-US" sz="2800" dirty="0">
                <a:latin typeface="Helvetica"/>
                <a:ea typeface="MS PGothic"/>
              </a:rPr>
              <a:t>Composite Reward</a:t>
            </a:r>
            <a:endParaRPr lang="en-US" sz="2800" dirty="0">
              <a:latin typeface="Helvetica"/>
            </a:endParaRPr>
          </a:p>
        </p:txBody>
      </p:sp>
      <p:sp>
        <p:nvSpPr>
          <p:cNvPr id="15457" name="TextBox 15456">
            <a:extLst>
              <a:ext uri="{FF2B5EF4-FFF2-40B4-BE49-F238E27FC236}">
                <a16:creationId xmlns:a16="http://schemas.microsoft.com/office/drawing/2014/main" id="{7047C9F1-0A08-A766-A606-E61021C59749}"/>
              </a:ext>
            </a:extLst>
          </p:cNvPr>
          <p:cNvSpPr txBox="1"/>
          <p:nvPr/>
        </p:nvSpPr>
        <p:spPr>
          <a:xfrm>
            <a:off x="40492162" y="20897618"/>
            <a:ext cx="554647" cy="523221"/>
          </a:xfrm>
          <a:prstGeom prst="rect">
            <a:avLst/>
          </a:prstGeom>
          <a:noFill/>
        </p:spPr>
        <p:txBody>
          <a:bodyPr wrap="square">
            <a:spAutoFit/>
          </a:bodyPr>
          <a:lstStyle/>
          <a:p>
            <a:r>
              <a:rPr lang="en-US" sz="2800">
                <a:latin typeface="Helvetica"/>
                <a:ea typeface="MS PGothic"/>
              </a:rPr>
              <a:t>-4</a:t>
            </a:r>
            <a:endParaRPr lang="en-US" sz="2800">
              <a:latin typeface="Helvetica"/>
            </a:endParaRPr>
          </a:p>
        </p:txBody>
      </p:sp>
      <p:sp>
        <p:nvSpPr>
          <p:cNvPr id="15458" name="TextBox 15457">
            <a:extLst>
              <a:ext uri="{FF2B5EF4-FFF2-40B4-BE49-F238E27FC236}">
                <a16:creationId xmlns:a16="http://schemas.microsoft.com/office/drawing/2014/main" id="{BDE46ECC-E24E-9171-BED0-499BFDD880B7}"/>
              </a:ext>
            </a:extLst>
          </p:cNvPr>
          <p:cNvSpPr txBox="1"/>
          <p:nvPr/>
        </p:nvSpPr>
        <p:spPr>
          <a:xfrm>
            <a:off x="42958651" y="20882411"/>
            <a:ext cx="1046440" cy="523221"/>
          </a:xfrm>
          <a:prstGeom prst="rect">
            <a:avLst/>
          </a:prstGeom>
          <a:noFill/>
        </p:spPr>
        <p:txBody>
          <a:bodyPr wrap="square">
            <a:spAutoFit/>
          </a:bodyPr>
          <a:lstStyle/>
          <a:p>
            <a:r>
              <a:rPr lang="en-US" sz="2800">
                <a:latin typeface="Helvetica"/>
                <a:ea typeface="MS PGothic"/>
              </a:rPr>
              <a:t>4</a:t>
            </a:r>
            <a:endParaRPr lang="en-US" sz="2800">
              <a:latin typeface="Helvetica"/>
            </a:endParaRPr>
          </a:p>
        </p:txBody>
      </p:sp>
      <p:sp>
        <p:nvSpPr>
          <p:cNvPr id="15459" name="TextBox 15458">
            <a:extLst>
              <a:ext uri="{FF2B5EF4-FFF2-40B4-BE49-F238E27FC236}">
                <a16:creationId xmlns:a16="http://schemas.microsoft.com/office/drawing/2014/main" id="{275FD36E-9E3F-0887-77B3-FB36970A4F59}"/>
              </a:ext>
            </a:extLst>
          </p:cNvPr>
          <p:cNvSpPr txBox="1"/>
          <p:nvPr/>
        </p:nvSpPr>
        <p:spPr>
          <a:xfrm>
            <a:off x="41783055" y="20898469"/>
            <a:ext cx="567400" cy="523220"/>
          </a:xfrm>
          <a:prstGeom prst="rect">
            <a:avLst/>
          </a:prstGeom>
          <a:noFill/>
        </p:spPr>
        <p:txBody>
          <a:bodyPr wrap="square">
            <a:spAutoFit/>
          </a:bodyPr>
          <a:lstStyle/>
          <a:p>
            <a:r>
              <a:rPr lang="en-US" sz="2800">
                <a:latin typeface="Helvetica"/>
                <a:ea typeface="MS PGothic"/>
              </a:rPr>
              <a:t>0</a:t>
            </a:r>
            <a:endParaRPr lang="en-US" sz="2800">
              <a:latin typeface="Helvetica"/>
            </a:endParaRPr>
          </a:p>
        </p:txBody>
      </p:sp>
      <p:sp>
        <p:nvSpPr>
          <p:cNvPr id="15460" name="TextBox 15459">
            <a:extLst>
              <a:ext uri="{FF2B5EF4-FFF2-40B4-BE49-F238E27FC236}">
                <a16:creationId xmlns:a16="http://schemas.microsoft.com/office/drawing/2014/main" id="{FA852DDA-CB11-26BF-258E-65D09D7465FA}"/>
              </a:ext>
            </a:extLst>
          </p:cNvPr>
          <p:cNvSpPr txBox="1"/>
          <p:nvPr/>
        </p:nvSpPr>
        <p:spPr>
          <a:xfrm>
            <a:off x="39578758" y="20495512"/>
            <a:ext cx="868847" cy="523220"/>
          </a:xfrm>
          <a:prstGeom prst="rect">
            <a:avLst/>
          </a:prstGeom>
          <a:noFill/>
        </p:spPr>
        <p:txBody>
          <a:bodyPr wrap="square">
            <a:spAutoFit/>
          </a:bodyPr>
          <a:lstStyle/>
          <a:p>
            <a:r>
              <a:rPr lang="en-US" sz="2800">
                <a:latin typeface="Helvetica"/>
                <a:ea typeface="MS PGothic"/>
              </a:rPr>
              <a:t>-10</a:t>
            </a:r>
            <a:endParaRPr lang="en-US" sz="2800">
              <a:latin typeface="Helvetica"/>
            </a:endParaRPr>
          </a:p>
        </p:txBody>
      </p:sp>
      <p:sp>
        <p:nvSpPr>
          <p:cNvPr id="15462" name="TextBox 15461">
            <a:extLst>
              <a:ext uri="{FF2B5EF4-FFF2-40B4-BE49-F238E27FC236}">
                <a16:creationId xmlns:a16="http://schemas.microsoft.com/office/drawing/2014/main" id="{20ADA0E0-7D3C-7D25-1314-4E22FF094079}"/>
              </a:ext>
            </a:extLst>
          </p:cNvPr>
          <p:cNvSpPr txBox="1"/>
          <p:nvPr/>
        </p:nvSpPr>
        <p:spPr>
          <a:xfrm>
            <a:off x="39700550" y="17249775"/>
            <a:ext cx="715942" cy="523220"/>
          </a:xfrm>
          <a:prstGeom prst="rect">
            <a:avLst/>
          </a:prstGeom>
          <a:noFill/>
        </p:spPr>
        <p:txBody>
          <a:bodyPr wrap="square">
            <a:spAutoFit/>
          </a:bodyPr>
          <a:lstStyle/>
          <a:p>
            <a:r>
              <a:rPr lang="en-US" sz="2800">
                <a:latin typeface="Helvetica"/>
                <a:ea typeface="MS PGothic"/>
              </a:rPr>
              <a:t>10</a:t>
            </a:r>
            <a:endParaRPr lang="en-US" sz="2800">
              <a:latin typeface="Helvetica"/>
            </a:endParaRPr>
          </a:p>
        </p:txBody>
      </p:sp>
      <p:sp>
        <p:nvSpPr>
          <p:cNvPr id="15463" name="TextBox 15462">
            <a:extLst>
              <a:ext uri="{FF2B5EF4-FFF2-40B4-BE49-F238E27FC236}">
                <a16:creationId xmlns:a16="http://schemas.microsoft.com/office/drawing/2014/main" id="{2DB69747-DCE2-F966-FC03-9A51A0E07B63}"/>
              </a:ext>
            </a:extLst>
          </p:cNvPr>
          <p:cNvSpPr txBox="1"/>
          <p:nvPr/>
        </p:nvSpPr>
        <p:spPr>
          <a:xfrm>
            <a:off x="39874322" y="18954769"/>
            <a:ext cx="1817883" cy="523220"/>
          </a:xfrm>
          <a:prstGeom prst="rect">
            <a:avLst/>
          </a:prstGeom>
          <a:noFill/>
        </p:spPr>
        <p:txBody>
          <a:bodyPr wrap="square">
            <a:spAutoFit/>
          </a:bodyPr>
          <a:lstStyle/>
          <a:p>
            <a:r>
              <a:rPr lang="en-US" sz="2800">
                <a:latin typeface="Helvetica"/>
                <a:ea typeface="MS PGothic"/>
              </a:rPr>
              <a:t>0</a:t>
            </a:r>
            <a:endParaRPr lang="en-US" sz="2800">
              <a:latin typeface="Helvetica"/>
            </a:endParaRPr>
          </a:p>
        </p:txBody>
      </p:sp>
      <p:sp>
        <p:nvSpPr>
          <p:cNvPr id="15466" name="TextBox 15465">
            <a:extLst>
              <a:ext uri="{FF2B5EF4-FFF2-40B4-BE49-F238E27FC236}">
                <a16:creationId xmlns:a16="http://schemas.microsoft.com/office/drawing/2014/main" id="{70363750-115C-CF78-EAF3-D77F6325BD99}"/>
              </a:ext>
            </a:extLst>
          </p:cNvPr>
          <p:cNvSpPr txBox="1"/>
          <p:nvPr/>
        </p:nvSpPr>
        <p:spPr>
          <a:xfrm>
            <a:off x="34229066" y="17212491"/>
            <a:ext cx="4584887"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latin typeface="Helvetica"/>
                <a:ea typeface="MS PGothic"/>
              </a:rPr>
              <a:t>Target Region:</a:t>
            </a:r>
            <a:br>
              <a:rPr lang="en-US" sz="3200" b="1" dirty="0">
                <a:latin typeface="Helvetica"/>
                <a:ea typeface="MS PGothic"/>
              </a:rPr>
            </a:br>
            <a:r>
              <a:rPr lang="en-US" sz="3200" b="1" dirty="0">
                <a:latin typeface="Helvetica"/>
                <a:ea typeface="MS PGothic"/>
              </a:rPr>
              <a:t>ACC</a:t>
            </a:r>
          </a:p>
        </p:txBody>
      </p:sp>
      <p:sp>
        <p:nvSpPr>
          <p:cNvPr id="15467" name="TextBox 15466">
            <a:extLst>
              <a:ext uri="{FF2B5EF4-FFF2-40B4-BE49-F238E27FC236}">
                <a16:creationId xmlns:a16="http://schemas.microsoft.com/office/drawing/2014/main" id="{BEB82280-E375-8679-3A8D-2B094831BB76}"/>
              </a:ext>
            </a:extLst>
          </p:cNvPr>
          <p:cNvSpPr txBox="1"/>
          <p:nvPr/>
        </p:nvSpPr>
        <p:spPr>
          <a:xfrm>
            <a:off x="30386007" y="17175669"/>
            <a:ext cx="4584887"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latin typeface="Helvetica"/>
                <a:ea typeface="MS PGothic"/>
              </a:rPr>
              <a:t>Seed Region:</a:t>
            </a:r>
            <a:br>
              <a:rPr lang="en-US" sz="3200" b="1" dirty="0">
                <a:latin typeface="Helvetica"/>
                <a:ea typeface="MS PGothic"/>
              </a:rPr>
            </a:br>
            <a:r>
              <a:rPr lang="en-US" sz="3200" b="1" dirty="0">
                <a:latin typeface="Helvetica"/>
                <a:ea typeface="MS PGothic"/>
              </a:rPr>
              <a:t>Ventral Striatum</a:t>
            </a:r>
          </a:p>
        </p:txBody>
      </p:sp>
      <p:sp>
        <p:nvSpPr>
          <p:cNvPr id="15468" name="TextBox 15467">
            <a:extLst>
              <a:ext uri="{FF2B5EF4-FFF2-40B4-BE49-F238E27FC236}">
                <a16:creationId xmlns:a16="http://schemas.microsoft.com/office/drawing/2014/main" id="{A3DE3076-1461-4C7F-37FB-1937AD59C065}"/>
              </a:ext>
            </a:extLst>
          </p:cNvPr>
          <p:cNvSpPr txBox="1"/>
          <p:nvPr/>
        </p:nvSpPr>
        <p:spPr>
          <a:xfrm>
            <a:off x="30573711" y="21679401"/>
            <a:ext cx="4068810" cy="954107"/>
          </a:xfrm>
          <a:prstGeom prst="rect">
            <a:avLst/>
          </a:prstGeom>
          <a:noFill/>
        </p:spPr>
        <p:txBody>
          <a:bodyPr wrap="square" lIns="91440" tIns="45720" rIns="91440" bIns="45720" anchor="t">
            <a:spAutoFit/>
          </a:bodyPr>
          <a:lstStyle/>
          <a:p>
            <a:pPr algn="ctr"/>
            <a:r>
              <a:rPr lang="en-US" sz="2800" dirty="0">
                <a:latin typeface="Helvetica"/>
                <a:ea typeface="MS PGothic"/>
              </a:rPr>
              <a:t>Y=12</a:t>
            </a:r>
          </a:p>
          <a:p>
            <a:pPr algn="ctr"/>
            <a:endParaRPr lang="en-US" sz="2800" dirty="0">
              <a:latin typeface="Helvetica"/>
            </a:endParaRPr>
          </a:p>
        </p:txBody>
      </p:sp>
      <p:sp>
        <p:nvSpPr>
          <p:cNvPr id="15471" name="TextBox 15470">
            <a:extLst>
              <a:ext uri="{FF2B5EF4-FFF2-40B4-BE49-F238E27FC236}">
                <a16:creationId xmlns:a16="http://schemas.microsoft.com/office/drawing/2014/main" id="{097F6FA0-A312-AB6A-B5D8-97D0988F5173}"/>
              </a:ext>
            </a:extLst>
          </p:cNvPr>
          <p:cNvSpPr txBox="1"/>
          <p:nvPr/>
        </p:nvSpPr>
        <p:spPr>
          <a:xfrm>
            <a:off x="35746762" y="21546752"/>
            <a:ext cx="2660825" cy="954107"/>
          </a:xfrm>
          <a:prstGeom prst="rect">
            <a:avLst/>
          </a:prstGeom>
          <a:noFill/>
        </p:spPr>
        <p:txBody>
          <a:bodyPr wrap="square" lIns="91440" tIns="45720" rIns="91440" bIns="45720" anchor="t">
            <a:spAutoFit/>
          </a:bodyPr>
          <a:lstStyle/>
          <a:p>
            <a:pPr algn="ctr"/>
            <a:r>
              <a:rPr lang="en-US" sz="2800" dirty="0">
                <a:latin typeface="Helvetica"/>
                <a:ea typeface="MS PGothic"/>
              </a:rPr>
              <a:t>X=-3</a:t>
            </a:r>
          </a:p>
          <a:p>
            <a:pPr algn="ctr"/>
            <a:endParaRPr lang="en-US" sz="2800" dirty="0">
              <a:latin typeface="Helvetica"/>
            </a:endParaRPr>
          </a:p>
        </p:txBody>
      </p:sp>
      <p:sp>
        <p:nvSpPr>
          <p:cNvPr id="15472" name="Oval 15471">
            <a:extLst>
              <a:ext uri="{FF2B5EF4-FFF2-40B4-BE49-F238E27FC236}">
                <a16:creationId xmlns:a16="http://schemas.microsoft.com/office/drawing/2014/main" id="{B6A323FA-B232-A8B9-1DEF-DAE42CEECB5E}"/>
              </a:ext>
            </a:extLst>
          </p:cNvPr>
          <p:cNvSpPr/>
          <p:nvPr/>
        </p:nvSpPr>
        <p:spPr bwMode="auto">
          <a:xfrm>
            <a:off x="36935876" y="19048761"/>
            <a:ext cx="493486" cy="438402"/>
          </a:xfrm>
          <a:prstGeom prst="ellipse">
            <a:avLst/>
          </a:prstGeom>
          <a:noFill/>
          <a:ln w="57150" cap="flat" cmpd="sng" algn="ctr">
            <a:solidFill>
              <a:srgbClr val="FFCC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5475" name="Rectangle 15474">
            <a:extLst>
              <a:ext uri="{FF2B5EF4-FFF2-40B4-BE49-F238E27FC236}">
                <a16:creationId xmlns:a16="http://schemas.microsoft.com/office/drawing/2014/main" id="{DB14D97E-82FC-43D2-795A-F10EEC10EBE9}"/>
              </a:ext>
            </a:extLst>
          </p:cNvPr>
          <p:cNvSpPr/>
          <p:nvPr/>
        </p:nvSpPr>
        <p:spPr>
          <a:xfrm>
            <a:off x="30750737" y="15945804"/>
            <a:ext cx="12756880" cy="1077218"/>
          </a:xfrm>
          <a:prstGeom prst="rect">
            <a:avLst/>
          </a:prstGeom>
        </p:spPr>
        <p:txBody>
          <a:bodyPr wrap="square" lIns="91440" tIns="45720" rIns="91440" bIns="45720" anchor="t">
            <a:spAutoFit/>
          </a:bodyPr>
          <a:lstStyle/>
          <a:p>
            <a:pPr algn="ctr"/>
            <a:r>
              <a:rPr lang="en-US" sz="3200" i="1" spc="15" dirty="0">
                <a:latin typeface="Helvetica"/>
                <a:ea typeface="MS PGothic"/>
              </a:rPr>
              <a:t>We investigated associations between reward sensitivity, fairness, and connectivity between a VS seed and possible target regions.</a:t>
            </a:r>
            <a:endParaRPr lang="en-US" sz="3200" i="1" spc="15" dirty="0">
              <a:latin typeface="Helvetica" pitchFamily="2" charset="0"/>
            </a:endParaRPr>
          </a:p>
        </p:txBody>
      </p:sp>
      <p:sp>
        <p:nvSpPr>
          <p:cNvPr id="15476" name="TextBox 15475">
            <a:extLst>
              <a:ext uri="{FF2B5EF4-FFF2-40B4-BE49-F238E27FC236}">
                <a16:creationId xmlns:a16="http://schemas.microsoft.com/office/drawing/2014/main" id="{72DC8A03-760C-7895-4FC9-787BC0308294}"/>
              </a:ext>
            </a:extLst>
          </p:cNvPr>
          <p:cNvSpPr txBox="1"/>
          <p:nvPr/>
        </p:nvSpPr>
        <p:spPr>
          <a:xfrm>
            <a:off x="39759924" y="19700558"/>
            <a:ext cx="868847" cy="523220"/>
          </a:xfrm>
          <a:prstGeom prst="rect">
            <a:avLst/>
          </a:prstGeom>
          <a:noFill/>
        </p:spPr>
        <p:txBody>
          <a:bodyPr wrap="square">
            <a:spAutoFit/>
          </a:bodyPr>
          <a:lstStyle/>
          <a:p>
            <a:r>
              <a:rPr lang="en-US" sz="2800">
                <a:latin typeface="Helvetica"/>
                <a:ea typeface="MS PGothic"/>
              </a:rPr>
              <a:t>-5</a:t>
            </a:r>
            <a:endParaRPr lang="en-US" sz="2800">
              <a:latin typeface="Helvetica"/>
            </a:endParaRPr>
          </a:p>
        </p:txBody>
      </p:sp>
      <p:sp>
        <p:nvSpPr>
          <p:cNvPr id="15477" name="TextBox 15476">
            <a:extLst>
              <a:ext uri="{FF2B5EF4-FFF2-40B4-BE49-F238E27FC236}">
                <a16:creationId xmlns:a16="http://schemas.microsoft.com/office/drawing/2014/main" id="{DF1C50BB-53F1-20DD-33AC-225EC7AB4493}"/>
              </a:ext>
            </a:extLst>
          </p:cNvPr>
          <p:cNvSpPr txBox="1"/>
          <p:nvPr/>
        </p:nvSpPr>
        <p:spPr>
          <a:xfrm>
            <a:off x="39874322" y="18136314"/>
            <a:ext cx="1817883" cy="523220"/>
          </a:xfrm>
          <a:prstGeom prst="rect">
            <a:avLst/>
          </a:prstGeom>
          <a:noFill/>
        </p:spPr>
        <p:txBody>
          <a:bodyPr wrap="square">
            <a:spAutoFit/>
          </a:bodyPr>
          <a:lstStyle/>
          <a:p>
            <a:r>
              <a:rPr lang="en-US" sz="2800">
                <a:latin typeface="Helvetica"/>
                <a:ea typeface="MS PGothic"/>
              </a:rPr>
              <a:t>5</a:t>
            </a:r>
            <a:endParaRPr lang="en-US" sz="2800">
              <a:latin typeface="Helvetica"/>
            </a:endParaRPr>
          </a:p>
        </p:txBody>
      </p:sp>
      <p:sp>
        <p:nvSpPr>
          <p:cNvPr id="15478" name="TextBox 15477">
            <a:extLst>
              <a:ext uri="{FF2B5EF4-FFF2-40B4-BE49-F238E27FC236}">
                <a16:creationId xmlns:a16="http://schemas.microsoft.com/office/drawing/2014/main" id="{697779DE-EC8F-1D36-5346-4D0291FAB01C}"/>
              </a:ext>
            </a:extLst>
          </p:cNvPr>
          <p:cNvSpPr txBox="1"/>
          <p:nvPr/>
        </p:nvSpPr>
        <p:spPr>
          <a:xfrm>
            <a:off x="41085006" y="20897521"/>
            <a:ext cx="813441" cy="523220"/>
          </a:xfrm>
          <a:prstGeom prst="rect">
            <a:avLst/>
          </a:prstGeom>
          <a:noFill/>
        </p:spPr>
        <p:txBody>
          <a:bodyPr wrap="square">
            <a:spAutoFit/>
          </a:bodyPr>
          <a:lstStyle/>
          <a:p>
            <a:r>
              <a:rPr lang="en-US" sz="2800">
                <a:latin typeface="Helvetica"/>
                <a:ea typeface="MS PGothic"/>
              </a:rPr>
              <a:t>-2</a:t>
            </a:r>
            <a:endParaRPr lang="en-US" sz="2800">
              <a:latin typeface="Helvetica"/>
            </a:endParaRPr>
          </a:p>
        </p:txBody>
      </p:sp>
      <p:sp>
        <p:nvSpPr>
          <p:cNvPr id="15481" name="TextBox 15480">
            <a:extLst>
              <a:ext uri="{FF2B5EF4-FFF2-40B4-BE49-F238E27FC236}">
                <a16:creationId xmlns:a16="http://schemas.microsoft.com/office/drawing/2014/main" id="{7E571E20-3EFA-2A74-295F-D205BE76E974}"/>
              </a:ext>
            </a:extLst>
          </p:cNvPr>
          <p:cNvSpPr txBox="1"/>
          <p:nvPr/>
        </p:nvSpPr>
        <p:spPr>
          <a:xfrm>
            <a:off x="42363306" y="20898469"/>
            <a:ext cx="480571" cy="523220"/>
          </a:xfrm>
          <a:prstGeom prst="rect">
            <a:avLst/>
          </a:prstGeom>
          <a:noFill/>
        </p:spPr>
        <p:txBody>
          <a:bodyPr wrap="square">
            <a:spAutoFit/>
          </a:bodyPr>
          <a:lstStyle/>
          <a:p>
            <a:r>
              <a:rPr lang="en-US" sz="2800">
                <a:latin typeface="Helvetica"/>
                <a:ea typeface="MS PGothic"/>
              </a:rPr>
              <a:t>2</a:t>
            </a:r>
            <a:endParaRPr lang="en-US" sz="2800">
              <a:latin typeface="Helvetica"/>
            </a:endParaRPr>
          </a:p>
        </p:txBody>
      </p:sp>
      <p:sp>
        <p:nvSpPr>
          <p:cNvPr id="15414" name="Rectangle 162">
            <a:extLst>
              <a:ext uri="{FF2B5EF4-FFF2-40B4-BE49-F238E27FC236}">
                <a16:creationId xmlns:a16="http://schemas.microsoft.com/office/drawing/2014/main" id="{25A230EB-5F32-4224-56A1-756BF91CCD15}"/>
              </a:ext>
            </a:extLst>
          </p:cNvPr>
          <p:cNvSpPr>
            <a:spLocks noChangeArrowheads="1"/>
          </p:cNvSpPr>
          <p:nvPr/>
        </p:nvSpPr>
        <p:spPr bwMode="auto">
          <a:xfrm>
            <a:off x="30683073" y="14695105"/>
            <a:ext cx="12967320" cy="9369710"/>
          </a:xfrm>
          <a:prstGeom prst="rect">
            <a:avLst/>
          </a:prstGeom>
          <a:noFill/>
          <a:ln w="762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lIns="81274" tIns="40638" rIns="81274" bIns="40638" anchor="ct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eaLnBrk="1" hangingPunct="1"/>
            <a:endParaRPr lang="en-US" altLang="en-US" sz="1245">
              <a:latin typeface="Trebuchet MS" panose="020B0603020202020204" pitchFamily="34" charset="0"/>
            </a:endParaRPr>
          </a:p>
        </p:txBody>
      </p:sp>
      <p:sp>
        <p:nvSpPr>
          <p:cNvPr id="6" name="TextBox 5">
            <a:extLst>
              <a:ext uri="{FF2B5EF4-FFF2-40B4-BE49-F238E27FC236}">
                <a16:creationId xmlns:a16="http://schemas.microsoft.com/office/drawing/2014/main" id="{70FD3937-717B-30F1-EF0F-1BE3A44A9629}"/>
              </a:ext>
            </a:extLst>
          </p:cNvPr>
          <p:cNvSpPr txBox="1"/>
          <p:nvPr/>
        </p:nvSpPr>
        <p:spPr>
          <a:xfrm>
            <a:off x="30912367" y="29293095"/>
            <a:ext cx="12442911" cy="2146231"/>
          </a:xfrm>
          <a:prstGeom prst="rect">
            <a:avLst/>
          </a:prstGeom>
          <a:noFill/>
        </p:spPr>
        <p:txBody>
          <a:bodyPr wrap="square" lIns="91440" tIns="45720" rIns="91440" bIns="45720" anchor="t">
            <a:spAutoFit/>
          </a:bodyPr>
          <a:lstStyle/>
          <a:p>
            <a:pPr algn="ctr">
              <a:spcBef>
                <a:spcPts val="360"/>
              </a:spcBef>
              <a:spcAft>
                <a:spcPts val="0"/>
              </a:spcAft>
            </a:pPr>
            <a:r>
              <a:rPr lang="en-US" sz="4200" b="1" dirty="0">
                <a:latin typeface="Helvetica"/>
                <a:ea typeface="MS PGothic"/>
                <a:cs typeface="Helvetica"/>
              </a:rPr>
              <a:t>Our findings help to characterize the role of </a:t>
            </a:r>
            <a:r>
              <a:rPr lang="en-US" sz="4200" b="1" dirty="0" err="1">
                <a:latin typeface="Helvetica"/>
                <a:ea typeface="MS PGothic"/>
                <a:cs typeface="Helvetica"/>
              </a:rPr>
              <a:t>corticostriatal</a:t>
            </a:r>
            <a:r>
              <a:rPr lang="en-US" sz="4200" b="1" dirty="0">
                <a:latin typeface="Helvetica"/>
                <a:ea typeface="MS PGothic"/>
                <a:cs typeface="Helvetica"/>
              </a:rPr>
              <a:t> connectivity in </a:t>
            </a:r>
            <a:endParaRPr lang="en-US" sz="4200" dirty="0">
              <a:cs typeface="Arial"/>
            </a:endParaRPr>
          </a:p>
          <a:p>
            <a:pPr algn="ctr">
              <a:spcBef>
                <a:spcPts val="360"/>
              </a:spcBef>
              <a:spcAft>
                <a:spcPts val="0"/>
              </a:spcAft>
            </a:pPr>
            <a:r>
              <a:rPr lang="en-US" sz="4200" b="1" dirty="0">
                <a:latin typeface="Helvetica"/>
                <a:ea typeface="MS PGothic"/>
                <a:cs typeface="Helvetica"/>
              </a:rPr>
              <a:t>social decision making.</a:t>
            </a:r>
            <a:endParaRPr lang="en-US" sz="4200" dirty="0"/>
          </a:p>
        </p:txBody>
      </p:sp>
      <p:pic>
        <p:nvPicPr>
          <p:cNvPr id="14" name="Picture 13" descr="A logo of a university&#10;&#10;Description automatically generated">
            <a:extLst>
              <a:ext uri="{FF2B5EF4-FFF2-40B4-BE49-F238E27FC236}">
                <a16:creationId xmlns:a16="http://schemas.microsoft.com/office/drawing/2014/main" id="{9F423328-9A02-A5CE-6F48-CAD10A8AF80B}"/>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39148879" y="321878"/>
            <a:ext cx="1819284" cy="2067919"/>
          </a:xfrm>
          <a:prstGeom prst="rect">
            <a:avLst/>
          </a:prstGeom>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0DE0AC601CE7945A16C28BE7D604718" ma:contentTypeVersion="16" ma:contentTypeDescription="Create a new document." ma:contentTypeScope="" ma:versionID="7200742d51933ad5859751156d985908">
  <xsd:schema xmlns:xsd="http://www.w3.org/2001/XMLSchema" xmlns:xs="http://www.w3.org/2001/XMLSchema" xmlns:p="http://schemas.microsoft.com/office/2006/metadata/properties" xmlns:ns2="068132b6-27af-4cc5-9624-46e0bc309f9c" xmlns:ns3="1ec1d487-840c-40ff-aca1-00ff13008544" targetNamespace="http://schemas.microsoft.com/office/2006/metadata/properties" ma:root="true" ma:fieldsID="ef3bb859774f4d5f12e6e11e5f5551df" ns2:_="" ns3:_="">
    <xsd:import namespace="068132b6-27af-4cc5-9624-46e0bc309f9c"/>
    <xsd:import namespace="1ec1d487-840c-40ff-aca1-00ff1300854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68132b6-27af-4cc5-9624-46e0bc309f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6aeeafc-10b8-45d8-a1af-5ed376f9e159"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ec1d487-840c-40ff-aca1-00ff13008544"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585dd9d-b35f-48e0-ab88-fcb6ff0e764c}" ma:internalName="TaxCatchAll" ma:showField="CatchAllData" ma:web="1ec1d487-840c-40ff-aca1-00ff1300854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5CAE7E8-1A3A-4A91-86FB-BA9E1762341A}">
  <ds:schemaRefs>
    <ds:schemaRef ds:uri="http://schemas.microsoft.com/sharepoint/v3/contenttype/forms"/>
  </ds:schemaRefs>
</ds:datastoreItem>
</file>

<file path=customXml/itemProps2.xml><?xml version="1.0" encoding="utf-8"?>
<ds:datastoreItem xmlns:ds="http://schemas.openxmlformats.org/officeDocument/2006/customXml" ds:itemID="{36138A07-987C-4A73-AAED-022482DDD0A4}">
  <ds:schemaRefs>
    <ds:schemaRef ds:uri="068132b6-27af-4cc5-9624-46e0bc309f9c"/>
    <ds:schemaRef ds:uri="1ec1d487-840c-40ff-aca1-00ff1300854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118</TotalTime>
  <Words>878</Words>
  <Application>Microsoft Macintosh PowerPoint</Application>
  <PresentationFormat>Custom</PresentationFormat>
  <Paragraphs>135</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Helvetica</vt:lpstr>
      <vt:lpstr>Times New Roman</vt:lpstr>
      <vt:lpstr>Trebuchet MS</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DVS</dc:creator>
  <cp:lastModifiedBy>Avi Dachs</cp:lastModifiedBy>
  <cp:revision>14</cp:revision>
  <cp:lastPrinted>2018-05-07T13:24:31Z</cp:lastPrinted>
  <dcterms:created xsi:type="dcterms:W3CDTF">2007-10-30T17:33:32Z</dcterms:created>
  <dcterms:modified xsi:type="dcterms:W3CDTF">2023-10-26T17:29:56Z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