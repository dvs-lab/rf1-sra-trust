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notesMasterIdLst>
    <p:notesMasterId r:id="rId5"/>
  </p:notesMasterIdLst>
  <p:handoutMasterIdLst>
    <p:handoutMasterId r:id="rId6"/>
  </p:handoutMasterIdLst>
  <p:sldIdLst>
    <p:sldId id="263" r:id="rId4"/>
  </p:sldIdLst>
  <p:sldSz cx="43891200" cy="32918400"/>
  <p:notesSz cx="7023100" cy="93091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3154" indent="-62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2229" indent="-127357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68346" indent="-192519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4462" indent="-257677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4264975" algn="l" defTabSz="1705991" rtl="0" eaLnBrk="1" latinLnBrk="0" hangingPunct="1">
      <a:defRPr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5117969" algn="l" defTabSz="1705991" rtl="0" eaLnBrk="1" latinLnBrk="0" hangingPunct="1">
      <a:defRPr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5970966" algn="l" defTabSz="1705991" rtl="0" eaLnBrk="1" latinLnBrk="0" hangingPunct="1">
      <a:defRPr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6823959" algn="l" defTabSz="1705991" rtl="0" eaLnBrk="1" latinLnBrk="0" hangingPunct="1">
      <a:defRPr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 userDrawn="1">
          <p15:clr>
            <a:srgbClr val="A4A3A4"/>
          </p15:clr>
        </p15:guide>
        <p15:guide id="2" pos="1382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5E78F60-8CE4-956A-0128-6E549761F19F}" name="Avi Dachs" initials="AD" userId="S::tur74001@temple.edu::87fc8e61-7f3a-4332-ab39-1fb75fe6e669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helle Chiu" initials="MC" lastIdx="2" clrIdx="0">
    <p:extLst>
      <p:ext uri="{19B8F6BF-5375-455C-9EA6-DF929625EA0E}">
        <p15:presenceInfo xmlns:p15="http://schemas.microsoft.com/office/powerpoint/2012/main" userId="S-1-5-21-3496871491-3148157022-986074665-411994" providerId="AD"/>
      </p:ext>
    </p:extLst>
  </p:cmAuthor>
  <p:cmAuthor id="2" name="Dominic Fareri" initials="DF" lastIdx="7" clrIdx="1">
    <p:extLst>
      <p:ext uri="{19B8F6BF-5375-455C-9EA6-DF929625EA0E}">
        <p15:presenceInfo xmlns:p15="http://schemas.microsoft.com/office/powerpoint/2012/main" userId="Dominic Fareri" providerId="None"/>
      </p:ext>
    </p:extLst>
  </p:cmAuthor>
  <p:cmAuthor id="3" name="David V. Smith" initials="DVS" lastIdx="4" clrIdx="2">
    <p:extLst>
      <p:ext uri="{19B8F6BF-5375-455C-9EA6-DF929625EA0E}">
        <p15:presenceInfo xmlns:p15="http://schemas.microsoft.com/office/powerpoint/2012/main" userId="David V. Smith" providerId="None"/>
      </p:ext>
    </p:extLst>
  </p:cmAuthor>
  <p:cmAuthor id="4" name="Katherine Hackett" initials="KH" lastIdx="3" clrIdx="3">
    <p:extLst>
      <p:ext uri="{19B8F6BF-5375-455C-9EA6-DF929625EA0E}">
        <p15:presenceInfo xmlns:p15="http://schemas.microsoft.com/office/powerpoint/2012/main" userId="S::tug90253@temple.edu::140e704c-c617-467c-a834-32d4bb446dd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EBEB"/>
    <a:srgbClr val="E2EBEB"/>
    <a:srgbClr val="D1ECE1"/>
    <a:srgbClr val="EBEBEB"/>
    <a:srgbClr val="3C8C94"/>
    <a:srgbClr val="72BFC6"/>
    <a:srgbClr val="A3CB9F"/>
    <a:srgbClr val="95CB8F"/>
    <a:srgbClr val="79CB7A"/>
    <a:srgbClr val="FAF8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54"/>
    <p:restoredTop sz="94648"/>
  </p:normalViewPr>
  <p:slideViewPr>
    <p:cSldViewPr snapToGrid="0">
      <p:cViewPr varScale="1">
        <p:scale>
          <a:sx n="24" d="100"/>
          <a:sy n="24" d="100"/>
        </p:scale>
        <p:origin x="2136" y="240"/>
      </p:cViewPr>
      <p:guideLst>
        <p:guide orient="horz" pos="10368"/>
        <p:guide pos="138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7" Type="http://schemas.openxmlformats.org/officeDocument/2006/relationships/commentAuthors" Target="commentAuthors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43979" cy="467363"/>
          </a:xfrm>
          <a:prstGeom prst="rect">
            <a:avLst/>
          </a:prstGeom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smtClean="0">
                <a:latin typeface="Helvetica" charset="0"/>
                <a:ea typeface="MS PGothic" charset="0"/>
                <a:cs typeface="MS PGothic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7531" y="0"/>
            <a:ext cx="3043979" cy="467363"/>
          </a:xfrm>
          <a:prstGeom prst="rect">
            <a:avLst/>
          </a:prstGeom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A12439DB-88A9-47CB-8306-24653602898A}" type="datetimeFigureOut">
              <a:rPr lang="en-US" altLang="en-US"/>
              <a:pPr/>
              <a:t>11/16/23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41738"/>
            <a:ext cx="3043979" cy="467363"/>
          </a:xfrm>
          <a:prstGeom prst="rect">
            <a:avLst/>
          </a:prstGeom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smtClean="0">
                <a:latin typeface="Helvetica" charset="0"/>
                <a:ea typeface="MS PGothic" charset="0"/>
                <a:cs typeface="MS PGothic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7531" y="8841738"/>
            <a:ext cx="3043979" cy="467363"/>
          </a:xfrm>
          <a:prstGeom prst="rect">
            <a:avLst/>
          </a:prstGeom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BE2D3955-F8C1-45A6-BC0E-23ADC1AD9BD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043979" cy="465773"/>
          </a:xfrm>
          <a:prstGeom prst="rect">
            <a:avLst/>
          </a:prstGeom>
          <a:noFill/>
          <a:ln>
            <a:noFill/>
          </a:ln>
        </p:spPr>
        <p:txBody>
          <a:bodyPr vert="horz" wrap="square" lIns="91564" tIns="45783" rIns="91564" bIns="45783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smtClean="0">
                <a:latin typeface="Arial" charset="0"/>
                <a:ea typeface="MS PGothic" charset="0"/>
                <a:cs typeface="MS PGothic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7531" y="0"/>
            <a:ext cx="3043979" cy="465773"/>
          </a:xfrm>
          <a:prstGeom prst="rect">
            <a:avLst/>
          </a:prstGeom>
          <a:noFill/>
          <a:ln>
            <a:noFill/>
          </a:ln>
        </p:spPr>
        <p:txBody>
          <a:bodyPr vert="horz" wrap="square" lIns="91564" tIns="45783" rIns="91564" bIns="45783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charset="0"/>
                <a:ea typeface="MS PGothic" charset="0"/>
                <a:cs typeface="MS PGothic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4275" y="698500"/>
            <a:ext cx="4654550" cy="34909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2946" y="4422459"/>
            <a:ext cx="5617208" cy="4188778"/>
          </a:xfrm>
          <a:prstGeom prst="rect">
            <a:avLst/>
          </a:prstGeom>
          <a:noFill/>
          <a:ln>
            <a:noFill/>
          </a:ln>
        </p:spPr>
        <p:txBody>
          <a:bodyPr vert="horz" wrap="square" lIns="91564" tIns="45783" rIns="91564" bIns="4578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8841738"/>
            <a:ext cx="3043979" cy="465773"/>
          </a:xfrm>
          <a:prstGeom prst="rect">
            <a:avLst/>
          </a:prstGeom>
          <a:noFill/>
          <a:ln>
            <a:noFill/>
          </a:ln>
        </p:spPr>
        <p:txBody>
          <a:bodyPr vert="horz" wrap="square" lIns="91564" tIns="45783" rIns="91564" bIns="45783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smtClean="0">
                <a:latin typeface="Arial" charset="0"/>
                <a:ea typeface="MS PGothic" charset="0"/>
                <a:cs typeface="MS PGothic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7531" y="8841738"/>
            <a:ext cx="3043979" cy="465773"/>
          </a:xfrm>
          <a:prstGeom prst="rect">
            <a:avLst/>
          </a:prstGeom>
          <a:noFill/>
          <a:ln>
            <a:noFill/>
          </a:ln>
        </p:spPr>
        <p:txBody>
          <a:bodyPr vert="horz" wrap="square" lIns="91564" tIns="45783" rIns="91564" bIns="45783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fld id="{3F6F6737-73D4-41EA-8E23-BF979942D6D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120" kern="1200">
        <a:solidFill>
          <a:schemeClr val="tx1"/>
        </a:solidFill>
        <a:latin typeface="Arial" charset="0"/>
        <a:ea typeface="MS PGothic" panose="020B0600070205080204" pitchFamily="34" charset="-128"/>
        <a:cs typeface="Arial" charset="0"/>
      </a:defRPr>
    </a:lvl1pPr>
    <a:lvl2pPr marL="453154" algn="l" rtl="0" eaLnBrk="0" fontAlgn="base" hangingPunct="0">
      <a:spcBef>
        <a:spcPct val="30000"/>
      </a:spcBef>
      <a:spcAft>
        <a:spcPct val="0"/>
      </a:spcAft>
      <a:defRPr sz="1120" kern="1200">
        <a:solidFill>
          <a:schemeClr val="tx1"/>
        </a:solidFill>
        <a:latin typeface="Arial" charset="0"/>
        <a:ea typeface="Arial" charset="0"/>
        <a:cs typeface="Arial" charset="0"/>
      </a:defRPr>
    </a:lvl2pPr>
    <a:lvl3pPr marL="912229" algn="l" rtl="0" eaLnBrk="0" fontAlgn="base" hangingPunct="0">
      <a:spcBef>
        <a:spcPct val="30000"/>
      </a:spcBef>
      <a:spcAft>
        <a:spcPct val="0"/>
      </a:spcAft>
      <a:defRPr sz="1120" kern="1200">
        <a:solidFill>
          <a:schemeClr val="tx1"/>
        </a:solidFill>
        <a:latin typeface="Arial" charset="0"/>
        <a:ea typeface="Arial" charset="0"/>
        <a:cs typeface="Arial" charset="0"/>
      </a:defRPr>
    </a:lvl3pPr>
    <a:lvl4pPr marL="1368346" algn="l" rtl="0" eaLnBrk="0" fontAlgn="base" hangingPunct="0">
      <a:spcBef>
        <a:spcPct val="30000"/>
      </a:spcBef>
      <a:spcAft>
        <a:spcPct val="0"/>
      </a:spcAft>
      <a:defRPr sz="1120" kern="1200">
        <a:solidFill>
          <a:schemeClr val="tx1"/>
        </a:solidFill>
        <a:latin typeface="Arial" charset="0"/>
        <a:ea typeface="Arial" charset="0"/>
        <a:cs typeface="Arial" charset="0"/>
      </a:defRPr>
    </a:lvl4pPr>
    <a:lvl5pPr marL="1824462" algn="l" rtl="0" eaLnBrk="0" fontAlgn="base" hangingPunct="0">
      <a:spcBef>
        <a:spcPct val="30000"/>
      </a:spcBef>
      <a:spcAft>
        <a:spcPct val="0"/>
      </a:spcAft>
      <a:defRPr sz="1120" kern="1200">
        <a:solidFill>
          <a:schemeClr val="tx1"/>
        </a:solidFill>
        <a:latin typeface="Arial" charset="0"/>
        <a:ea typeface="Arial" charset="0"/>
        <a:cs typeface="Arial" charset="0"/>
      </a:defRPr>
    </a:lvl5pPr>
    <a:lvl6pPr marL="2284261" algn="l" defTabSz="91370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115" algn="l" defTabSz="91370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7968" algn="l" defTabSz="91370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4816" algn="l" defTabSz="91370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4064" indent="-286179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4715" indent="-228943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2600" indent="-228943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60486" indent="-228943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8372" indent="-228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6258" indent="-228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34144" indent="-228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92029" indent="-228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E4736F1-11A1-4F15-821F-373E647BE191}" type="slidenum">
              <a:rPr lang="en-US" altLang="en-US" sz="1200">
                <a:latin typeface="Arial" panose="020B0604020202020204" pitchFamily="34" charset="0"/>
              </a:rPr>
              <a:pPr/>
              <a:t>1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4275" y="698500"/>
            <a:ext cx="4654550" cy="3490913"/>
          </a:xfrm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71450" indent="-171450" eaLnBrk="1" hangingPunct="1">
              <a:buFontTx/>
              <a:buChar char="-"/>
            </a:pPr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991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2482" y="10226677"/>
            <a:ext cx="37306249" cy="70548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365" y="18653127"/>
            <a:ext cx="30724474" cy="8413750"/>
          </a:xfrm>
        </p:spPr>
        <p:txBody>
          <a:bodyPr/>
          <a:lstStyle>
            <a:lvl1pPr marL="0" indent="0" algn="ctr">
              <a:buNone/>
              <a:defRPr/>
            </a:lvl1pPr>
            <a:lvl2pPr marL="406356" indent="0" algn="ctr">
              <a:buNone/>
              <a:defRPr/>
            </a:lvl2pPr>
            <a:lvl3pPr marL="812714" indent="0" algn="ctr">
              <a:buNone/>
              <a:defRPr/>
            </a:lvl3pPr>
            <a:lvl4pPr marL="1219072" indent="0" algn="ctr">
              <a:buNone/>
              <a:defRPr/>
            </a:lvl4pPr>
            <a:lvl5pPr marL="1625431" indent="0" algn="ctr">
              <a:buNone/>
              <a:defRPr/>
            </a:lvl5pPr>
            <a:lvl6pPr marL="2031789" indent="0" algn="ctr">
              <a:buNone/>
              <a:defRPr/>
            </a:lvl6pPr>
            <a:lvl7pPr marL="2438145" indent="0" algn="ctr">
              <a:buNone/>
              <a:defRPr/>
            </a:lvl7pPr>
            <a:lvl8pPr marL="2844503" indent="0" algn="ctr">
              <a:buNone/>
              <a:defRPr/>
            </a:lvl8pPr>
            <a:lvl9pPr marL="3250859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045733-9CD5-4A39-AF19-1576EAAC582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065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5AEFD10-DBAF-4AE2-89A0-5AF92A9DB40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4105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6" y="21153440"/>
            <a:ext cx="37307838" cy="6537324"/>
          </a:xfrm>
        </p:spPr>
        <p:txBody>
          <a:bodyPr anchor="t"/>
          <a:lstStyle>
            <a:lvl1pPr algn="l">
              <a:defRPr sz="358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6" y="13952538"/>
            <a:ext cx="37307838" cy="7200900"/>
          </a:xfrm>
        </p:spPr>
        <p:txBody>
          <a:bodyPr anchor="b"/>
          <a:lstStyle>
            <a:lvl1pPr marL="0" indent="0">
              <a:buNone/>
              <a:defRPr sz="1753"/>
            </a:lvl1pPr>
            <a:lvl2pPr marL="406356" indent="0">
              <a:buNone/>
              <a:defRPr sz="1600"/>
            </a:lvl2pPr>
            <a:lvl3pPr marL="812714" indent="0">
              <a:buNone/>
              <a:defRPr sz="1447"/>
            </a:lvl3pPr>
            <a:lvl4pPr marL="1219072" indent="0">
              <a:buNone/>
              <a:defRPr sz="1220"/>
            </a:lvl4pPr>
            <a:lvl5pPr marL="1625431" indent="0">
              <a:buNone/>
              <a:defRPr sz="1220"/>
            </a:lvl5pPr>
            <a:lvl6pPr marL="2031789" indent="0">
              <a:buNone/>
              <a:defRPr sz="1220"/>
            </a:lvl6pPr>
            <a:lvl7pPr marL="2438145" indent="0">
              <a:buNone/>
              <a:defRPr sz="1220"/>
            </a:lvl7pPr>
            <a:lvl8pPr marL="2844503" indent="0">
              <a:buNone/>
              <a:defRPr sz="1220"/>
            </a:lvl8pPr>
            <a:lvl9pPr marL="3250859" indent="0">
              <a:buNone/>
              <a:defRPr sz="12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C3906F-68E1-40D4-92B5-7E5E62F9182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3903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93931" y="7680331"/>
            <a:ext cx="19675475" cy="21724938"/>
          </a:xfrm>
        </p:spPr>
        <p:txBody>
          <a:bodyPr/>
          <a:lstStyle>
            <a:lvl1pPr>
              <a:defRPr sz="2514"/>
            </a:lvl1pPr>
            <a:lvl2pPr>
              <a:defRPr sz="2133"/>
            </a:lvl2pPr>
            <a:lvl3pPr>
              <a:defRPr sz="1753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21806" y="7680331"/>
            <a:ext cx="19675475" cy="21724938"/>
          </a:xfrm>
        </p:spPr>
        <p:txBody>
          <a:bodyPr/>
          <a:lstStyle>
            <a:lvl1pPr>
              <a:defRPr sz="2514"/>
            </a:lvl1pPr>
            <a:lvl2pPr>
              <a:defRPr sz="2133"/>
            </a:lvl2pPr>
            <a:lvl3pPr>
              <a:defRPr sz="1753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46F8588-11AB-46DB-B65B-0DA5B032DFB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0729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3926" y="7369176"/>
            <a:ext cx="19392899" cy="3070224"/>
          </a:xfrm>
        </p:spPr>
        <p:txBody>
          <a:bodyPr anchor="b"/>
          <a:lstStyle>
            <a:lvl1pPr marL="0" indent="0">
              <a:buNone/>
              <a:defRPr sz="2133" b="1"/>
            </a:lvl1pPr>
            <a:lvl2pPr marL="406356" indent="0">
              <a:buNone/>
              <a:defRPr sz="1753" b="1"/>
            </a:lvl2pPr>
            <a:lvl3pPr marL="812714" indent="0">
              <a:buNone/>
              <a:defRPr sz="1600" b="1"/>
            </a:lvl3pPr>
            <a:lvl4pPr marL="1219072" indent="0">
              <a:buNone/>
              <a:defRPr sz="1447" b="1"/>
            </a:lvl4pPr>
            <a:lvl5pPr marL="1625431" indent="0">
              <a:buNone/>
              <a:defRPr sz="1447" b="1"/>
            </a:lvl5pPr>
            <a:lvl6pPr marL="2031789" indent="0">
              <a:buNone/>
              <a:defRPr sz="1447" b="1"/>
            </a:lvl6pPr>
            <a:lvl7pPr marL="2438145" indent="0">
              <a:buNone/>
              <a:defRPr sz="1447" b="1"/>
            </a:lvl7pPr>
            <a:lvl8pPr marL="2844503" indent="0">
              <a:buNone/>
              <a:defRPr sz="1447" b="1"/>
            </a:lvl8pPr>
            <a:lvl9pPr marL="3250859" indent="0">
              <a:buNone/>
              <a:defRPr sz="144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3926" y="10439407"/>
            <a:ext cx="19392899" cy="18965862"/>
          </a:xfrm>
        </p:spPr>
        <p:txBody>
          <a:bodyPr/>
          <a:lstStyle>
            <a:lvl1pPr>
              <a:defRPr sz="2133"/>
            </a:lvl1pPr>
            <a:lvl2pPr>
              <a:defRPr sz="1753"/>
            </a:lvl2pPr>
            <a:lvl3pPr>
              <a:defRPr sz="1600"/>
            </a:lvl3pPr>
            <a:lvl4pPr>
              <a:defRPr sz="1447"/>
            </a:lvl4pPr>
            <a:lvl5pPr>
              <a:defRPr sz="1447"/>
            </a:lvl5pPr>
            <a:lvl6pPr>
              <a:defRPr sz="1447"/>
            </a:lvl6pPr>
            <a:lvl7pPr>
              <a:defRPr sz="1447"/>
            </a:lvl7pPr>
            <a:lvl8pPr>
              <a:defRPr sz="1447"/>
            </a:lvl8pPr>
            <a:lvl9pPr>
              <a:defRPr sz="144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6440" y="7369176"/>
            <a:ext cx="19400837" cy="3070224"/>
          </a:xfrm>
        </p:spPr>
        <p:txBody>
          <a:bodyPr anchor="b"/>
          <a:lstStyle>
            <a:lvl1pPr marL="0" indent="0">
              <a:buNone/>
              <a:defRPr sz="2133" b="1"/>
            </a:lvl1pPr>
            <a:lvl2pPr marL="406356" indent="0">
              <a:buNone/>
              <a:defRPr sz="1753" b="1"/>
            </a:lvl2pPr>
            <a:lvl3pPr marL="812714" indent="0">
              <a:buNone/>
              <a:defRPr sz="1600" b="1"/>
            </a:lvl3pPr>
            <a:lvl4pPr marL="1219072" indent="0">
              <a:buNone/>
              <a:defRPr sz="1447" b="1"/>
            </a:lvl4pPr>
            <a:lvl5pPr marL="1625431" indent="0">
              <a:buNone/>
              <a:defRPr sz="1447" b="1"/>
            </a:lvl5pPr>
            <a:lvl6pPr marL="2031789" indent="0">
              <a:buNone/>
              <a:defRPr sz="1447" b="1"/>
            </a:lvl6pPr>
            <a:lvl7pPr marL="2438145" indent="0">
              <a:buNone/>
              <a:defRPr sz="1447" b="1"/>
            </a:lvl7pPr>
            <a:lvl8pPr marL="2844503" indent="0">
              <a:buNone/>
              <a:defRPr sz="1447" b="1"/>
            </a:lvl8pPr>
            <a:lvl9pPr marL="3250859" indent="0">
              <a:buNone/>
              <a:defRPr sz="144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6440" y="10439407"/>
            <a:ext cx="19400837" cy="18965862"/>
          </a:xfrm>
        </p:spPr>
        <p:txBody>
          <a:bodyPr/>
          <a:lstStyle>
            <a:lvl1pPr>
              <a:defRPr sz="2133"/>
            </a:lvl1pPr>
            <a:lvl2pPr>
              <a:defRPr sz="1753"/>
            </a:lvl2pPr>
            <a:lvl3pPr>
              <a:defRPr sz="1600"/>
            </a:lvl3pPr>
            <a:lvl4pPr>
              <a:defRPr sz="1447"/>
            </a:lvl4pPr>
            <a:lvl5pPr>
              <a:defRPr sz="1447"/>
            </a:lvl5pPr>
            <a:lvl6pPr>
              <a:defRPr sz="1447"/>
            </a:lvl6pPr>
            <a:lvl7pPr>
              <a:defRPr sz="1447"/>
            </a:lvl7pPr>
            <a:lvl8pPr>
              <a:defRPr sz="1447"/>
            </a:lvl8pPr>
            <a:lvl9pPr>
              <a:defRPr sz="144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F70D44-9EE5-494F-B24D-9088C4F630A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5950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282EB0-6A1C-42AA-BBF4-30A498DC98E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8102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8D00DC-00D9-48A8-8591-ED180EF32D4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9963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3925" y="1311276"/>
            <a:ext cx="14439901" cy="5576888"/>
          </a:xfrm>
        </p:spPr>
        <p:txBody>
          <a:bodyPr anchor="b"/>
          <a:lstStyle>
            <a:lvl1pPr algn="l">
              <a:defRPr sz="175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0875" y="1311276"/>
            <a:ext cx="24536400" cy="28093988"/>
          </a:xfrm>
        </p:spPr>
        <p:txBody>
          <a:bodyPr/>
          <a:lstStyle>
            <a:lvl1pPr>
              <a:defRPr sz="2820"/>
            </a:lvl1pPr>
            <a:lvl2pPr>
              <a:defRPr sz="2514"/>
            </a:lvl2pPr>
            <a:lvl3pPr>
              <a:defRPr sz="2133"/>
            </a:lvl3pPr>
            <a:lvl4pPr>
              <a:defRPr sz="1753"/>
            </a:lvl4pPr>
            <a:lvl5pPr>
              <a:defRPr sz="1753"/>
            </a:lvl5pPr>
            <a:lvl6pPr>
              <a:defRPr sz="1753"/>
            </a:lvl6pPr>
            <a:lvl7pPr>
              <a:defRPr sz="1753"/>
            </a:lvl7pPr>
            <a:lvl8pPr>
              <a:defRPr sz="1753"/>
            </a:lvl8pPr>
            <a:lvl9pPr>
              <a:defRPr sz="175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3925" y="6888162"/>
            <a:ext cx="14439901" cy="22517100"/>
          </a:xfrm>
        </p:spPr>
        <p:txBody>
          <a:bodyPr/>
          <a:lstStyle>
            <a:lvl1pPr marL="0" indent="0">
              <a:buNone/>
              <a:defRPr sz="1220"/>
            </a:lvl1pPr>
            <a:lvl2pPr marL="406356" indent="0">
              <a:buNone/>
              <a:defRPr sz="1066"/>
            </a:lvl2pPr>
            <a:lvl3pPr marL="812714" indent="0">
              <a:buNone/>
              <a:defRPr sz="914"/>
            </a:lvl3pPr>
            <a:lvl4pPr marL="1219072" indent="0">
              <a:buNone/>
              <a:defRPr sz="763"/>
            </a:lvl4pPr>
            <a:lvl5pPr marL="1625431" indent="0">
              <a:buNone/>
              <a:defRPr sz="763"/>
            </a:lvl5pPr>
            <a:lvl6pPr marL="2031789" indent="0">
              <a:buNone/>
              <a:defRPr sz="763"/>
            </a:lvl6pPr>
            <a:lvl7pPr marL="2438145" indent="0">
              <a:buNone/>
              <a:defRPr sz="763"/>
            </a:lvl7pPr>
            <a:lvl8pPr marL="2844503" indent="0">
              <a:buNone/>
              <a:defRPr sz="763"/>
            </a:lvl8pPr>
            <a:lvl9pPr marL="3250859" indent="0">
              <a:buNone/>
              <a:defRPr sz="7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0D8C0C4-CE81-4EEF-9770-5470521DE37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3836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2665" y="23042564"/>
            <a:ext cx="26335036" cy="2720976"/>
          </a:xfrm>
        </p:spPr>
        <p:txBody>
          <a:bodyPr anchor="b"/>
          <a:lstStyle>
            <a:lvl1pPr algn="l">
              <a:defRPr sz="175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2665" y="2941645"/>
            <a:ext cx="26335036" cy="19750086"/>
          </a:xfrm>
        </p:spPr>
        <p:txBody>
          <a:bodyPr/>
          <a:lstStyle>
            <a:lvl1pPr marL="0" indent="0">
              <a:buNone/>
              <a:defRPr sz="2820"/>
            </a:lvl1pPr>
            <a:lvl2pPr marL="406356" indent="0">
              <a:buNone/>
              <a:defRPr sz="2514"/>
            </a:lvl2pPr>
            <a:lvl3pPr marL="812714" indent="0">
              <a:buNone/>
              <a:defRPr sz="2133"/>
            </a:lvl3pPr>
            <a:lvl4pPr marL="1219072" indent="0">
              <a:buNone/>
              <a:defRPr sz="1753"/>
            </a:lvl4pPr>
            <a:lvl5pPr marL="1625431" indent="0">
              <a:buNone/>
              <a:defRPr sz="1753"/>
            </a:lvl5pPr>
            <a:lvl6pPr marL="2031789" indent="0">
              <a:buNone/>
              <a:defRPr sz="1753"/>
            </a:lvl6pPr>
            <a:lvl7pPr marL="2438145" indent="0">
              <a:buNone/>
              <a:defRPr sz="1753"/>
            </a:lvl7pPr>
            <a:lvl8pPr marL="2844503" indent="0">
              <a:buNone/>
              <a:defRPr sz="1753"/>
            </a:lvl8pPr>
            <a:lvl9pPr marL="3250859" indent="0">
              <a:buNone/>
              <a:defRPr sz="1753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2665" y="25763545"/>
            <a:ext cx="26335036" cy="3862386"/>
          </a:xfrm>
        </p:spPr>
        <p:txBody>
          <a:bodyPr/>
          <a:lstStyle>
            <a:lvl1pPr marL="0" indent="0">
              <a:buNone/>
              <a:defRPr sz="1220"/>
            </a:lvl1pPr>
            <a:lvl2pPr marL="406356" indent="0">
              <a:buNone/>
              <a:defRPr sz="1066"/>
            </a:lvl2pPr>
            <a:lvl3pPr marL="812714" indent="0">
              <a:buNone/>
              <a:defRPr sz="914"/>
            </a:lvl3pPr>
            <a:lvl4pPr marL="1219072" indent="0">
              <a:buNone/>
              <a:defRPr sz="763"/>
            </a:lvl4pPr>
            <a:lvl5pPr marL="1625431" indent="0">
              <a:buNone/>
              <a:defRPr sz="763"/>
            </a:lvl5pPr>
            <a:lvl6pPr marL="2031789" indent="0">
              <a:buNone/>
              <a:defRPr sz="763"/>
            </a:lvl6pPr>
            <a:lvl7pPr marL="2438145" indent="0">
              <a:buNone/>
              <a:defRPr sz="763"/>
            </a:lvl7pPr>
            <a:lvl8pPr marL="2844503" indent="0">
              <a:buNone/>
              <a:defRPr sz="763"/>
            </a:lvl8pPr>
            <a:lvl9pPr marL="3250859" indent="0">
              <a:buNone/>
              <a:defRPr sz="7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F393D9-CF7B-4330-B265-DED19A74F3D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5251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6C7718-C7BA-4E2F-9613-1867C7C3438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7206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821440" y="1317631"/>
            <a:ext cx="9875836" cy="280876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93926" y="1317631"/>
            <a:ext cx="29475113" cy="280876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2C855F-A866-40A9-8FAF-89579C6C043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8186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92873" y="1317626"/>
            <a:ext cx="39505467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12035" tIns="256017" rIns="512035" bIns="25601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92873" y="7680331"/>
            <a:ext cx="39505467" cy="21723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12035" tIns="256017" rIns="512035" bIns="25601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192873" y="29975176"/>
            <a:ext cx="10244667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512035" tIns="256017" rIns="512035" bIns="256017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5867" smtClean="0">
                <a:latin typeface="Arial" charset="0"/>
                <a:ea typeface="MS PGothic" charset="0"/>
                <a:cs typeface="MS PGothic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994473" y="29975176"/>
            <a:ext cx="13902267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512035" tIns="256017" rIns="512035" bIns="256017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5867" smtClean="0">
                <a:latin typeface="Arial" charset="0"/>
                <a:ea typeface="MS PGothic" charset="0"/>
                <a:cs typeface="MS PGothic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1453673" y="29975176"/>
            <a:ext cx="10244667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512035" tIns="256017" rIns="512035" bIns="256017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5867">
                <a:latin typeface="Arial" panose="020B0604020202020204" pitchFamily="34" charset="0"/>
              </a:defRPr>
            </a:lvl1pPr>
          </a:lstStyle>
          <a:p>
            <a:fld id="{0BDB88F5-6D3C-44D6-BE49-529E82C2D52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899866" rtl="0" eaLnBrk="0" fontAlgn="base" hangingPunct="0">
        <a:spcBef>
          <a:spcPct val="0"/>
        </a:spcBef>
        <a:spcAft>
          <a:spcPct val="0"/>
        </a:spcAft>
        <a:defRPr sz="18664">
          <a:solidFill>
            <a:schemeClr val="tx2"/>
          </a:solidFill>
          <a:latin typeface="+mj-lt"/>
          <a:ea typeface="MS PGothic" panose="020B0600070205080204" pitchFamily="34" charset="-128"/>
          <a:cs typeface="+mj-cs"/>
        </a:defRPr>
      </a:lvl1pPr>
      <a:lvl2pPr algn="ctr" defTabSz="3899866" rtl="0" eaLnBrk="0" fontAlgn="base" hangingPunct="0">
        <a:spcBef>
          <a:spcPct val="0"/>
        </a:spcBef>
        <a:spcAft>
          <a:spcPct val="0"/>
        </a:spcAft>
        <a:defRPr sz="18664">
          <a:solidFill>
            <a:schemeClr val="tx2"/>
          </a:solidFill>
          <a:latin typeface="Arial" charset="0"/>
          <a:ea typeface="MS PGothic" panose="020B0600070205080204" pitchFamily="34" charset="-128"/>
          <a:cs typeface="Arial" charset="0"/>
        </a:defRPr>
      </a:lvl2pPr>
      <a:lvl3pPr algn="ctr" defTabSz="3899866" rtl="0" eaLnBrk="0" fontAlgn="base" hangingPunct="0">
        <a:spcBef>
          <a:spcPct val="0"/>
        </a:spcBef>
        <a:spcAft>
          <a:spcPct val="0"/>
        </a:spcAft>
        <a:defRPr sz="18664">
          <a:solidFill>
            <a:schemeClr val="tx2"/>
          </a:solidFill>
          <a:latin typeface="Arial" charset="0"/>
          <a:ea typeface="MS PGothic" panose="020B0600070205080204" pitchFamily="34" charset="-128"/>
          <a:cs typeface="Arial" charset="0"/>
        </a:defRPr>
      </a:lvl3pPr>
      <a:lvl4pPr algn="ctr" defTabSz="3899866" rtl="0" eaLnBrk="0" fontAlgn="base" hangingPunct="0">
        <a:spcBef>
          <a:spcPct val="0"/>
        </a:spcBef>
        <a:spcAft>
          <a:spcPct val="0"/>
        </a:spcAft>
        <a:defRPr sz="18664">
          <a:solidFill>
            <a:schemeClr val="tx2"/>
          </a:solidFill>
          <a:latin typeface="Arial" charset="0"/>
          <a:ea typeface="MS PGothic" panose="020B0600070205080204" pitchFamily="34" charset="-128"/>
          <a:cs typeface="Arial" charset="0"/>
        </a:defRPr>
      </a:lvl4pPr>
      <a:lvl5pPr algn="ctr" defTabSz="3899866" rtl="0" eaLnBrk="0" fontAlgn="base" hangingPunct="0">
        <a:spcBef>
          <a:spcPct val="0"/>
        </a:spcBef>
        <a:spcAft>
          <a:spcPct val="0"/>
        </a:spcAft>
        <a:defRPr sz="18664">
          <a:solidFill>
            <a:schemeClr val="tx2"/>
          </a:solidFill>
          <a:latin typeface="Arial" charset="0"/>
          <a:ea typeface="MS PGothic" panose="020B0600070205080204" pitchFamily="34" charset="-128"/>
          <a:cs typeface="Arial" charset="0"/>
        </a:defRPr>
      </a:lvl5pPr>
      <a:lvl6pPr marL="406356" algn="ctr" defTabSz="3901315" rtl="0" fontAlgn="base">
        <a:spcBef>
          <a:spcPct val="0"/>
        </a:spcBef>
        <a:spcAft>
          <a:spcPct val="0"/>
        </a:spcAft>
        <a:defRPr sz="18742">
          <a:solidFill>
            <a:schemeClr val="tx2"/>
          </a:solidFill>
          <a:latin typeface="Arial" charset="0"/>
          <a:cs typeface="Arial" charset="0"/>
        </a:defRPr>
      </a:lvl6pPr>
      <a:lvl7pPr marL="812714" algn="ctr" defTabSz="3901315" rtl="0" fontAlgn="base">
        <a:spcBef>
          <a:spcPct val="0"/>
        </a:spcBef>
        <a:spcAft>
          <a:spcPct val="0"/>
        </a:spcAft>
        <a:defRPr sz="18742">
          <a:solidFill>
            <a:schemeClr val="tx2"/>
          </a:solidFill>
          <a:latin typeface="Arial" charset="0"/>
          <a:cs typeface="Arial" charset="0"/>
        </a:defRPr>
      </a:lvl7pPr>
      <a:lvl8pPr marL="1219072" algn="ctr" defTabSz="3901315" rtl="0" fontAlgn="base">
        <a:spcBef>
          <a:spcPct val="0"/>
        </a:spcBef>
        <a:spcAft>
          <a:spcPct val="0"/>
        </a:spcAft>
        <a:defRPr sz="18742">
          <a:solidFill>
            <a:schemeClr val="tx2"/>
          </a:solidFill>
          <a:latin typeface="Arial" charset="0"/>
          <a:cs typeface="Arial" charset="0"/>
        </a:defRPr>
      </a:lvl8pPr>
      <a:lvl9pPr marL="1625431" algn="ctr" defTabSz="3901315" rtl="0" fontAlgn="base">
        <a:spcBef>
          <a:spcPct val="0"/>
        </a:spcBef>
        <a:spcAft>
          <a:spcPct val="0"/>
        </a:spcAft>
        <a:defRPr sz="18742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1461745" indent="-1461745" algn="l" defTabSz="3899866" rtl="0" eaLnBrk="0" fontAlgn="base" hangingPunct="0">
        <a:spcBef>
          <a:spcPct val="20000"/>
        </a:spcBef>
        <a:spcAft>
          <a:spcPct val="0"/>
        </a:spcAft>
        <a:buChar char="•"/>
        <a:defRPr sz="13689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3166173" indent="-1216240" algn="l" defTabSz="3899866" rtl="0" eaLnBrk="0" fontAlgn="base" hangingPunct="0">
        <a:spcBef>
          <a:spcPct val="20000"/>
        </a:spcBef>
        <a:spcAft>
          <a:spcPct val="0"/>
        </a:spcAft>
        <a:buChar char="–"/>
        <a:defRPr sz="11731">
          <a:solidFill>
            <a:schemeClr val="tx1"/>
          </a:solidFill>
          <a:latin typeface="+mn-lt"/>
          <a:ea typeface="Arial" charset="0"/>
          <a:cs typeface="+mn-cs"/>
        </a:defRPr>
      </a:lvl2pPr>
      <a:lvl3pPr marL="4873424" indent="-973557" algn="l" defTabSz="3899866" rtl="0" eaLnBrk="0" fontAlgn="base" hangingPunct="0">
        <a:spcBef>
          <a:spcPct val="20000"/>
        </a:spcBef>
        <a:spcAft>
          <a:spcPct val="0"/>
        </a:spcAft>
        <a:buChar char="•"/>
        <a:defRPr sz="10131">
          <a:solidFill>
            <a:schemeClr val="tx1"/>
          </a:solidFill>
          <a:latin typeface="+mn-lt"/>
          <a:ea typeface="Arial" charset="0"/>
          <a:cs typeface="+mn-cs"/>
        </a:defRPr>
      </a:lvl3pPr>
      <a:lvl4pPr marL="6826179" indent="-973557" algn="l" defTabSz="3899866" rtl="0" eaLnBrk="0" fontAlgn="base" hangingPunct="0">
        <a:spcBef>
          <a:spcPct val="20000"/>
        </a:spcBef>
        <a:spcAft>
          <a:spcPct val="0"/>
        </a:spcAft>
        <a:buChar char="–"/>
        <a:defRPr sz="8533">
          <a:solidFill>
            <a:schemeClr val="tx1"/>
          </a:solidFill>
          <a:latin typeface="+mn-lt"/>
          <a:ea typeface="Arial" charset="0"/>
          <a:cs typeface="+mn-cs"/>
        </a:defRPr>
      </a:lvl4pPr>
      <a:lvl5pPr marL="8776112" indent="-973557" algn="l" defTabSz="3899866" rtl="0" eaLnBrk="0" fontAlgn="base" hangingPunct="0">
        <a:spcBef>
          <a:spcPct val="20000"/>
        </a:spcBef>
        <a:spcAft>
          <a:spcPct val="0"/>
        </a:spcAft>
        <a:buChar char="»"/>
        <a:defRPr sz="8533">
          <a:solidFill>
            <a:schemeClr val="tx1"/>
          </a:solidFill>
          <a:latin typeface="+mn-lt"/>
          <a:ea typeface="Arial" charset="0"/>
          <a:cs typeface="+mn-cs"/>
        </a:defRPr>
      </a:lvl5pPr>
      <a:lvl6pPr marL="9183963" indent="-974977" algn="l" defTabSz="3901315" rtl="0" fontAlgn="base">
        <a:spcBef>
          <a:spcPct val="20000"/>
        </a:spcBef>
        <a:spcAft>
          <a:spcPct val="0"/>
        </a:spcAft>
        <a:buChar char="»"/>
        <a:defRPr sz="8533">
          <a:solidFill>
            <a:schemeClr val="tx1"/>
          </a:solidFill>
          <a:latin typeface="+mn-lt"/>
          <a:cs typeface="+mn-cs"/>
        </a:defRPr>
      </a:lvl6pPr>
      <a:lvl7pPr marL="9590323" indent="-974977" algn="l" defTabSz="3901315" rtl="0" fontAlgn="base">
        <a:spcBef>
          <a:spcPct val="20000"/>
        </a:spcBef>
        <a:spcAft>
          <a:spcPct val="0"/>
        </a:spcAft>
        <a:buChar char="»"/>
        <a:defRPr sz="8533">
          <a:solidFill>
            <a:schemeClr val="tx1"/>
          </a:solidFill>
          <a:latin typeface="+mn-lt"/>
          <a:cs typeface="+mn-cs"/>
        </a:defRPr>
      </a:lvl7pPr>
      <a:lvl8pPr marL="9996680" indent="-974977" algn="l" defTabSz="3901315" rtl="0" fontAlgn="base">
        <a:spcBef>
          <a:spcPct val="20000"/>
        </a:spcBef>
        <a:spcAft>
          <a:spcPct val="0"/>
        </a:spcAft>
        <a:buChar char="»"/>
        <a:defRPr sz="8533">
          <a:solidFill>
            <a:schemeClr val="tx1"/>
          </a:solidFill>
          <a:latin typeface="+mn-lt"/>
          <a:cs typeface="+mn-cs"/>
        </a:defRPr>
      </a:lvl8pPr>
      <a:lvl9pPr marL="10403038" indent="-974977" algn="l" defTabSz="3901315" rtl="0" fontAlgn="base">
        <a:spcBef>
          <a:spcPct val="20000"/>
        </a:spcBef>
        <a:spcAft>
          <a:spcPct val="0"/>
        </a:spcAft>
        <a:buChar char="»"/>
        <a:defRPr sz="8533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81271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06356" algn="l" defTabSz="81271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12714" algn="l" defTabSz="81271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19072" algn="l" defTabSz="81271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25431" algn="l" defTabSz="81271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31789" algn="l" defTabSz="81271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38145" algn="l" defTabSz="81271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44503" algn="l" defTabSz="81271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50859" algn="l" defTabSz="81271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svg"/><Relationship Id="rId29" Type="http://schemas.openxmlformats.org/officeDocument/2006/relationships/image" Target="../media/image2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svg"/><Relationship Id="rId27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BD86F45B-B6EA-D11B-FE87-C7FDF14080C8}"/>
              </a:ext>
            </a:extLst>
          </p:cNvPr>
          <p:cNvGrpSpPr/>
          <p:nvPr/>
        </p:nvGrpSpPr>
        <p:grpSpPr>
          <a:xfrm>
            <a:off x="12078302" y="28890985"/>
            <a:ext cx="2276038" cy="1215276"/>
            <a:chOff x="11083249" y="26380930"/>
            <a:chExt cx="3543576" cy="171682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53421B0-7681-A37B-CA3F-986E07C1DB77}"/>
                </a:ext>
              </a:extLst>
            </p:cNvPr>
            <p:cNvSpPr/>
            <p:nvPr/>
          </p:nvSpPr>
          <p:spPr bwMode="auto">
            <a:xfrm>
              <a:off x="11083249" y="26380930"/>
              <a:ext cx="3543576" cy="1716829"/>
            </a:xfrm>
            <a:prstGeom prst="rect">
              <a:avLst/>
            </a:prstGeom>
            <a:solidFill>
              <a:srgbClr val="FAF86D">
                <a:alpha val="82294"/>
              </a:srgbClr>
            </a:solidFill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3894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F94C34F-C114-09E7-7592-2C68A047774A}"/>
                </a:ext>
              </a:extLst>
            </p:cNvPr>
            <p:cNvSpPr txBox="1"/>
            <p:nvPr/>
          </p:nvSpPr>
          <p:spPr>
            <a:xfrm>
              <a:off x="11186208" y="26454514"/>
              <a:ext cx="3386365" cy="47574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2000" b="1" dirty="0">
                  <a:latin typeface="Helvetica"/>
                  <a:ea typeface="MS PGothic"/>
                </a:rPr>
                <a:t>Scan the QR code to see the</a:t>
              </a:r>
              <a:endParaRPr lang="en-US" sz="2000" b="1" dirty="0"/>
            </a:p>
            <a:p>
              <a:pPr algn="ctr"/>
              <a:r>
                <a:rPr lang="en-US" sz="2000" b="1" dirty="0">
                  <a:latin typeface="Helvetica"/>
                  <a:ea typeface="MS PGothic"/>
                </a:rPr>
                <a:t>Pre-registration!</a:t>
              </a:r>
              <a:endParaRPr lang="en-US" sz="2000" b="1" dirty="0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E5B61256-0745-91A9-AD49-FA138651C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9403" y="25932577"/>
            <a:ext cx="2340933" cy="2333025"/>
          </a:xfrm>
          <a:prstGeom prst="rect">
            <a:avLst/>
          </a:prstGeom>
        </p:spPr>
      </p:pic>
      <p:sp>
        <p:nvSpPr>
          <p:cNvPr id="15388" name="TextBox 2"/>
          <p:cNvSpPr txBox="1">
            <a:spLocks noChangeArrowheads="1"/>
          </p:cNvSpPr>
          <p:nvPr/>
        </p:nvSpPr>
        <p:spPr bwMode="auto">
          <a:xfrm>
            <a:off x="4842671" y="1755462"/>
            <a:ext cx="33932768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sz="4000" i="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Abraham Dachs</a:t>
            </a:r>
            <a:r>
              <a:rPr lang="en-US" sz="4000" i="0" baseline="3000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1</a:t>
            </a:r>
            <a:r>
              <a:rPr lang="en-US" sz="4000" i="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, Cooper J. Sharp</a:t>
            </a:r>
            <a:r>
              <a:rPr lang="en-US" sz="4000" i="0" baseline="3000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1</a:t>
            </a:r>
            <a:r>
              <a:rPr lang="en-US" sz="4000" i="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, Enes Yanilmaz</a:t>
            </a:r>
            <a:r>
              <a:rPr lang="en-US" sz="4000" i="0" baseline="3000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1</a:t>
            </a:r>
            <a:r>
              <a:rPr lang="en-US" sz="4000" i="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, James B. </a:t>
            </a:r>
            <a:r>
              <a:rPr lang="en-US" sz="4000" i="0" dirty="0" err="1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Wyngaarden</a:t>
            </a:r>
            <a:r>
              <a:rPr lang="en-US" sz="4000" i="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 III</a:t>
            </a:r>
            <a:r>
              <a:rPr lang="en-US" sz="4000" i="0" baseline="3000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1</a:t>
            </a:r>
            <a:r>
              <a:rPr lang="en-US" sz="4000" i="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, Ori Zaff</a:t>
            </a:r>
            <a:r>
              <a:rPr lang="en-US" sz="4000" i="0" baseline="3000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2</a:t>
            </a:r>
            <a:r>
              <a:rPr lang="en-US" sz="4000" i="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, Tia Tropea</a:t>
            </a:r>
            <a:r>
              <a:rPr lang="en-US" sz="4000" i="0" baseline="3000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1</a:t>
            </a:r>
            <a:r>
              <a:rPr lang="en-US" sz="4000" i="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, Daniel Sazhin</a:t>
            </a:r>
            <a:r>
              <a:rPr lang="en-US" sz="4000" i="0" baseline="3000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1</a:t>
            </a:r>
            <a:r>
              <a:rPr lang="en-US" sz="4000" i="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, Rita Ludwig</a:t>
            </a:r>
            <a:r>
              <a:rPr lang="en-US" sz="4000" i="0" baseline="3000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2</a:t>
            </a:r>
            <a:r>
              <a:rPr lang="en-US" sz="4000" i="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, Tania Giovannetti</a:t>
            </a:r>
            <a:r>
              <a:rPr lang="en-US" sz="4000" i="0" baseline="3000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1</a:t>
            </a:r>
            <a:r>
              <a:rPr lang="en-US" sz="4000" i="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, Dominic S. Fareri</a:t>
            </a:r>
            <a:r>
              <a:rPr lang="en-US" sz="4000" baseline="30000" dirty="0">
                <a:solidFill>
                  <a:srgbClr val="000000"/>
                </a:solidFill>
                <a:latin typeface="Trebuchet MS" panose="020B0703020202090204" pitchFamily="34" charset="0"/>
              </a:rPr>
              <a:t>3</a:t>
            </a:r>
            <a:r>
              <a:rPr lang="en-US" sz="4000" i="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, David V. Smith</a:t>
            </a:r>
            <a:r>
              <a:rPr lang="en-US" sz="4000" i="0" baseline="3000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1</a:t>
            </a:r>
            <a:r>
              <a:rPr lang="en-US" sz="4000" i="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 </a:t>
            </a:r>
            <a:br>
              <a:rPr lang="en-US" sz="4000" dirty="0">
                <a:latin typeface="Trebuchet MS" panose="020B0703020202090204" pitchFamily="34" charset="0"/>
                <a:cs typeface="Helvetica" panose="020B0604020202020204" pitchFamily="34" charset="0"/>
              </a:rPr>
            </a:br>
            <a:endParaRPr lang="en-US" altLang="en-US" sz="4000" dirty="0">
              <a:latin typeface="Trebuchet MS" panose="020B0703020202090204" pitchFamily="34" charset="0"/>
              <a:cs typeface="Helvetica" panose="020B0604020202020204" pitchFamily="34" charset="0"/>
            </a:endParaRPr>
          </a:p>
        </p:txBody>
      </p:sp>
      <p:sp>
        <p:nvSpPr>
          <p:cNvPr id="15371" name="TextBox 15370"/>
          <p:cNvSpPr txBox="1"/>
          <p:nvPr/>
        </p:nvSpPr>
        <p:spPr>
          <a:xfrm>
            <a:off x="1612263" y="216407"/>
            <a:ext cx="40393584" cy="14688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9000" b="1" i="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Examining Age-Related Differences in Neural Responses to Trust</a:t>
            </a:r>
            <a:endParaRPr lang="en-US" sz="9000" dirty="0">
              <a:effectLst/>
              <a:latin typeface="Trebuchet MS" panose="020B0703020202090204" pitchFamily="34" charset="0"/>
              <a:ea typeface="Calibri" panose="020F0502020204030204" pitchFamily="34" charset="0"/>
              <a:cs typeface="Helvetica"/>
            </a:endParaRPr>
          </a:p>
        </p:txBody>
      </p:sp>
      <p:sp>
        <p:nvSpPr>
          <p:cNvPr id="15367" name="Rectangle 162"/>
          <p:cNvSpPr>
            <a:spLocks noChangeArrowheads="1"/>
          </p:cNvSpPr>
          <p:nvPr/>
        </p:nvSpPr>
        <p:spPr bwMode="auto">
          <a:xfrm>
            <a:off x="15350316" y="4238464"/>
            <a:ext cx="14842502" cy="17487949"/>
          </a:xfrm>
          <a:prstGeom prst="rect">
            <a:avLst/>
          </a:prstGeom>
          <a:noFill/>
          <a:ln w="7620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1274" tIns="40638" rIns="81274" bIns="40638" anchor="ctr"/>
          <a:lstStyle>
            <a:lvl1pPr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1245">
              <a:latin typeface="Trebuchet MS" panose="020B0603020202020204" pitchFamily="34" charset="0"/>
            </a:endParaRPr>
          </a:p>
        </p:txBody>
      </p:sp>
      <p:sp>
        <p:nvSpPr>
          <p:cNvPr id="68" name="Rectangle 162">
            <a:extLst>
              <a:ext uri="{FF2B5EF4-FFF2-40B4-BE49-F238E27FC236}">
                <a16:creationId xmlns:a16="http://schemas.microsoft.com/office/drawing/2014/main" id="{CA8DA663-8989-0040-A19E-2D41018BB0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43905" y="22148282"/>
            <a:ext cx="14803333" cy="10536225"/>
          </a:xfrm>
          <a:prstGeom prst="rect">
            <a:avLst/>
          </a:prstGeom>
          <a:noFill/>
          <a:ln w="7620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1274" tIns="40638" rIns="81274" bIns="40638" anchor="ctr"/>
          <a:lstStyle>
            <a:lvl1pPr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1245">
              <a:latin typeface="Trebuchet MS" panose="020B0603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CFFF830-B4D0-45F1-9D03-A4780549AB6A}"/>
              </a:ext>
            </a:extLst>
          </p:cNvPr>
          <p:cNvSpPr txBox="1"/>
          <p:nvPr/>
        </p:nvSpPr>
        <p:spPr>
          <a:xfrm>
            <a:off x="15511210" y="30206766"/>
            <a:ext cx="14212155" cy="206210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altLang="en-US" sz="3200" dirty="0">
                <a:latin typeface="Helvetica"/>
                <a:ea typeface="MS PGothic"/>
              </a:rPr>
              <a:t>We found activation in the ventral striatum (VS) when participants were presented with a reciprocate outcome as opposed to a defect outcome, however, there was no significant association with age for any condition (Friend &gt; Stranger and Friend &gt; Computer).  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0D1788F-40E9-4B4B-8F80-BF8EDB08248D}"/>
              </a:ext>
            </a:extLst>
          </p:cNvPr>
          <p:cNvSpPr txBox="1"/>
          <p:nvPr/>
        </p:nvSpPr>
        <p:spPr>
          <a:xfrm>
            <a:off x="10972800" y="3193375"/>
            <a:ext cx="2194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0" i="0" u="none" strike="noStrike" dirty="0">
                <a:solidFill>
                  <a:srgbClr val="000000"/>
                </a:solidFill>
                <a:effectLst/>
                <a:cs typeface="Helvetica" panose="020B0604020202020204" pitchFamily="34" charset="0"/>
              </a:rPr>
              <a:t>1. Temple University, Philadelphia, PA; 2. University of Pennsylvania, Philadelphia, PA; 3. Adelphi University, Garden City, NY</a:t>
            </a:r>
            <a:endParaRPr lang="en-US" sz="2800" dirty="0">
              <a:cs typeface="Helvetica" panose="020B0604020202020204" pitchFamily="34" charset="0"/>
            </a:endParaRPr>
          </a:p>
        </p:txBody>
      </p:sp>
      <p:grpSp>
        <p:nvGrpSpPr>
          <p:cNvPr id="15508" name="Group 15507">
            <a:extLst>
              <a:ext uri="{FF2B5EF4-FFF2-40B4-BE49-F238E27FC236}">
                <a16:creationId xmlns:a16="http://schemas.microsoft.com/office/drawing/2014/main" id="{ACE08C75-5E52-BA85-3BBA-E0BBC55E5D24}"/>
              </a:ext>
            </a:extLst>
          </p:cNvPr>
          <p:cNvGrpSpPr/>
          <p:nvPr/>
        </p:nvGrpSpPr>
        <p:grpSpPr>
          <a:xfrm>
            <a:off x="15576764" y="23993601"/>
            <a:ext cx="5429343" cy="4910419"/>
            <a:chOff x="14636639" y="15406812"/>
            <a:chExt cx="7151031" cy="6468880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428FE8E4-EF11-44C2-C242-0D3749E530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705594" y="15406812"/>
              <a:ext cx="6082076" cy="6071098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37958DE-5E24-D58C-4A7D-3AB8A936FE13}"/>
                </a:ext>
              </a:extLst>
            </p:cNvPr>
            <p:cNvSpPr txBox="1"/>
            <p:nvPr/>
          </p:nvSpPr>
          <p:spPr>
            <a:xfrm>
              <a:off x="15228734" y="21105322"/>
              <a:ext cx="1193324" cy="7703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dirty="0">
                  <a:latin typeface="Helvetica"/>
                  <a:ea typeface="MS PGothic"/>
                </a:rPr>
                <a:t>VS</a:t>
              </a:r>
              <a:endParaRPr lang="en-US" sz="3200" dirty="0">
                <a:latin typeface="Helvetica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99AB7A3-EC66-2E69-D984-AA56725B49BC}"/>
                </a:ext>
              </a:extLst>
            </p:cNvPr>
            <p:cNvSpPr txBox="1"/>
            <p:nvPr/>
          </p:nvSpPr>
          <p:spPr>
            <a:xfrm>
              <a:off x="14636639" y="15690148"/>
              <a:ext cx="2222101" cy="1338012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algn="ctr"/>
              <a:r>
                <a:rPr lang="en-US" sz="3200" dirty="0">
                  <a:latin typeface="Helvetica"/>
                  <a:ea typeface="MS PGothic"/>
                </a:rPr>
                <a:t>Y= 9</a:t>
              </a:r>
            </a:p>
            <a:p>
              <a:pPr algn="ctr"/>
              <a:endParaRPr lang="en-US" sz="2800" dirty="0">
                <a:latin typeface="Helvetica"/>
              </a:endParaRPr>
            </a:p>
          </p:txBody>
        </p:sp>
      </p:grpSp>
      <p:sp>
        <p:nvSpPr>
          <p:cNvPr id="45" name="Rectangle 162">
            <a:extLst>
              <a:ext uri="{FF2B5EF4-FFF2-40B4-BE49-F238E27FC236}">
                <a16:creationId xmlns:a16="http://schemas.microsoft.com/office/drawing/2014/main" id="{FA585F15-03D7-754B-AA26-E340A32F9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53599" y="4238464"/>
            <a:ext cx="12957755" cy="19868614"/>
          </a:xfrm>
          <a:prstGeom prst="rect">
            <a:avLst/>
          </a:prstGeom>
          <a:noFill/>
          <a:ln w="7620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1274" tIns="40638" rIns="81274" bIns="40638" anchor="ctr"/>
          <a:lstStyle>
            <a:lvl1pPr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1245">
              <a:latin typeface="Trebuchet MS" panose="020B0603020202020204" pitchFamily="34" charset="0"/>
            </a:endParaRPr>
          </a:p>
        </p:txBody>
      </p:sp>
      <p:sp>
        <p:nvSpPr>
          <p:cNvPr id="15400" name="Rectangle 54"/>
          <p:cNvSpPr>
            <a:spLocks noChangeArrowheads="1"/>
          </p:cNvSpPr>
          <p:nvPr/>
        </p:nvSpPr>
        <p:spPr bwMode="auto">
          <a:xfrm>
            <a:off x="30676645" y="24531321"/>
            <a:ext cx="12928282" cy="8153186"/>
          </a:xfrm>
          <a:prstGeom prst="rect">
            <a:avLst/>
          </a:prstGeom>
          <a:noFill/>
          <a:ln w="7620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1274" tIns="40638" rIns="81274" bIns="40638" anchor="ctr"/>
          <a:lstStyle>
            <a:lvl1pPr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1245">
              <a:latin typeface="Trebuchet MS" panose="020B0603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7FB003-669C-6748-AC0B-0C13B0734BA6}"/>
              </a:ext>
            </a:extLst>
          </p:cNvPr>
          <p:cNvSpPr/>
          <p:nvPr/>
        </p:nvSpPr>
        <p:spPr>
          <a:xfrm>
            <a:off x="30892503" y="25333818"/>
            <a:ext cx="12496564" cy="645304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3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4000" dirty="0">
                <a:latin typeface="Helvetica"/>
                <a:ea typeface="MS PGothic"/>
                <a:cs typeface="Helvetica"/>
              </a:rPr>
              <a:t> Our preliminary results indicate that </a:t>
            </a:r>
            <a:r>
              <a:rPr lang="en-US" sz="4000" b="1" dirty="0">
                <a:latin typeface="Helvetica"/>
                <a:ea typeface="MS PGothic"/>
                <a:cs typeface="Helvetica"/>
              </a:rPr>
              <a:t>reciprocation elicited activation in the ventral striatum</a:t>
            </a:r>
            <a:r>
              <a:rPr lang="en-US" sz="4000" dirty="0">
                <a:latin typeface="Helvetica"/>
                <a:ea typeface="MS PGothic"/>
                <a:cs typeface="Helvetica"/>
              </a:rPr>
              <a:t>.</a:t>
            </a:r>
          </a:p>
          <a:p>
            <a:pPr>
              <a:spcBef>
                <a:spcPts val="360"/>
              </a:spcBef>
              <a:spcAft>
                <a:spcPts val="0"/>
              </a:spcAft>
            </a:pPr>
            <a:endParaRPr lang="en-US" sz="4000" dirty="0">
              <a:latin typeface="Helvetica"/>
              <a:ea typeface="MS PGothic"/>
              <a:cs typeface="Helvetica"/>
            </a:endParaRPr>
          </a:p>
          <a:p>
            <a:pPr>
              <a:spcBef>
                <a:spcPts val="3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4000" dirty="0">
                <a:latin typeface="Helvetica"/>
                <a:ea typeface="MS PGothic"/>
                <a:cs typeface="Helvetica"/>
              </a:rPr>
              <a:t> Additionally, we find that activation of the </a:t>
            </a:r>
            <a:r>
              <a:rPr lang="en-US" sz="4000" b="1" dirty="0" err="1">
                <a:latin typeface="Helvetica"/>
                <a:ea typeface="MS PGothic"/>
                <a:cs typeface="Helvetica"/>
              </a:rPr>
              <a:t>dlPFC</a:t>
            </a:r>
            <a:r>
              <a:rPr lang="en-US" sz="4000" b="1" dirty="0">
                <a:latin typeface="Helvetica"/>
                <a:ea typeface="MS PGothic"/>
                <a:cs typeface="Helvetica"/>
              </a:rPr>
              <a:t> increased, </a:t>
            </a:r>
            <a:r>
              <a:rPr lang="en-US" sz="4000" dirty="0">
                <a:latin typeface="Helvetica"/>
                <a:ea typeface="MS PGothic"/>
                <a:cs typeface="Helvetica"/>
              </a:rPr>
              <a:t>and </a:t>
            </a:r>
            <a:r>
              <a:rPr lang="en-US" sz="4000" b="1" dirty="0" err="1">
                <a:latin typeface="Helvetica"/>
                <a:ea typeface="MS PGothic"/>
                <a:cs typeface="Helvetica"/>
              </a:rPr>
              <a:t>mPFC</a:t>
            </a:r>
            <a:r>
              <a:rPr lang="en-US" sz="4000" dirty="0">
                <a:latin typeface="Helvetica"/>
                <a:ea typeface="MS PGothic"/>
                <a:cs typeface="Helvetica"/>
              </a:rPr>
              <a:t> </a:t>
            </a:r>
            <a:r>
              <a:rPr lang="en-US" sz="4000" b="1" dirty="0">
                <a:latin typeface="Helvetica"/>
                <a:ea typeface="MS PGothic"/>
                <a:cs typeface="Helvetica"/>
              </a:rPr>
              <a:t>decreased,</a:t>
            </a:r>
            <a:r>
              <a:rPr lang="en-US" sz="4000" dirty="0">
                <a:latin typeface="Helvetica"/>
                <a:ea typeface="MS PGothic"/>
                <a:cs typeface="Helvetica"/>
              </a:rPr>
              <a:t> during the processing of social outcomes </a:t>
            </a:r>
            <a:r>
              <a:rPr lang="en-US" sz="4000" b="1" dirty="0">
                <a:latin typeface="Helvetica"/>
                <a:ea typeface="MS PGothic"/>
                <a:cs typeface="Helvetica"/>
              </a:rPr>
              <a:t>as a function of age</a:t>
            </a:r>
            <a:r>
              <a:rPr lang="en-US" sz="4000" dirty="0">
                <a:latin typeface="Helvetica"/>
                <a:ea typeface="MS PGothic"/>
                <a:cs typeface="Helvetica"/>
              </a:rPr>
              <a:t>. </a:t>
            </a:r>
          </a:p>
          <a:p>
            <a:pPr>
              <a:spcBef>
                <a:spcPts val="360"/>
              </a:spcBef>
              <a:spcAft>
                <a:spcPts val="0"/>
              </a:spcAft>
            </a:pPr>
            <a:endParaRPr lang="en-US" sz="4000" b="1" dirty="0">
              <a:latin typeface="Helvetica"/>
              <a:ea typeface="MS PGothic"/>
              <a:cs typeface="Helvetica"/>
            </a:endParaRPr>
          </a:p>
          <a:p>
            <a:pPr>
              <a:spcBef>
                <a:spcPts val="3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4000" b="1" dirty="0">
                <a:latin typeface="Helvetica"/>
                <a:ea typeface="MS PGothic"/>
                <a:cs typeface="Helvetica"/>
              </a:rPr>
              <a:t> </a:t>
            </a:r>
            <a:r>
              <a:rPr lang="en-US" sz="4000" dirty="0">
                <a:latin typeface="Helvetica"/>
                <a:ea typeface="MS PGothic"/>
                <a:cs typeface="Helvetica"/>
              </a:rPr>
              <a:t>Future analyses will examine how neural and behavioral responses to trust are associated with risk for financial exploitation. </a:t>
            </a:r>
            <a:endParaRPr lang="en-US" sz="4000" b="1" dirty="0">
              <a:latin typeface="Helvetica"/>
              <a:ea typeface="MS PGothic"/>
              <a:cs typeface="Helvetica"/>
            </a:endParaRPr>
          </a:p>
        </p:txBody>
      </p:sp>
      <p:sp>
        <p:nvSpPr>
          <p:cNvPr id="15362" name="TextBox 189"/>
          <p:cNvSpPr txBox="1">
            <a:spLocks noChangeArrowheads="1"/>
          </p:cNvSpPr>
          <p:nvPr/>
        </p:nvSpPr>
        <p:spPr bwMode="auto">
          <a:xfrm>
            <a:off x="283673" y="4727486"/>
            <a:ext cx="14526988" cy="6247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4000" dirty="0">
                <a:latin typeface="Helvetica"/>
                <a:ea typeface="MS PGothic"/>
                <a:cs typeface="Helvetica"/>
              </a:rPr>
              <a:t> </a:t>
            </a:r>
            <a:r>
              <a:rPr lang="en-US" sz="4000" b="0" i="0" dirty="0">
                <a:solidFill>
                  <a:srgbClr val="000000"/>
                </a:solidFill>
                <a:effectLst/>
                <a:latin typeface="Helvetica" pitchFamily="2" charset="0"/>
              </a:rPr>
              <a:t>Social relationships influence our behaviors and modulate our neural responses to reward (</a:t>
            </a:r>
            <a:r>
              <a:rPr lang="en-US" sz="4000" b="0" i="0" dirty="0" err="1">
                <a:solidFill>
                  <a:srgbClr val="000000"/>
                </a:solidFill>
                <a:effectLst/>
                <a:latin typeface="Helvetica" pitchFamily="2" charset="0"/>
              </a:rPr>
              <a:t>Fareri</a:t>
            </a:r>
            <a:r>
              <a:rPr lang="en-US" sz="4000" b="0" i="0" dirty="0">
                <a:solidFill>
                  <a:srgbClr val="000000"/>
                </a:solidFill>
                <a:effectLst/>
                <a:latin typeface="Helvetica" pitchFamily="2" charset="0"/>
              </a:rPr>
              <a:t> et al., 2015).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4000" dirty="0">
              <a:latin typeface="Helvetica" pitchFamily="2" charset="0"/>
              <a:ea typeface="MS PGothic"/>
              <a:cs typeface="Helvetica"/>
            </a:endParaRPr>
          </a:p>
          <a:p>
            <a:pPr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4000" dirty="0">
                <a:latin typeface="Helvetica"/>
                <a:ea typeface="MS PGothic"/>
                <a:cs typeface="Helvetica"/>
              </a:rPr>
              <a:t> </a:t>
            </a:r>
            <a:r>
              <a:rPr lang="en-US" sz="4000" dirty="0">
                <a:solidFill>
                  <a:srgbClr val="000000"/>
                </a:solidFill>
                <a:latin typeface="Helvetica" pitchFamily="2" charset="0"/>
                <a:ea typeface="MS PGothic"/>
                <a:cs typeface="Helvetica"/>
              </a:rPr>
              <a:t>Th</a:t>
            </a:r>
            <a:r>
              <a:rPr lang="en-US" sz="4000" b="0" i="0" dirty="0">
                <a:solidFill>
                  <a:srgbClr val="000000"/>
                </a:solidFill>
                <a:effectLst/>
                <a:latin typeface="Helvetica" pitchFamily="2" charset="0"/>
              </a:rPr>
              <a:t>e effect of relationships on behavior and reward activation change as we age (</a:t>
            </a:r>
            <a:r>
              <a:rPr lang="en-US" sz="4000" b="0" i="0" dirty="0" err="1">
                <a:solidFill>
                  <a:srgbClr val="000000"/>
                </a:solidFill>
                <a:effectLst/>
                <a:latin typeface="Helvetica" pitchFamily="2" charset="0"/>
              </a:rPr>
              <a:t>Fareri</a:t>
            </a:r>
            <a:r>
              <a:rPr lang="en-US" sz="4000" b="0" i="0" dirty="0">
                <a:solidFill>
                  <a:srgbClr val="000000"/>
                </a:solidFill>
                <a:effectLst/>
                <a:latin typeface="Helvetica" pitchFamily="2" charset="0"/>
              </a:rPr>
              <a:t> et al., 2022; Cassidy et al., 2020).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4000" b="0" i="0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4000" b="0" dirty="0">
                <a:solidFill>
                  <a:srgbClr val="000000"/>
                </a:solidFill>
                <a:effectLst/>
                <a:latin typeface="Helvetica" pitchFamily="2" charset="0"/>
              </a:rPr>
              <a:t> It remains unclear whether age-related differences in responses to trust are associated with maladaptive outcomes such as financial exploitation.</a:t>
            </a:r>
            <a:endParaRPr lang="en-US" sz="4000" dirty="0">
              <a:latin typeface="Helvetica" pitchFamily="2" charset="0"/>
              <a:ea typeface="MS PGothic"/>
              <a:cs typeface="Helvetica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4000" dirty="0">
              <a:latin typeface="Helvetica" pitchFamily="2" charset="0"/>
              <a:ea typeface="MS PGothic"/>
              <a:cs typeface="Helvetica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28EF0BF-392F-46C6-BF23-BF99B2CEA917}"/>
              </a:ext>
            </a:extLst>
          </p:cNvPr>
          <p:cNvSpPr txBox="1"/>
          <p:nvPr/>
        </p:nvSpPr>
        <p:spPr>
          <a:xfrm>
            <a:off x="209617" y="10619784"/>
            <a:ext cx="14639262" cy="203132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spcBef>
                <a:spcPts val="360"/>
              </a:spcBef>
              <a:spcAft>
                <a:spcPts val="0"/>
              </a:spcAft>
            </a:pPr>
            <a:r>
              <a:rPr lang="en-US" sz="4200" b="1" dirty="0">
                <a:latin typeface="Helvetica"/>
                <a:ea typeface="MS PGothic"/>
                <a:cs typeface="Helvetica"/>
              </a:rPr>
              <a:t>We</a:t>
            </a:r>
            <a:r>
              <a:rPr lang="en-US" sz="4200" b="1" i="0" u="none" strike="noStrike" dirty="0">
                <a:effectLst/>
                <a:latin typeface="Helvetica"/>
                <a:ea typeface="MS PGothic"/>
                <a:cs typeface="Helvetica"/>
              </a:rPr>
              <a:t> investigated </a:t>
            </a:r>
            <a:r>
              <a:rPr lang="en-US" sz="4200" b="1" dirty="0">
                <a:latin typeface="Helvetica"/>
                <a:ea typeface="MS PGothic"/>
                <a:cs typeface="Helvetica"/>
              </a:rPr>
              <a:t>whether social trust decisions change as we age, and if those changes could be related to financial exploitation.</a:t>
            </a:r>
            <a:endParaRPr lang="en-US" sz="4200" b="1" dirty="0">
              <a:cs typeface="Helvetica"/>
            </a:endParaRPr>
          </a:p>
        </p:txBody>
      </p:sp>
      <p:sp>
        <p:nvSpPr>
          <p:cNvPr id="15365" name="Rectangle 162"/>
          <p:cNvSpPr>
            <a:spLocks noChangeArrowheads="1"/>
          </p:cNvSpPr>
          <p:nvPr/>
        </p:nvSpPr>
        <p:spPr bwMode="auto">
          <a:xfrm>
            <a:off x="162956" y="13516081"/>
            <a:ext cx="14720167" cy="17284110"/>
          </a:xfrm>
          <a:prstGeom prst="rect">
            <a:avLst/>
          </a:prstGeom>
          <a:noFill/>
          <a:ln w="7620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1274" tIns="40638" rIns="81274" bIns="40638" anchor="ctr"/>
          <a:lstStyle>
            <a:lvl1pPr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1245">
              <a:latin typeface="Trebuchet MS" panose="020B0603020202020204" pitchFamily="34" charset="0"/>
            </a:endParaRPr>
          </a:p>
        </p:txBody>
      </p:sp>
      <p:sp>
        <p:nvSpPr>
          <p:cNvPr id="15369" name="Rectangle 162"/>
          <p:cNvSpPr>
            <a:spLocks noChangeArrowheads="1"/>
          </p:cNvSpPr>
          <p:nvPr/>
        </p:nvSpPr>
        <p:spPr bwMode="auto">
          <a:xfrm>
            <a:off x="169367" y="4238464"/>
            <a:ext cx="14720168" cy="8818108"/>
          </a:xfrm>
          <a:prstGeom prst="rect">
            <a:avLst/>
          </a:prstGeom>
          <a:noFill/>
          <a:ln w="7620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1274" tIns="40638" rIns="81274" bIns="40638" anchor="ctr"/>
          <a:lstStyle>
            <a:lvl1pPr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1245" dirty="0">
              <a:latin typeface="Trebuchet MS" panose="020B0603020202020204" pitchFamily="34" charset="0"/>
            </a:endParaRPr>
          </a:p>
        </p:txBody>
      </p:sp>
      <p:sp>
        <p:nvSpPr>
          <p:cNvPr id="15522" name="Rectangle 162">
            <a:extLst>
              <a:ext uri="{FF2B5EF4-FFF2-40B4-BE49-F238E27FC236}">
                <a16:creationId xmlns:a16="http://schemas.microsoft.com/office/drawing/2014/main" id="{FE02C6A3-84E3-8711-744E-4E036833F4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846" y="31162938"/>
            <a:ext cx="14710114" cy="1521569"/>
          </a:xfrm>
          <a:prstGeom prst="rect">
            <a:avLst/>
          </a:prstGeom>
          <a:noFill/>
          <a:ln w="7620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1274" tIns="40638" rIns="81274" bIns="40638" anchor="ctr"/>
          <a:lstStyle>
            <a:lvl1pPr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1245">
              <a:latin typeface="Trebuchet MS" panose="020B0603020202020204" pitchFamily="34" charset="0"/>
            </a:endParaRPr>
          </a:p>
        </p:txBody>
      </p:sp>
      <p:sp>
        <p:nvSpPr>
          <p:cNvPr id="15523" name="TextBox 15522">
            <a:extLst>
              <a:ext uri="{FF2B5EF4-FFF2-40B4-BE49-F238E27FC236}">
                <a16:creationId xmlns:a16="http://schemas.microsoft.com/office/drawing/2014/main" id="{D58D20F7-A26B-E2DB-0B9B-4184ACFBEF53}"/>
              </a:ext>
            </a:extLst>
          </p:cNvPr>
          <p:cNvSpPr txBox="1"/>
          <p:nvPr/>
        </p:nvSpPr>
        <p:spPr>
          <a:xfrm>
            <a:off x="65312" y="31376130"/>
            <a:ext cx="148657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0" i="0" dirty="0">
                <a:effectLst/>
                <a:latin typeface="Helvetica" pitchFamily="2" charset="0"/>
              </a:rPr>
              <a:t>This study was supported by NIH grant RF1-AG67011 (David V. Smith).</a:t>
            </a:r>
            <a:br>
              <a:rPr lang="en-US" sz="3200" dirty="0">
                <a:latin typeface="Helvetica" pitchFamily="2" charset="0"/>
              </a:rPr>
            </a:br>
            <a:r>
              <a:rPr lang="en-US" sz="3200" b="0" i="0" dirty="0">
                <a:effectLst/>
                <a:latin typeface="Helvetica" pitchFamily="2" charset="0"/>
              </a:rPr>
              <a:t>Contact information: </a:t>
            </a:r>
            <a:r>
              <a:rPr lang="en-US" sz="3200" b="0" i="0" dirty="0" err="1">
                <a:effectLst/>
                <a:latin typeface="Helvetica" pitchFamily="2" charset="0"/>
              </a:rPr>
              <a:t>Avi.Dachs@temple.edu</a:t>
            </a:r>
            <a:r>
              <a:rPr lang="en-US" sz="3200" b="0" i="0" dirty="0">
                <a:effectLst/>
                <a:latin typeface="Helvetica" pitchFamily="2" charset="0"/>
              </a:rPr>
              <a:t>, </a:t>
            </a:r>
            <a:r>
              <a:rPr lang="en-US" sz="3200" b="0" i="0" dirty="0" err="1">
                <a:effectLst/>
                <a:latin typeface="Helvetica" pitchFamily="2" charset="0"/>
              </a:rPr>
              <a:t>Cooper.Sharp@temple.edu</a:t>
            </a:r>
            <a:endParaRPr lang="en-US" sz="3200" dirty="0">
              <a:latin typeface="Helvetica" pitchFamily="2" charset="0"/>
            </a:endParaRPr>
          </a:p>
        </p:txBody>
      </p:sp>
      <p:sp>
        <p:nvSpPr>
          <p:cNvPr id="15656" name="TextBox 15655">
            <a:extLst>
              <a:ext uri="{FF2B5EF4-FFF2-40B4-BE49-F238E27FC236}">
                <a16:creationId xmlns:a16="http://schemas.microsoft.com/office/drawing/2014/main" id="{0129C3E6-E266-8160-0CF6-63893649E9BB}"/>
              </a:ext>
            </a:extLst>
          </p:cNvPr>
          <p:cNvSpPr txBox="1"/>
          <p:nvPr/>
        </p:nvSpPr>
        <p:spPr>
          <a:xfrm>
            <a:off x="348830" y="25816008"/>
            <a:ext cx="11690573" cy="490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5"/>
              </a:spcAft>
            </a:pPr>
            <a:r>
              <a:rPr lang="en-US" sz="3200" dirty="0">
                <a:latin typeface="Helvetica"/>
                <a:ea typeface="Times New Roman" panose="02020603050405020304" pitchFamily="18" charset="0"/>
                <a:cs typeface="Helvetica"/>
              </a:rPr>
              <a:t>We used</a:t>
            </a:r>
            <a:r>
              <a:rPr lang="en-US" sz="3200" dirty="0">
                <a:effectLst/>
                <a:latin typeface="Helvetica" pitchFamily="2" charset="0"/>
                <a:ea typeface="Times New Roman" panose="02020603050405020304" pitchFamily="18" charset="0"/>
                <a:cs typeface="Helvetica"/>
              </a:rPr>
              <a:t> the </a:t>
            </a:r>
            <a:r>
              <a:rPr lang="en-US" sz="3200" b="0" i="0" dirty="0">
                <a:effectLst/>
                <a:latin typeface="Helvetica" pitchFamily="2" charset="0"/>
              </a:rPr>
              <a:t>Inclusion of Other in Self Scale (IOS) and </a:t>
            </a:r>
            <a:r>
              <a:rPr lang="en-US" sz="3200" dirty="0">
                <a:effectLst/>
                <a:latin typeface="Helvetica" pitchFamily="2" charset="0"/>
                <a:ea typeface="Times New Roman" panose="02020603050405020304" pitchFamily="18" charset="0"/>
                <a:cs typeface="Helvetica"/>
              </a:rPr>
              <a:t>the </a:t>
            </a:r>
            <a:r>
              <a:rPr lang="en-US" sz="3200" b="0" i="0" dirty="0">
                <a:effectLst/>
                <a:latin typeface="Helvetica" pitchFamily="2" charset="0"/>
              </a:rPr>
              <a:t>Older Adults Financial Exploitation Measure (OAFEM) to measure closeness ratings and risk for financial exploitation.</a:t>
            </a:r>
          </a:p>
          <a:p>
            <a:pPr algn="ctr">
              <a:spcAft>
                <a:spcPts val="15"/>
              </a:spcAft>
            </a:pPr>
            <a:endParaRPr lang="en-US" sz="3200" dirty="0">
              <a:latin typeface="Helvetica" pitchFamily="2" charset="0"/>
              <a:ea typeface="Times New Roman" panose="02020603050405020304" pitchFamily="18" charset="0"/>
              <a:cs typeface="Helvetica"/>
            </a:endParaRPr>
          </a:p>
          <a:p>
            <a:pPr algn="ctr">
              <a:spcAft>
                <a:spcPts val="15"/>
              </a:spcAft>
            </a:pPr>
            <a:r>
              <a:rPr lang="en-US" sz="3200" dirty="0">
                <a:latin typeface="Helvetica"/>
                <a:ea typeface="MS PGothic"/>
                <a:cs typeface="Helvetica"/>
              </a:rPr>
              <a:t>Whole brain results were </a:t>
            </a:r>
            <a:r>
              <a:rPr lang="en-US" sz="3200" dirty="0" err="1">
                <a:latin typeface="Helvetica"/>
                <a:ea typeface="MS PGothic"/>
                <a:cs typeface="Helvetica"/>
              </a:rPr>
              <a:t>thresholded</a:t>
            </a:r>
            <a:r>
              <a:rPr lang="en-US" sz="3200" dirty="0">
                <a:latin typeface="Helvetica"/>
                <a:ea typeface="MS PGothic"/>
                <a:cs typeface="Helvetica"/>
              </a:rPr>
              <a:t> at Z &gt; 3.1 and Family Wise Error corrected at p &gt; .05</a:t>
            </a:r>
          </a:p>
          <a:p>
            <a:pPr algn="ctr">
              <a:spcAft>
                <a:spcPts val="15"/>
              </a:spcAft>
            </a:pPr>
            <a:endParaRPr lang="en-US" sz="3200" dirty="0">
              <a:latin typeface="Helvetica"/>
              <a:ea typeface="MS PGothic"/>
              <a:cs typeface="Helvetica"/>
            </a:endParaRPr>
          </a:p>
          <a:p>
            <a:pPr algn="ctr">
              <a:spcAft>
                <a:spcPts val="15"/>
              </a:spcAft>
            </a:pPr>
            <a:r>
              <a:rPr lang="en-US" sz="3200" dirty="0">
                <a:effectLst/>
                <a:latin typeface="Helvetica"/>
                <a:ea typeface="MS PGothic"/>
                <a:cs typeface="Helvetica"/>
              </a:rPr>
              <a:t>fMRI data were preprocessed with </a:t>
            </a:r>
            <a:r>
              <a:rPr lang="en-US" sz="3200" dirty="0" err="1">
                <a:effectLst/>
                <a:latin typeface="Helvetica"/>
                <a:ea typeface="MS PGothic"/>
                <a:cs typeface="Helvetica"/>
              </a:rPr>
              <a:t>fMRIprep</a:t>
            </a:r>
            <a:r>
              <a:rPr lang="en-US" sz="3200" dirty="0">
                <a:effectLst/>
                <a:latin typeface="Helvetica"/>
                <a:ea typeface="MS PGothic"/>
                <a:cs typeface="Helvetica"/>
              </a:rPr>
              <a:t> and statistical analyses were performed using FSL</a:t>
            </a:r>
            <a:endParaRPr lang="en-US" sz="3200" dirty="0">
              <a:effectLst/>
              <a:latin typeface="Helvetica"/>
              <a:ea typeface="Times New Roman" panose="02020603050405020304" pitchFamily="18" charset="0"/>
              <a:cs typeface="Helvetica"/>
            </a:endParaRPr>
          </a:p>
          <a:p>
            <a:endParaRPr lang="en-US" sz="25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8C18AD7-82F0-2340-9AF5-4FA312159648}"/>
              </a:ext>
            </a:extLst>
          </p:cNvPr>
          <p:cNvGrpSpPr/>
          <p:nvPr/>
        </p:nvGrpSpPr>
        <p:grpSpPr>
          <a:xfrm>
            <a:off x="597367" y="15567382"/>
            <a:ext cx="13063327" cy="9292257"/>
            <a:chOff x="572915" y="16098706"/>
            <a:chExt cx="13946934" cy="1005675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E925EB6-326B-8343-87E7-5F037676B4C3}"/>
                </a:ext>
              </a:extLst>
            </p:cNvPr>
            <p:cNvGrpSpPr/>
            <p:nvPr/>
          </p:nvGrpSpPr>
          <p:grpSpPr>
            <a:xfrm>
              <a:off x="572915" y="16098706"/>
              <a:ext cx="13946934" cy="10056750"/>
              <a:chOff x="530502" y="15989696"/>
              <a:chExt cx="13946934" cy="10056750"/>
            </a:xfrm>
          </p:grpSpPr>
          <p:grpSp>
            <p:nvGrpSpPr>
              <p:cNvPr id="15621" name="Group 15620">
                <a:extLst>
                  <a:ext uri="{FF2B5EF4-FFF2-40B4-BE49-F238E27FC236}">
                    <a16:creationId xmlns:a16="http://schemas.microsoft.com/office/drawing/2014/main" id="{5C45E275-5A15-8C98-B9C5-16C75C23860A}"/>
                  </a:ext>
                </a:extLst>
              </p:cNvPr>
              <p:cNvGrpSpPr/>
              <p:nvPr/>
            </p:nvGrpSpPr>
            <p:grpSpPr>
              <a:xfrm>
                <a:off x="3779671" y="15989696"/>
                <a:ext cx="10697765" cy="10056750"/>
                <a:chOff x="3779671" y="16218296"/>
                <a:chExt cx="10697765" cy="10056750"/>
              </a:xfrm>
            </p:grpSpPr>
            <p:grpSp>
              <p:nvGrpSpPr>
                <p:cNvPr id="15606" name="Group 15605">
                  <a:extLst>
                    <a:ext uri="{FF2B5EF4-FFF2-40B4-BE49-F238E27FC236}">
                      <a16:creationId xmlns:a16="http://schemas.microsoft.com/office/drawing/2014/main" id="{B0CC5957-EC01-CDC2-ADAF-5A0141831C57}"/>
                    </a:ext>
                  </a:extLst>
                </p:cNvPr>
                <p:cNvGrpSpPr/>
                <p:nvPr/>
              </p:nvGrpSpPr>
              <p:grpSpPr>
                <a:xfrm>
                  <a:off x="3779671" y="16218296"/>
                  <a:ext cx="10697765" cy="10056750"/>
                  <a:chOff x="18887859" y="360968"/>
                  <a:chExt cx="6543891" cy="6151778"/>
                </a:xfrm>
              </p:grpSpPr>
              <p:pic>
                <p:nvPicPr>
                  <p:cNvPr id="15607" name="Picture 15606" descr="A green check mark on a grey background&#10;&#10;Description automatically generated">
                    <a:extLst>
                      <a:ext uri="{FF2B5EF4-FFF2-40B4-BE49-F238E27FC236}">
                        <a16:creationId xmlns:a16="http://schemas.microsoft.com/office/drawing/2014/main" id="{BFD42068-273C-19B5-B61E-D2752FACB16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5"/>
                  <a:srcRect l="14791" t="15087" r="12450" b="22936"/>
                  <a:stretch/>
                </p:blipFill>
                <p:spPr>
                  <a:xfrm>
                    <a:off x="19244972" y="4622666"/>
                    <a:ext cx="2991981" cy="1890080"/>
                  </a:xfrm>
                  <a:prstGeom prst="rect">
                    <a:avLst/>
                  </a:prstGeom>
                  <a:solidFill>
                    <a:srgbClr val="FFFFFF">
                      <a:shade val="85000"/>
                    </a:srgbClr>
                  </a:solidFill>
                  <a:ln w="88900" cap="sq">
                    <a:solidFill>
                      <a:srgbClr val="C00000"/>
                    </a:solidFill>
                    <a:miter lim="800000"/>
                  </a:ln>
                  <a:effectLst>
                    <a:outerShdw blurRad="55000" dist="18000" dir="5400000" algn="tl" rotWithShape="0">
                      <a:srgbClr val="000000">
                        <a:alpha val="40000"/>
                      </a:srgbClr>
                    </a:outerShdw>
                  </a:effectLst>
                  <a:scene3d>
                    <a:camera prst="orthographicFront"/>
                    <a:lightRig rig="twoPt" dir="t">
                      <a:rot lat="0" lon="0" rev="7200000"/>
                    </a:lightRig>
                  </a:scene3d>
                  <a:sp3d>
                    <a:bevelT w="25400" h="19050"/>
                    <a:contourClr>
                      <a:srgbClr val="FFFFFF"/>
                    </a:contourClr>
                  </a:sp3d>
                </p:spPr>
              </p:pic>
              <p:pic>
                <p:nvPicPr>
                  <p:cNvPr id="15608" name="Picture 15607" descr="A computer screen shot&#10;&#10;Description automatically generated">
                    <a:extLst>
                      <a:ext uri="{FF2B5EF4-FFF2-40B4-BE49-F238E27FC236}">
                        <a16:creationId xmlns:a16="http://schemas.microsoft.com/office/drawing/2014/main" id="{7AF89E18-68CC-9284-01FB-59B8ECC6A7F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6"/>
                  <a:srcRect l="17658" t="18357" r="18046" b="25816"/>
                  <a:stretch/>
                </p:blipFill>
                <p:spPr>
                  <a:xfrm>
                    <a:off x="22543408" y="4676154"/>
                    <a:ext cx="2888342" cy="1819031"/>
                  </a:xfrm>
                  <a:prstGeom prst="rect">
                    <a:avLst/>
                  </a:prstGeom>
                  <a:solidFill>
                    <a:srgbClr val="FFFFFF">
                      <a:shade val="85000"/>
                    </a:srgbClr>
                  </a:solidFill>
                  <a:ln w="88900" cap="sq">
                    <a:solidFill>
                      <a:srgbClr val="C00000"/>
                    </a:solidFill>
                    <a:miter lim="800000"/>
                  </a:ln>
                  <a:effectLst>
                    <a:outerShdw blurRad="55000" dist="18000" dir="5400000" algn="tl" rotWithShape="0">
                      <a:srgbClr val="000000">
                        <a:alpha val="40000"/>
                      </a:srgbClr>
                    </a:outerShdw>
                  </a:effectLst>
                  <a:scene3d>
                    <a:camera prst="orthographicFront"/>
                    <a:lightRig rig="twoPt" dir="t">
                      <a:rot lat="0" lon="0" rev="7200000"/>
                    </a:lightRig>
                  </a:scene3d>
                  <a:sp3d>
                    <a:bevelT w="25400" h="19050"/>
                    <a:contourClr>
                      <a:srgbClr val="FFFFFF"/>
                    </a:contourClr>
                  </a:sp3d>
                </p:spPr>
              </p:pic>
              <p:pic>
                <p:nvPicPr>
                  <p:cNvPr id="15609" name="Picture 15608" descr="A white cross on a gray background&#10;&#10;Description automatically generated">
                    <a:extLst>
                      <a:ext uri="{FF2B5EF4-FFF2-40B4-BE49-F238E27FC236}">
                        <a16:creationId xmlns:a16="http://schemas.microsoft.com/office/drawing/2014/main" id="{A316990F-59C7-631E-47E9-456D5590489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7"/>
                  <a:srcRect l="2620" t="7420" r="2620" b="4981"/>
                  <a:stretch/>
                </p:blipFill>
                <p:spPr>
                  <a:xfrm>
                    <a:off x="20965957" y="2971697"/>
                    <a:ext cx="2848448" cy="1890080"/>
                  </a:xfrm>
                  <a:prstGeom prst="rect">
                    <a:avLst/>
                  </a:prstGeom>
                  <a:solidFill>
                    <a:srgbClr val="FFFFFF">
                      <a:shade val="85000"/>
                    </a:srgbClr>
                  </a:solidFill>
                  <a:ln w="88900" cap="sq">
                    <a:solidFill>
                      <a:srgbClr val="C00000"/>
                    </a:solidFill>
                    <a:miter lim="800000"/>
                  </a:ln>
                  <a:effectLst>
                    <a:outerShdw blurRad="55000" dist="18000" dir="5400000" algn="tl" rotWithShape="0">
                      <a:srgbClr val="000000">
                        <a:alpha val="40000"/>
                      </a:srgbClr>
                    </a:outerShdw>
                  </a:effectLst>
                  <a:scene3d>
                    <a:camera prst="orthographicFront"/>
                    <a:lightRig rig="twoPt" dir="t">
                      <a:rot lat="0" lon="0" rev="7200000"/>
                    </a:lightRig>
                  </a:scene3d>
                  <a:sp3d>
                    <a:bevelT w="25400" h="19050"/>
                    <a:contourClr>
                      <a:srgbClr val="FFFFFF"/>
                    </a:contourClr>
                  </a:sp3d>
                </p:spPr>
              </p:pic>
              <p:pic>
                <p:nvPicPr>
                  <p:cNvPr id="15610" name="Picture 15609" descr="A grey background with white text&#10;&#10;Description automatically generated">
                    <a:extLst>
                      <a:ext uri="{FF2B5EF4-FFF2-40B4-BE49-F238E27FC236}">
                        <a16:creationId xmlns:a16="http://schemas.microsoft.com/office/drawing/2014/main" id="{E95A9EFF-122D-C651-FDF5-564B82E90BB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19926908" y="1639461"/>
                    <a:ext cx="2848448" cy="1943823"/>
                  </a:xfrm>
                  <a:prstGeom prst="rect">
                    <a:avLst/>
                  </a:prstGeom>
                  <a:solidFill>
                    <a:srgbClr val="FFFFFF">
                      <a:shade val="85000"/>
                    </a:srgbClr>
                  </a:solidFill>
                  <a:ln w="88900" cap="sq">
                    <a:solidFill>
                      <a:srgbClr val="C00000"/>
                    </a:solidFill>
                    <a:miter lim="800000"/>
                  </a:ln>
                  <a:effectLst>
                    <a:outerShdw blurRad="55000" dist="18000" dir="5400000" algn="tl" rotWithShape="0">
                      <a:srgbClr val="000000">
                        <a:alpha val="40000"/>
                      </a:srgbClr>
                    </a:outerShdw>
                  </a:effectLst>
                  <a:scene3d>
                    <a:camera prst="orthographicFront"/>
                    <a:lightRig rig="twoPt" dir="t">
                      <a:rot lat="0" lon="0" rev="7200000"/>
                    </a:lightRig>
                  </a:scene3d>
                  <a:sp3d>
                    <a:bevelT w="25400" h="19050"/>
                    <a:contourClr>
                      <a:srgbClr val="FFFFFF"/>
                    </a:contourClr>
                  </a:sp3d>
                </p:spPr>
              </p:pic>
              <p:pic>
                <p:nvPicPr>
                  <p:cNvPr id="15611" name="Picture 15610" descr="A computer and a keyboard&#10;&#10;Description automatically generated with medium confidence">
                    <a:extLst>
                      <a:ext uri="{FF2B5EF4-FFF2-40B4-BE49-F238E27FC236}">
                        <a16:creationId xmlns:a16="http://schemas.microsoft.com/office/drawing/2014/main" id="{BD10086D-C152-9AEB-CD34-13177C8F6D4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9"/>
                  <a:srcRect l="2378" t="5420" r="2378" b="9853"/>
                  <a:stretch/>
                </p:blipFill>
                <p:spPr>
                  <a:xfrm>
                    <a:off x="18887859" y="360968"/>
                    <a:ext cx="2848448" cy="1919430"/>
                  </a:xfrm>
                  <a:prstGeom prst="rect">
                    <a:avLst/>
                  </a:prstGeom>
                  <a:solidFill>
                    <a:srgbClr val="FFFFFF">
                      <a:shade val="85000"/>
                    </a:srgbClr>
                  </a:solidFill>
                  <a:ln w="88900" cap="sq">
                    <a:solidFill>
                      <a:srgbClr val="C00000"/>
                    </a:solidFill>
                    <a:miter lim="800000"/>
                  </a:ln>
                  <a:effectLst>
                    <a:outerShdw blurRad="55000" dist="18000" dir="5400000" algn="tl" rotWithShape="0">
                      <a:srgbClr val="000000">
                        <a:alpha val="40000"/>
                      </a:srgbClr>
                    </a:outerShdw>
                  </a:effectLst>
                  <a:scene3d>
                    <a:camera prst="orthographicFront"/>
                    <a:lightRig rig="twoPt" dir="t">
                      <a:rot lat="0" lon="0" rev="7200000"/>
                    </a:lightRig>
                  </a:scene3d>
                  <a:sp3d>
                    <a:bevelT w="25400" h="19050"/>
                    <a:contourClr>
                      <a:srgbClr val="FFFFFF"/>
                    </a:contourClr>
                  </a:sp3d>
                </p:spPr>
              </p:pic>
              <p:grpSp>
                <p:nvGrpSpPr>
                  <p:cNvPr id="15612" name="Group 15611">
                    <a:extLst>
                      <a:ext uri="{FF2B5EF4-FFF2-40B4-BE49-F238E27FC236}">
                        <a16:creationId xmlns:a16="http://schemas.microsoft.com/office/drawing/2014/main" id="{60B2107B-4199-FD0C-4076-CA2B2F109B20}"/>
                      </a:ext>
                    </a:extLst>
                  </p:cNvPr>
                  <p:cNvGrpSpPr/>
                  <p:nvPr/>
                </p:nvGrpSpPr>
                <p:grpSpPr>
                  <a:xfrm>
                    <a:off x="22071524" y="360968"/>
                    <a:ext cx="3360226" cy="995434"/>
                    <a:chOff x="3514264" y="206684"/>
                    <a:chExt cx="3360226" cy="995434"/>
                  </a:xfrm>
                </p:grpSpPr>
                <p:pic>
                  <p:nvPicPr>
                    <p:cNvPr id="15613" name="Picture 15612">
                      <a:extLst>
                        <a:ext uri="{FF2B5EF4-FFF2-40B4-BE49-F238E27FC236}">
                          <a16:creationId xmlns:a16="http://schemas.microsoft.com/office/drawing/2014/main" id="{8F1F804F-2F4C-1C69-0ED4-456A517A34F3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0"/>
                    <a:stretch>
                      <a:fillRect/>
                    </a:stretch>
                  </p:blipFill>
                  <p:spPr>
                    <a:xfrm>
                      <a:off x="3514264" y="206684"/>
                      <a:ext cx="1027916" cy="990673"/>
                    </a:xfrm>
                    <a:prstGeom prst="rect">
                      <a:avLst/>
                    </a:prstGeom>
                    <a:solidFill>
                      <a:srgbClr val="FFFFFF">
                        <a:shade val="85000"/>
                      </a:srgbClr>
                    </a:solidFill>
                    <a:ln w="88900" cap="sq">
                      <a:solidFill>
                        <a:srgbClr val="C00000"/>
                      </a:solidFill>
                      <a:miter lim="800000"/>
                    </a:ln>
                    <a:effectLst>
                      <a:outerShdw blurRad="55000" dist="18000" dir="5400000" algn="tl" rotWithShape="0">
                        <a:srgbClr val="000000">
                          <a:alpha val="40000"/>
                        </a:srgbClr>
                      </a:outerShdw>
                    </a:effectLst>
                    <a:scene3d>
                      <a:camera prst="orthographicFront"/>
                      <a:lightRig rig="twoPt" dir="t">
                        <a:rot lat="0" lon="0" rev="7200000"/>
                      </a:lightRig>
                    </a:scene3d>
                    <a:sp3d>
                      <a:bevelT w="25400" h="19050"/>
                      <a:contourClr>
                        <a:srgbClr val="FFFFFF"/>
                      </a:contourClr>
                    </a:sp3d>
                  </p:spPr>
                </p:pic>
                <p:pic>
                  <p:nvPicPr>
                    <p:cNvPr id="15614" name="Picture 15613" descr="A grey square with a person's head&#10;&#10;Description automatically generated">
                      <a:extLst>
                        <a:ext uri="{FF2B5EF4-FFF2-40B4-BE49-F238E27FC236}">
                          <a16:creationId xmlns:a16="http://schemas.microsoft.com/office/drawing/2014/main" id="{2172C1AD-5BEC-2CFE-FCB3-472B60E2C225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1"/>
                    <a:stretch>
                      <a:fillRect/>
                    </a:stretch>
                  </p:blipFill>
                  <p:spPr>
                    <a:xfrm>
                      <a:off x="4717835" y="206684"/>
                      <a:ext cx="982991" cy="995434"/>
                    </a:xfrm>
                    <a:prstGeom prst="rect">
                      <a:avLst/>
                    </a:prstGeom>
                    <a:solidFill>
                      <a:srgbClr val="FFFFFF">
                        <a:shade val="85000"/>
                      </a:srgbClr>
                    </a:solidFill>
                    <a:ln w="88900" cap="sq">
                      <a:solidFill>
                        <a:srgbClr val="C00000"/>
                      </a:solidFill>
                      <a:miter lim="800000"/>
                    </a:ln>
                    <a:effectLst>
                      <a:outerShdw blurRad="55000" dist="18000" dir="5400000" algn="tl" rotWithShape="0">
                        <a:srgbClr val="000000">
                          <a:alpha val="40000"/>
                        </a:srgbClr>
                      </a:outerShdw>
                    </a:effectLst>
                    <a:scene3d>
                      <a:camera prst="orthographicFront"/>
                      <a:lightRig rig="twoPt" dir="t">
                        <a:rot lat="0" lon="0" rev="7200000"/>
                      </a:lightRig>
                    </a:scene3d>
                    <a:sp3d>
                      <a:bevelT w="25400" h="19050"/>
                      <a:contourClr>
                        <a:srgbClr val="FFFFFF"/>
                      </a:contourClr>
                    </a:sp3d>
                  </p:spPr>
                </p:pic>
                <p:pic>
                  <p:nvPicPr>
                    <p:cNvPr id="15615" name="Picture 15614" descr="A person with a smile on his face&#10;&#10;Description automatically generated">
                      <a:extLst>
                        <a:ext uri="{FF2B5EF4-FFF2-40B4-BE49-F238E27FC236}">
                          <a16:creationId xmlns:a16="http://schemas.microsoft.com/office/drawing/2014/main" id="{7957BC4D-151A-EB1E-5CAE-777FF2B16B20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2"/>
                    <a:stretch>
                      <a:fillRect/>
                    </a:stretch>
                  </p:blipFill>
                  <p:spPr>
                    <a:xfrm>
                      <a:off x="5883817" y="206684"/>
                      <a:ext cx="990673" cy="990673"/>
                    </a:xfrm>
                    <a:prstGeom prst="rect">
                      <a:avLst/>
                    </a:prstGeom>
                    <a:solidFill>
                      <a:srgbClr val="FFFFFF">
                        <a:shade val="85000"/>
                      </a:srgbClr>
                    </a:solidFill>
                    <a:ln w="88900" cap="sq">
                      <a:solidFill>
                        <a:srgbClr val="C00000"/>
                      </a:solidFill>
                      <a:miter lim="800000"/>
                    </a:ln>
                    <a:effectLst>
                      <a:outerShdw blurRad="55000" dist="18000" dir="5400000" algn="tl" rotWithShape="0">
                        <a:srgbClr val="000000">
                          <a:alpha val="40000"/>
                        </a:srgbClr>
                      </a:outerShdw>
                    </a:effectLst>
                    <a:scene3d>
                      <a:camera prst="orthographicFront"/>
                      <a:lightRig rig="twoPt" dir="t">
                        <a:rot lat="0" lon="0" rev="7200000"/>
                      </a:lightRig>
                    </a:scene3d>
                    <a:sp3d>
                      <a:bevelT w="25400" h="19050"/>
                      <a:contourClr>
                        <a:srgbClr val="FFFFFF"/>
                      </a:contourClr>
                    </a:sp3d>
                  </p:spPr>
                </p:pic>
              </p:grpSp>
            </p:grpSp>
            <p:sp>
              <p:nvSpPr>
                <p:cNvPr id="15616" name="Rectangle 15615">
                  <a:extLst>
                    <a:ext uri="{FF2B5EF4-FFF2-40B4-BE49-F238E27FC236}">
                      <a16:creationId xmlns:a16="http://schemas.microsoft.com/office/drawing/2014/main" id="{946783DC-D597-2C29-6191-5B3893CFCF5D}"/>
                    </a:ext>
                  </a:extLst>
                </p:cNvPr>
                <p:cNvSpPr/>
                <p:nvPr/>
              </p:nvSpPr>
              <p:spPr bwMode="auto">
                <a:xfrm>
                  <a:off x="4071341" y="18677659"/>
                  <a:ext cx="2147590" cy="340451"/>
                </a:xfrm>
                <a:prstGeom prst="rect">
                  <a:avLst/>
                </a:prstGeom>
                <a:solidFill>
                  <a:srgbClr val="848484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4389438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3000" b="0" i="0" u="none" strike="noStrike" cap="none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cs typeface="Arial" charset="0"/>
                    </a:rPr>
                    <a:t>Share $8</a:t>
                  </a:r>
                </a:p>
              </p:txBody>
            </p:sp>
            <p:sp>
              <p:nvSpPr>
                <p:cNvPr id="15618" name="Rectangle 15617">
                  <a:extLst>
                    <a:ext uri="{FF2B5EF4-FFF2-40B4-BE49-F238E27FC236}">
                      <a16:creationId xmlns:a16="http://schemas.microsoft.com/office/drawing/2014/main" id="{C6024063-9D2C-50D8-70B5-FC3D7C6F49F8}"/>
                    </a:ext>
                  </a:extLst>
                </p:cNvPr>
                <p:cNvSpPr/>
                <p:nvPr/>
              </p:nvSpPr>
              <p:spPr bwMode="auto">
                <a:xfrm>
                  <a:off x="6320475" y="18660155"/>
                  <a:ext cx="1942901" cy="552682"/>
                </a:xfrm>
                <a:prstGeom prst="rect">
                  <a:avLst/>
                </a:prstGeom>
                <a:solidFill>
                  <a:srgbClr val="848484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4389438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3000" b="0" i="0" u="none" strike="noStrike" cap="none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cs typeface="Arial" charset="0"/>
                    </a:rPr>
                    <a:t>Share $2</a:t>
                  </a:r>
                </a:p>
              </p:txBody>
            </p:sp>
            <p:sp>
              <p:nvSpPr>
                <p:cNvPr id="15619" name="Rectangle 15618">
                  <a:extLst>
                    <a:ext uri="{FF2B5EF4-FFF2-40B4-BE49-F238E27FC236}">
                      <a16:creationId xmlns:a16="http://schemas.microsoft.com/office/drawing/2014/main" id="{8EBB5886-1680-B3C7-DEC7-CD388B0CA60C}"/>
                    </a:ext>
                  </a:extLst>
                </p:cNvPr>
                <p:cNvSpPr/>
                <p:nvPr/>
              </p:nvSpPr>
              <p:spPr bwMode="auto">
                <a:xfrm>
                  <a:off x="6772254" y="19789015"/>
                  <a:ext cx="2503191" cy="552682"/>
                </a:xfrm>
                <a:prstGeom prst="rect">
                  <a:avLst/>
                </a:prstGeom>
                <a:solidFill>
                  <a:srgbClr val="848484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4389438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3000" b="0" i="0" u="none" strike="noStrike" cap="none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cs typeface="Arial" charset="0"/>
                    </a:rPr>
                    <a:t>Loading…</a:t>
                  </a:r>
                </a:p>
              </p:txBody>
            </p:sp>
            <p:sp>
              <p:nvSpPr>
                <p:cNvPr id="15620" name="Rectangle 15619">
                  <a:extLst>
                    <a:ext uri="{FF2B5EF4-FFF2-40B4-BE49-F238E27FC236}">
                      <a16:creationId xmlns:a16="http://schemas.microsoft.com/office/drawing/2014/main" id="{98A52E85-D70D-5398-4E75-D523A6EBBF49}"/>
                    </a:ext>
                  </a:extLst>
                </p:cNvPr>
                <p:cNvSpPr/>
                <p:nvPr/>
              </p:nvSpPr>
              <p:spPr bwMode="auto">
                <a:xfrm>
                  <a:off x="9139048" y="21549198"/>
                  <a:ext cx="704737" cy="718761"/>
                </a:xfrm>
                <a:prstGeom prst="rect">
                  <a:avLst/>
                </a:prstGeom>
                <a:solidFill>
                  <a:srgbClr val="848484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4389438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5000" b="0" i="0" u="none" strike="noStrike" cap="none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cs typeface="Arial" charset="0"/>
                    </a:rPr>
                    <a:t>+</a:t>
                  </a:r>
                </a:p>
              </p:txBody>
            </p:sp>
          </p:grpSp>
          <p:grpSp>
            <p:nvGrpSpPr>
              <p:cNvPr id="15592" name="Group 15591">
                <a:extLst>
                  <a:ext uri="{FF2B5EF4-FFF2-40B4-BE49-F238E27FC236}">
                    <a16:creationId xmlns:a16="http://schemas.microsoft.com/office/drawing/2014/main" id="{415B0EBC-8379-F485-6113-E5DF57F87E19}"/>
                  </a:ext>
                </a:extLst>
              </p:cNvPr>
              <p:cNvGrpSpPr/>
              <p:nvPr/>
            </p:nvGrpSpPr>
            <p:grpSpPr>
              <a:xfrm>
                <a:off x="1532700" y="21512239"/>
                <a:ext cx="5203251" cy="1323439"/>
                <a:chOff x="1154328" y="21740839"/>
                <a:chExt cx="5203251" cy="1323439"/>
              </a:xfrm>
            </p:grpSpPr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4707B45F-027B-576B-4808-66F0A5D95489}"/>
                    </a:ext>
                  </a:extLst>
                </p:cNvPr>
                <p:cNvSpPr txBox="1"/>
                <p:nvPr/>
              </p:nvSpPr>
              <p:spPr>
                <a:xfrm>
                  <a:off x="5031575" y="21740839"/>
                  <a:ext cx="1326004" cy="132343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8000" b="1" dirty="0">
                      <a:solidFill>
                        <a:srgbClr val="03DF04"/>
                      </a:solidFill>
                    </a:rPr>
                    <a:t>x3</a:t>
                  </a:r>
                </a:p>
              </p:txBody>
            </p:sp>
            <p:sp>
              <p:nvSpPr>
                <p:cNvPr id="15433" name="Rounded Rectangle 15432">
                  <a:extLst>
                    <a:ext uri="{FF2B5EF4-FFF2-40B4-BE49-F238E27FC236}">
                      <a16:creationId xmlns:a16="http://schemas.microsoft.com/office/drawing/2014/main" id="{9D770554-0135-2E8B-9BC3-8228F9631C8A}"/>
                    </a:ext>
                  </a:extLst>
                </p:cNvPr>
                <p:cNvSpPr/>
                <p:nvPr/>
              </p:nvSpPr>
              <p:spPr bwMode="auto">
                <a:xfrm>
                  <a:off x="1154328" y="21817902"/>
                  <a:ext cx="3412362" cy="1168944"/>
                </a:xfrm>
                <a:prstGeom prst="roundRect">
                  <a:avLst/>
                </a:prstGeom>
                <a:solidFill>
                  <a:schemeClr val="accent1"/>
                </a:solidFill>
                <a:ln w="508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defTabSz="4389438" eaLnBrk="1" hangingPunct="1"/>
                  <a:r>
                    <a:rPr lang="en-US" sz="3000" dirty="0"/>
                    <a:t>The money you  sent is tripled</a:t>
                  </a:r>
                </a:p>
                <a:p>
                  <a:pPr marL="0" marR="0" indent="0" algn="l" defTabSz="4389438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cs typeface="Arial" charset="0"/>
                  </a:endParaRPr>
                </a:p>
              </p:txBody>
            </p:sp>
          </p:grpSp>
          <p:grpSp>
            <p:nvGrpSpPr>
              <p:cNvPr id="15490" name="Group 15489">
                <a:extLst>
                  <a:ext uri="{FF2B5EF4-FFF2-40B4-BE49-F238E27FC236}">
                    <a16:creationId xmlns:a16="http://schemas.microsoft.com/office/drawing/2014/main" id="{26CF14B9-FE18-01D5-1A0A-E19BE8376A0A}"/>
                  </a:ext>
                </a:extLst>
              </p:cNvPr>
              <p:cNvGrpSpPr/>
              <p:nvPr/>
            </p:nvGrpSpPr>
            <p:grpSpPr>
              <a:xfrm>
                <a:off x="530502" y="18979791"/>
                <a:ext cx="4534151" cy="2464546"/>
                <a:chOff x="533974" y="18532980"/>
                <a:chExt cx="4534151" cy="2464546"/>
              </a:xfrm>
            </p:grpSpPr>
            <p:sp>
              <p:nvSpPr>
                <p:cNvPr id="15432" name="Rounded Rectangle 15431">
                  <a:extLst>
                    <a:ext uri="{FF2B5EF4-FFF2-40B4-BE49-F238E27FC236}">
                      <a16:creationId xmlns:a16="http://schemas.microsoft.com/office/drawing/2014/main" id="{29E5F4B4-9ECB-A12A-6B3F-C0855A0CDE34}"/>
                    </a:ext>
                  </a:extLst>
                </p:cNvPr>
                <p:cNvSpPr/>
                <p:nvPr/>
              </p:nvSpPr>
              <p:spPr bwMode="auto">
                <a:xfrm>
                  <a:off x="533974" y="19334093"/>
                  <a:ext cx="4534151" cy="1663433"/>
                </a:xfrm>
                <a:prstGeom prst="roundRect">
                  <a:avLst/>
                </a:prstGeom>
                <a:solidFill>
                  <a:schemeClr val="accent1"/>
                </a:solidFill>
                <a:ln w="508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defTabSz="4389438" eaLnBrk="1" hangingPunct="1"/>
                  <a:r>
                    <a:rPr lang="en-US" sz="3000" dirty="0"/>
                    <a:t>You choose a higher or lower amount to share with your partner.</a:t>
                  </a:r>
                </a:p>
                <a:p>
                  <a:pPr marL="0" marR="0" indent="0" algn="l" defTabSz="4389438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cs typeface="Arial" charset="0"/>
                  </a:endParaRPr>
                </a:p>
              </p:txBody>
            </p:sp>
            <p:cxnSp>
              <p:nvCxnSpPr>
                <p:cNvPr id="15442" name="Elbow Connector 15441">
                  <a:extLst>
                    <a:ext uri="{FF2B5EF4-FFF2-40B4-BE49-F238E27FC236}">
                      <a16:creationId xmlns:a16="http://schemas.microsoft.com/office/drawing/2014/main" id="{FD357802-D2BB-A2AC-2582-D36E431D92F1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2361558" y="18532980"/>
                  <a:ext cx="953880" cy="801113"/>
                </a:xfrm>
                <a:prstGeom prst="bentConnector3">
                  <a:avLst>
                    <a:gd name="adj1" fmla="val -3922"/>
                  </a:avLst>
                </a:prstGeom>
                <a:solidFill>
                  <a:schemeClr val="accent1"/>
                </a:solidFill>
                <a:ln w="508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</p:spPr>
            </p:cxnSp>
          </p:grpSp>
          <p:grpSp>
            <p:nvGrpSpPr>
              <p:cNvPr id="15538" name="Group 15537">
                <a:extLst>
                  <a:ext uri="{FF2B5EF4-FFF2-40B4-BE49-F238E27FC236}">
                    <a16:creationId xmlns:a16="http://schemas.microsoft.com/office/drawing/2014/main" id="{4ABA81B2-5B67-77D2-5517-08033E19241B}"/>
                  </a:ext>
                </a:extLst>
              </p:cNvPr>
              <p:cNvGrpSpPr/>
              <p:nvPr/>
            </p:nvGrpSpPr>
            <p:grpSpPr>
              <a:xfrm>
                <a:off x="795814" y="16818784"/>
                <a:ext cx="4146785" cy="1569660"/>
                <a:chOff x="829782" y="16644992"/>
                <a:chExt cx="4146785" cy="1569660"/>
              </a:xfrm>
            </p:grpSpPr>
            <p:sp>
              <p:nvSpPr>
                <p:cNvPr id="15528" name="Rounded Rectangle 15527">
                  <a:extLst>
                    <a:ext uri="{FF2B5EF4-FFF2-40B4-BE49-F238E27FC236}">
                      <a16:creationId xmlns:a16="http://schemas.microsoft.com/office/drawing/2014/main" id="{AD2DBFD4-1DD0-D27D-7CB0-35408A9E32E4}"/>
                    </a:ext>
                  </a:extLst>
                </p:cNvPr>
                <p:cNvSpPr/>
                <p:nvPr/>
              </p:nvSpPr>
              <p:spPr bwMode="auto">
                <a:xfrm>
                  <a:off x="829782" y="16644992"/>
                  <a:ext cx="2516152" cy="1569660"/>
                </a:xfrm>
                <a:prstGeom prst="roundRect">
                  <a:avLst/>
                </a:prstGeom>
                <a:solidFill>
                  <a:schemeClr val="accent1"/>
                </a:solidFill>
                <a:ln w="508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defTabSz="4389438" eaLnBrk="1" hangingPunct="1"/>
                  <a:r>
                    <a:rPr lang="en-US" sz="3000" dirty="0"/>
                    <a:t>You are assigned a partner.</a:t>
                  </a:r>
                </a:p>
                <a:p>
                  <a:pPr marL="0" marR="0" indent="0" algn="l" defTabSz="4389438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cs typeface="Arial" charset="0"/>
                  </a:endParaRPr>
                </a:p>
              </p:txBody>
            </p:sp>
            <p:cxnSp>
              <p:nvCxnSpPr>
                <p:cNvPr id="15537" name="Straight Arrow Connector 15536">
                  <a:extLst>
                    <a:ext uri="{FF2B5EF4-FFF2-40B4-BE49-F238E27FC236}">
                      <a16:creationId xmlns:a16="http://schemas.microsoft.com/office/drawing/2014/main" id="{7A1CFB10-A83A-AA5A-7CB9-EC39B260985E}"/>
                    </a:ext>
                  </a:extLst>
                </p:cNvPr>
                <p:cNvCxnSpPr>
                  <a:cxnSpLocks/>
                  <a:stCxn id="15528" idx="3"/>
                </p:cNvCxnSpPr>
                <p:nvPr/>
              </p:nvCxnSpPr>
              <p:spPr bwMode="auto">
                <a:xfrm>
                  <a:off x="3345934" y="17429822"/>
                  <a:ext cx="1630633" cy="0"/>
                </a:xfrm>
                <a:prstGeom prst="straightConnector1">
                  <a:avLst/>
                </a:prstGeom>
                <a:solidFill>
                  <a:schemeClr val="accent1"/>
                </a:solidFill>
                <a:ln w="508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</p:spPr>
            </p:cxnSp>
          </p:grpSp>
          <p:sp>
            <p:nvSpPr>
              <p:cNvPr id="15542" name="Rounded Rectangle 15541">
                <a:extLst>
                  <a:ext uri="{FF2B5EF4-FFF2-40B4-BE49-F238E27FC236}">
                    <a16:creationId xmlns:a16="http://schemas.microsoft.com/office/drawing/2014/main" id="{F919F17A-D127-CAD0-86F8-9896BB472FB5}"/>
                  </a:ext>
                </a:extLst>
              </p:cNvPr>
              <p:cNvSpPr/>
              <p:nvPr/>
            </p:nvSpPr>
            <p:spPr bwMode="auto">
              <a:xfrm>
                <a:off x="1019445" y="25077499"/>
                <a:ext cx="2843041" cy="764088"/>
              </a:xfrm>
              <a:prstGeom prst="roundRect">
                <a:avLst/>
              </a:prstGeom>
              <a:solidFill>
                <a:schemeClr val="accent1"/>
              </a:solidFill>
              <a:ln w="508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4389438" eaLnBrk="1" hangingPunct="1"/>
                <a:r>
                  <a:rPr lang="en-US" sz="3500" dirty="0"/>
                  <a:t>End of trial</a:t>
                </a:r>
              </a:p>
              <a:p>
                <a:pPr marL="0" marR="0" indent="0" algn="l" defTabSz="4389438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endParaRPr>
              </a:p>
            </p:txBody>
          </p:sp>
          <p:sp>
            <p:nvSpPr>
              <p:cNvPr id="15667" name="Rounded Rectangle 15666">
                <a:extLst>
                  <a:ext uri="{FF2B5EF4-FFF2-40B4-BE49-F238E27FC236}">
                    <a16:creationId xmlns:a16="http://schemas.microsoft.com/office/drawing/2014/main" id="{A04AF92B-DBCA-68B5-49E1-F021F79663D4}"/>
                  </a:ext>
                </a:extLst>
              </p:cNvPr>
              <p:cNvSpPr/>
              <p:nvPr/>
            </p:nvSpPr>
            <p:spPr bwMode="auto">
              <a:xfrm>
                <a:off x="530502" y="23379694"/>
                <a:ext cx="3455135" cy="546012"/>
              </a:xfrm>
              <a:prstGeom prst="roundRect">
                <a:avLst/>
              </a:prstGeom>
              <a:solidFill>
                <a:schemeClr val="accent1"/>
              </a:solidFill>
              <a:ln w="508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4389438" eaLnBrk="1" hangingPunct="1"/>
                <a:r>
                  <a:rPr lang="en-US" sz="3000" dirty="0"/>
                  <a:t>Outcome Phase</a:t>
                </a:r>
              </a:p>
              <a:p>
                <a:pPr marL="0" marR="0" indent="0" algn="l" defTabSz="4389438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15668" name="Rectangle 15667">
              <a:extLst>
                <a:ext uri="{FF2B5EF4-FFF2-40B4-BE49-F238E27FC236}">
                  <a16:creationId xmlns:a16="http://schemas.microsoft.com/office/drawing/2014/main" id="{313395CF-F0BD-08A4-741C-0E58C7C64F02}"/>
                </a:ext>
              </a:extLst>
            </p:cNvPr>
            <p:cNvSpPr/>
            <p:nvPr/>
          </p:nvSpPr>
          <p:spPr bwMode="auto">
            <a:xfrm>
              <a:off x="5210967" y="17385583"/>
              <a:ext cx="1984189" cy="552682"/>
            </a:xfrm>
            <a:prstGeom prst="rect">
              <a:avLst/>
            </a:prstGeom>
            <a:solidFill>
              <a:srgbClr val="84848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3894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0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cs typeface="Arial" charset="0"/>
                </a:rPr>
                <a:t>Computer</a:t>
              </a:r>
            </a:p>
          </p:txBody>
        </p:sp>
      </p:grpSp>
      <p:grpSp>
        <p:nvGrpSpPr>
          <p:cNvPr id="15637" name="Group 15636">
            <a:extLst>
              <a:ext uri="{FF2B5EF4-FFF2-40B4-BE49-F238E27FC236}">
                <a16:creationId xmlns:a16="http://schemas.microsoft.com/office/drawing/2014/main" id="{3A2B419D-DEB8-5DE4-6994-E09E435EDE6A}"/>
              </a:ext>
            </a:extLst>
          </p:cNvPr>
          <p:cNvGrpSpPr/>
          <p:nvPr/>
        </p:nvGrpSpPr>
        <p:grpSpPr>
          <a:xfrm>
            <a:off x="21667753" y="23179902"/>
            <a:ext cx="7277183" cy="6638191"/>
            <a:chOff x="23516336" y="15981033"/>
            <a:chExt cx="5574747" cy="4915819"/>
          </a:xfrm>
        </p:grpSpPr>
        <p:grpSp>
          <p:nvGrpSpPr>
            <p:cNvPr id="15627" name="Group 15626">
              <a:extLst>
                <a:ext uri="{FF2B5EF4-FFF2-40B4-BE49-F238E27FC236}">
                  <a16:creationId xmlns:a16="http://schemas.microsoft.com/office/drawing/2014/main" id="{06AA4FCA-34DA-E471-770A-8C935B50E788}"/>
                </a:ext>
              </a:extLst>
            </p:cNvPr>
            <p:cNvGrpSpPr/>
            <p:nvPr/>
          </p:nvGrpSpPr>
          <p:grpSpPr>
            <a:xfrm>
              <a:off x="23516336" y="16721772"/>
              <a:ext cx="3469498" cy="4175080"/>
              <a:chOff x="23516336" y="16721772"/>
              <a:chExt cx="3469498" cy="4175080"/>
            </a:xfrm>
          </p:grpSpPr>
          <p:sp>
            <p:nvSpPr>
              <p:cNvPr id="15625" name="TextBox 15624">
                <a:extLst>
                  <a:ext uri="{FF2B5EF4-FFF2-40B4-BE49-F238E27FC236}">
                    <a16:creationId xmlns:a16="http://schemas.microsoft.com/office/drawing/2014/main" id="{7328C975-6B3E-4A8B-7D28-2CBF3C3AA243}"/>
                  </a:ext>
                </a:extLst>
              </p:cNvPr>
              <p:cNvSpPr txBox="1"/>
              <p:nvPr/>
            </p:nvSpPr>
            <p:spPr>
              <a:xfrm>
                <a:off x="26321244" y="20486597"/>
                <a:ext cx="664590" cy="4102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dirty="0"/>
                  <a:t>Age</a:t>
                </a:r>
              </a:p>
            </p:txBody>
          </p:sp>
          <p:sp>
            <p:nvSpPr>
              <p:cNvPr id="15626" name="TextBox 15625">
                <a:extLst>
                  <a:ext uri="{FF2B5EF4-FFF2-40B4-BE49-F238E27FC236}">
                    <a16:creationId xmlns:a16="http://schemas.microsoft.com/office/drawing/2014/main" id="{0741CC01-E666-6FF6-4DCF-5C0AEA54A228}"/>
                  </a:ext>
                </a:extLst>
              </p:cNvPr>
              <p:cNvSpPr txBox="1"/>
              <p:nvPr/>
            </p:nvSpPr>
            <p:spPr>
              <a:xfrm rot="16200000">
                <a:off x="22259180" y="17978928"/>
                <a:ext cx="2938707" cy="4243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000" dirty="0"/>
                  <a:t>Reciprocate &gt; Defect</a:t>
                </a:r>
              </a:p>
            </p:txBody>
          </p:sp>
        </p:grpSp>
        <p:sp>
          <p:nvSpPr>
            <p:cNvPr id="15632" name="TextBox 15631">
              <a:extLst>
                <a:ext uri="{FF2B5EF4-FFF2-40B4-BE49-F238E27FC236}">
                  <a16:creationId xmlns:a16="http://schemas.microsoft.com/office/drawing/2014/main" id="{DB5643A6-0963-1889-743A-BE329E7DFA26}"/>
                </a:ext>
              </a:extLst>
            </p:cNvPr>
            <p:cNvSpPr txBox="1"/>
            <p:nvPr/>
          </p:nvSpPr>
          <p:spPr>
            <a:xfrm>
              <a:off x="23747619" y="15981033"/>
              <a:ext cx="601964" cy="3874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400</a:t>
              </a:r>
            </a:p>
          </p:txBody>
        </p:sp>
        <p:sp>
          <p:nvSpPr>
            <p:cNvPr id="15633" name="TextBox 15632">
              <a:extLst>
                <a:ext uri="{FF2B5EF4-FFF2-40B4-BE49-F238E27FC236}">
                  <a16:creationId xmlns:a16="http://schemas.microsoft.com/office/drawing/2014/main" id="{F005320C-94E9-2CF4-6842-98DA1FA46221}"/>
                </a:ext>
              </a:extLst>
            </p:cNvPr>
            <p:cNvSpPr txBox="1"/>
            <p:nvPr/>
          </p:nvSpPr>
          <p:spPr>
            <a:xfrm>
              <a:off x="23651698" y="20083634"/>
              <a:ext cx="694062" cy="3874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-200</a:t>
              </a:r>
            </a:p>
          </p:txBody>
        </p:sp>
        <p:sp>
          <p:nvSpPr>
            <p:cNvPr id="15634" name="TextBox 15633">
              <a:extLst>
                <a:ext uri="{FF2B5EF4-FFF2-40B4-BE49-F238E27FC236}">
                  <a16:creationId xmlns:a16="http://schemas.microsoft.com/office/drawing/2014/main" id="{E721D839-B7EC-B05A-38DA-D9704D0EBA2E}"/>
                </a:ext>
              </a:extLst>
            </p:cNvPr>
            <p:cNvSpPr txBox="1"/>
            <p:nvPr/>
          </p:nvSpPr>
          <p:spPr>
            <a:xfrm>
              <a:off x="24215995" y="20446486"/>
              <a:ext cx="448464" cy="3874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20</a:t>
              </a:r>
            </a:p>
          </p:txBody>
        </p:sp>
        <p:sp>
          <p:nvSpPr>
            <p:cNvPr id="15635" name="TextBox 15634">
              <a:extLst>
                <a:ext uri="{FF2B5EF4-FFF2-40B4-BE49-F238E27FC236}">
                  <a16:creationId xmlns:a16="http://schemas.microsoft.com/office/drawing/2014/main" id="{61C5ED5A-0A65-9C1A-0AC3-7712D59B3795}"/>
                </a:ext>
              </a:extLst>
            </p:cNvPr>
            <p:cNvSpPr txBox="1"/>
            <p:nvPr/>
          </p:nvSpPr>
          <p:spPr>
            <a:xfrm>
              <a:off x="28642619" y="20446488"/>
              <a:ext cx="448464" cy="3874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70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D2FE0E2-6053-4146-B370-FB37B649225A}"/>
              </a:ext>
            </a:extLst>
          </p:cNvPr>
          <p:cNvGrpSpPr/>
          <p:nvPr/>
        </p:nvGrpSpPr>
        <p:grpSpPr>
          <a:xfrm>
            <a:off x="31025829" y="7128196"/>
            <a:ext cx="11585621" cy="6349248"/>
            <a:chOff x="30940769" y="6482142"/>
            <a:chExt cx="11585621" cy="6349248"/>
          </a:xfrm>
        </p:grpSpPr>
        <p:grpSp>
          <p:nvGrpSpPr>
            <p:cNvPr id="15708" name="Group 15707">
              <a:extLst>
                <a:ext uri="{FF2B5EF4-FFF2-40B4-BE49-F238E27FC236}">
                  <a16:creationId xmlns:a16="http://schemas.microsoft.com/office/drawing/2014/main" id="{F3365FFA-9BF5-9EF3-928F-677A1E435CFE}"/>
                </a:ext>
              </a:extLst>
            </p:cNvPr>
            <p:cNvGrpSpPr/>
            <p:nvPr/>
          </p:nvGrpSpPr>
          <p:grpSpPr>
            <a:xfrm>
              <a:off x="30968309" y="8084700"/>
              <a:ext cx="4158601" cy="4300330"/>
              <a:chOff x="30952728" y="4266720"/>
              <a:chExt cx="6212381" cy="7160350"/>
            </a:xfrm>
          </p:grpSpPr>
          <p:pic>
            <p:nvPicPr>
              <p:cNvPr id="15670" name="Picture 15669" descr="A brain with a red spot&#10;&#10;Description automatically generated">
                <a:extLst>
                  <a:ext uri="{FF2B5EF4-FFF2-40B4-BE49-F238E27FC236}">
                    <a16:creationId xmlns:a16="http://schemas.microsoft.com/office/drawing/2014/main" id="{BA2FE39D-46B1-0722-481F-CB4E6283E6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172216" y="5328136"/>
                <a:ext cx="5683649" cy="4771937"/>
              </a:xfrm>
              <a:prstGeom prst="rect">
                <a:avLst/>
              </a:prstGeom>
            </p:spPr>
          </p:pic>
          <p:sp>
            <p:nvSpPr>
              <p:cNvPr id="15674" name="TextBox 15673">
                <a:extLst>
                  <a:ext uri="{FF2B5EF4-FFF2-40B4-BE49-F238E27FC236}">
                    <a16:creationId xmlns:a16="http://schemas.microsoft.com/office/drawing/2014/main" id="{6D1FEF78-5231-7339-DB44-5A31EBAD6F9E}"/>
                  </a:ext>
                </a:extLst>
              </p:cNvPr>
              <p:cNvSpPr txBox="1"/>
              <p:nvPr/>
            </p:nvSpPr>
            <p:spPr>
              <a:xfrm>
                <a:off x="30952728" y="4266720"/>
                <a:ext cx="1894661" cy="9736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/>
                  <a:t>X= 52</a:t>
                </a:r>
              </a:p>
            </p:txBody>
          </p:sp>
          <p:sp>
            <p:nvSpPr>
              <p:cNvPr id="15680" name="TextBox 15679">
                <a:extLst>
                  <a:ext uri="{FF2B5EF4-FFF2-40B4-BE49-F238E27FC236}">
                    <a16:creationId xmlns:a16="http://schemas.microsoft.com/office/drawing/2014/main" id="{0FE2F447-254E-923E-162C-DC99AACAFC55}"/>
                  </a:ext>
                </a:extLst>
              </p:cNvPr>
              <p:cNvSpPr txBox="1"/>
              <p:nvPr/>
            </p:nvSpPr>
            <p:spPr>
              <a:xfrm>
                <a:off x="31154497" y="10453379"/>
                <a:ext cx="6010612" cy="9736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200" dirty="0" err="1">
                    <a:latin typeface="Helvetica"/>
                  </a:rPr>
                  <a:t>dlPFC</a:t>
                </a:r>
                <a:endParaRPr lang="en-US" sz="3200" dirty="0">
                  <a:latin typeface="Helvetica"/>
                </a:endParaRPr>
              </a:p>
            </p:txBody>
          </p:sp>
        </p:grpSp>
        <p:sp>
          <p:nvSpPr>
            <p:cNvPr id="15707" name="TextBox 15706">
              <a:extLst>
                <a:ext uri="{FF2B5EF4-FFF2-40B4-BE49-F238E27FC236}">
                  <a16:creationId xmlns:a16="http://schemas.microsoft.com/office/drawing/2014/main" id="{0830B512-1237-C170-3104-978D2CC18E8D}"/>
                </a:ext>
              </a:extLst>
            </p:cNvPr>
            <p:cNvSpPr txBox="1"/>
            <p:nvPr/>
          </p:nvSpPr>
          <p:spPr>
            <a:xfrm>
              <a:off x="30940769" y="6984044"/>
              <a:ext cx="4272148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0" i="0" dirty="0">
                  <a:effectLst/>
                  <a:latin typeface="Helvetica" pitchFamily="2" charset="0"/>
                </a:rPr>
                <a:t>Friend Defecting &gt;</a:t>
              </a:r>
              <a:r>
                <a:rPr lang="en-US" sz="2800" dirty="0">
                  <a:latin typeface="Helvetica" pitchFamily="2" charset="0"/>
                </a:rPr>
                <a:t> Computer Defecting</a:t>
              </a:r>
              <a:endParaRPr lang="en-US" sz="2800" i="0" dirty="0">
                <a:effectLst/>
                <a:latin typeface="Helvetica" pitchFamily="2" charset="0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655AFED-3947-A740-B235-4AE33711962C}"/>
                </a:ext>
              </a:extLst>
            </p:cNvPr>
            <p:cNvGrpSpPr/>
            <p:nvPr/>
          </p:nvGrpSpPr>
          <p:grpSpPr>
            <a:xfrm>
              <a:off x="35398172" y="6482142"/>
              <a:ext cx="7128218" cy="6349248"/>
              <a:chOff x="37564868" y="7069792"/>
              <a:chExt cx="5452955" cy="5157377"/>
            </a:xfrm>
          </p:grpSpPr>
          <p:sp>
            <p:nvSpPr>
              <p:cNvPr id="15711" name="TextBox 15710">
                <a:extLst>
                  <a:ext uri="{FF2B5EF4-FFF2-40B4-BE49-F238E27FC236}">
                    <a16:creationId xmlns:a16="http://schemas.microsoft.com/office/drawing/2014/main" id="{3F0968C1-C452-1885-6B38-F154CD473A3F}"/>
                  </a:ext>
                </a:extLst>
              </p:cNvPr>
              <p:cNvSpPr txBox="1"/>
              <p:nvPr/>
            </p:nvSpPr>
            <p:spPr>
              <a:xfrm>
                <a:off x="37622248" y="7069792"/>
                <a:ext cx="601117" cy="4250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200</a:t>
                </a:r>
              </a:p>
            </p:txBody>
          </p:sp>
          <p:sp>
            <p:nvSpPr>
              <p:cNvPr id="15713" name="TextBox 15712">
                <a:extLst>
                  <a:ext uri="{FF2B5EF4-FFF2-40B4-BE49-F238E27FC236}">
                    <a16:creationId xmlns:a16="http://schemas.microsoft.com/office/drawing/2014/main" id="{0538FBF6-7909-445F-ACD2-9599FE92C967}"/>
                  </a:ext>
                </a:extLst>
              </p:cNvPr>
              <p:cNvSpPr txBox="1"/>
              <p:nvPr/>
            </p:nvSpPr>
            <p:spPr>
              <a:xfrm>
                <a:off x="37564868" y="11337187"/>
                <a:ext cx="693086" cy="4250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-300</a:t>
                </a:r>
              </a:p>
            </p:txBody>
          </p:sp>
          <p:sp>
            <p:nvSpPr>
              <p:cNvPr id="15716" name="TextBox 15715">
                <a:extLst>
                  <a:ext uri="{FF2B5EF4-FFF2-40B4-BE49-F238E27FC236}">
                    <a16:creationId xmlns:a16="http://schemas.microsoft.com/office/drawing/2014/main" id="{A7B791E9-2592-EA60-AB27-F2DBE3421768}"/>
                  </a:ext>
                </a:extLst>
              </p:cNvPr>
              <p:cNvSpPr txBox="1"/>
              <p:nvPr/>
            </p:nvSpPr>
            <p:spPr>
              <a:xfrm>
                <a:off x="38211199" y="11728946"/>
                <a:ext cx="447833" cy="4250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20</a:t>
                </a:r>
              </a:p>
            </p:txBody>
          </p:sp>
          <p:sp>
            <p:nvSpPr>
              <p:cNvPr id="15717" name="TextBox 15716">
                <a:extLst>
                  <a:ext uri="{FF2B5EF4-FFF2-40B4-BE49-F238E27FC236}">
                    <a16:creationId xmlns:a16="http://schemas.microsoft.com/office/drawing/2014/main" id="{4288430D-B235-E5D2-0E3C-C928486D0544}"/>
                  </a:ext>
                </a:extLst>
              </p:cNvPr>
              <p:cNvSpPr txBox="1"/>
              <p:nvPr/>
            </p:nvSpPr>
            <p:spPr>
              <a:xfrm>
                <a:off x="42569990" y="11706123"/>
                <a:ext cx="447833" cy="4250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70</a:t>
                </a:r>
              </a:p>
            </p:txBody>
          </p:sp>
          <p:sp>
            <p:nvSpPr>
              <p:cNvPr id="15718" name="TextBox 15717">
                <a:extLst>
                  <a:ext uri="{FF2B5EF4-FFF2-40B4-BE49-F238E27FC236}">
                    <a16:creationId xmlns:a16="http://schemas.microsoft.com/office/drawing/2014/main" id="{C5EDCAEC-F972-A2CD-DE27-9E216B9AC130}"/>
                  </a:ext>
                </a:extLst>
              </p:cNvPr>
              <p:cNvSpPr txBox="1"/>
              <p:nvPr/>
            </p:nvSpPr>
            <p:spPr>
              <a:xfrm>
                <a:off x="39886352" y="11652166"/>
                <a:ext cx="141316" cy="5750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US" sz="4000" dirty="0"/>
              </a:p>
            </p:txBody>
          </p:sp>
          <p:sp>
            <p:nvSpPr>
              <p:cNvPr id="15715" name="TextBox 15714">
                <a:extLst>
                  <a:ext uri="{FF2B5EF4-FFF2-40B4-BE49-F238E27FC236}">
                    <a16:creationId xmlns:a16="http://schemas.microsoft.com/office/drawing/2014/main" id="{6A186BD7-7E16-8AE4-2E56-FAD05BEC16F6}"/>
                  </a:ext>
                </a:extLst>
              </p:cNvPr>
              <p:cNvSpPr txBox="1"/>
              <p:nvPr/>
            </p:nvSpPr>
            <p:spPr>
              <a:xfrm rot="16200000">
                <a:off x="36657648" y="8884400"/>
                <a:ext cx="2422148" cy="4237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dirty="0" err="1"/>
                  <a:t>dlPFC</a:t>
                </a:r>
                <a:r>
                  <a:rPr lang="en-US" sz="3000" dirty="0"/>
                  <a:t> activation</a:t>
                </a:r>
              </a:p>
            </p:txBody>
          </p:sp>
        </p:grpSp>
      </p:grpSp>
      <p:pic>
        <p:nvPicPr>
          <p:cNvPr id="1025" name="Picture 1" descr="page1image36299968">
            <a:extLst>
              <a:ext uri="{FF2B5EF4-FFF2-40B4-BE49-F238E27FC236}">
                <a16:creationId xmlns:a16="http://schemas.microsoft.com/office/drawing/2014/main" id="{60035D50-8936-684B-B250-A56C0072CD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79" y="120653"/>
            <a:ext cx="3390900" cy="339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page1image36299744">
            <a:extLst>
              <a:ext uri="{FF2B5EF4-FFF2-40B4-BE49-F238E27FC236}">
                <a16:creationId xmlns:a16="http://schemas.microsoft.com/office/drawing/2014/main" id="{C5462043-3FBA-174F-8046-F6A09633C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45401" y="330561"/>
            <a:ext cx="3238500" cy="323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age1image52530848">
            <a:extLst>
              <a:ext uri="{FF2B5EF4-FFF2-40B4-BE49-F238E27FC236}">
                <a16:creationId xmlns:a16="http://schemas.microsoft.com/office/drawing/2014/main" id="{B03A8A5E-93A8-8D4C-8490-C8A39AE1B2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6778" y="592888"/>
            <a:ext cx="30238700" cy="101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B6BBF49F-CFF7-964D-A548-CAFA1D235754}"/>
              </a:ext>
            </a:extLst>
          </p:cNvPr>
          <p:cNvGrpSpPr/>
          <p:nvPr/>
        </p:nvGrpSpPr>
        <p:grpSpPr>
          <a:xfrm>
            <a:off x="22984830" y="5663992"/>
            <a:ext cx="6985370" cy="6040452"/>
            <a:chOff x="23148115" y="5663992"/>
            <a:chExt cx="6985370" cy="6040452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9EB1F679-B03D-7ABA-4916-B7FDEEB0D1A4}"/>
                </a:ext>
              </a:extLst>
            </p:cNvPr>
            <p:cNvGrpSpPr/>
            <p:nvPr/>
          </p:nvGrpSpPr>
          <p:grpSpPr>
            <a:xfrm>
              <a:off x="23148115" y="5669169"/>
              <a:ext cx="6689848" cy="6035275"/>
              <a:chOff x="23148115" y="5669169"/>
              <a:chExt cx="6689848" cy="6035275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5E4488D-320E-3C93-EC8D-7C3BAA78FA30}"/>
                  </a:ext>
                </a:extLst>
              </p:cNvPr>
              <p:cNvSpPr txBox="1"/>
              <p:nvPr/>
            </p:nvSpPr>
            <p:spPr>
              <a:xfrm rot="16200000">
                <a:off x="21388338" y="7970314"/>
                <a:ext cx="4073551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dirty="0"/>
                  <a:t>IOS Friend - Computer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8B9CE20-98EC-DB3B-E27B-D3E16039CA7B}"/>
                  </a:ext>
                </a:extLst>
              </p:cNvPr>
              <p:cNvSpPr txBox="1"/>
              <p:nvPr/>
            </p:nvSpPr>
            <p:spPr>
              <a:xfrm>
                <a:off x="26458500" y="11124695"/>
                <a:ext cx="867545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dirty="0"/>
                  <a:t>Age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2F055F7-F4AD-16D6-0DC4-090889B5AC94}"/>
                  </a:ext>
                </a:extLst>
              </p:cNvPr>
              <p:cNvSpPr txBox="1"/>
              <p:nvPr/>
            </p:nvSpPr>
            <p:spPr>
              <a:xfrm>
                <a:off x="23168341" y="10761280"/>
                <a:ext cx="50526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-2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9F335FD-74A6-0034-2C62-5E101F9EF9FA}"/>
                  </a:ext>
                </a:extLst>
              </p:cNvPr>
              <p:cNvSpPr txBox="1"/>
              <p:nvPr/>
            </p:nvSpPr>
            <p:spPr>
              <a:xfrm>
                <a:off x="23321533" y="5669169"/>
                <a:ext cx="38504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6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2A872D9-BAA2-926E-8BF6-557B36359A89}"/>
                  </a:ext>
                </a:extLst>
              </p:cNvPr>
              <p:cNvSpPr txBox="1"/>
              <p:nvPr/>
            </p:nvSpPr>
            <p:spPr>
              <a:xfrm>
                <a:off x="23473332" y="11181224"/>
                <a:ext cx="58541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20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B7890C1-56FC-BC07-26D2-E3906F91A2E1}"/>
                  </a:ext>
                </a:extLst>
              </p:cNvPr>
              <p:cNvSpPr txBox="1"/>
              <p:nvPr/>
            </p:nvSpPr>
            <p:spPr>
              <a:xfrm>
                <a:off x="29252546" y="11147974"/>
                <a:ext cx="58541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70</a:t>
                </a:r>
              </a:p>
            </p:txBody>
          </p:sp>
        </p:grp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12C2420C-269D-5FD9-9793-4E8BAE4F20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 l="14834" t="11264" r="3835" b="16585"/>
            <a:stretch/>
          </p:blipFill>
          <p:spPr>
            <a:xfrm>
              <a:off x="23673037" y="5663992"/>
              <a:ext cx="6460448" cy="5523032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A3383C0-EB4E-3413-FBA5-F6CDEFBB9A01}"/>
              </a:ext>
            </a:extLst>
          </p:cNvPr>
          <p:cNvGrpSpPr/>
          <p:nvPr/>
        </p:nvGrpSpPr>
        <p:grpSpPr>
          <a:xfrm>
            <a:off x="15661773" y="14039216"/>
            <a:ext cx="6786687" cy="5929306"/>
            <a:chOff x="15661774" y="13558986"/>
            <a:chExt cx="6773997" cy="6069205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3F1414F7-3E57-76CD-1C5A-70BE29BA366D}"/>
                </a:ext>
              </a:extLst>
            </p:cNvPr>
            <p:cNvGrpSpPr/>
            <p:nvPr/>
          </p:nvGrpSpPr>
          <p:grpSpPr>
            <a:xfrm>
              <a:off x="15661774" y="13571887"/>
              <a:ext cx="6773997" cy="6056304"/>
              <a:chOff x="15911046" y="13518455"/>
              <a:chExt cx="6773997" cy="6056304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9D692A7-4FAE-7F86-3669-63E5EB7B73B4}"/>
                  </a:ext>
                </a:extLst>
              </p:cNvPr>
              <p:cNvSpPr txBox="1"/>
              <p:nvPr/>
            </p:nvSpPr>
            <p:spPr>
              <a:xfrm>
                <a:off x="15959557" y="13518455"/>
                <a:ext cx="584322" cy="5355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35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C6D13B2-263D-82AD-D27A-9146F541402C}"/>
                  </a:ext>
                </a:extLst>
              </p:cNvPr>
              <p:cNvSpPr txBox="1"/>
              <p:nvPr/>
            </p:nvSpPr>
            <p:spPr>
              <a:xfrm>
                <a:off x="16163859" y="18593433"/>
                <a:ext cx="384322" cy="5355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0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B573673-D070-01BC-38C0-015CC202624E}"/>
                  </a:ext>
                </a:extLst>
              </p:cNvPr>
              <p:cNvSpPr txBox="1"/>
              <p:nvPr/>
            </p:nvSpPr>
            <p:spPr>
              <a:xfrm rot="16200000">
                <a:off x="15411230" y="15931050"/>
                <a:ext cx="1553630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dirty="0"/>
                  <a:t>OAFEM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BA56891-1EA7-63D6-781A-F4B314CA5404}"/>
                  </a:ext>
                </a:extLst>
              </p:cNvPr>
              <p:cNvSpPr txBox="1"/>
              <p:nvPr/>
            </p:nvSpPr>
            <p:spPr>
              <a:xfrm>
                <a:off x="19201039" y="19020761"/>
                <a:ext cx="867545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dirty="0"/>
                  <a:t>Age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1D0DA85-42B5-2604-1257-444398E49E78}"/>
                  </a:ext>
                </a:extLst>
              </p:cNvPr>
              <p:cNvSpPr txBox="1"/>
              <p:nvPr/>
            </p:nvSpPr>
            <p:spPr>
              <a:xfrm>
                <a:off x="16382370" y="19025256"/>
                <a:ext cx="584322" cy="5355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20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809160B-2F6C-BA84-02F1-D80F287E78AE}"/>
                  </a:ext>
                </a:extLst>
              </p:cNvPr>
              <p:cNvSpPr txBox="1"/>
              <p:nvPr/>
            </p:nvSpPr>
            <p:spPr>
              <a:xfrm>
                <a:off x="22100721" y="19026172"/>
                <a:ext cx="584322" cy="5355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70</a:t>
                </a:r>
              </a:p>
            </p:txBody>
          </p:sp>
        </p:grpSp>
        <p:pic>
          <p:nvPicPr>
            <p:cNvPr id="34" name="Graphic 33">
              <a:extLst>
                <a:ext uri="{FF2B5EF4-FFF2-40B4-BE49-F238E27FC236}">
                  <a16:creationId xmlns:a16="http://schemas.microsoft.com/office/drawing/2014/main" id="{1A809AB7-5523-3F9D-6316-37B2E649510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 l="15526" t="13111" r="4415" b="16123"/>
            <a:stretch/>
          </p:blipFill>
          <p:spPr>
            <a:xfrm>
              <a:off x="16334560" y="13558986"/>
              <a:ext cx="6010236" cy="5570606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B558AD3-6D79-9D59-B5C7-87060424114B}"/>
              </a:ext>
            </a:extLst>
          </p:cNvPr>
          <p:cNvGrpSpPr/>
          <p:nvPr/>
        </p:nvGrpSpPr>
        <p:grpSpPr>
          <a:xfrm>
            <a:off x="22955854" y="13938199"/>
            <a:ext cx="6946614" cy="6118831"/>
            <a:chOff x="22951625" y="13324694"/>
            <a:chExt cx="7238386" cy="6246177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4BDD7E15-33CB-E293-2CA9-95B8CCDF48ED}"/>
                </a:ext>
              </a:extLst>
            </p:cNvPr>
            <p:cNvGrpSpPr/>
            <p:nvPr/>
          </p:nvGrpSpPr>
          <p:grpSpPr>
            <a:xfrm>
              <a:off x="22951625" y="13324694"/>
              <a:ext cx="7011566" cy="6246177"/>
              <a:chOff x="22951625" y="13324694"/>
              <a:chExt cx="7011566" cy="6246177"/>
            </a:xfrm>
          </p:grpSpPr>
          <p:grpSp>
            <p:nvGrpSpPr>
              <p:cNvPr id="15583" name="Group 15582">
                <a:extLst>
                  <a:ext uri="{FF2B5EF4-FFF2-40B4-BE49-F238E27FC236}">
                    <a16:creationId xmlns:a16="http://schemas.microsoft.com/office/drawing/2014/main" id="{81424957-973F-2BA6-23A6-71C1377BD2AF}"/>
                  </a:ext>
                </a:extLst>
              </p:cNvPr>
              <p:cNvGrpSpPr/>
              <p:nvPr/>
            </p:nvGrpSpPr>
            <p:grpSpPr>
              <a:xfrm>
                <a:off x="22951625" y="13324694"/>
                <a:ext cx="1426361" cy="6163871"/>
                <a:chOff x="23170534" y="5142184"/>
                <a:chExt cx="1114632" cy="5298947"/>
              </a:xfrm>
            </p:grpSpPr>
            <p:sp>
              <p:nvSpPr>
                <p:cNvPr id="15575" name="TextBox 15574">
                  <a:extLst>
                    <a:ext uri="{FF2B5EF4-FFF2-40B4-BE49-F238E27FC236}">
                      <a16:creationId xmlns:a16="http://schemas.microsoft.com/office/drawing/2014/main" id="{136D78E5-71EA-17ED-91C9-F9CCADA262FF}"/>
                    </a:ext>
                  </a:extLst>
                </p:cNvPr>
                <p:cNvSpPr txBox="1"/>
                <p:nvPr/>
              </p:nvSpPr>
              <p:spPr>
                <a:xfrm rot="16200000">
                  <a:off x="20737522" y="7575196"/>
                  <a:ext cx="5298947" cy="43292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3000" dirty="0"/>
                    <a:t>Sharing with Friend –With Stranger</a:t>
                  </a:r>
                </a:p>
              </p:txBody>
            </p:sp>
            <p:sp>
              <p:nvSpPr>
                <p:cNvPr id="15576" name="TextBox 15575">
                  <a:extLst>
                    <a:ext uri="{FF2B5EF4-FFF2-40B4-BE49-F238E27FC236}">
                      <a16:creationId xmlns:a16="http://schemas.microsoft.com/office/drawing/2014/main" id="{7E602785-88A0-0942-659B-9A750B46996F}"/>
                    </a:ext>
                  </a:extLst>
                </p:cNvPr>
                <p:cNvSpPr txBox="1"/>
                <p:nvPr/>
              </p:nvSpPr>
              <p:spPr>
                <a:xfrm>
                  <a:off x="23603500" y="9027547"/>
                  <a:ext cx="411426" cy="4591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dirty="0"/>
                    <a:t>-2</a:t>
                  </a:r>
                </a:p>
              </p:txBody>
            </p:sp>
            <p:sp>
              <p:nvSpPr>
                <p:cNvPr id="15577" name="TextBox 15576">
                  <a:extLst>
                    <a:ext uri="{FF2B5EF4-FFF2-40B4-BE49-F238E27FC236}">
                      <a16:creationId xmlns:a16="http://schemas.microsoft.com/office/drawing/2014/main" id="{44C014BB-4057-CE6F-8488-5075607DFC5B}"/>
                    </a:ext>
                  </a:extLst>
                </p:cNvPr>
                <p:cNvSpPr txBox="1"/>
                <p:nvPr/>
              </p:nvSpPr>
              <p:spPr>
                <a:xfrm>
                  <a:off x="23684874" y="6227047"/>
                  <a:ext cx="313530" cy="4591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dirty="0"/>
                    <a:t>2</a:t>
                  </a:r>
                </a:p>
              </p:txBody>
            </p:sp>
            <p:sp>
              <p:nvSpPr>
                <p:cNvPr id="15578" name="TextBox 15577">
                  <a:extLst>
                    <a:ext uri="{FF2B5EF4-FFF2-40B4-BE49-F238E27FC236}">
                      <a16:creationId xmlns:a16="http://schemas.microsoft.com/office/drawing/2014/main" id="{7FC9F9D2-B5EE-482C-7F35-E7345B0CA197}"/>
                    </a:ext>
                  </a:extLst>
                </p:cNvPr>
                <p:cNvSpPr txBox="1"/>
                <p:nvPr/>
              </p:nvSpPr>
              <p:spPr>
                <a:xfrm>
                  <a:off x="23666269" y="7641535"/>
                  <a:ext cx="313530" cy="4591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dirty="0"/>
                    <a:t>0</a:t>
                  </a:r>
                </a:p>
              </p:txBody>
            </p:sp>
            <p:sp>
              <p:nvSpPr>
                <p:cNvPr id="15579" name="TextBox 15578">
                  <a:extLst>
                    <a:ext uri="{FF2B5EF4-FFF2-40B4-BE49-F238E27FC236}">
                      <a16:creationId xmlns:a16="http://schemas.microsoft.com/office/drawing/2014/main" id="{115532EB-4683-39F0-80DC-27E22F24AA20}"/>
                    </a:ext>
                  </a:extLst>
                </p:cNvPr>
                <p:cNvSpPr txBox="1"/>
                <p:nvPr/>
              </p:nvSpPr>
              <p:spPr>
                <a:xfrm>
                  <a:off x="23808476" y="9971676"/>
                  <a:ext cx="476690" cy="4591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dirty="0"/>
                    <a:t>20</a:t>
                  </a:r>
                </a:p>
              </p:txBody>
            </p:sp>
          </p:grp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971FA06-90F6-38D8-E376-EAC7F8F86D37}"/>
                  </a:ext>
                </a:extLst>
              </p:cNvPr>
              <p:cNvSpPr txBox="1"/>
              <p:nvPr/>
            </p:nvSpPr>
            <p:spPr>
              <a:xfrm>
                <a:off x="26534606" y="19016872"/>
                <a:ext cx="867545" cy="553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dirty="0"/>
                  <a:t>Age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CA8551F-72DA-08BF-83FF-D876E48BD6C0}"/>
                  </a:ext>
                </a:extLst>
              </p:cNvPr>
              <p:cNvSpPr txBox="1"/>
              <p:nvPr/>
            </p:nvSpPr>
            <p:spPr>
              <a:xfrm>
                <a:off x="29353185" y="18968549"/>
                <a:ext cx="610006" cy="534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70</a:t>
                </a:r>
              </a:p>
            </p:txBody>
          </p:sp>
        </p:grpSp>
        <p:pic>
          <p:nvPicPr>
            <p:cNvPr id="42" name="Graphic 41">
              <a:extLst>
                <a:ext uri="{FF2B5EF4-FFF2-40B4-BE49-F238E27FC236}">
                  <a16:creationId xmlns:a16="http://schemas.microsoft.com/office/drawing/2014/main" id="{4A483E63-A410-7026-10D0-0FAC305E54B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rcRect l="15691" t="11081" r="4694" b="15428"/>
            <a:stretch/>
          </p:blipFill>
          <p:spPr>
            <a:xfrm>
              <a:off x="23929854" y="13415822"/>
              <a:ext cx="6260157" cy="5568490"/>
            </a:xfrm>
            <a:prstGeom prst="rect">
              <a:avLst/>
            </a:prstGeom>
          </p:spPr>
        </p:pic>
      </p:grpSp>
      <p:pic>
        <p:nvPicPr>
          <p:cNvPr id="14" name="Graphic 13">
            <a:extLst>
              <a:ext uri="{FF2B5EF4-FFF2-40B4-BE49-F238E27FC236}">
                <a16:creationId xmlns:a16="http://schemas.microsoft.com/office/drawing/2014/main" id="{0DBA9C41-5EEA-0E79-D93D-F2C5795C3DCD}"/>
              </a:ext>
            </a:extLst>
          </p:cNvPr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rcRect l="18562" t="11969" r="3825" b="15026"/>
          <a:stretch/>
        </p:blipFill>
        <p:spPr>
          <a:xfrm>
            <a:off x="22751158" y="23295687"/>
            <a:ext cx="6466501" cy="5861542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6675D385-CC29-7E91-4E7F-87D48DE5C9A4}"/>
              </a:ext>
            </a:extLst>
          </p:cNvPr>
          <p:cNvPicPr>
            <a:picLocks noChangeAspect="1"/>
          </p:cNvPicPr>
          <p:nvPr/>
        </p:nvPicPr>
        <p:blipFill rotWithShape="1"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rcRect l="18919" t="11022" r="3480" b="15715"/>
          <a:stretch/>
        </p:blipFill>
        <p:spPr>
          <a:xfrm>
            <a:off x="36346489" y="6863073"/>
            <a:ext cx="6554939" cy="5963480"/>
          </a:xfrm>
          <a:prstGeom prst="rect">
            <a:avLst/>
          </a:prstGeom>
        </p:spPr>
      </p:pic>
      <p:sp>
        <p:nvSpPr>
          <p:cNvPr id="155" name="Rectangle 154">
            <a:extLst>
              <a:ext uri="{FF2B5EF4-FFF2-40B4-BE49-F238E27FC236}">
                <a16:creationId xmlns:a16="http://schemas.microsoft.com/office/drawing/2014/main" id="{8F908185-E22F-CB44-8E95-78E9235C0525}"/>
              </a:ext>
            </a:extLst>
          </p:cNvPr>
          <p:cNvSpPr/>
          <p:nvPr/>
        </p:nvSpPr>
        <p:spPr>
          <a:xfrm>
            <a:off x="30683585" y="21572364"/>
            <a:ext cx="12914399" cy="265713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Bef>
                <a:spcPts val="360"/>
              </a:spcBef>
              <a:spcAft>
                <a:spcPts val="0"/>
              </a:spcAft>
            </a:pPr>
            <a:endParaRPr lang="en-US" sz="3200" dirty="0">
              <a:latin typeface="Helvetica"/>
              <a:ea typeface="MS PGothic"/>
              <a:cs typeface="Helvetica"/>
            </a:endParaRPr>
          </a:p>
          <a:p>
            <a:pPr algn="ctr">
              <a:spcBef>
                <a:spcPts val="360"/>
              </a:spcBef>
              <a:spcAft>
                <a:spcPts val="0"/>
              </a:spcAft>
            </a:pPr>
            <a:r>
              <a:rPr lang="en-US" sz="3200" dirty="0">
                <a:latin typeface="Helvetica"/>
                <a:ea typeface="MS PGothic"/>
                <a:cs typeface="Helvetica"/>
              </a:rPr>
              <a:t>We also found that friend reciprocating resulted in reduced medial prefrontal cortex (</a:t>
            </a:r>
            <a:r>
              <a:rPr lang="en-US" sz="3200" dirty="0" err="1">
                <a:latin typeface="Helvetica"/>
                <a:ea typeface="MS PGothic"/>
                <a:cs typeface="Helvetica"/>
              </a:rPr>
              <a:t>mPFC</a:t>
            </a:r>
            <a:r>
              <a:rPr lang="en-US" sz="3200" dirty="0">
                <a:latin typeface="Helvetica"/>
                <a:ea typeface="MS PGothic"/>
                <a:cs typeface="Helvetica"/>
              </a:rPr>
              <a:t>) activation in older adults compared to younger adults.</a:t>
            </a:r>
          </a:p>
          <a:p>
            <a:pPr algn="ctr">
              <a:spcBef>
                <a:spcPts val="360"/>
              </a:spcBef>
              <a:spcAft>
                <a:spcPts val="0"/>
              </a:spcAft>
            </a:pPr>
            <a:endParaRPr lang="en-US" sz="3200" dirty="0">
              <a:latin typeface="Helvetica"/>
              <a:ea typeface="MS PGothic"/>
              <a:cs typeface="Helvetica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BF59342-E7CA-1B42-A3EA-21FDEFB4464A}"/>
              </a:ext>
            </a:extLst>
          </p:cNvPr>
          <p:cNvGrpSpPr/>
          <p:nvPr/>
        </p:nvGrpSpPr>
        <p:grpSpPr>
          <a:xfrm>
            <a:off x="31013968" y="15562632"/>
            <a:ext cx="11866195" cy="6632263"/>
            <a:chOff x="30862394" y="13704182"/>
            <a:chExt cx="11673248" cy="6632263"/>
          </a:xfrm>
        </p:grpSpPr>
        <p:grpSp>
          <p:nvGrpSpPr>
            <p:cNvPr id="15710" name="Group 15709">
              <a:extLst>
                <a:ext uri="{FF2B5EF4-FFF2-40B4-BE49-F238E27FC236}">
                  <a16:creationId xmlns:a16="http://schemas.microsoft.com/office/drawing/2014/main" id="{9AFA48F8-C584-C811-C9F5-EFCA333DD7C1}"/>
                </a:ext>
              </a:extLst>
            </p:cNvPr>
            <p:cNvGrpSpPr/>
            <p:nvPr/>
          </p:nvGrpSpPr>
          <p:grpSpPr>
            <a:xfrm>
              <a:off x="30912367" y="15288689"/>
              <a:ext cx="4003957" cy="4057010"/>
              <a:chOff x="30175830" y="13427301"/>
              <a:chExt cx="6887851" cy="7541194"/>
            </a:xfrm>
          </p:grpSpPr>
          <p:pic>
            <p:nvPicPr>
              <p:cNvPr id="15672" name="Picture 15671" descr="A close-up of a brain&#10;&#10;Description automatically generated">
                <a:extLst>
                  <a:ext uri="{FF2B5EF4-FFF2-40B4-BE49-F238E27FC236}">
                    <a16:creationId xmlns:a16="http://schemas.microsoft.com/office/drawing/2014/main" id="{D3F7B839-9C15-BAE8-4B9F-D9E5FA4162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686058" y="14307843"/>
                <a:ext cx="6377623" cy="5333837"/>
              </a:xfrm>
              <a:prstGeom prst="rect">
                <a:avLst/>
              </a:prstGeom>
            </p:spPr>
          </p:pic>
          <p:sp>
            <p:nvSpPr>
              <p:cNvPr id="15673" name="TextBox 15672">
                <a:extLst>
                  <a:ext uri="{FF2B5EF4-FFF2-40B4-BE49-F238E27FC236}">
                    <a16:creationId xmlns:a16="http://schemas.microsoft.com/office/drawing/2014/main" id="{B7572CC2-F582-E038-F57D-36186A2AD7CD}"/>
                  </a:ext>
                </a:extLst>
              </p:cNvPr>
              <p:cNvSpPr txBox="1"/>
              <p:nvPr/>
            </p:nvSpPr>
            <p:spPr>
              <a:xfrm>
                <a:off x="30175830" y="13427301"/>
                <a:ext cx="1991698" cy="10869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/>
                  <a:t>X= -8</a:t>
                </a:r>
              </a:p>
            </p:txBody>
          </p:sp>
          <p:sp>
            <p:nvSpPr>
              <p:cNvPr id="15679" name="TextBox 15678">
                <a:extLst>
                  <a:ext uri="{FF2B5EF4-FFF2-40B4-BE49-F238E27FC236}">
                    <a16:creationId xmlns:a16="http://schemas.microsoft.com/office/drawing/2014/main" id="{C5CCA665-31CA-7E9E-5033-AF62B19B1AEF}"/>
                  </a:ext>
                </a:extLst>
              </p:cNvPr>
              <p:cNvSpPr txBox="1"/>
              <p:nvPr/>
            </p:nvSpPr>
            <p:spPr>
              <a:xfrm>
                <a:off x="30481077" y="19881512"/>
                <a:ext cx="5622817" cy="1086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200" dirty="0" err="1">
                    <a:latin typeface="Helvetica"/>
                  </a:rPr>
                  <a:t>mPFC</a:t>
                </a:r>
                <a:endParaRPr lang="en-US" sz="3200" dirty="0">
                  <a:latin typeface="Helvetica"/>
                </a:endParaRPr>
              </a:p>
            </p:txBody>
          </p:sp>
        </p:grpSp>
        <p:sp>
          <p:nvSpPr>
            <p:cNvPr id="15709" name="TextBox 15708">
              <a:extLst>
                <a:ext uri="{FF2B5EF4-FFF2-40B4-BE49-F238E27FC236}">
                  <a16:creationId xmlns:a16="http://schemas.microsoft.com/office/drawing/2014/main" id="{80412985-0DFC-4CC7-0908-955D07FD1104}"/>
                </a:ext>
              </a:extLst>
            </p:cNvPr>
            <p:cNvSpPr txBox="1"/>
            <p:nvPr/>
          </p:nvSpPr>
          <p:spPr>
            <a:xfrm>
              <a:off x="30862394" y="14253639"/>
              <a:ext cx="4801133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0" i="0" dirty="0">
                  <a:effectLst/>
                  <a:latin typeface="Helvetica" pitchFamily="2" charset="0"/>
                </a:rPr>
                <a:t>Friend Reciprocate &gt; Computer Reciprocate</a:t>
              </a:r>
              <a:endParaRPr lang="en-US" sz="2800" i="0" dirty="0">
                <a:effectLst/>
                <a:latin typeface="Helvetica" pitchFamily="2" charset="0"/>
              </a:endParaRPr>
            </a:p>
          </p:txBody>
        </p:sp>
        <p:grpSp>
          <p:nvGrpSpPr>
            <p:cNvPr id="15726" name="Group 15725">
              <a:extLst>
                <a:ext uri="{FF2B5EF4-FFF2-40B4-BE49-F238E27FC236}">
                  <a16:creationId xmlns:a16="http://schemas.microsoft.com/office/drawing/2014/main" id="{B3430D81-BB79-4C3F-9F94-3445BBB422F8}"/>
                </a:ext>
              </a:extLst>
            </p:cNvPr>
            <p:cNvGrpSpPr/>
            <p:nvPr/>
          </p:nvGrpSpPr>
          <p:grpSpPr>
            <a:xfrm>
              <a:off x="35314295" y="13704182"/>
              <a:ext cx="6855599" cy="6632263"/>
              <a:chOff x="37501206" y="16869130"/>
              <a:chExt cx="5217471" cy="5219773"/>
            </a:xfrm>
          </p:grpSpPr>
          <p:sp>
            <p:nvSpPr>
              <p:cNvPr id="15719" name="TextBox 15718">
                <a:extLst>
                  <a:ext uri="{FF2B5EF4-FFF2-40B4-BE49-F238E27FC236}">
                    <a16:creationId xmlns:a16="http://schemas.microsoft.com/office/drawing/2014/main" id="{F04F4CFA-B833-1DD9-86EC-A956DC37137A}"/>
                  </a:ext>
                </a:extLst>
              </p:cNvPr>
              <p:cNvSpPr txBox="1"/>
              <p:nvPr/>
            </p:nvSpPr>
            <p:spPr>
              <a:xfrm>
                <a:off x="37520342" y="16869130"/>
                <a:ext cx="598030" cy="411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400</a:t>
                </a:r>
              </a:p>
            </p:txBody>
          </p:sp>
          <p:sp>
            <p:nvSpPr>
              <p:cNvPr id="15720" name="TextBox 15719">
                <a:extLst>
                  <a:ext uri="{FF2B5EF4-FFF2-40B4-BE49-F238E27FC236}">
                    <a16:creationId xmlns:a16="http://schemas.microsoft.com/office/drawing/2014/main" id="{0D17E5B2-CB95-D5BD-E169-9C1854A0AD37}"/>
                  </a:ext>
                </a:extLst>
              </p:cNvPr>
              <p:cNvSpPr txBox="1"/>
              <p:nvPr/>
            </p:nvSpPr>
            <p:spPr>
              <a:xfrm>
                <a:off x="37501206" y="20502040"/>
                <a:ext cx="689526" cy="411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-200</a:t>
                </a:r>
              </a:p>
            </p:txBody>
          </p:sp>
          <p:sp>
            <p:nvSpPr>
              <p:cNvPr id="15721" name="TextBox 15720">
                <a:extLst>
                  <a:ext uri="{FF2B5EF4-FFF2-40B4-BE49-F238E27FC236}">
                    <a16:creationId xmlns:a16="http://schemas.microsoft.com/office/drawing/2014/main" id="{81E64089-644A-E436-A434-45AF685F62E1}"/>
                  </a:ext>
                </a:extLst>
              </p:cNvPr>
              <p:cNvSpPr txBox="1"/>
              <p:nvPr/>
            </p:nvSpPr>
            <p:spPr>
              <a:xfrm rot="16200000">
                <a:off x="36531370" y="18699129"/>
                <a:ext cx="2471242" cy="4406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dirty="0" err="1"/>
                  <a:t>mPFC</a:t>
                </a:r>
                <a:r>
                  <a:rPr lang="en-US" sz="3000" dirty="0"/>
                  <a:t> activation</a:t>
                </a:r>
              </a:p>
            </p:txBody>
          </p:sp>
          <p:sp>
            <p:nvSpPr>
              <p:cNvPr id="15722" name="TextBox 15721">
                <a:extLst>
                  <a:ext uri="{FF2B5EF4-FFF2-40B4-BE49-F238E27FC236}">
                    <a16:creationId xmlns:a16="http://schemas.microsoft.com/office/drawing/2014/main" id="{D6E3B518-3825-F962-6455-6381AEA6B615}"/>
                  </a:ext>
                </a:extLst>
              </p:cNvPr>
              <p:cNvSpPr txBox="1"/>
              <p:nvPr/>
            </p:nvSpPr>
            <p:spPr>
              <a:xfrm>
                <a:off x="38090137" y="21296436"/>
                <a:ext cx="445533" cy="411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20</a:t>
                </a:r>
              </a:p>
            </p:txBody>
          </p:sp>
          <p:sp>
            <p:nvSpPr>
              <p:cNvPr id="15723" name="TextBox 15722">
                <a:extLst>
                  <a:ext uri="{FF2B5EF4-FFF2-40B4-BE49-F238E27FC236}">
                    <a16:creationId xmlns:a16="http://schemas.microsoft.com/office/drawing/2014/main" id="{8B001207-DE47-3A09-905A-EBCA2F9F5C56}"/>
                  </a:ext>
                </a:extLst>
              </p:cNvPr>
              <p:cNvSpPr txBox="1"/>
              <p:nvPr/>
            </p:nvSpPr>
            <p:spPr>
              <a:xfrm>
                <a:off x="42273144" y="21285835"/>
                <a:ext cx="445533" cy="411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70</a:t>
                </a:r>
              </a:p>
            </p:txBody>
          </p:sp>
          <p:sp>
            <p:nvSpPr>
              <p:cNvPr id="15724" name="TextBox 15723">
                <a:extLst>
                  <a:ext uri="{FF2B5EF4-FFF2-40B4-BE49-F238E27FC236}">
                    <a16:creationId xmlns:a16="http://schemas.microsoft.com/office/drawing/2014/main" id="{A7A779AE-265E-DD6C-9D50-6736DE453C86}"/>
                  </a:ext>
                </a:extLst>
              </p:cNvPr>
              <p:cNvSpPr txBox="1"/>
              <p:nvPr/>
            </p:nvSpPr>
            <p:spPr>
              <a:xfrm>
                <a:off x="39987911" y="21381017"/>
                <a:ext cx="1096775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000" dirty="0"/>
                  <a:t>Age</a:t>
                </a:r>
              </a:p>
            </p:txBody>
          </p:sp>
        </p:grpSp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41694A69-FEA8-BBFE-413A-1817DD4A177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rcRect l="18942" t="11890" r="2700" b="15431"/>
            <a:stretch/>
          </p:blipFill>
          <p:spPr>
            <a:xfrm>
              <a:off x="36252115" y="13880865"/>
              <a:ext cx="6283527" cy="5465499"/>
            </a:xfrm>
            <a:prstGeom prst="rect">
              <a:avLst/>
            </a:prstGeom>
          </p:spPr>
        </p:pic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DEB3996D-43E6-5107-11EC-81DFCBC56FB1}"/>
              </a:ext>
            </a:extLst>
          </p:cNvPr>
          <p:cNvSpPr txBox="1"/>
          <p:nvPr/>
        </p:nvSpPr>
        <p:spPr>
          <a:xfrm>
            <a:off x="15741563" y="11959379"/>
            <a:ext cx="1430541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Participants are closer with their friend than with the stranger and computer partners, however, there is no relationship between age and closeness ratings.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713D170-7C43-2B32-EA3A-BFDCA0EDB3A8}"/>
              </a:ext>
            </a:extLst>
          </p:cNvPr>
          <p:cNvSpPr txBox="1"/>
          <p:nvPr/>
        </p:nvSpPr>
        <p:spPr>
          <a:xfrm>
            <a:off x="16952163" y="20057868"/>
            <a:ext cx="1211927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We found no age-related effects across financial exploitation measures or investment behavior</a:t>
            </a:r>
          </a:p>
        </p:txBody>
      </p:sp>
      <p:sp>
        <p:nvSpPr>
          <p:cNvPr id="147" name="Rectangle 200">
            <a:extLst>
              <a:ext uri="{FF2B5EF4-FFF2-40B4-BE49-F238E27FC236}">
                <a16:creationId xmlns:a16="http://schemas.microsoft.com/office/drawing/2014/main" id="{171D9269-781E-BC4D-835E-9B1698E0B9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6226" y="3967558"/>
            <a:ext cx="4805795" cy="8393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81274" tIns="40638" rIns="81274" bIns="40638">
            <a:spAutoFit/>
          </a:bodyPr>
          <a:lstStyle>
            <a:lvl1pPr defTabSz="5119688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5119688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5119688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5119688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5119688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5119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5119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5119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5119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4267" b="1" dirty="0">
                <a:solidFill>
                  <a:srgbClr val="C00000"/>
                </a:solidFill>
                <a:latin typeface="Trebuchet MS" panose="020B0603020202020204" pitchFamily="34" charset="0"/>
              </a:rPr>
              <a:t>1. Introduction</a:t>
            </a:r>
          </a:p>
        </p:txBody>
      </p:sp>
      <p:sp>
        <p:nvSpPr>
          <p:cNvPr id="148" name="TextBox 4">
            <a:extLst>
              <a:ext uri="{FF2B5EF4-FFF2-40B4-BE49-F238E27FC236}">
                <a16:creationId xmlns:a16="http://schemas.microsoft.com/office/drawing/2014/main" id="{442C5E6C-512A-CC46-AE03-02F5A96CB3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0339" y="13204012"/>
            <a:ext cx="4095681" cy="7489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4267" b="1" dirty="0">
                <a:solidFill>
                  <a:srgbClr val="C00000"/>
                </a:solidFill>
                <a:latin typeface="Trebuchet MS" panose="020B0603020202020204" pitchFamily="34" charset="0"/>
              </a:rPr>
              <a:t>2. Methods</a:t>
            </a:r>
          </a:p>
        </p:txBody>
      </p:sp>
      <p:sp>
        <p:nvSpPr>
          <p:cNvPr id="149" name="TextBox 86">
            <a:extLst>
              <a:ext uri="{FF2B5EF4-FFF2-40B4-BE49-F238E27FC236}">
                <a16:creationId xmlns:a16="http://schemas.microsoft.com/office/drawing/2014/main" id="{8561424E-7FDA-1640-8080-B3098379D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23410" y="3920818"/>
            <a:ext cx="9336971" cy="7489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4267" b="1" dirty="0">
                <a:solidFill>
                  <a:srgbClr val="C00000"/>
                </a:solidFill>
                <a:latin typeface="Trebuchet MS" panose="020B0603020202020204" pitchFamily="34" charset="0"/>
              </a:rPr>
              <a:t>3. Age-Related Behavioral Effects?</a:t>
            </a:r>
          </a:p>
        </p:txBody>
      </p:sp>
      <p:sp>
        <p:nvSpPr>
          <p:cNvPr id="150" name="TextBox 86">
            <a:extLst>
              <a:ext uri="{FF2B5EF4-FFF2-40B4-BE49-F238E27FC236}">
                <a16:creationId xmlns:a16="http://schemas.microsoft.com/office/drawing/2014/main" id="{76E84C5F-BFA0-1049-9B07-32E015EC8D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43648" y="3872154"/>
            <a:ext cx="12337509" cy="14003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91440" tIns="45720" rIns="91440" bIns="4572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4250" b="1" dirty="0">
                <a:solidFill>
                  <a:srgbClr val="C00000"/>
                </a:solidFill>
                <a:latin typeface="Trebuchet MS"/>
                <a:ea typeface="MS PGothic"/>
              </a:rPr>
              <a:t>5. Whole Brain Analyses of Neural Responses to Social Outcomes</a:t>
            </a:r>
            <a:endParaRPr lang="en-US" altLang="en-US" sz="4250" b="1" dirty="0">
              <a:solidFill>
                <a:srgbClr val="C00000"/>
              </a:solidFill>
              <a:latin typeface="Trebuchet MS"/>
            </a:endParaRPr>
          </a:p>
        </p:txBody>
      </p:sp>
      <p:sp>
        <p:nvSpPr>
          <p:cNvPr id="151" name="TextBox 86">
            <a:extLst>
              <a:ext uri="{FF2B5EF4-FFF2-40B4-BE49-F238E27FC236}">
                <a16:creationId xmlns:a16="http://schemas.microsoft.com/office/drawing/2014/main" id="{8D239974-7E60-414C-A1C7-EC5F61939A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69573" y="21922063"/>
            <a:ext cx="12868688" cy="7489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91440" tIns="45720" rIns="91440" bIns="4572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4267" b="1" dirty="0">
                <a:solidFill>
                  <a:srgbClr val="C00000"/>
                </a:solidFill>
                <a:latin typeface="Trebuchet MS" panose="020B0603020202020204" pitchFamily="34" charset="0"/>
              </a:rPr>
              <a:t>4. Age-Related Differences in Striatal Response? </a:t>
            </a:r>
          </a:p>
        </p:txBody>
      </p:sp>
      <p:sp>
        <p:nvSpPr>
          <p:cNvPr id="152" name="TextBox 86">
            <a:extLst>
              <a:ext uri="{FF2B5EF4-FFF2-40B4-BE49-F238E27FC236}">
                <a16:creationId xmlns:a16="http://schemas.microsoft.com/office/drawing/2014/main" id="{3CCA2969-17BF-3A43-9D64-3BC67FFD9F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30620" y="24261609"/>
            <a:ext cx="9797258" cy="7489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4267" b="1" dirty="0">
                <a:solidFill>
                  <a:srgbClr val="C00000"/>
                </a:solidFill>
                <a:latin typeface="Trebuchet MS" panose="020B0603020202020204" pitchFamily="34" charset="0"/>
              </a:rPr>
              <a:t>6. Conclusions and Future Directions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8DA2ABEA-DC63-DB4B-9E64-20A700C207F0}"/>
              </a:ext>
            </a:extLst>
          </p:cNvPr>
          <p:cNvSpPr txBox="1"/>
          <p:nvPr/>
        </p:nvSpPr>
        <p:spPr>
          <a:xfrm>
            <a:off x="197691" y="14078256"/>
            <a:ext cx="14650695" cy="10772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altLang="en-US" sz="3200" dirty="0">
                <a:latin typeface="Helvetica"/>
                <a:ea typeface="MS PGothic"/>
              </a:rPr>
              <a:t>Participants (N = 62) completed a trust task with three partners: a computer, a stranger, and their chosen friend.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DE763B-F4EB-754D-A139-C1319AD540CE}"/>
              </a:ext>
            </a:extLst>
          </p:cNvPr>
          <p:cNvSpPr txBox="1"/>
          <p:nvPr/>
        </p:nvSpPr>
        <p:spPr>
          <a:xfrm>
            <a:off x="30903167" y="5403997"/>
            <a:ext cx="1203601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To investigate if age-related effects were present elsewhere, we conducted a set of whole brain analyses.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AD48B72-79AA-2C4A-8106-FEE9B29510DB}"/>
              </a:ext>
            </a:extLst>
          </p:cNvPr>
          <p:cNvSpPr txBox="1"/>
          <p:nvPr/>
        </p:nvSpPr>
        <p:spPr>
          <a:xfrm>
            <a:off x="20973506" y="13620670"/>
            <a:ext cx="19326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/>
              <a:t>R = -.21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2A617A1E-C1F1-794A-A807-BBC21A37CDED}"/>
              </a:ext>
            </a:extLst>
          </p:cNvPr>
          <p:cNvSpPr txBox="1"/>
          <p:nvPr/>
        </p:nvSpPr>
        <p:spPr>
          <a:xfrm>
            <a:off x="28598415" y="5241364"/>
            <a:ext cx="19326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/>
              <a:t>R = -.03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199A54FF-CFDA-AA4D-9B63-2C0BC38C1F8A}"/>
              </a:ext>
            </a:extLst>
          </p:cNvPr>
          <p:cNvSpPr txBox="1"/>
          <p:nvPr/>
        </p:nvSpPr>
        <p:spPr>
          <a:xfrm>
            <a:off x="28279896" y="13590309"/>
            <a:ext cx="19326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/>
              <a:t>R = -0.09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8129937F-2145-7F4C-8C15-2C0DF8142096}"/>
              </a:ext>
            </a:extLst>
          </p:cNvPr>
          <p:cNvSpPr txBox="1"/>
          <p:nvPr/>
        </p:nvSpPr>
        <p:spPr>
          <a:xfrm>
            <a:off x="38860917" y="12726015"/>
            <a:ext cx="1464950" cy="899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Age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59315D9-38A0-3949-8197-E825D70ED72C}"/>
              </a:ext>
            </a:extLst>
          </p:cNvPr>
          <p:cNvSpPr txBox="1"/>
          <p:nvPr/>
        </p:nvSpPr>
        <p:spPr>
          <a:xfrm>
            <a:off x="31554291" y="13490343"/>
            <a:ext cx="10820852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Helvetica"/>
                <a:ea typeface="MS PGothic"/>
                <a:cs typeface="Helvetica"/>
              </a:rPr>
              <a:t>We found that friend defecting resulted in increased dorsolateral prefrontal cortex (</a:t>
            </a:r>
            <a:r>
              <a:rPr lang="en-US" sz="3200" dirty="0" err="1">
                <a:latin typeface="Helvetica"/>
                <a:ea typeface="MS PGothic"/>
                <a:cs typeface="Helvetica"/>
              </a:rPr>
              <a:t>dlPFC</a:t>
            </a:r>
            <a:r>
              <a:rPr lang="en-US" sz="3200" dirty="0">
                <a:latin typeface="Helvetica"/>
                <a:ea typeface="MS PGothic"/>
                <a:cs typeface="Helvetica"/>
              </a:rPr>
              <a:t>) activation in older adults compared to younger adults. </a:t>
            </a:r>
          </a:p>
          <a:p>
            <a:endParaRPr lang="en-US" dirty="0"/>
          </a:p>
        </p:txBody>
      </p:sp>
      <p:grpSp>
        <p:nvGrpSpPr>
          <p:cNvPr id="15705" name="Group 15704">
            <a:extLst>
              <a:ext uri="{FF2B5EF4-FFF2-40B4-BE49-F238E27FC236}">
                <a16:creationId xmlns:a16="http://schemas.microsoft.com/office/drawing/2014/main" id="{B315F0CF-5757-721B-6FDA-3CDF8B65C4FC}"/>
              </a:ext>
            </a:extLst>
          </p:cNvPr>
          <p:cNvGrpSpPr/>
          <p:nvPr/>
        </p:nvGrpSpPr>
        <p:grpSpPr>
          <a:xfrm>
            <a:off x="15693029" y="5633407"/>
            <a:ext cx="6831019" cy="6073863"/>
            <a:chOff x="15693029" y="5633407"/>
            <a:chExt cx="6831019" cy="6073863"/>
          </a:xfrm>
        </p:grpSpPr>
        <p:grpSp>
          <p:nvGrpSpPr>
            <p:cNvPr id="15694" name="Group 15693">
              <a:extLst>
                <a:ext uri="{FF2B5EF4-FFF2-40B4-BE49-F238E27FC236}">
                  <a16:creationId xmlns:a16="http://schemas.microsoft.com/office/drawing/2014/main" id="{5055852D-9D38-8AD6-DEF6-61182430B0FF}"/>
                </a:ext>
              </a:extLst>
            </p:cNvPr>
            <p:cNvGrpSpPr/>
            <p:nvPr/>
          </p:nvGrpSpPr>
          <p:grpSpPr>
            <a:xfrm>
              <a:off x="16753920" y="5633407"/>
              <a:ext cx="5770128" cy="5560255"/>
              <a:chOff x="1421938" y="14767343"/>
              <a:chExt cx="5770128" cy="5560255"/>
            </a:xfrm>
          </p:grpSpPr>
          <p:sp>
            <p:nvSpPr>
              <p:cNvPr id="15695" name="Rectangle 15694">
                <a:extLst>
                  <a:ext uri="{FF2B5EF4-FFF2-40B4-BE49-F238E27FC236}">
                    <a16:creationId xmlns:a16="http://schemas.microsoft.com/office/drawing/2014/main" id="{59245EF6-EA65-4213-1DFF-5690FF2BCBB1}"/>
                  </a:ext>
                </a:extLst>
              </p:cNvPr>
              <p:cNvSpPr/>
              <p:nvPr/>
            </p:nvSpPr>
            <p:spPr bwMode="auto">
              <a:xfrm>
                <a:off x="1421941" y="14767343"/>
                <a:ext cx="5762869" cy="5560255"/>
              </a:xfrm>
              <a:prstGeom prst="rect">
                <a:avLst/>
              </a:prstGeom>
              <a:solidFill>
                <a:srgbClr val="EAEBEB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4389438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endParaRPr>
              </a:p>
            </p:txBody>
          </p:sp>
          <p:cxnSp>
            <p:nvCxnSpPr>
              <p:cNvPr id="15696" name="Straight Connector 15695">
                <a:extLst>
                  <a:ext uri="{FF2B5EF4-FFF2-40B4-BE49-F238E27FC236}">
                    <a16:creationId xmlns:a16="http://schemas.microsoft.com/office/drawing/2014/main" id="{1F326A97-0889-F757-F9AC-A1939B026E6B}"/>
                  </a:ext>
                </a:extLst>
              </p:cNvPr>
              <p:cNvCxnSpPr/>
              <p:nvPr/>
            </p:nvCxnSpPr>
            <p:spPr bwMode="auto">
              <a:xfrm flipH="1">
                <a:off x="4303375" y="14775666"/>
                <a:ext cx="14515" cy="5551932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accent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5697" name="Straight Connector 15696">
                <a:extLst>
                  <a:ext uri="{FF2B5EF4-FFF2-40B4-BE49-F238E27FC236}">
                    <a16:creationId xmlns:a16="http://schemas.microsoft.com/office/drawing/2014/main" id="{318119A5-70BB-53DE-82A9-9A5AAEBA7808}"/>
                  </a:ext>
                </a:extLst>
              </p:cNvPr>
              <p:cNvCxnSpPr/>
              <p:nvPr/>
            </p:nvCxnSpPr>
            <p:spPr bwMode="auto">
              <a:xfrm flipH="1">
                <a:off x="2840886" y="14771504"/>
                <a:ext cx="14515" cy="5551932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accent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5698" name="Straight Connector 15697">
                <a:extLst>
                  <a:ext uri="{FF2B5EF4-FFF2-40B4-BE49-F238E27FC236}">
                    <a16:creationId xmlns:a16="http://schemas.microsoft.com/office/drawing/2014/main" id="{10C3C3A8-1BF5-3756-F475-F40BC5CEF4EC}"/>
                  </a:ext>
                </a:extLst>
              </p:cNvPr>
              <p:cNvCxnSpPr/>
              <p:nvPr/>
            </p:nvCxnSpPr>
            <p:spPr bwMode="auto">
              <a:xfrm flipH="1">
                <a:off x="5722320" y="14767343"/>
                <a:ext cx="14515" cy="5551932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accent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5699" name="Straight Connector 15698">
                <a:extLst>
                  <a:ext uri="{FF2B5EF4-FFF2-40B4-BE49-F238E27FC236}">
                    <a16:creationId xmlns:a16="http://schemas.microsoft.com/office/drawing/2014/main" id="{957E6B38-B9EE-99EE-54C6-E275A0014537}"/>
                  </a:ext>
                </a:extLst>
              </p:cNvPr>
              <p:cNvCxnSpPr>
                <a:stCxn id="15695" idx="1"/>
                <a:endCxn id="15695" idx="3"/>
              </p:cNvCxnSpPr>
              <p:nvPr/>
            </p:nvCxnSpPr>
            <p:spPr bwMode="auto">
              <a:xfrm>
                <a:off x="1421941" y="17547471"/>
                <a:ext cx="5762869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accent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5700" name="Straight Connector 15699">
                <a:extLst>
                  <a:ext uri="{FF2B5EF4-FFF2-40B4-BE49-F238E27FC236}">
                    <a16:creationId xmlns:a16="http://schemas.microsoft.com/office/drawing/2014/main" id="{1ADEF486-D1AE-3205-D856-B51DA49A5860}"/>
                  </a:ext>
                </a:extLst>
              </p:cNvPr>
              <p:cNvCxnSpPr/>
              <p:nvPr/>
            </p:nvCxnSpPr>
            <p:spPr bwMode="auto">
              <a:xfrm>
                <a:off x="1421940" y="18803458"/>
                <a:ext cx="5762869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accent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5701" name="Straight Connector 15700">
                <a:extLst>
                  <a:ext uri="{FF2B5EF4-FFF2-40B4-BE49-F238E27FC236}">
                    <a16:creationId xmlns:a16="http://schemas.microsoft.com/office/drawing/2014/main" id="{2DF8FE5D-6599-B3FA-0149-297191C471D1}"/>
                  </a:ext>
                </a:extLst>
              </p:cNvPr>
              <p:cNvCxnSpPr/>
              <p:nvPr/>
            </p:nvCxnSpPr>
            <p:spPr bwMode="auto">
              <a:xfrm>
                <a:off x="1429197" y="16328272"/>
                <a:ext cx="5762869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accent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5702" name="Straight Connector 15701">
                <a:extLst>
                  <a:ext uri="{FF2B5EF4-FFF2-40B4-BE49-F238E27FC236}">
                    <a16:creationId xmlns:a16="http://schemas.microsoft.com/office/drawing/2014/main" id="{EC14FBC0-C7F4-8654-EFD8-CCFF96ED3CCB}"/>
                  </a:ext>
                </a:extLst>
              </p:cNvPr>
              <p:cNvCxnSpPr/>
              <p:nvPr/>
            </p:nvCxnSpPr>
            <p:spPr bwMode="auto">
              <a:xfrm>
                <a:off x="1421939" y="20048934"/>
                <a:ext cx="5762869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accent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5703" name="Straight Connector 15702">
                <a:extLst>
                  <a:ext uri="{FF2B5EF4-FFF2-40B4-BE49-F238E27FC236}">
                    <a16:creationId xmlns:a16="http://schemas.microsoft.com/office/drawing/2014/main" id="{594244E0-1BD5-0B30-441B-104DF3B61537}"/>
                  </a:ext>
                </a:extLst>
              </p:cNvPr>
              <p:cNvCxnSpPr/>
              <p:nvPr/>
            </p:nvCxnSpPr>
            <p:spPr bwMode="auto">
              <a:xfrm>
                <a:off x="1421938" y="15088052"/>
                <a:ext cx="5762869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accent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5686" name="Group 15685">
              <a:extLst>
                <a:ext uri="{FF2B5EF4-FFF2-40B4-BE49-F238E27FC236}">
                  <a16:creationId xmlns:a16="http://schemas.microsoft.com/office/drawing/2014/main" id="{ED126016-F777-1072-6221-FC940E4C8421}"/>
                </a:ext>
              </a:extLst>
            </p:cNvPr>
            <p:cNvGrpSpPr/>
            <p:nvPr/>
          </p:nvGrpSpPr>
          <p:grpSpPr>
            <a:xfrm>
              <a:off x="15693029" y="6238462"/>
              <a:ext cx="6636023" cy="5468808"/>
              <a:chOff x="15670877" y="5930781"/>
              <a:chExt cx="6636023" cy="5468808"/>
            </a:xfrm>
          </p:grpSpPr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0C1E3FB-BD99-75D9-FE95-CD17FE3F9F8B}"/>
                  </a:ext>
                </a:extLst>
              </p:cNvPr>
              <p:cNvSpPr txBox="1"/>
              <p:nvPr/>
            </p:nvSpPr>
            <p:spPr>
              <a:xfrm rot="16200000">
                <a:off x="14959464" y="8002434"/>
                <a:ext cx="1976823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dirty="0"/>
                  <a:t>Closeness</a:t>
                </a:r>
              </a:p>
            </p:txBody>
          </p:sp>
          <p:grpSp>
            <p:nvGrpSpPr>
              <p:cNvPr id="15685" name="Group 15684">
                <a:extLst>
                  <a:ext uri="{FF2B5EF4-FFF2-40B4-BE49-F238E27FC236}">
                    <a16:creationId xmlns:a16="http://schemas.microsoft.com/office/drawing/2014/main" id="{F69E9B06-6DD1-AE5C-F052-C96A7F7CB40F}"/>
                  </a:ext>
                </a:extLst>
              </p:cNvPr>
              <p:cNvGrpSpPr/>
              <p:nvPr/>
            </p:nvGrpSpPr>
            <p:grpSpPr>
              <a:xfrm>
                <a:off x="16093244" y="5930781"/>
                <a:ext cx="6213656" cy="5468808"/>
                <a:chOff x="16093244" y="5930781"/>
                <a:chExt cx="6213656" cy="5468808"/>
              </a:xfrm>
            </p:grpSpPr>
            <p:grpSp>
              <p:nvGrpSpPr>
                <p:cNvPr id="15666" name="Group 15665">
                  <a:extLst>
                    <a:ext uri="{FF2B5EF4-FFF2-40B4-BE49-F238E27FC236}">
                      <a16:creationId xmlns:a16="http://schemas.microsoft.com/office/drawing/2014/main" id="{F4499BAD-2B87-B075-89D7-E684EC5B1F7C}"/>
                    </a:ext>
                  </a:extLst>
                </p:cNvPr>
                <p:cNvGrpSpPr/>
                <p:nvPr/>
              </p:nvGrpSpPr>
              <p:grpSpPr>
                <a:xfrm>
                  <a:off x="16093244" y="6288749"/>
                  <a:ext cx="6213656" cy="5110840"/>
                  <a:chOff x="16307695" y="5718009"/>
                  <a:chExt cx="3931562" cy="3100469"/>
                </a:xfrm>
              </p:grpSpPr>
              <p:sp>
                <p:nvSpPr>
                  <p:cNvPr id="15660" name="TextBox 15659">
                    <a:extLst>
                      <a:ext uri="{FF2B5EF4-FFF2-40B4-BE49-F238E27FC236}">
                        <a16:creationId xmlns:a16="http://schemas.microsoft.com/office/drawing/2014/main" id="{0766629E-BCF3-6556-AF99-A6859175E636}"/>
                      </a:ext>
                    </a:extLst>
                  </p:cNvPr>
                  <p:cNvSpPr txBox="1"/>
                  <p:nvPr/>
                </p:nvSpPr>
                <p:spPr>
                  <a:xfrm>
                    <a:off x="16307695" y="8232313"/>
                    <a:ext cx="243627" cy="31740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800" dirty="0"/>
                      <a:t>0</a:t>
                    </a:r>
                  </a:p>
                </p:txBody>
              </p:sp>
              <p:sp>
                <p:nvSpPr>
                  <p:cNvPr id="15662" name="TextBox 15661">
                    <a:extLst>
                      <a:ext uri="{FF2B5EF4-FFF2-40B4-BE49-F238E27FC236}">
                        <a16:creationId xmlns:a16="http://schemas.microsoft.com/office/drawing/2014/main" id="{4DC189FA-5EF4-8645-EFD2-F4AA0CF414D9}"/>
                      </a:ext>
                    </a:extLst>
                  </p:cNvPr>
                  <p:cNvSpPr txBox="1"/>
                  <p:nvPr/>
                </p:nvSpPr>
                <p:spPr>
                  <a:xfrm>
                    <a:off x="16323035" y="5718009"/>
                    <a:ext cx="243627" cy="31740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800" dirty="0"/>
                      <a:t>4</a:t>
                    </a:r>
                  </a:p>
                </p:txBody>
              </p:sp>
              <p:sp>
                <p:nvSpPr>
                  <p:cNvPr id="15663" name="TextBox 15662">
                    <a:extLst>
                      <a:ext uri="{FF2B5EF4-FFF2-40B4-BE49-F238E27FC236}">
                        <a16:creationId xmlns:a16="http://schemas.microsoft.com/office/drawing/2014/main" id="{FEBA7C19-438A-8BB9-F286-7161582091EA}"/>
                      </a:ext>
                    </a:extLst>
                  </p:cNvPr>
                  <p:cNvSpPr txBox="1"/>
                  <p:nvPr/>
                </p:nvSpPr>
                <p:spPr>
                  <a:xfrm>
                    <a:off x="16997948" y="8482337"/>
                    <a:ext cx="805531" cy="33608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3000" dirty="0"/>
                      <a:t>Friend</a:t>
                    </a:r>
                  </a:p>
                </p:txBody>
              </p:sp>
              <p:sp>
                <p:nvSpPr>
                  <p:cNvPr id="15664" name="TextBox 15663">
                    <a:extLst>
                      <a:ext uri="{FF2B5EF4-FFF2-40B4-BE49-F238E27FC236}">
                        <a16:creationId xmlns:a16="http://schemas.microsoft.com/office/drawing/2014/main" id="{D1FDC6B6-A877-379F-C9B2-8D6C71CA3AC6}"/>
                      </a:ext>
                    </a:extLst>
                  </p:cNvPr>
                  <p:cNvSpPr txBox="1"/>
                  <p:nvPr/>
                </p:nvSpPr>
                <p:spPr>
                  <a:xfrm>
                    <a:off x="17986188" y="8477732"/>
                    <a:ext cx="1048955" cy="33608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3000" dirty="0"/>
                      <a:t>Stranger</a:t>
                    </a:r>
                  </a:p>
                </p:txBody>
              </p:sp>
              <p:sp>
                <p:nvSpPr>
                  <p:cNvPr id="15665" name="TextBox 15664">
                    <a:extLst>
                      <a:ext uri="{FF2B5EF4-FFF2-40B4-BE49-F238E27FC236}">
                        <a16:creationId xmlns:a16="http://schemas.microsoft.com/office/drawing/2014/main" id="{0D79EDF9-8FFC-03A5-0959-5F4339B2A174}"/>
                      </a:ext>
                    </a:extLst>
                  </p:cNvPr>
                  <p:cNvSpPr txBox="1"/>
                  <p:nvPr/>
                </p:nvSpPr>
                <p:spPr>
                  <a:xfrm>
                    <a:off x="19055405" y="8482397"/>
                    <a:ext cx="1183852" cy="33608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3000" dirty="0"/>
                      <a:t>Computer</a:t>
                    </a:r>
                  </a:p>
                </p:txBody>
              </p:sp>
            </p:grpSp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451527B6-A02F-7C50-BE7D-EF3CA2D82851}"/>
                    </a:ext>
                  </a:extLst>
                </p:cNvPr>
                <p:cNvGrpSpPr/>
                <p:nvPr/>
              </p:nvGrpSpPr>
              <p:grpSpPr>
                <a:xfrm>
                  <a:off x="17478242" y="5930781"/>
                  <a:ext cx="4174099" cy="4956803"/>
                  <a:chOff x="35245965" y="10130725"/>
                  <a:chExt cx="4594165" cy="5455637"/>
                </a:xfrm>
              </p:grpSpPr>
              <p:sp>
                <p:nvSpPr>
                  <p:cNvPr id="49" name="Rectangle 48">
                    <a:extLst>
                      <a:ext uri="{FF2B5EF4-FFF2-40B4-BE49-F238E27FC236}">
                        <a16:creationId xmlns:a16="http://schemas.microsoft.com/office/drawing/2014/main" id="{15A25FF5-81AC-06F1-BC36-DB83CAD5950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5245965" y="10341032"/>
                    <a:ext cx="914400" cy="5245330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4389438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cs typeface="Arial" charset="0"/>
                    </a:endParaRPr>
                  </a:p>
                </p:txBody>
              </p:sp>
              <p:sp>
                <p:nvSpPr>
                  <p:cNvPr id="50" name="Rectangle 49">
                    <a:extLst>
                      <a:ext uri="{FF2B5EF4-FFF2-40B4-BE49-F238E27FC236}">
                        <a16:creationId xmlns:a16="http://schemas.microsoft.com/office/drawing/2014/main" id="{E562E75E-69FD-32B9-DA52-8CFDD4BA6E3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7085847" y="13716000"/>
                    <a:ext cx="914400" cy="1859437"/>
                  </a:xfrm>
                  <a:prstGeom prst="rect">
                    <a:avLst/>
                  </a:prstGeom>
                  <a:solidFill>
                    <a:srgbClr val="72BFC6"/>
                  </a:solidFill>
                  <a:ln w="9525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4389438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cs typeface="Arial" charset="0"/>
                    </a:endParaRPr>
                  </a:p>
                </p:txBody>
              </p:sp>
              <p:sp>
                <p:nvSpPr>
                  <p:cNvPr id="51" name="Rectangle 50">
                    <a:extLst>
                      <a:ext uri="{FF2B5EF4-FFF2-40B4-BE49-F238E27FC236}">
                        <a16:creationId xmlns:a16="http://schemas.microsoft.com/office/drawing/2014/main" id="{4528B3B9-AEEA-D1A4-0F7D-9568094B7BB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25730" y="13716000"/>
                    <a:ext cx="914400" cy="1859437"/>
                  </a:xfrm>
                  <a:prstGeom prst="rect">
                    <a:avLst/>
                  </a:prstGeom>
                  <a:solidFill>
                    <a:srgbClr val="3C8C94"/>
                  </a:solidFill>
                  <a:ln w="9525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4389438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cs typeface="Arial" charset="0"/>
                    </a:endParaRPr>
                  </a:p>
                </p:txBody>
              </p:sp>
              <p:grpSp>
                <p:nvGrpSpPr>
                  <p:cNvPr id="53" name="Group 52">
                    <a:extLst>
                      <a:ext uri="{FF2B5EF4-FFF2-40B4-BE49-F238E27FC236}">
                        <a16:creationId xmlns:a16="http://schemas.microsoft.com/office/drawing/2014/main" id="{E70E275C-F7FC-6193-D2BC-A588C1C4AA37}"/>
                      </a:ext>
                    </a:extLst>
                  </p:cNvPr>
                  <p:cNvGrpSpPr/>
                  <p:nvPr/>
                </p:nvGrpSpPr>
                <p:grpSpPr>
                  <a:xfrm>
                    <a:off x="35522114" y="10130725"/>
                    <a:ext cx="351296" cy="423621"/>
                    <a:chOff x="35522114" y="10130725"/>
                    <a:chExt cx="351296" cy="423621"/>
                  </a:xfrm>
                </p:grpSpPr>
                <p:cxnSp>
                  <p:nvCxnSpPr>
                    <p:cNvPr id="63" name="Straight Connector 62">
                      <a:extLst>
                        <a:ext uri="{FF2B5EF4-FFF2-40B4-BE49-F238E27FC236}">
                          <a16:creationId xmlns:a16="http://schemas.microsoft.com/office/drawing/2014/main" id="{9CF5B435-CE5C-BA28-F65C-12061DC5B48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auto">
                    <a:xfrm>
                      <a:off x="35697998" y="10130725"/>
                      <a:ext cx="0" cy="423621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  <p:cxnSp>
                  <p:nvCxnSpPr>
                    <p:cNvPr id="15681" name="Straight Connector 15680">
                      <a:extLst>
                        <a:ext uri="{FF2B5EF4-FFF2-40B4-BE49-F238E27FC236}">
                          <a16:creationId xmlns:a16="http://schemas.microsoft.com/office/drawing/2014/main" id="{BEA6FFBB-9D35-354B-3AC6-E8A8F85B63E1}"/>
                        </a:ext>
                      </a:extLst>
                    </p:cNvPr>
                    <p:cNvCxnSpPr/>
                    <p:nvPr/>
                  </p:nvCxnSpPr>
                  <p:spPr bwMode="auto">
                    <a:xfrm>
                      <a:off x="35522115" y="10130725"/>
                      <a:ext cx="351295" cy="0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  <p:cxnSp>
                  <p:nvCxnSpPr>
                    <p:cNvPr id="15682" name="Straight Connector 15681">
                      <a:extLst>
                        <a:ext uri="{FF2B5EF4-FFF2-40B4-BE49-F238E27FC236}">
                          <a16:creationId xmlns:a16="http://schemas.microsoft.com/office/drawing/2014/main" id="{5C2B39A8-E98F-C573-D650-2D9B21FAC8D9}"/>
                        </a:ext>
                      </a:extLst>
                    </p:cNvPr>
                    <p:cNvCxnSpPr/>
                    <p:nvPr/>
                  </p:nvCxnSpPr>
                  <p:spPr bwMode="auto">
                    <a:xfrm>
                      <a:off x="35522114" y="10554346"/>
                      <a:ext cx="351295" cy="0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</p:grpSp>
              <p:grpSp>
                <p:nvGrpSpPr>
                  <p:cNvPr id="54" name="Group 53">
                    <a:extLst>
                      <a:ext uri="{FF2B5EF4-FFF2-40B4-BE49-F238E27FC236}">
                        <a16:creationId xmlns:a16="http://schemas.microsoft.com/office/drawing/2014/main" id="{968BAFCC-52D9-BFB9-CC07-A3696B041520}"/>
                      </a:ext>
                    </a:extLst>
                  </p:cNvPr>
                  <p:cNvGrpSpPr/>
                  <p:nvPr/>
                </p:nvGrpSpPr>
                <p:grpSpPr>
                  <a:xfrm>
                    <a:off x="37367399" y="13504189"/>
                    <a:ext cx="351296" cy="423621"/>
                    <a:chOff x="35522114" y="10130725"/>
                    <a:chExt cx="351296" cy="423621"/>
                  </a:xfrm>
                </p:grpSpPr>
                <p:cxnSp>
                  <p:nvCxnSpPr>
                    <p:cNvPr id="60" name="Straight Connector 59">
                      <a:extLst>
                        <a:ext uri="{FF2B5EF4-FFF2-40B4-BE49-F238E27FC236}">
                          <a16:creationId xmlns:a16="http://schemas.microsoft.com/office/drawing/2014/main" id="{749B3F97-30F0-6794-696B-E661B4B3BA9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auto">
                    <a:xfrm>
                      <a:off x="35697998" y="10130725"/>
                      <a:ext cx="0" cy="423621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  <p:cxnSp>
                  <p:nvCxnSpPr>
                    <p:cNvPr id="61" name="Straight Connector 60">
                      <a:extLst>
                        <a:ext uri="{FF2B5EF4-FFF2-40B4-BE49-F238E27FC236}">
                          <a16:creationId xmlns:a16="http://schemas.microsoft.com/office/drawing/2014/main" id="{0340D7E1-5C88-15E7-0532-E190399621A6}"/>
                        </a:ext>
                      </a:extLst>
                    </p:cNvPr>
                    <p:cNvCxnSpPr/>
                    <p:nvPr/>
                  </p:nvCxnSpPr>
                  <p:spPr bwMode="auto">
                    <a:xfrm>
                      <a:off x="35522115" y="10130725"/>
                      <a:ext cx="351295" cy="0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  <p:cxnSp>
                  <p:nvCxnSpPr>
                    <p:cNvPr id="62" name="Straight Connector 61">
                      <a:extLst>
                        <a:ext uri="{FF2B5EF4-FFF2-40B4-BE49-F238E27FC236}">
                          <a16:creationId xmlns:a16="http://schemas.microsoft.com/office/drawing/2014/main" id="{7F959E90-D232-A788-EBD7-D8540E0E969F}"/>
                        </a:ext>
                      </a:extLst>
                    </p:cNvPr>
                    <p:cNvCxnSpPr/>
                    <p:nvPr/>
                  </p:nvCxnSpPr>
                  <p:spPr bwMode="auto">
                    <a:xfrm>
                      <a:off x="35522114" y="10554346"/>
                      <a:ext cx="351295" cy="0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</p:grpSp>
              <p:grpSp>
                <p:nvGrpSpPr>
                  <p:cNvPr id="55" name="Group 54">
                    <a:extLst>
                      <a:ext uri="{FF2B5EF4-FFF2-40B4-BE49-F238E27FC236}">
                        <a16:creationId xmlns:a16="http://schemas.microsoft.com/office/drawing/2014/main" id="{083FCD46-2613-2829-B84B-4421FD99A2AF}"/>
                      </a:ext>
                    </a:extLst>
                  </p:cNvPr>
                  <p:cNvGrpSpPr/>
                  <p:nvPr/>
                </p:nvGrpSpPr>
                <p:grpSpPr>
                  <a:xfrm>
                    <a:off x="39207283" y="13504188"/>
                    <a:ext cx="351296" cy="423621"/>
                    <a:chOff x="35522114" y="10130725"/>
                    <a:chExt cx="351296" cy="423621"/>
                  </a:xfrm>
                </p:grpSpPr>
                <p:cxnSp>
                  <p:nvCxnSpPr>
                    <p:cNvPr id="57" name="Straight Connector 56">
                      <a:extLst>
                        <a:ext uri="{FF2B5EF4-FFF2-40B4-BE49-F238E27FC236}">
                          <a16:creationId xmlns:a16="http://schemas.microsoft.com/office/drawing/2014/main" id="{DA16309C-2410-022D-0276-EB3CFD6D5CA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auto">
                    <a:xfrm>
                      <a:off x="35697998" y="10130725"/>
                      <a:ext cx="0" cy="423621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  <p:cxnSp>
                  <p:nvCxnSpPr>
                    <p:cNvPr id="58" name="Straight Connector 57">
                      <a:extLst>
                        <a:ext uri="{FF2B5EF4-FFF2-40B4-BE49-F238E27FC236}">
                          <a16:creationId xmlns:a16="http://schemas.microsoft.com/office/drawing/2014/main" id="{5B96560F-9416-EAF2-0E4F-4E8C90F317E8}"/>
                        </a:ext>
                      </a:extLst>
                    </p:cNvPr>
                    <p:cNvCxnSpPr/>
                    <p:nvPr/>
                  </p:nvCxnSpPr>
                  <p:spPr bwMode="auto">
                    <a:xfrm>
                      <a:off x="35522115" y="10130725"/>
                      <a:ext cx="351295" cy="0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  <p:cxnSp>
                  <p:nvCxnSpPr>
                    <p:cNvPr id="59" name="Straight Connector 58">
                      <a:extLst>
                        <a:ext uri="{FF2B5EF4-FFF2-40B4-BE49-F238E27FC236}">
                          <a16:creationId xmlns:a16="http://schemas.microsoft.com/office/drawing/2014/main" id="{8DBCB99F-AF0E-1B7D-06FC-2CE1F0FBD87F}"/>
                        </a:ext>
                      </a:extLst>
                    </p:cNvPr>
                    <p:cNvCxnSpPr/>
                    <p:nvPr/>
                  </p:nvCxnSpPr>
                  <p:spPr bwMode="auto">
                    <a:xfrm>
                      <a:off x="35522114" y="10554346"/>
                      <a:ext cx="351295" cy="0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</p:grpSp>
            </p:grpSp>
          </p:grpSp>
        </p:grpSp>
      </p:grpSp>
      <p:cxnSp>
        <p:nvCxnSpPr>
          <p:cNvPr id="15712" name="Straight Connector 15711">
            <a:extLst>
              <a:ext uri="{FF2B5EF4-FFF2-40B4-BE49-F238E27FC236}">
                <a16:creationId xmlns:a16="http://schemas.microsoft.com/office/drawing/2014/main" id="{4BBAB568-052E-34B5-544B-C63905197C01}"/>
              </a:ext>
            </a:extLst>
          </p:cNvPr>
          <p:cNvCxnSpPr>
            <a:cxnSpLocks/>
          </p:cNvCxnSpPr>
          <p:nvPr/>
        </p:nvCxnSpPr>
        <p:spPr bwMode="auto">
          <a:xfrm>
            <a:off x="16754740" y="11187663"/>
            <a:ext cx="575561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732339425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38943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38943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DE0AC601CE7945A16C28BE7D604718" ma:contentTypeVersion="16" ma:contentTypeDescription="Create a new document." ma:contentTypeScope="" ma:versionID="7200742d51933ad5859751156d985908">
  <xsd:schema xmlns:xsd="http://www.w3.org/2001/XMLSchema" xmlns:xs="http://www.w3.org/2001/XMLSchema" xmlns:p="http://schemas.microsoft.com/office/2006/metadata/properties" xmlns:ns2="068132b6-27af-4cc5-9624-46e0bc309f9c" xmlns:ns3="1ec1d487-840c-40ff-aca1-00ff13008544" targetNamespace="http://schemas.microsoft.com/office/2006/metadata/properties" ma:root="true" ma:fieldsID="ef3bb859774f4d5f12e6e11e5f5551df" ns2:_="" ns3:_="">
    <xsd:import namespace="068132b6-27af-4cc5-9624-46e0bc309f9c"/>
    <xsd:import namespace="1ec1d487-840c-40ff-aca1-00ff1300854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8132b6-27af-4cc5-9624-46e0bc309f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46aeeafc-10b8-45d8-a1af-5ed376f9e15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c1d487-840c-40ff-aca1-00ff13008544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7585dd9d-b35f-48e0-ab88-fcb6ff0e764c}" ma:internalName="TaxCatchAll" ma:showField="CatchAllData" ma:web="1ec1d487-840c-40ff-aca1-00ff1300854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5CAE7E8-1A3A-4A91-86FB-BA9E1762341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6138A07-987C-4A73-AAED-022482DDD0A4}">
  <ds:schemaRefs>
    <ds:schemaRef ds:uri="068132b6-27af-4cc5-9624-46e0bc309f9c"/>
    <ds:schemaRef ds:uri="1ec1d487-840c-40ff-aca1-00ff1300854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23976</TotalTime>
  <Words>684</Words>
  <Application>Microsoft Macintosh PowerPoint</Application>
  <PresentationFormat>Custom</PresentationFormat>
  <Paragraphs>102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Helvetica</vt:lpstr>
      <vt:lpstr>Trebuchet MS</vt:lpstr>
      <vt:lpstr>Default Design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DVS</dc:creator>
  <cp:lastModifiedBy>Cooper Joseph Sharp</cp:lastModifiedBy>
  <cp:revision>47</cp:revision>
  <cp:lastPrinted>2023-11-10T05:05:03Z</cp:lastPrinted>
  <dcterms:created xsi:type="dcterms:W3CDTF">2007-10-30T17:33:32Z</dcterms:created>
  <dcterms:modified xsi:type="dcterms:W3CDTF">2023-11-16T17:21:56Z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