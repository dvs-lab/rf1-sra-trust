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8"/>
  </p:notesMasterIdLst>
  <p:handoutMasterIdLst>
    <p:handoutMasterId r:id="rId9"/>
  </p:handoutMasterIdLst>
  <p:sldIdLst>
    <p:sldId id="256" r:id="rId4"/>
    <p:sldId id="257" r:id="rId5"/>
    <p:sldId id="260" r:id="rId6"/>
    <p:sldId id="261" r:id="rId7"/>
  </p:sldIdLst>
  <p:sldSz cx="43891200" cy="329184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3154" indent="-62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2229" indent="-12735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68346" indent="-19251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4462" indent="-25767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4264975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511796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5970966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682395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E78F60-8CE4-956A-0128-6E549761F19F}" name="Avi Dachs" initials="AD" userId="S::tur74001@temple.edu::87fc8e61-7f3a-4332-ab39-1fb75fe6e6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Chiu" initials="MC" lastIdx="2" clrIdx="0">
    <p:extLst>
      <p:ext uri="{19B8F6BF-5375-455C-9EA6-DF929625EA0E}">
        <p15:presenceInfo xmlns:p15="http://schemas.microsoft.com/office/powerpoint/2012/main" userId="S-1-5-21-3496871491-3148157022-986074665-411994" providerId="AD"/>
      </p:ext>
    </p:extLst>
  </p:cmAuthor>
  <p:cmAuthor id="2" name="Dominic Fareri" initials="DF" lastIdx="7" clrIdx="1">
    <p:extLst>
      <p:ext uri="{19B8F6BF-5375-455C-9EA6-DF929625EA0E}">
        <p15:presenceInfo xmlns:p15="http://schemas.microsoft.com/office/powerpoint/2012/main" userId="Dominic Fareri" providerId="None"/>
      </p:ext>
    </p:extLst>
  </p:cmAuthor>
  <p:cmAuthor id="3" name="David V. Smith" initials="DVS" lastIdx="4" clrIdx="2">
    <p:extLst>
      <p:ext uri="{19B8F6BF-5375-455C-9EA6-DF929625EA0E}">
        <p15:presenceInfo xmlns:p15="http://schemas.microsoft.com/office/powerpoint/2012/main" userId="David V. Smith" providerId="None"/>
      </p:ext>
    </p:extLst>
  </p:cmAuthor>
  <p:cmAuthor id="4" name="Katherine Hackett" initials="KH" lastIdx="3" clrIdx="3">
    <p:extLst>
      <p:ext uri="{19B8F6BF-5375-455C-9EA6-DF929625EA0E}">
        <p15:presenceInfo xmlns:p15="http://schemas.microsoft.com/office/powerpoint/2012/main" userId="S::tug90253@temple.edu::140e704c-c617-467c-a834-32d4bb446d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B9F"/>
    <a:srgbClr val="95CB8F"/>
    <a:srgbClr val="79CB7A"/>
    <a:srgbClr val="FAF86D"/>
    <a:srgbClr val="848484"/>
    <a:srgbClr val="E4E0BA"/>
    <a:srgbClr val="D8E3C1"/>
    <a:srgbClr val="EF544A"/>
    <a:srgbClr val="BDE4CB"/>
    <a:srgbClr val="F2D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8"/>
    <p:restoredTop sz="94648"/>
  </p:normalViewPr>
  <p:slideViewPr>
    <p:cSldViewPr snapToGrid="0">
      <p:cViewPr>
        <p:scale>
          <a:sx n="33" d="100"/>
          <a:sy n="33" d="100"/>
        </p:scale>
        <p:origin x="328" y="-62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FDDBB1-044E-9D49-A06F-A3C869B026F2}" authorId="{65E78F60-8CE4-956A-0128-6E549761F19F}" created="2023-11-09T16:08:01.580">
    <pc:sldMkLst xmlns:pc="http://schemas.microsoft.com/office/powerpoint/2013/main/command">
      <pc:docMk/>
      <pc:sldMk cId="0" sldId="256"/>
    </pc:sldMkLst>
    <p188:replyLst>
      <p188:reply id="{3B9890BE-EE1D-3A49-92EB-1992130D2BCD}" authorId="{65E78F60-8CE4-956A-0128-6E549761F19F}" created="2023-11-09T16:08:57.249">
        <p188:txBody>
          <a:bodyPr/>
          <a:lstStyle/>
          <a:p>
            <a:r>
              <a:rPr lang="en-US"/>
              <a:t>IOS x age</a:t>
            </a:r>
          </a:p>
        </p188:txBody>
      </p188:reply>
    </p188:replyLst>
    <p188:txBody>
      <a:bodyPr/>
      <a:lstStyle/>
      <a:p>
        <a:r>
          <a:rPr lang="en-US"/>
          <a:t>Computer Stranger order 3.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2439DB-88A9-47CB-8306-24653602898A}" type="datetimeFigureOut">
              <a:rPr lang="en-US" altLang="en-US"/>
              <a:pPr/>
              <a:t>11/9/23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E2D3955-F8C1-45A6-BC0E-23ADC1AD9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53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946" y="4422459"/>
            <a:ext cx="5617208" cy="41887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53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F6F6737-73D4-41EA-8E23-BF979942D6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MS PGothic" panose="020B0600070205080204" pitchFamily="34" charset="-128"/>
        <a:cs typeface="Arial" charset="0"/>
      </a:defRPr>
    </a:lvl1pPr>
    <a:lvl2pPr marL="453154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2229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68346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4462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4261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115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968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816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4064" indent="-286179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4715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2600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60486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8372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6258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34144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92029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4736F1-11A1-4F15-821F-373E647BE191}" type="slidenum">
              <a:rPr lang="en-US" altLang="en-US" sz="120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54550" cy="3490913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Tx/>
              <a:buChar char="-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82" y="10226677"/>
            <a:ext cx="37306249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5" y="18653127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06356" indent="0" algn="ctr">
              <a:buNone/>
              <a:defRPr/>
            </a:lvl2pPr>
            <a:lvl3pPr marL="812714" indent="0" algn="ctr">
              <a:buNone/>
              <a:defRPr/>
            </a:lvl3pPr>
            <a:lvl4pPr marL="1219072" indent="0" algn="ctr">
              <a:buNone/>
              <a:defRPr/>
            </a:lvl4pPr>
            <a:lvl5pPr marL="1625431" indent="0" algn="ctr">
              <a:buNone/>
              <a:defRPr/>
            </a:lvl5pPr>
            <a:lvl6pPr marL="2031789" indent="0" algn="ctr">
              <a:buNone/>
              <a:defRPr/>
            </a:lvl6pPr>
            <a:lvl7pPr marL="2438145" indent="0" algn="ctr">
              <a:buNone/>
              <a:defRPr/>
            </a:lvl7pPr>
            <a:lvl8pPr marL="2844503" indent="0" algn="ctr">
              <a:buNone/>
              <a:defRPr/>
            </a:lvl8pPr>
            <a:lvl9pPr marL="325085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45733-9CD5-4A39-AF19-1576EAAC58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EFD10-DBAF-4AE2-89A0-5AF92A9DB4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0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6" y="21153440"/>
            <a:ext cx="37307838" cy="6537324"/>
          </a:xfrm>
        </p:spPr>
        <p:txBody>
          <a:bodyPr anchor="t"/>
          <a:lstStyle>
            <a:lvl1pPr algn="l">
              <a:defRPr sz="35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6" y="13952538"/>
            <a:ext cx="37307838" cy="7200900"/>
          </a:xfrm>
        </p:spPr>
        <p:txBody>
          <a:bodyPr anchor="b"/>
          <a:lstStyle>
            <a:lvl1pPr marL="0" indent="0">
              <a:buNone/>
              <a:defRPr sz="1753"/>
            </a:lvl1pPr>
            <a:lvl2pPr marL="406356" indent="0">
              <a:buNone/>
              <a:defRPr sz="1600"/>
            </a:lvl2pPr>
            <a:lvl3pPr marL="812714" indent="0">
              <a:buNone/>
              <a:defRPr sz="1447"/>
            </a:lvl3pPr>
            <a:lvl4pPr marL="1219072" indent="0">
              <a:buNone/>
              <a:defRPr sz="1220"/>
            </a:lvl4pPr>
            <a:lvl5pPr marL="1625431" indent="0">
              <a:buNone/>
              <a:defRPr sz="1220"/>
            </a:lvl5pPr>
            <a:lvl6pPr marL="2031789" indent="0">
              <a:buNone/>
              <a:defRPr sz="1220"/>
            </a:lvl6pPr>
            <a:lvl7pPr marL="2438145" indent="0">
              <a:buNone/>
              <a:defRPr sz="1220"/>
            </a:lvl7pPr>
            <a:lvl8pPr marL="2844503" indent="0">
              <a:buNone/>
              <a:defRPr sz="1220"/>
            </a:lvl8pPr>
            <a:lvl9pPr marL="3250859" indent="0">
              <a:buNone/>
              <a:defRPr sz="12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3906F-68E1-40D4-92B5-7E5E62F918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90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31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6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6F8588-11AB-46DB-B65B-0DA5B032DF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72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6" y="7369176"/>
            <a:ext cx="19392899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6" y="10439407"/>
            <a:ext cx="19392899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40" y="7369176"/>
            <a:ext cx="19400837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40" y="10439407"/>
            <a:ext cx="19400837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70D44-9EE5-494F-B24D-9088C4F630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95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282EB0-6A1C-42AA-BBF4-30A498DC98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10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D00DC-00D9-48A8-8591-ED180EF32D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6"/>
            <a:ext cx="14439901" cy="5576888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6"/>
            <a:ext cx="24536400" cy="28093988"/>
          </a:xfrm>
        </p:spPr>
        <p:txBody>
          <a:bodyPr/>
          <a:lstStyle>
            <a:lvl1pPr>
              <a:defRPr sz="2820"/>
            </a:lvl1pPr>
            <a:lvl2pPr>
              <a:defRPr sz="2514"/>
            </a:lvl2pPr>
            <a:lvl3pPr>
              <a:defRPr sz="2133"/>
            </a:lvl3pPr>
            <a:lvl4pPr>
              <a:defRPr sz="1753"/>
            </a:lvl4pPr>
            <a:lvl5pPr>
              <a:defRPr sz="1753"/>
            </a:lvl5pPr>
            <a:lvl6pPr>
              <a:defRPr sz="1753"/>
            </a:lvl6pPr>
            <a:lvl7pPr>
              <a:defRPr sz="1753"/>
            </a:lvl7pPr>
            <a:lvl8pPr>
              <a:defRPr sz="1753"/>
            </a:lvl8pPr>
            <a:lvl9pPr>
              <a:defRPr sz="17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2"/>
            <a:ext cx="14439901" cy="22517100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8C0C4-CE81-4EEF-9770-5470521DE3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83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4"/>
            <a:ext cx="26335036" cy="2720976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45"/>
            <a:ext cx="26335036" cy="19750086"/>
          </a:xfrm>
        </p:spPr>
        <p:txBody>
          <a:bodyPr/>
          <a:lstStyle>
            <a:lvl1pPr marL="0" indent="0">
              <a:buNone/>
              <a:defRPr sz="2820"/>
            </a:lvl1pPr>
            <a:lvl2pPr marL="406356" indent="0">
              <a:buNone/>
              <a:defRPr sz="2514"/>
            </a:lvl2pPr>
            <a:lvl3pPr marL="812714" indent="0">
              <a:buNone/>
              <a:defRPr sz="2133"/>
            </a:lvl3pPr>
            <a:lvl4pPr marL="1219072" indent="0">
              <a:buNone/>
              <a:defRPr sz="1753"/>
            </a:lvl4pPr>
            <a:lvl5pPr marL="1625431" indent="0">
              <a:buNone/>
              <a:defRPr sz="1753"/>
            </a:lvl5pPr>
            <a:lvl6pPr marL="2031789" indent="0">
              <a:buNone/>
              <a:defRPr sz="1753"/>
            </a:lvl6pPr>
            <a:lvl7pPr marL="2438145" indent="0">
              <a:buNone/>
              <a:defRPr sz="1753"/>
            </a:lvl7pPr>
            <a:lvl8pPr marL="2844503" indent="0">
              <a:buNone/>
              <a:defRPr sz="1753"/>
            </a:lvl8pPr>
            <a:lvl9pPr marL="3250859" indent="0">
              <a:buNone/>
              <a:defRPr sz="175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5"/>
            <a:ext cx="26335036" cy="3862386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393D9-CF7B-4330-B265-DED19A74F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25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C7718-C7BA-4E2F-9613-1867C7C343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2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31"/>
            <a:ext cx="9875836" cy="280876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6" y="1317631"/>
            <a:ext cx="29475113" cy="280876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C855F-A866-40A9-8FAF-89579C6C0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1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2873" y="1317626"/>
            <a:ext cx="3950546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2873" y="7680331"/>
            <a:ext cx="39505467" cy="2172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28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4473" y="29975176"/>
            <a:ext cx="139022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36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867">
                <a:latin typeface="Arial" panose="020B0604020202020204" pitchFamily="34" charset="0"/>
              </a:defRPr>
            </a:lvl1pPr>
          </a:lstStyle>
          <a:p>
            <a:fld id="{0BDB88F5-6D3C-44D6-BE49-529E82C2D5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06356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6pPr>
      <a:lvl7pPr marL="812714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7pPr>
      <a:lvl8pPr marL="1219072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8pPr>
      <a:lvl9pPr marL="1625431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461745" indent="-1461745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3689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3166173" indent="-1216240" algn="l" defTabSz="3899866" rtl="0" eaLnBrk="0" fontAlgn="base" hangingPunct="0">
        <a:spcBef>
          <a:spcPct val="20000"/>
        </a:spcBef>
        <a:spcAft>
          <a:spcPct val="0"/>
        </a:spcAft>
        <a:buChar char="–"/>
        <a:defRPr sz="11731">
          <a:solidFill>
            <a:schemeClr val="tx1"/>
          </a:solidFill>
          <a:latin typeface="+mn-lt"/>
          <a:ea typeface="Arial" charset="0"/>
          <a:cs typeface="+mn-cs"/>
        </a:defRPr>
      </a:lvl2pPr>
      <a:lvl3pPr marL="4873424" indent="-973557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0131">
          <a:solidFill>
            <a:schemeClr val="tx1"/>
          </a:solidFill>
          <a:latin typeface="+mn-lt"/>
          <a:ea typeface="Arial" charset="0"/>
          <a:cs typeface="+mn-cs"/>
        </a:defRPr>
      </a:lvl3pPr>
      <a:lvl4pPr marL="6826179" indent="-973557" algn="l" defTabSz="3899866" rtl="0" eaLnBrk="0" fontAlgn="base" hangingPunct="0">
        <a:spcBef>
          <a:spcPct val="20000"/>
        </a:spcBef>
        <a:spcAft>
          <a:spcPct val="0"/>
        </a:spcAft>
        <a:buChar char="–"/>
        <a:defRPr sz="8533">
          <a:solidFill>
            <a:schemeClr val="tx1"/>
          </a:solidFill>
          <a:latin typeface="+mn-lt"/>
          <a:ea typeface="Arial" charset="0"/>
          <a:cs typeface="+mn-cs"/>
        </a:defRPr>
      </a:lvl4pPr>
      <a:lvl5pPr marL="8776112" indent="-973557" algn="l" defTabSz="3899866" rtl="0" eaLnBrk="0" fontAlgn="base" hangingPunct="0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ea typeface="Arial" charset="0"/>
          <a:cs typeface="+mn-cs"/>
        </a:defRPr>
      </a:lvl5pPr>
      <a:lvl6pPr marL="918396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6pPr>
      <a:lvl7pPr marL="959032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7pPr>
      <a:lvl8pPr marL="9996680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8pPr>
      <a:lvl9pPr marL="10403038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56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714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072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431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78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145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503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85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microsoft.com/office/2018/10/relationships/comments" Target="../comments/modernComment_100_0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sv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svg"/><Relationship Id="rId27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28" name="Group 15427">
            <a:extLst>
              <a:ext uri="{FF2B5EF4-FFF2-40B4-BE49-F238E27FC236}">
                <a16:creationId xmlns:a16="http://schemas.microsoft.com/office/drawing/2014/main" id="{788D9291-9D84-C5C9-22EF-259D72BF4C72}"/>
              </a:ext>
            </a:extLst>
          </p:cNvPr>
          <p:cNvGrpSpPr/>
          <p:nvPr/>
        </p:nvGrpSpPr>
        <p:grpSpPr>
          <a:xfrm>
            <a:off x="-12351685" y="24748572"/>
            <a:ext cx="27124037" cy="5855069"/>
            <a:chOff x="-13075441" y="16557233"/>
            <a:chExt cx="27124037" cy="585506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9055108-BE18-C2C5-0FF5-A55BEBB4A05F}"/>
                </a:ext>
              </a:extLst>
            </p:cNvPr>
            <p:cNvGrpSpPr/>
            <p:nvPr/>
          </p:nvGrpSpPr>
          <p:grpSpPr>
            <a:xfrm>
              <a:off x="-13075441" y="16557233"/>
              <a:ext cx="7981099" cy="1956293"/>
              <a:chOff x="-13057094" y="16450839"/>
              <a:chExt cx="7981099" cy="195629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3421B0-7681-A37B-CA3F-986E07C1DB77}"/>
                  </a:ext>
                </a:extLst>
              </p:cNvPr>
              <p:cNvSpPr/>
              <p:nvPr/>
            </p:nvSpPr>
            <p:spPr bwMode="auto">
              <a:xfrm>
                <a:off x="-13057094" y="16450839"/>
                <a:ext cx="3543576" cy="1716829"/>
              </a:xfrm>
              <a:prstGeom prst="rect">
                <a:avLst/>
              </a:prstGeom>
              <a:solidFill>
                <a:srgbClr val="FAF86D">
                  <a:alpha val="82294"/>
                </a:srgbClr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94C34F-C114-09E7-7592-2C68A047774A}"/>
                  </a:ext>
                </a:extLst>
              </p:cNvPr>
              <p:cNvSpPr txBox="1"/>
              <p:nvPr/>
            </p:nvSpPr>
            <p:spPr>
              <a:xfrm>
                <a:off x="-8462360" y="16837472"/>
                <a:ext cx="3386365" cy="15696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3200" b="1" dirty="0">
                    <a:latin typeface="Helvetica"/>
                    <a:ea typeface="MS PGothic"/>
                  </a:rPr>
                  <a:t>Scan the QR code to see the</a:t>
                </a:r>
                <a:endParaRPr lang="en-US" sz="3200" b="1" dirty="0"/>
              </a:p>
              <a:p>
                <a:pPr algn="ctr"/>
                <a:r>
                  <a:rPr lang="en-US" sz="3200" b="1" u="sng" dirty="0">
                    <a:latin typeface="Helvetica"/>
                    <a:ea typeface="MS PGothic"/>
                  </a:rPr>
                  <a:t>Pre-registration!</a:t>
                </a:r>
                <a:endParaRPr lang="en-US" sz="3200" b="1" u="sng" dirty="0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5B61256-0745-91A9-AD49-FA138651C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958" y="19378946"/>
              <a:ext cx="3043638" cy="3033356"/>
            </a:xfrm>
            <a:prstGeom prst="rect">
              <a:avLst/>
            </a:prstGeom>
          </p:spPr>
        </p:pic>
      </p:grpSp>
      <p:sp>
        <p:nvSpPr>
          <p:cNvPr id="15365" name="Rectangle 162"/>
          <p:cNvSpPr>
            <a:spLocks noChangeArrowheads="1"/>
          </p:cNvSpPr>
          <p:nvPr/>
        </p:nvSpPr>
        <p:spPr bwMode="auto">
          <a:xfrm>
            <a:off x="162957" y="12488003"/>
            <a:ext cx="14710114" cy="18312188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367" name="Rectangle 162"/>
          <p:cNvSpPr>
            <a:spLocks noChangeArrowheads="1"/>
          </p:cNvSpPr>
          <p:nvPr/>
        </p:nvSpPr>
        <p:spPr bwMode="auto">
          <a:xfrm>
            <a:off x="15456311" y="4238464"/>
            <a:ext cx="14842502" cy="17487949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388" name="TextBox 2"/>
          <p:cNvSpPr txBox="1">
            <a:spLocks noChangeArrowheads="1"/>
          </p:cNvSpPr>
          <p:nvPr/>
        </p:nvSpPr>
        <p:spPr bwMode="auto">
          <a:xfrm>
            <a:off x="4842671" y="1755462"/>
            <a:ext cx="3393276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Abraham Dachs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Cooper J. Sharp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Enes Yanilmaz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James B.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Wyngaarden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 III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Ori Zaff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Tia Tropea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Daniel Sazhin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Rita Ludwig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Tania Giovannetti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Dominic S. Fareri</a:t>
            </a:r>
            <a:r>
              <a:rPr lang="en-US" sz="4000" baseline="30000" dirty="0">
                <a:solidFill>
                  <a:srgbClr val="000000"/>
                </a:solidFill>
                <a:latin typeface="Trebuchet MS" panose="020B0703020202090204" pitchFamily="34" charset="0"/>
              </a:rPr>
              <a:t>3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David V. Smith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 </a:t>
            </a:r>
            <a:br>
              <a:rPr lang="en-US" sz="4000" dirty="0">
                <a:latin typeface="Trebuchet MS" panose="020B0703020202090204" pitchFamily="34" charset="0"/>
                <a:cs typeface="Helvetica" panose="020B0604020202020204" pitchFamily="34" charset="0"/>
              </a:rPr>
            </a:br>
            <a:endParaRPr lang="en-US" altLang="en-US" sz="4000" dirty="0">
              <a:latin typeface="Trebuchet MS" panose="020B0703020202090204" pitchFamily="34" charset="0"/>
              <a:cs typeface="Helvetica" panose="020B0604020202020204" pitchFamily="34" charset="0"/>
            </a:endParaRPr>
          </a:p>
        </p:txBody>
      </p:sp>
      <p:sp>
        <p:nvSpPr>
          <p:cNvPr id="15371" name="TextBox 15370"/>
          <p:cNvSpPr txBox="1"/>
          <p:nvPr/>
        </p:nvSpPr>
        <p:spPr>
          <a:xfrm>
            <a:off x="1612263" y="216407"/>
            <a:ext cx="40393584" cy="146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9000" b="1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Examining Age-Related Differences in Neural Responses to Trust</a:t>
            </a:r>
            <a:endParaRPr lang="en-US" sz="9000" dirty="0">
              <a:effectLst/>
              <a:latin typeface="Trebuchet MS" panose="020B0703020202090204" pitchFamily="34" charset="0"/>
              <a:ea typeface="Calibri" panose="020F0502020204030204" pitchFamily="34" charset="0"/>
              <a:cs typeface="Helvetica"/>
            </a:endParaRPr>
          </a:p>
        </p:txBody>
      </p:sp>
      <p:sp>
        <p:nvSpPr>
          <p:cNvPr id="15364" name="TextBox 4"/>
          <p:cNvSpPr txBox="1">
            <a:spLocks noChangeArrowheads="1"/>
          </p:cNvSpPr>
          <p:nvPr/>
        </p:nvSpPr>
        <p:spPr bwMode="auto">
          <a:xfrm>
            <a:off x="5483063" y="12207796"/>
            <a:ext cx="4095681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2. Methods</a:t>
            </a:r>
          </a:p>
        </p:txBody>
      </p:sp>
      <p:sp>
        <p:nvSpPr>
          <p:cNvPr id="15366" name="TextBox 86"/>
          <p:cNvSpPr txBox="1">
            <a:spLocks noChangeArrowheads="1"/>
          </p:cNvSpPr>
          <p:nvPr/>
        </p:nvSpPr>
        <p:spPr bwMode="auto">
          <a:xfrm>
            <a:off x="15671037" y="3834958"/>
            <a:ext cx="14465760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3. Subjects Are Closer With Friends than With Strangers</a:t>
            </a:r>
          </a:p>
        </p:txBody>
      </p:sp>
      <p:sp>
        <p:nvSpPr>
          <p:cNvPr id="45" name="Rectangle 162">
            <a:extLst>
              <a:ext uri="{FF2B5EF4-FFF2-40B4-BE49-F238E27FC236}">
                <a16:creationId xmlns:a16="http://schemas.microsoft.com/office/drawing/2014/main" id="{FA585F15-03D7-754B-AA26-E340A32F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3599" y="4250489"/>
            <a:ext cx="12957755" cy="19868614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55" name="TextBox 86">
            <a:extLst>
              <a:ext uri="{FF2B5EF4-FFF2-40B4-BE49-F238E27FC236}">
                <a16:creationId xmlns:a16="http://schemas.microsoft.com/office/drawing/2014/main" id="{1CF89B97-C9DF-F948-91B0-4A8F54D0C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3648" y="3872154"/>
            <a:ext cx="12337509" cy="746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50" dirty="0">
                <a:solidFill>
                  <a:srgbClr val="C00000"/>
                </a:solidFill>
                <a:latin typeface="Trebuchet MS"/>
                <a:ea typeface="MS PGothic"/>
              </a:rPr>
              <a:t>5. Age Related Differences in Partner Response </a:t>
            </a:r>
            <a:endParaRPr lang="en-US" altLang="en-US" sz="4250" dirty="0">
              <a:solidFill>
                <a:srgbClr val="C00000"/>
              </a:solidFill>
              <a:latin typeface="Trebuchet MS"/>
            </a:endParaRPr>
          </a:p>
        </p:txBody>
      </p:sp>
      <p:sp>
        <p:nvSpPr>
          <p:cNvPr id="68" name="Rectangle 162">
            <a:extLst>
              <a:ext uri="{FF2B5EF4-FFF2-40B4-BE49-F238E27FC236}">
                <a16:creationId xmlns:a16="http://schemas.microsoft.com/office/drawing/2014/main" id="{CA8DA663-8989-0040-A19E-2D41018B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0883" y="22267959"/>
            <a:ext cx="14827930" cy="10416548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70" name="TextBox 86">
            <a:extLst>
              <a:ext uri="{FF2B5EF4-FFF2-40B4-BE49-F238E27FC236}">
                <a16:creationId xmlns:a16="http://schemas.microsoft.com/office/drawing/2014/main" id="{ED758D76-DD2F-7D44-83F3-6BA6250C1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9573" y="21922063"/>
            <a:ext cx="1286868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4. Age Differences in Ventral Striatum Responses?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FF830-B4D0-45F1-9D03-A4780549AB6A}"/>
              </a:ext>
            </a:extLst>
          </p:cNvPr>
          <p:cNvSpPr txBox="1"/>
          <p:nvPr/>
        </p:nvSpPr>
        <p:spPr>
          <a:xfrm>
            <a:off x="15288515" y="31054326"/>
            <a:ext cx="1465069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We found activation in the VS when participants were presented with a reciprocate outcome as opposed to a defect outcome.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0D1788F-40E9-4B4B-8F80-BF8EDB08248D}"/>
              </a:ext>
            </a:extLst>
          </p:cNvPr>
          <p:cNvSpPr txBox="1"/>
          <p:nvPr/>
        </p:nvSpPr>
        <p:spPr>
          <a:xfrm>
            <a:off x="10972800" y="3193375"/>
            <a:ext cx="2194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dirty="0">
                <a:solidFill>
                  <a:srgbClr val="000000"/>
                </a:solidFill>
                <a:effectLst/>
                <a:cs typeface="Helvetica" panose="020B0604020202020204" pitchFamily="34" charset="0"/>
              </a:rPr>
              <a:t>1. Temple University, Philadelphia, PA; 2. University of Pennsylvania, Philadelphia, PA; 3. Adelphi University, Garden City, NY</a:t>
            </a:r>
            <a:endParaRPr lang="en-US" sz="2800" dirty="0">
              <a:cs typeface="Helvetica" panose="020B0604020202020204" pitchFamily="34" charset="0"/>
            </a:endParaRPr>
          </a:p>
        </p:txBody>
      </p:sp>
      <p:grpSp>
        <p:nvGrpSpPr>
          <p:cNvPr id="15525" name="Group 15524">
            <a:extLst>
              <a:ext uri="{FF2B5EF4-FFF2-40B4-BE49-F238E27FC236}">
                <a16:creationId xmlns:a16="http://schemas.microsoft.com/office/drawing/2014/main" id="{495044C5-5185-1E74-1C51-F36E8CA64CBA}"/>
              </a:ext>
            </a:extLst>
          </p:cNvPr>
          <p:cNvGrpSpPr/>
          <p:nvPr/>
        </p:nvGrpSpPr>
        <p:grpSpPr>
          <a:xfrm>
            <a:off x="169367" y="3967558"/>
            <a:ext cx="14831195" cy="8123743"/>
            <a:chOff x="211346" y="3968278"/>
            <a:chExt cx="14831195" cy="8123743"/>
          </a:xfrm>
        </p:grpSpPr>
        <p:sp>
          <p:nvSpPr>
            <p:cNvPr id="15362" name="TextBox 189"/>
            <p:cNvSpPr txBox="1">
              <a:spLocks noChangeArrowheads="1"/>
            </p:cNvSpPr>
            <p:nvPr/>
          </p:nvSpPr>
          <p:spPr bwMode="auto">
            <a:xfrm>
              <a:off x="515553" y="4761579"/>
              <a:ext cx="14526988" cy="501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4000" dirty="0">
                  <a:latin typeface="Helvetica"/>
                  <a:ea typeface="MS PGothic"/>
                  <a:cs typeface="Helvetica"/>
                </a:rPr>
                <a:t> </a:t>
              </a:r>
              <a:r>
                <a:rPr lang="en-US" sz="4000" b="0" i="0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Social relationships influence our behaviors and may modulate our neural responses to reward. (</a:t>
              </a:r>
              <a:r>
                <a:rPr lang="en-US" sz="4000" b="0" i="0" dirty="0" err="1">
                  <a:solidFill>
                    <a:srgbClr val="000000"/>
                  </a:solidFill>
                  <a:effectLst/>
                  <a:latin typeface="Helvetica" pitchFamily="2" charset="0"/>
                </a:rPr>
                <a:t>Fareri</a:t>
              </a:r>
              <a:r>
                <a:rPr lang="en-US" sz="4000" b="0" i="0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 et al., 2015)</a:t>
              </a:r>
              <a:endParaRPr lang="en-US" sz="4000" dirty="0">
                <a:latin typeface="Helvetica" pitchFamily="2" charset="0"/>
                <a:ea typeface="MS PGothic"/>
                <a:cs typeface="Helvetica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4000" dirty="0">
                  <a:latin typeface="Helvetica"/>
                  <a:ea typeface="MS PGothic"/>
                  <a:cs typeface="Helvetica"/>
                </a:rPr>
                <a:t> </a:t>
              </a:r>
              <a:r>
                <a:rPr lang="en-US" sz="4000" dirty="0">
                  <a:solidFill>
                    <a:srgbClr val="000000"/>
                  </a:solidFill>
                  <a:latin typeface="Helvetica" pitchFamily="2" charset="0"/>
                  <a:ea typeface="MS PGothic"/>
                  <a:cs typeface="Helvetica"/>
                </a:rPr>
                <a:t>Th</a:t>
              </a:r>
              <a:r>
                <a:rPr lang="en-US" sz="4000" b="0" i="0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e effect of relationships on behavior and reward activation may change as we age. (</a:t>
              </a:r>
              <a:r>
                <a:rPr lang="en-US" sz="4000" b="0" i="0" dirty="0" err="1">
                  <a:solidFill>
                    <a:srgbClr val="000000"/>
                  </a:solidFill>
                  <a:effectLst/>
                  <a:latin typeface="Helvetica" pitchFamily="2" charset="0"/>
                </a:rPr>
                <a:t>Fareri</a:t>
              </a:r>
              <a:r>
                <a:rPr lang="en-US" sz="4000" b="0" i="0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 et al., 2022)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4000" b="0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 It remains unclear whether age-related differences in responses to trust are associated with maladaptive outcomes such as financial exploitation.</a:t>
              </a:r>
              <a:endParaRPr lang="en-US" sz="4000" dirty="0">
                <a:latin typeface="Helvetica" pitchFamily="2" charset="0"/>
                <a:ea typeface="MS PGothic"/>
                <a:cs typeface="Helvetica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4000" dirty="0">
                <a:latin typeface="Helvetica" pitchFamily="2" charset="0"/>
                <a:ea typeface="MS PGothic"/>
                <a:cs typeface="Helvetica"/>
              </a:endParaRPr>
            </a:p>
          </p:txBody>
        </p:sp>
        <p:sp>
          <p:nvSpPr>
            <p:cNvPr id="15369" name="Rectangle 162"/>
            <p:cNvSpPr>
              <a:spLocks noChangeArrowheads="1"/>
            </p:cNvSpPr>
            <p:nvPr/>
          </p:nvSpPr>
          <p:spPr bwMode="auto">
            <a:xfrm>
              <a:off x="211346" y="4331110"/>
              <a:ext cx="14720168" cy="7760911"/>
            </a:xfrm>
            <a:prstGeom prst="rect">
              <a:avLst/>
            </a:prstGeom>
            <a:noFill/>
            <a:ln w="762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1274" tIns="40638" rIns="81274" bIns="40638" anchor="ctr"/>
            <a:lstStyle>
              <a:lvl1pPr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1245" dirty="0">
                <a:latin typeface="Trebuchet MS" panose="020B0603020202020204" pitchFamily="34" charset="0"/>
              </a:endParaRPr>
            </a:p>
          </p:txBody>
        </p:sp>
        <p:sp>
          <p:nvSpPr>
            <p:cNvPr id="15361" name="Rectangle 200"/>
            <p:cNvSpPr>
              <a:spLocks noChangeArrowheads="1"/>
            </p:cNvSpPr>
            <p:nvPr/>
          </p:nvSpPr>
          <p:spPr bwMode="auto">
            <a:xfrm>
              <a:off x="4858205" y="3968278"/>
              <a:ext cx="4805795" cy="7387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81274" tIns="40638" rIns="81274" bIns="40638">
              <a:spAutoFit/>
            </a:bodyPr>
            <a:lstStyle>
              <a:lvl1pPr defTabSz="5119688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5119688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5119688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5119688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5119688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51196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51196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51196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51196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4267" b="1" dirty="0">
                  <a:solidFill>
                    <a:srgbClr val="C00000"/>
                  </a:solidFill>
                  <a:latin typeface="Trebuchet MS" panose="020B0603020202020204" pitchFamily="34" charset="0"/>
                </a:rPr>
                <a:t>1. Introduction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28EF0BF-392F-46C6-BF23-BF99B2CEA917}"/>
                </a:ext>
              </a:extLst>
            </p:cNvPr>
            <p:cNvSpPr txBox="1"/>
            <p:nvPr/>
          </p:nvSpPr>
          <p:spPr>
            <a:xfrm>
              <a:off x="251798" y="9507352"/>
              <a:ext cx="14639262" cy="203132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spcBef>
                  <a:spcPts val="360"/>
                </a:spcBef>
                <a:spcAft>
                  <a:spcPts val="0"/>
                </a:spcAft>
              </a:pPr>
              <a:r>
                <a:rPr lang="en-US" sz="4200" b="1" dirty="0">
                  <a:latin typeface="Helvetica"/>
                  <a:ea typeface="MS PGothic"/>
                  <a:cs typeface="Helvetica"/>
                </a:rPr>
                <a:t>We</a:t>
              </a:r>
              <a:r>
                <a:rPr lang="en-US" sz="4200" b="1" i="0" u="none" strike="noStrike" dirty="0">
                  <a:effectLst/>
                  <a:latin typeface="Helvetica"/>
                  <a:ea typeface="MS PGothic"/>
                  <a:cs typeface="Helvetica"/>
                </a:rPr>
                <a:t> investigated </a:t>
              </a:r>
              <a:r>
                <a:rPr lang="en-US" sz="4200" b="1" dirty="0">
                  <a:latin typeface="Helvetica"/>
                  <a:ea typeface="MS PGothic"/>
                  <a:cs typeface="Helvetica"/>
                </a:rPr>
                <a:t>whether social trust decisions change as we age, and how those changes could be related to financial exploitation.</a:t>
              </a:r>
              <a:endParaRPr lang="en-US" sz="4200" b="1" dirty="0">
                <a:cs typeface="Helvetica"/>
              </a:endParaRPr>
            </a:p>
          </p:txBody>
        </p:sp>
      </p:grpSp>
      <p:grpSp>
        <p:nvGrpSpPr>
          <p:cNvPr id="15508" name="Group 15507">
            <a:extLst>
              <a:ext uri="{FF2B5EF4-FFF2-40B4-BE49-F238E27FC236}">
                <a16:creationId xmlns:a16="http://schemas.microsoft.com/office/drawing/2014/main" id="{ACE08C75-5E52-BA85-3BBA-E0BBC55E5D24}"/>
              </a:ext>
            </a:extLst>
          </p:cNvPr>
          <p:cNvGrpSpPr/>
          <p:nvPr/>
        </p:nvGrpSpPr>
        <p:grpSpPr>
          <a:xfrm>
            <a:off x="15818565" y="23900244"/>
            <a:ext cx="6012596" cy="5358384"/>
            <a:chOff x="14976740" y="15406812"/>
            <a:chExt cx="6810930" cy="60710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28FE8E4-EF11-44C2-C242-0D3749E53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05594" y="15406812"/>
              <a:ext cx="6082076" cy="607109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37958DE-5E24-D58C-4A7D-3AB8A936FE13}"/>
                </a:ext>
              </a:extLst>
            </p:cNvPr>
            <p:cNvSpPr txBox="1"/>
            <p:nvPr/>
          </p:nvSpPr>
          <p:spPr>
            <a:xfrm>
              <a:off x="14986107" y="20885189"/>
              <a:ext cx="113319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latin typeface="Helvetica"/>
                  <a:ea typeface="MS PGothic"/>
                </a:rPr>
                <a:t>VS</a:t>
              </a:r>
              <a:endParaRPr lang="en-US" sz="3200" b="1" dirty="0">
                <a:latin typeface="Helvetic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9AB7A3-EC66-2E69-D984-AA56725B49BC}"/>
                </a:ext>
              </a:extLst>
            </p:cNvPr>
            <p:cNvSpPr txBox="1"/>
            <p:nvPr/>
          </p:nvSpPr>
          <p:spPr>
            <a:xfrm>
              <a:off x="14976740" y="15690149"/>
              <a:ext cx="1400615" cy="128997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4000" dirty="0">
                  <a:latin typeface="Helvetica"/>
                  <a:ea typeface="MS PGothic"/>
                </a:rPr>
                <a:t>Y=9</a:t>
              </a:r>
            </a:p>
            <a:p>
              <a:pPr algn="ctr"/>
              <a:endParaRPr lang="en-US" sz="2800" dirty="0">
                <a:latin typeface="Helvetica"/>
              </a:endParaRPr>
            </a:p>
          </p:txBody>
        </p:sp>
      </p:grpSp>
      <p:sp>
        <p:nvSpPr>
          <p:cNvPr id="15400" name="Rectangle 54"/>
          <p:cNvSpPr>
            <a:spLocks noChangeArrowheads="1"/>
          </p:cNvSpPr>
          <p:nvPr/>
        </p:nvSpPr>
        <p:spPr bwMode="auto">
          <a:xfrm>
            <a:off x="30676645" y="24531321"/>
            <a:ext cx="12928282" cy="8153186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72" name="TextBox 86">
            <a:extLst>
              <a:ext uri="{FF2B5EF4-FFF2-40B4-BE49-F238E27FC236}">
                <a16:creationId xmlns:a16="http://schemas.microsoft.com/office/drawing/2014/main" id="{7876542B-4364-4FD7-BCA2-651EBF34C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30620" y="24371337"/>
            <a:ext cx="979725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6. Conclusions and Future Directions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FB003-669C-6748-AC0B-0C13B0734BA6}"/>
              </a:ext>
            </a:extLst>
          </p:cNvPr>
          <p:cNvSpPr/>
          <p:nvPr/>
        </p:nvSpPr>
        <p:spPr>
          <a:xfrm>
            <a:off x="30912367" y="25351882"/>
            <a:ext cx="12914399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Our preliminary results indicate that reciprocation elicited activation in the ventral striatum. Additionally, we find that during the </a:t>
            </a:r>
          </a:p>
        </p:txBody>
      </p:sp>
      <p:grpSp>
        <p:nvGrpSpPr>
          <p:cNvPr id="15524" name="Group 15523">
            <a:extLst>
              <a:ext uri="{FF2B5EF4-FFF2-40B4-BE49-F238E27FC236}">
                <a16:creationId xmlns:a16="http://schemas.microsoft.com/office/drawing/2014/main" id="{2BE13E56-51BA-1AA5-3DFC-DFF18406D067}"/>
              </a:ext>
            </a:extLst>
          </p:cNvPr>
          <p:cNvGrpSpPr/>
          <p:nvPr/>
        </p:nvGrpSpPr>
        <p:grpSpPr>
          <a:xfrm>
            <a:off x="65312" y="31162938"/>
            <a:ext cx="14865736" cy="1521569"/>
            <a:chOff x="238017" y="31162937"/>
            <a:chExt cx="14865736" cy="1521569"/>
          </a:xfrm>
        </p:grpSpPr>
        <p:sp>
          <p:nvSpPr>
            <p:cNvPr id="15522" name="Rectangle 162">
              <a:extLst>
                <a:ext uri="{FF2B5EF4-FFF2-40B4-BE49-F238E27FC236}">
                  <a16:creationId xmlns:a16="http://schemas.microsoft.com/office/drawing/2014/main" id="{FE02C6A3-84E3-8711-744E-4E036833F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51" y="31162937"/>
              <a:ext cx="14710114" cy="1521569"/>
            </a:xfrm>
            <a:prstGeom prst="rect">
              <a:avLst/>
            </a:prstGeom>
            <a:noFill/>
            <a:ln w="762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1274" tIns="40638" rIns="81274" bIns="40638" anchor="ctr"/>
            <a:lstStyle>
              <a:lvl1pPr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1245">
                <a:latin typeface="Trebuchet MS" panose="020B0603020202020204" pitchFamily="34" charset="0"/>
              </a:endParaRPr>
            </a:p>
          </p:txBody>
        </p:sp>
        <p:sp>
          <p:nvSpPr>
            <p:cNvPr id="15523" name="TextBox 15522">
              <a:extLst>
                <a:ext uri="{FF2B5EF4-FFF2-40B4-BE49-F238E27FC236}">
                  <a16:creationId xmlns:a16="http://schemas.microsoft.com/office/drawing/2014/main" id="{D58D20F7-A26B-E2DB-0B9B-4184ACFBEF53}"/>
                </a:ext>
              </a:extLst>
            </p:cNvPr>
            <p:cNvSpPr txBox="1"/>
            <p:nvPr/>
          </p:nvSpPr>
          <p:spPr>
            <a:xfrm>
              <a:off x="238017" y="31398445"/>
              <a:ext cx="1486573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900" b="0" i="0" dirty="0">
                  <a:effectLst/>
                  <a:latin typeface="Slack-Lato"/>
                </a:rPr>
                <a:t>This study was supported by National Institutes of Health grant RF1-AG67011 (David V. Smith).</a:t>
              </a:r>
              <a:br>
                <a:rPr lang="en-US" sz="2900" dirty="0"/>
              </a:br>
              <a:r>
                <a:rPr lang="en-US" sz="2900" b="0" i="0" dirty="0">
                  <a:effectLst/>
                  <a:latin typeface="Slack-Lato"/>
                </a:rPr>
                <a:t>Contact information: </a:t>
              </a:r>
              <a:r>
                <a:rPr lang="en-US" sz="2900" b="0" i="0" dirty="0" err="1">
                  <a:effectLst/>
                  <a:latin typeface="Slack-Lato"/>
                </a:rPr>
                <a:t>Avi.Dachs@temple.edu</a:t>
              </a:r>
              <a:r>
                <a:rPr lang="en-US" sz="2900" b="0" i="0" dirty="0">
                  <a:effectLst/>
                  <a:latin typeface="Slack-Lato"/>
                </a:rPr>
                <a:t>, </a:t>
              </a:r>
              <a:r>
                <a:rPr lang="en-US" sz="2900" b="0" i="0" dirty="0" err="1">
                  <a:effectLst/>
                  <a:latin typeface="Slack-Lato"/>
                </a:rPr>
                <a:t>Cooper.Sharp@temple.edu</a:t>
              </a:r>
              <a:endParaRPr lang="en-US" sz="2900" dirty="0"/>
            </a:p>
          </p:txBody>
        </p:sp>
      </p:grpSp>
      <p:grpSp>
        <p:nvGrpSpPr>
          <p:cNvPr id="15583" name="Group 15582">
            <a:extLst>
              <a:ext uri="{FF2B5EF4-FFF2-40B4-BE49-F238E27FC236}">
                <a16:creationId xmlns:a16="http://schemas.microsoft.com/office/drawing/2014/main" id="{81424957-973F-2BA6-23A6-71C1377BD2AF}"/>
              </a:ext>
            </a:extLst>
          </p:cNvPr>
          <p:cNvGrpSpPr/>
          <p:nvPr/>
        </p:nvGrpSpPr>
        <p:grpSpPr>
          <a:xfrm>
            <a:off x="23079238" y="5095222"/>
            <a:ext cx="6472299" cy="6595040"/>
            <a:chOff x="23205210" y="4927197"/>
            <a:chExt cx="5400682" cy="6202336"/>
          </a:xfrm>
        </p:grpSpPr>
        <p:pic>
          <p:nvPicPr>
            <p:cNvPr id="15574" name="Picture 15573" descr="A graph of a line&#10;&#10;Description automatically generated with medium confidence">
              <a:extLst>
                <a:ext uri="{FF2B5EF4-FFF2-40B4-BE49-F238E27FC236}">
                  <a16:creationId xmlns:a16="http://schemas.microsoft.com/office/drawing/2014/main" id="{C54D0E15-DCC7-A19B-7997-13F421CEA2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44" b="9068"/>
            <a:stretch/>
          </p:blipFill>
          <p:spPr>
            <a:xfrm>
              <a:off x="24004670" y="4927197"/>
              <a:ext cx="4601222" cy="5427765"/>
            </a:xfrm>
            <a:prstGeom prst="rect">
              <a:avLst/>
            </a:prstGeom>
          </p:spPr>
        </p:pic>
        <p:sp>
          <p:nvSpPr>
            <p:cNvPr id="15575" name="TextBox 15574">
              <a:extLst>
                <a:ext uri="{FF2B5EF4-FFF2-40B4-BE49-F238E27FC236}">
                  <a16:creationId xmlns:a16="http://schemas.microsoft.com/office/drawing/2014/main" id="{136D78E5-71EA-17ED-91C9-F9CCADA262FF}"/>
                </a:ext>
              </a:extLst>
            </p:cNvPr>
            <p:cNvSpPr txBox="1"/>
            <p:nvPr/>
          </p:nvSpPr>
          <p:spPr>
            <a:xfrm rot="16200000">
              <a:off x="21066163" y="7584362"/>
              <a:ext cx="46474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Sharing with Friend – Sharing with Stranger</a:t>
              </a:r>
            </a:p>
          </p:txBody>
        </p:sp>
        <p:sp>
          <p:nvSpPr>
            <p:cNvPr id="15576" name="TextBox 15575">
              <a:extLst>
                <a:ext uri="{FF2B5EF4-FFF2-40B4-BE49-F238E27FC236}">
                  <a16:creationId xmlns:a16="http://schemas.microsoft.com/office/drawing/2014/main" id="{7E602785-88A0-0942-659B-9A750B46996F}"/>
                </a:ext>
              </a:extLst>
            </p:cNvPr>
            <p:cNvSpPr txBox="1"/>
            <p:nvPr/>
          </p:nvSpPr>
          <p:spPr>
            <a:xfrm>
              <a:off x="23603500" y="933392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</a:t>
              </a:r>
            </a:p>
          </p:txBody>
        </p:sp>
        <p:sp>
          <p:nvSpPr>
            <p:cNvPr id="15577" name="TextBox 15576">
              <a:extLst>
                <a:ext uri="{FF2B5EF4-FFF2-40B4-BE49-F238E27FC236}">
                  <a16:creationId xmlns:a16="http://schemas.microsoft.com/office/drawing/2014/main" id="{44C014BB-4057-CE6F-8488-5075607DFC5B}"/>
                </a:ext>
              </a:extLst>
            </p:cNvPr>
            <p:cNvSpPr txBox="1"/>
            <p:nvPr/>
          </p:nvSpPr>
          <p:spPr>
            <a:xfrm>
              <a:off x="23684874" y="61249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78" name="TextBox 15577">
              <a:extLst>
                <a:ext uri="{FF2B5EF4-FFF2-40B4-BE49-F238E27FC236}">
                  <a16:creationId xmlns:a16="http://schemas.microsoft.com/office/drawing/2014/main" id="{7FC9F9D2-B5EE-482C-7F35-E7345B0CA197}"/>
                </a:ext>
              </a:extLst>
            </p:cNvPr>
            <p:cNvSpPr txBox="1"/>
            <p:nvPr/>
          </p:nvSpPr>
          <p:spPr>
            <a:xfrm>
              <a:off x="23666269" y="769989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579" name="TextBox 15578">
              <a:extLst>
                <a:ext uri="{FF2B5EF4-FFF2-40B4-BE49-F238E27FC236}">
                  <a16:creationId xmlns:a16="http://schemas.microsoft.com/office/drawing/2014/main" id="{115532EB-4683-39F0-80DC-27E22F24AA20}"/>
                </a:ext>
              </a:extLst>
            </p:cNvPr>
            <p:cNvSpPr txBox="1"/>
            <p:nvPr/>
          </p:nvSpPr>
          <p:spPr>
            <a:xfrm>
              <a:off x="23984464" y="1039203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15580" name="TextBox 15579">
              <a:extLst>
                <a:ext uri="{FF2B5EF4-FFF2-40B4-BE49-F238E27FC236}">
                  <a16:creationId xmlns:a16="http://schemas.microsoft.com/office/drawing/2014/main" id="{3A319DEB-B897-3E25-DF07-7B459ED170BF}"/>
                </a:ext>
              </a:extLst>
            </p:cNvPr>
            <p:cNvSpPr txBox="1"/>
            <p:nvPr/>
          </p:nvSpPr>
          <p:spPr>
            <a:xfrm>
              <a:off x="25529056" y="1042910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</a:t>
              </a:r>
            </a:p>
          </p:txBody>
        </p:sp>
        <p:sp>
          <p:nvSpPr>
            <p:cNvPr id="15581" name="TextBox 15580">
              <a:extLst>
                <a:ext uri="{FF2B5EF4-FFF2-40B4-BE49-F238E27FC236}">
                  <a16:creationId xmlns:a16="http://schemas.microsoft.com/office/drawing/2014/main" id="{92207841-AB47-B838-56C4-7A8991CBC082}"/>
                </a:ext>
              </a:extLst>
            </p:cNvPr>
            <p:cNvSpPr txBox="1"/>
            <p:nvPr/>
          </p:nvSpPr>
          <p:spPr>
            <a:xfrm>
              <a:off x="27155348" y="1041660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  <p:sp>
          <p:nvSpPr>
            <p:cNvPr id="15582" name="TextBox 15581">
              <a:extLst>
                <a:ext uri="{FF2B5EF4-FFF2-40B4-BE49-F238E27FC236}">
                  <a16:creationId xmlns:a16="http://schemas.microsoft.com/office/drawing/2014/main" id="{3BD77EC1-C3D3-3CE1-B336-0F6F0DC0255C}"/>
                </a:ext>
              </a:extLst>
            </p:cNvPr>
            <p:cNvSpPr txBox="1"/>
            <p:nvPr/>
          </p:nvSpPr>
          <p:spPr>
            <a:xfrm>
              <a:off x="25933780" y="1076020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Age</a:t>
              </a:r>
            </a:p>
          </p:txBody>
        </p:sp>
      </p:grpSp>
      <p:sp>
        <p:nvSpPr>
          <p:cNvPr id="15653" name="TextBox 15652">
            <a:extLst>
              <a:ext uri="{FF2B5EF4-FFF2-40B4-BE49-F238E27FC236}">
                <a16:creationId xmlns:a16="http://schemas.microsoft.com/office/drawing/2014/main" id="{9597D04E-EB1A-89FD-82CC-B188103B2A2D}"/>
              </a:ext>
            </a:extLst>
          </p:cNvPr>
          <p:cNvSpPr txBox="1"/>
          <p:nvPr/>
        </p:nvSpPr>
        <p:spPr>
          <a:xfrm>
            <a:off x="30838648" y="22977323"/>
            <a:ext cx="12062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i="0" dirty="0" err="1">
                <a:effectLst/>
                <a:latin typeface="Helvetica" pitchFamily="2" charset="0"/>
              </a:rPr>
              <a:t>mPFC</a:t>
            </a:r>
            <a:r>
              <a:rPr lang="en-US" sz="3000" i="0" dirty="0">
                <a:effectLst/>
                <a:latin typeface="Helvetica" pitchFamily="2" charset="0"/>
              </a:rPr>
              <a:t> activation was negatively correlated with age during friend reciprocation</a:t>
            </a:r>
          </a:p>
        </p:txBody>
      </p:sp>
      <p:sp>
        <p:nvSpPr>
          <p:cNvPr id="15656" name="TextBox 15655">
            <a:extLst>
              <a:ext uri="{FF2B5EF4-FFF2-40B4-BE49-F238E27FC236}">
                <a16:creationId xmlns:a16="http://schemas.microsoft.com/office/drawing/2014/main" id="{0129C3E6-E266-8160-0CF6-63893649E9BB}"/>
              </a:ext>
            </a:extLst>
          </p:cNvPr>
          <p:cNvSpPr txBox="1"/>
          <p:nvPr/>
        </p:nvSpPr>
        <p:spPr>
          <a:xfrm>
            <a:off x="306661" y="25149656"/>
            <a:ext cx="9825551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effectLst/>
                <a:latin typeface="Helvetica"/>
                <a:ea typeface="Times New Roman" panose="02020603050405020304" pitchFamily="18" charset="0"/>
                <a:cs typeface="Helvetica"/>
              </a:rPr>
              <a:t>N =</a:t>
            </a:r>
            <a:r>
              <a:rPr lang="en-US" sz="2800" dirty="0">
                <a:latin typeface="Helvetica"/>
                <a:ea typeface="Times New Roman" panose="02020603050405020304" pitchFamily="18" charset="0"/>
                <a:cs typeface="Helvetica"/>
              </a:rPr>
              <a:t> 62</a:t>
            </a:r>
            <a:r>
              <a:rPr lang="en-US" sz="2800" dirty="0">
                <a:effectLst/>
                <a:latin typeface="Helvetica"/>
                <a:ea typeface="Times New Roman" panose="02020603050405020304" pitchFamily="18" charset="0"/>
                <a:cs typeface="Helvetica"/>
              </a:rPr>
              <a:t> </a:t>
            </a:r>
            <a:r>
              <a:rPr lang="en-US" sz="2800" dirty="0">
                <a:latin typeface="Helvetica" pitchFamily="2" charset="0"/>
                <a:ea typeface="Times New Roman" panose="02020603050405020304" pitchFamily="18" charset="0"/>
                <a:cs typeface="Helvetica"/>
              </a:rPr>
              <a:t>C</a:t>
            </a:r>
            <a:r>
              <a:rPr lang="en-US" sz="28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ompleted the </a:t>
            </a:r>
            <a:r>
              <a:rPr lang="en-US" sz="2800" b="0" i="0" dirty="0">
                <a:effectLst/>
                <a:latin typeface="Helvetica" pitchFamily="2" charset="0"/>
              </a:rPr>
              <a:t>Inclusion of Other in Self Scale and </a:t>
            </a:r>
            <a:r>
              <a:rPr lang="en-US" sz="28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the </a:t>
            </a:r>
            <a:r>
              <a:rPr lang="en-US" sz="2800" b="0" i="0" dirty="0">
                <a:effectLst/>
                <a:latin typeface="Helvetica" pitchFamily="2" charset="0"/>
              </a:rPr>
              <a:t>Older Adults Financial Exploitation and Vulnerability Scale.</a:t>
            </a:r>
          </a:p>
          <a:p>
            <a:pPr algn="ctr"/>
            <a:endParaRPr lang="en-US" sz="2800" dirty="0">
              <a:latin typeface="Helvetica" pitchFamily="2" charset="0"/>
              <a:ea typeface="Times New Roman" panose="02020603050405020304" pitchFamily="18" charset="0"/>
              <a:cs typeface="Helvetica"/>
            </a:endParaRPr>
          </a:p>
          <a:p>
            <a:pPr algn="ctr"/>
            <a:r>
              <a:rPr lang="en-US" sz="2800" dirty="0">
                <a:latin typeface="Helvetica"/>
                <a:ea typeface="MS PGothic"/>
                <a:cs typeface="Helvetica"/>
              </a:rPr>
              <a:t>Whole brain results were </a:t>
            </a:r>
            <a:r>
              <a:rPr lang="en-US" sz="2800" dirty="0" err="1">
                <a:latin typeface="Helvetica"/>
                <a:ea typeface="MS PGothic"/>
                <a:cs typeface="Helvetica"/>
              </a:rPr>
              <a:t>thresholded</a:t>
            </a:r>
            <a:r>
              <a:rPr lang="en-US" sz="2800" dirty="0">
                <a:latin typeface="Helvetica"/>
                <a:ea typeface="MS PGothic"/>
                <a:cs typeface="Helvetica"/>
              </a:rPr>
              <a:t> at Z &gt; 3.1 and Family Wise Error corrected at p &gt; .05</a:t>
            </a:r>
            <a:endParaRPr lang="en-US" sz="2500" dirty="0">
              <a:effectLst/>
              <a:latin typeface="Helvetica"/>
              <a:ea typeface="Times New Roman" panose="02020603050405020304" pitchFamily="18" charset="0"/>
              <a:cs typeface="Helvetica"/>
            </a:endParaRPr>
          </a:p>
          <a:p>
            <a:endParaRPr lang="en-US" sz="2500" dirty="0"/>
          </a:p>
        </p:txBody>
      </p:sp>
      <p:grpSp>
        <p:nvGrpSpPr>
          <p:cNvPr id="15666" name="Group 15665">
            <a:extLst>
              <a:ext uri="{FF2B5EF4-FFF2-40B4-BE49-F238E27FC236}">
                <a16:creationId xmlns:a16="http://schemas.microsoft.com/office/drawing/2014/main" id="{F4499BAD-2B87-B075-89D7-E684EC5B1F7C}"/>
              </a:ext>
            </a:extLst>
          </p:cNvPr>
          <p:cNvGrpSpPr/>
          <p:nvPr/>
        </p:nvGrpSpPr>
        <p:grpSpPr>
          <a:xfrm>
            <a:off x="16034879" y="4731272"/>
            <a:ext cx="6499677" cy="7043851"/>
            <a:chOff x="16270767" y="4773172"/>
            <a:chExt cx="4112536" cy="4273122"/>
          </a:xfrm>
        </p:grpSpPr>
        <p:pic>
          <p:nvPicPr>
            <p:cNvPr id="15659" name="Graphic 15658">
              <a:extLst>
                <a:ext uri="{FF2B5EF4-FFF2-40B4-BE49-F238E27FC236}">
                  <a16:creationId xmlns:a16="http://schemas.microsoft.com/office/drawing/2014/main" id="{6D9E2B1C-10CC-F9D6-3D33-17375F7BFB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8667"/>
            <a:stretch/>
          </p:blipFill>
          <p:spPr>
            <a:xfrm>
              <a:off x="16619952" y="4773172"/>
              <a:ext cx="3763351" cy="4273122"/>
            </a:xfrm>
            <a:prstGeom prst="rect">
              <a:avLst/>
            </a:prstGeom>
          </p:spPr>
        </p:pic>
        <p:sp>
          <p:nvSpPr>
            <p:cNvPr id="15660" name="TextBox 15659">
              <a:extLst>
                <a:ext uri="{FF2B5EF4-FFF2-40B4-BE49-F238E27FC236}">
                  <a16:creationId xmlns:a16="http://schemas.microsoft.com/office/drawing/2014/main" id="{0766629E-BCF3-6556-AF99-A6859175E636}"/>
                </a:ext>
              </a:extLst>
            </p:cNvPr>
            <p:cNvSpPr txBox="1"/>
            <p:nvPr/>
          </p:nvSpPr>
          <p:spPr>
            <a:xfrm>
              <a:off x="16270767" y="83302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661" name="TextBox 15660">
              <a:extLst>
                <a:ext uri="{FF2B5EF4-FFF2-40B4-BE49-F238E27FC236}">
                  <a16:creationId xmlns:a16="http://schemas.microsoft.com/office/drawing/2014/main" id="{617C1651-3CCF-B80A-1012-2C16CC7ED704}"/>
                </a:ext>
              </a:extLst>
            </p:cNvPr>
            <p:cNvSpPr txBox="1"/>
            <p:nvPr/>
          </p:nvSpPr>
          <p:spPr>
            <a:xfrm>
              <a:off x="16288042" y="706929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662" name="TextBox 15661">
              <a:extLst>
                <a:ext uri="{FF2B5EF4-FFF2-40B4-BE49-F238E27FC236}">
                  <a16:creationId xmlns:a16="http://schemas.microsoft.com/office/drawing/2014/main" id="{4DC189FA-5EF4-8645-EFD2-F4AA0CF414D9}"/>
                </a:ext>
              </a:extLst>
            </p:cNvPr>
            <p:cNvSpPr txBox="1"/>
            <p:nvPr/>
          </p:nvSpPr>
          <p:spPr>
            <a:xfrm>
              <a:off x="16286106" y="581593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663" name="TextBox 15662">
              <a:extLst>
                <a:ext uri="{FF2B5EF4-FFF2-40B4-BE49-F238E27FC236}">
                  <a16:creationId xmlns:a16="http://schemas.microsoft.com/office/drawing/2014/main" id="{FEBA7C19-438A-8BB9-F286-7161582091EA}"/>
                </a:ext>
              </a:extLst>
            </p:cNvPr>
            <p:cNvSpPr txBox="1"/>
            <p:nvPr/>
          </p:nvSpPr>
          <p:spPr>
            <a:xfrm>
              <a:off x="16838470" y="8664303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Friend</a:t>
              </a:r>
            </a:p>
          </p:txBody>
        </p:sp>
        <p:sp>
          <p:nvSpPr>
            <p:cNvPr id="15664" name="TextBox 15663">
              <a:extLst>
                <a:ext uri="{FF2B5EF4-FFF2-40B4-BE49-F238E27FC236}">
                  <a16:creationId xmlns:a16="http://schemas.microsoft.com/office/drawing/2014/main" id="{D1FDC6B6-A877-379F-C9B2-8D6C71CA3AC6}"/>
                </a:ext>
              </a:extLst>
            </p:cNvPr>
            <p:cNvSpPr txBox="1"/>
            <p:nvPr/>
          </p:nvSpPr>
          <p:spPr>
            <a:xfrm>
              <a:off x="17903802" y="8664303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Stranger</a:t>
              </a:r>
            </a:p>
          </p:txBody>
        </p:sp>
        <p:sp>
          <p:nvSpPr>
            <p:cNvPr id="15665" name="TextBox 15664">
              <a:extLst>
                <a:ext uri="{FF2B5EF4-FFF2-40B4-BE49-F238E27FC236}">
                  <a16:creationId xmlns:a16="http://schemas.microsoft.com/office/drawing/2014/main" id="{0D79EDF9-8FFC-03A5-0959-5F4339B2A174}"/>
                </a:ext>
              </a:extLst>
            </p:cNvPr>
            <p:cNvSpPr txBox="1"/>
            <p:nvPr/>
          </p:nvSpPr>
          <p:spPr>
            <a:xfrm>
              <a:off x="19079432" y="8666185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Computer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925EB6-326B-8343-87E7-5F037676B4C3}"/>
              </a:ext>
            </a:extLst>
          </p:cNvPr>
          <p:cNvGrpSpPr/>
          <p:nvPr/>
        </p:nvGrpSpPr>
        <p:grpSpPr>
          <a:xfrm>
            <a:off x="485487" y="13108557"/>
            <a:ext cx="13946934" cy="10995653"/>
            <a:chOff x="530502" y="15050793"/>
            <a:chExt cx="13946934" cy="10995653"/>
          </a:xfrm>
        </p:grpSpPr>
        <p:grpSp>
          <p:nvGrpSpPr>
            <p:cNvPr id="15621" name="Group 15620">
              <a:extLst>
                <a:ext uri="{FF2B5EF4-FFF2-40B4-BE49-F238E27FC236}">
                  <a16:creationId xmlns:a16="http://schemas.microsoft.com/office/drawing/2014/main" id="{5C45E275-5A15-8C98-B9C5-16C75C23860A}"/>
                </a:ext>
              </a:extLst>
            </p:cNvPr>
            <p:cNvGrpSpPr/>
            <p:nvPr/>
          </p:nvGrpSpPr>
          <p:grpSpPr>
            <a:xfrm>
              <a:off x="3779671" y="15989696"/>
              <a:ext cx="10697765" cy="10056750"/>
              <a:chOff x="3779671" y="16218296"/>
              <a:chExt cx="10697765" cy="10056750"/>
            </a:xfrm>
          </p:grpSpPr>
          <p:grpSp>
            <p:nvGrpSpPr>
              <p:cNvPr id="15606" name="Group 15605">
                <a:extLst>
                  <a:ext uri="{FF2B5EF4-FFF2-40B4-BE49-F238E27FC236}">
                    <a16:creationId xmlns:a16="http://schemas.microsoft.com/office/drawing/2014/main" id="{B0CC5957-EC01-CDC2-ADAF-5A0141831C57}"/>
                  </a:ext>
                </a:extLst>
              </p:cNvPr>
              <p:cNvGrpSpPr/>
              <p:nvPr/>
            </p:nvGrpSpPr>
            <p:grpSpPr>
              <a:xfrm>
                <a:off x="3779671" y="16218296"/>
                <a:ext cx="10697765" cy="10056750"/>
                <a:chOff x="18887859" y="360968"/>
                <a:chExt cx="6543891" cy="6151778"/>
              </a:xfrm>
            </p:grpSpPr>
            <p:pic>
              <p:nvPicPr>
                <p:cNvPr id="15607" name="Picture 15606" descr="A green check mark on a grey background&#10;&#10;Description automatically generated">
                  <a:extLst>
                    <a:ext uri="{FF2B5EF4-FFF2-40B4-BE49-F238E27FC236}">
                      <a16:creationId xmlns:a16="http://schemas.microsoft.com/office/drawing/2014/main" id="{BFD42068-273C-19B5-B61E-D2752FACB1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l="14791" t="15087" r="12450" b="22936"/>
                <a:stretch/>
              </p:blipFill>
              <p:spPr>
                <a:xfrm>
                  <a:off x="19244972" y="4622666"/>
                  <a:ext cx="2991981" cy="1890080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C00000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pic>
              <p:nvPicPr>
                <p:cNvPr id="15608" name="Picture 15607" descr="A computer screen shot&#10;&#10;Description automatically generated">
                  <a:extLst>
                    <a:ext uri="{FF2B5EF4-FFF2-40B4-BE49-F238E27FC236}">
                      <a16:creationId xmlns:a16="http://schemas.microsoft.com/office/drawing/2014/main" id="{7AF89E18-68CC-9284-01FB-59B8ECC6A7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/>
                <a:srcRect l="17658" t="18357" r="18046" b="25816"/>
                <a:stretch/>
              </p:blipFill>
              <p:spPr>
                <a:xfrm>
                  <a:off x="22543408" y="4676154"/>
                  <a:ext cx="2888342" cy="1819031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C00000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pic>
              <p:nvPicPr>
                <p:cNvPr id="15609" name="Picture 15608" descr="A white cross on a gray background&#10;&#10;Description automatically generated">
                  <a:extLst>
                    <a:ext uri="{FF2B5EF4-FFF2-40B4-BE49-F238E27FC236}">
                      <a16:creationId xmlns:a16="http://schemas.microsoft.com/office/drawing/2014/main" id="{A316990F-59C7-631E-47E9-456D559048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l="2620" t="7420" r="2620" b="4981"/>
                <a:stretch/>
              </p:blipFill>
              <p:spPr>
                <a:xfrm>
                  <a:off x="20965957" y="2971697"/>
                  <a:ext cx="2848448" cy="1890080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C00000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pic>
              <p:nvPicPr>
                <p:cNvPr id="15610" name="Picture 15609" descr="A grey background with white text&#10;&#10;Description automatically generated">
                  <a:extLst>
                    <a:ext uri="{FF2B5EF4-FFF2-40B4-BE49-F238E27FC236}">
                      <a16:creationId xmlns:a16="http://schemas.microsoft.com/office/drawing/2014/main" id="{E95A9EFF-122D-C651-FDF5-564B82E90B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926908" y="1639461"/>
                  <a:ext cx="2848448" cy="1943823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C00000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pic>
              <p:nvPicPr>
                <p:cNvPr id="15611" name="Picture 15610" descr="A computer and a keyboard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BD10086D-C152-9AEB-CD34-13177C8F6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l="2378" t="5420" r="2378" b="9853"/>
                <a:stretch/>
              </p:blipFill>
              <p:spPr>
                <a:xfrm>
                  <a:off x="18887859" y="360968"/>
                  <a:ext cx="2848448" cy="1919430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C00000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grpSp>
              <p:nvGrpSpPr>
                <p:cNvPr id="15612" name="Group 15611">
                  <a:extLst>
                    <a:ext uri="{FF2B5EF4-FFF2-40B4-BE49-F238E27FC236}">
                      <a16:creationId xmlns:a16="http://schemas.microsoft.com/office/drawing/2014/main" id="{60B2107B-4199-FD0C-4076-CA2B2F109B20}"/>
                    </a:ext>
                  </a:extLst>
                </p:cNvPr>
                <p:cNvGrpSpPr/>
                <p:nvPr/>
              </p:nvGrpSpPr>
              <p:grpSpPr>
                <a:xfrm>
                  <a:off x="22071524" y="360968"/>
                  <a:ext cx="3360226" cy="995434"/>
                  <a:chOff x="3514264" y="206684"/>
                  <a:chExt cx="3360226" cy="995434"/>
                </a:xfrm>
              </p:grpSpPr>
              <p:pic>
                <p:nvPicPr>
                  <p:cNvPr id="15613" name="Picture 15612">
                    <a:extLst>
                      <a:ext uri="{FF2B5EF4-FFF2-40B4-BE49-F238E27FC236}">
                        <a16:creationId xmlns:a16="http://schemas.microsoft.com/office/drawing/2014/main" id="{8F1F804F-2F4C-1C69-0ED4-456A517A34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514264" y="206684"/>
                    <a:ext cx="1027916" cy="990673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4" name="Picture 15613" descr="A grey square with a person's head&#10;&#10;Description automatically generated">
                    <a:extLst>
                      <a:ext uri="{FF2B5EF4-FFF2-40B4-BE49-F238E27FC236}">
                        <a16:creationId xmlns:a16="http://schemas.microsoft.com/office/drawing/2014/main" id="{2172C1AD-5BEC-2CFE-FCB3-472B60E2C2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717835" y="206684"/>
                    <a:ext cx="982991" cy="995434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5" name="Picture 15614" descr="A person with a smile on his face&#10;&#10;Description automatically generated">
                    <a:extLst>
                      <a:ext uri="{FF2B5EF4-FFF2-40B4-BE49-F238E27FC236}">
                        <a16:creationId xmlns:a16="http://schemas.microsoft.com/office/drawing/2014/main" id="{7957BC4D-151A-EB1E-5CAE-777FF2B16B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883817" y="206684"/>
                    <a:ext cx="990673" cy="990673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</p:grpSp>
          </p:grpSp>
          <p:sp>
            <p:nvSpPr>
              <p:cNvPr id="15616" name="Rectangle 15615">
                <a:extLst>
                  <a:ext uri="{FF2B5EF4-FFF2-40B4-BE49-F238E27FC236}">
                    <a16:creationId xmlns:a16="http://schemas.microsoft.com/office/drawing/2014/main" id="{946783DC-D597-2C29-6191-5B3893CFCF5D}"/>
                  </a:ext>
                </a:extLst>
              </p:cNvPr>
              <p:cNvSpPr/>
              <p:nvPr/>
            </p:nvSpPr>
            <p:spPr bwMode="auto">
              <a:xfrm>
                <a:off x="4019981" y="18563950"/>
                <a:ext cx="1803026" cy="552682"/>
              </a:xfrm>
              <a:prstGeom prst="rect">
                <a:avLst/>
              </a:prstGeom>
              <a:solidFill>
                <a:srgbClr val="84848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Arial" charset="0"/>
                  </a:rPr>
                  <a:t>Share $8</a:t>
                </a:r>
              </a:p>
            </p:txBody>
          </p:sp>
          <p:sp>
            <p:nvSpPr>
              <p:cNvPr id="15618" name="Rectangle 15617">
                <a:extLst>
                  <a:ext uri="{FF2B5EF4-FFF2-40B4-BE49-F238E27FC236}">
                    <a16:creationId xmlns:a16="http://schemas.microsoft.com/office/drawing/2014/main" id="{C6024063-9D2C-50D8-70B5-FC3D7C6F49F8}"/>
                  </a:ext>
                </a:extLst>
              </p:cNvPr>
              <p:cNvSpPr/>
              <p:nvPr/>
            </p:nvSpPr>
            <p:spPr bwMode="auto">
              <a:xfrm>
                <a:off x="6502102" y="18568097"/>
                <a:ext cx="1803026" cy="552682"/>
              </a:xfrm>
              <a:prstGeom prst="rect">
                <a:avLst/>
              </a:prstGeom>
              <a:solidFill>
                <a:srgbClr val="84848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Arial" charset="0"/>
                  </a:rPr>
                  <a:t>Share $2</a:t>
                </a:r>
              </a:p>
            </p:txBody>
          </p:sp>
          <p:sp>
            <p:nvSpPr>
              <p:cNvPr id="15619" name="Rectangle 15618">
                <a:extLst>
                  <a:ext uri="{FF2B5EF4-FFF2-40B4-BE49-F238E27FC236}">
                    <a16:creationId xmlns:a16="http://schemas.microsoft.com/office/drawing/2014/main" id="{8EBB5886-1680-B3C7-DEC7-CD388B0CA60C}"/>
                  </a:ext>
                </a:extLst>
              </p:cNvPr>
              <p:cNvSpPr/>
              <p:nvPr/>
            </p:nvSpPr>
            <p:spPr bwMode="auto">
              <a:xfrm>
                <a:off x="7005674" y="19674283"/>
                <a:ext cx="1978245" cy="552682"/>
              </a:xfrm>
              <a:prstGeom prst="rect">
                <a:avLst/>
              </a:prstGeom>
              <a:solidFill>
                <a:srgbClr val="84848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Arial" charset="0"/>
                  </a:rPr>
                  <a:t>Loading…</a:t>
                </a:r>
              </a:p>
            </p:txBody>
          </p:sp>
          <p:sp>
            <p:nvSpPr>
              <p:cNvPr id="15620" name="Rectangle 15619">
                <a:extLst>
                  <a:ext uri="{FF2B5EF4-FFF2-40B4-BE49-F238E27FC236}">
                    <a16:creationId xmlns:a16="http://schemas.microsoft.com/office/drawing/2014/main" id="{98A52E85-D70D-5398-4E75-D523A6EBBF49}"/>
                  </a:ext>
                </a:extLst>
              </p:cNvPr>
              <p:cNvSpPr/>
              <p:nvPr/>
            </p:nvSpPr>
            <p:spPr bwMode="auto">
              <a:xfrm>
                <a:off x="9139048" y="21549198"/>
                <a:ext cx="704737" cy="718761"/>
              </a:xfrm>
              <a:prstGeom prst="rect">
                <a:avLst/>
              </a:prstGeom>
              <a:solidFill>
                <a:srgbClr val="84848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5429" name="Rounded Rectangle 15428">
              <a:extLst>
                <a:ext uri="{FF2B5EF4-FFF2-40B4-BE49-F238E27FC236}">
                  <a16:creationId xmlns:a16="http://schemas.microsoft.com/office/drawing/2014/main" id="{4B7D9A17-B83C-E5E9-1709-3AF83FDD5AD6}"/>
                </a:ext>
              </a:extLst>
            </p:cNvPr>
            <p:cNvSpPr/>
            <p:nvPr/>
          </p:nvSpPr>
          <p:spPr bwMode="auto">
            <a:xfrm>
              <a:off x="530502" y="15050793"/>
              <a:ext cx="6101659" cy="707229"/>
            </a:xfrm>
            <a:prstGeom prst="roundRect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389438" eaLnBrk="1" hangingPunct="1"/>
              <a:r>
                <a:rPr lang="en-US" sz="3500" u="sng" dirty="0"/>
                <a:t>You are given </a:t>
              </a:r>
              <a:r>
                <a:rPr lang="en-US" sz="3500" b="1" u="sng" dirty="0"/>
                <a:t>$8</a:t>
              </a:r>
              <a:r>
                <a:rPr lang="en-US" sz="3500" u="sng" dirty="0"/>
                <a:t> for the trial. </a:t>
              </a:r>
            </a:p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grpSp>
          <p:nvGrpSpPr>
            <p:cNvPr id="15592" name="Group 15591">
              <a:extLst>
                <a:ext uri="{FF2B5EF4-FFF2-40B4-BE49-F238E27FC236}">
                  <a16:creationId xmlns:a16="http://schemas.microsoft.com/office/drawing/2014/main" id="{415B0EBC-8379-F485-6113-E5DF57F87E19}"/>
                </a:ext>
              </a:extLst>
            </p:cNvPr>
            <p:cNvGrpSpPr/>
            <p:nvPr/>
          </p:nvGrpSpPr>
          <p:grpSpPr>
            <a:xfrm>
              <a:off x="1977783" y="21512239"/>
              <a:ext cx="4758168" cy="1323439"/>
              <a:chOff x="1599411" y="21740839"/>
              <a:chExt cx="4758168" cy="1323439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07B45F-027B-576B-4808-66F0A5D95489}"/>
                  </a:ext>
                </a:extLst>
              </p:cNvPr>
              <p:cNvSpPr txBox="1"/>
              <p:nvPr/>
            </p:nvSpPr>
            <p:spPr>
              <a:xfrm>
                <a:off x="5031575" y="21740839"/>
                <a:ext cx="132600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b="1" dirty="0">
                    <a:solidFill>
                      <a:srgbClr val="03DF04"/>
                    </a:solidFill>
                  </a:rPr>
                  <a:t>x3</a:t>
                </a:r>
              </a:p>
            </p:txBody>
          </p:sp>
          <p:sp>
            <p:nvSpPr>
              <p:cNvPr id="15433" name="Rounded Rectangle 15432">
                <a:extLst>
                  <a:ext uri="{FF2B5EF4-FFF2-40B4-BE49-F238E27FC236}">
                    <a16:creationId xmlns:a16="http://schemas.microsoft.com/office/drawing/2014/main" id="{9D770554-0135-2E8B-9BC3-8228F9631C8A}"/>
                  </a:ext>
                </a:extLst>
              </p:cNvPr>
              <p:cNvSpPr/>
              <p:nvPr/>
            </p:nvSpPr>
            <p:spPr bwMode="auto">
              <a:xfrm>
                <a:off x="1599411" y="21817902"/>
                <a:ext cx="2967279" cy="1168944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000" dirty="0"/>
                  <a:t>The money you  sent is tripled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5490" name="Group 15489">
              <a:extLst>
                <a:ext uri="{FF2B5EF4-FFF2-40B4-BE49-F238E27FC236}">
                  <a16:creationId xmlns:a16="http://schemas.microsoft.com/office/drawing/2014/main" id="{26CF14B9-FE18-01D5-1A0A-E19BE8376A0A}"/>
                </a:ext>
              </a:extLst>
            </p:cNvPr>
            <p:cNvGrpSpPr/>
            <p:nvPr/>
          </p:nvGrpSpPr>
          <p:grpSpPr>
            <a:xfrm>
              <a:off x="530502" y="18979791"/>
              <a:ext cx="4534151" cy="2464546"/>
              <a:chOff x="533974" y="18532980"/>
              <a:chExt cx="4534151" cy="2464546"/>
            </a:xfrm>
          </p:grpSpPr>
          <p:sp>
            <p:nvSpPr>
              <p:cNvPr id="15432" name="Rounded Rectangle 15431">
                <a:extLst>
                  <a:ext uri="{FF2B5EF4-FFF2-40B4-BE49-F238E27FC236}">
                    <a16:creationId xmlns:a16="http://schemas.microsoft.com/office/drawing/2014/main" id="{29E5F4B4-9ECB-A12A-6B3F-C0855A0CDE34}"/>
                  </a:ext>
                </a:extLst>
              </p:cNvPr>
              <p:cNvSpPr/>
              <p:nvPr/>
            </p:nvSpPr>
            <p:spPr bwMode="auto">
              <a:xfrm>
                <a:off x="533974" y="19334093"/>
                <a:ext cx="4534151" cy="1663433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000" dirty="0"/>
                  <a:t>You choose a higher or lower amount to share with your partner.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cxnSp>
            <p:nvCxnSpPr>
              <p:cNvPr id="15442" name="Elbow Connector 15441">
                <a:extLst>
                  <a:ext uri="{FF2B5EF4-FFF2-40B4-BE49-F238E27FC236}">
                    <a16:creationId xmlns:a16="http://schemas.microsoft.com/office/drawing/2014/main" id="{FD357802-D2BB-A2AC-2582-D36E431D92F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361558" y="18532980"/>
                <a:ext cx="953880" cy="801113"/>
              </a:xfrm>
              <a:prstGeom prst="bentConnector3">
                <a:avLst>
                  <a:gd name="adj1" fmla="val -3922"/>
                </a:avLst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5538" name="Group 15537">
              <a:extLst>
                <a:ext uri="{FF2B5EF4-FFF2-40B4-BE49-F238E27FC236}">
                  <a16:creationId xmlns:a16="http://schemas.microsoft.com/office/drawing/2014/main" id="{4ABA81B2-5B67-77D2-5517-08033E19241B}"/>
                </a:ext>
              </a:extLst>
            </p:cNvPr>
            <p:cNvGrpSpPr/>
            <p:nvPr/>
          </p:nvGrpSpPr>
          <p:grpSpPr>
            <a:xfrm>
              <a:off x="1364527" y="16818784"/>
              <a:ext cx="3578072" cy="1569660"/>
              <a:chOff x="1398495" y="16644992"/>
              <a:chExt cx="3578072" cy="1569660"/>
            </a:xfrm>
          </p:grpSpPr>
          <p:sp>
            <p:nvSpPr>
              <p:cNvPr id="15528" name="Rounded Rectangle 15527">
                <a:extLst>
                  <a:ext uri="{FF2B5EF4-FFF2-40B4-BE49-F238E27FC236}">
                    <a16:creationId xmlns:a16="http://schemas.microsoft.com/office/drawing/2014/main" id="{AD2DBFD4-1DD0-D27D-7CB0-35408A9E32E4}"/>
                  </a:ext>
                </a:extLst>
              </p:cNvPr>
              <p:cNvSpPr/>
              <p:nvPr/>
            </p:nvSpPr>
            <p:spPr bwMode="auto">
              <a:xfrm>
                <a:off x="1398495" y="16644992"/>
                <a:ext cx="1947439" cy="1569660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000" dirty="0"/>
                  <a:t>You are assigned a partner.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cxnSp>
            <p:nvCxnSpPr>
              <p:cNvPr id="15537" name="Straight Arrow Connector 15536">
                <a:extLst>
                  <a:ext uri="{FF2B5EF4-FFF2-40B4-BE49-F238E27FC236}">
                    <a16:creationId xmlns:a16="http://schemas.microsoft.com/office/drawing/2014/main" id="{7A1CFB10-A83A-AA5A-7CB9-EC39B260985E}"/>
                  </a:ext>
                </a:extLst>
              </p:cNvPr>
              <p:cNvCxnSpPr>
                <a:cxnSpLocks/>
                <a:stCxn id="15528" idx="3"/>
              </p:cNvCxnSpPr>
              <p:nvPr/>
            </p:nvCxnSpPr>
            <p:spPr bwMode="auto">
              <a:xfrm>
                <a:off x="3345934" y="17429822"/>
                <a:ext cx="1630633" cy="0"/>
              </a:xfrm>
              <a:prstGeom prst="straightConnector1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15542" name="Rounded Rectangle 15541">
              <a:extLst>
                <a:ext uri="{FF2B5EF4-FFF2-40B4-BE49-F238E27FC236}">
                  <a16:creationId xmlns:a16="http://schemas.microsoft.com/office/drawing/2014/main" id="{F919F17A-D127-CAD0-86F8-9896BB472FB5}"/>
                </a:ext>
              </a:extLst>
            </p:cNvPr>
            <p:cNvSpPr/>
            <p:nvPr/>
          </p:nvSpPr>
          <p:spPr bwMode="auto">
            <a:xfrm>
              <a:off x="1019445" y="25077499"/>
              <a:ext cx="2843041" cy="764088"/>
            </a:xfrm>
            <a:prstGeom prst="roundRect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389438" eaLnBrk="1" hangingPunct="1"/>
              <a:r>
                <a:rPr lang="en-US" sz="4000" u="sng" dirty="0"/>
                <a:t>End of trial</a:t>
              </a:r>
            </a:p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5667" name="Rounded Rectangle 15666">
              <a:extLst>
                <a:ext uri="{FF2B5EF4-FFF2-40B4-BE49-F238E27FC236}">
                  <a16:creationId xmlns:a16="http://schemas.microsoft.com/office/drawing/2014/main" id="{A04AF92B-DBCA-68B5-49E1-F021F79663D4}"/>
                </a:ext>
              </a:extLst>
            </p:cNvPr>
            <p:cNvSpPr/>
            <p:nvPr/>
          </p:nvSpPr>
          <p:spPr bwMode="auto">
            <a:xfrm>
              <a:off x="882727" y="23270530"/>
              <a:ext cx="3102910" cy="655177"/>
            </a:xfrm>
            <a:prstGeom prst="roundRect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389438" eaLnBrk="1" hangingPunct="1"/>
              <a:r>
                <a:rPr lang="en-US" sz="3000" dirty="0"/>
                <a:t>Outcome Phase</a:t>
              </a:r>
            </a:p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15668" name="Rectangle 15667">
            <a:extLst>
              <a:ext uri="{FF2B5EF4-FFF2-40B4-BE49-F238E27FC236}">
                <a16:creationId xmlns:a16="http://schemas.microsoft.com/office/drawing/2014/main" id="{313395CF-F0BD-08A4-741C-0E58C7C64F02}"/>
              </a:ext>
            </a:extLst>
          </p:cNvPr>
          <p:cNvSpPr/>
          <p:nvPr/>
        </p:nvSpPr>
        <p:spPr bwMode="auto">
          <a:xfrm>
            <a:off x="5104022" y="15429243"/>
            <a:ext cx="1984189" cy="552682"/>
          </a:xfrm>
          <a:prstGeom prst="rect">
            <a:avLst/>
          </a:prstGeom>
          <a:solidFill>
            <a:srgbClr val="84848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3894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Computer</a:t>
            </a:r>
          </a:p>
        </p:txBody>
      </p:sp>
      <p:grpSp>
        <p:nvGrpSpPr>
          <p:cNvPr id="15710" name="Group 15709">
            <a:extLst>
              <a:ext uri="{FF2B5EF4-FFF2-40B4-BE49-F238E27FC236}">
                <a16:creationId xmlns:a16="http://schemas.microsoft.com/office/drawing/2014/main" id="{9AFA48F8-C584-C811-C9F5-EFCA333DD7C1}"/>
              </a:ext>
            </a:extLst>
          </p:cNvPr>
          <p:cNvGrpSpPr/>
          <p:nvPr/>
        </p:nvGrpSpPr>
        <p:grpSpPr>
          <a:xfrm>
            <a:off x="30819542" y="17309793"/>
            <a:ext cx="4527522" cy="4489996"/>
            <a:chOff x="30483851" y="13427301"/>
            <a:chExt cx="6579830" cy="7050823"/>
          </a:xfrm>
        </p:grpSpPr>
        <p:pic>
          <p:nvPicPr>
            <p:cNvPr id="15672" name="Picture 15671" descr="A close-up of a brain&#10;&#10;Description automatically generated">
              <a:extLst>
                <a:ext uri="{FF2B5EF4-FFF2-40B4-BE49-F238E27FC236}">
                  <a16:creationId xmlns:a16="http://schemas.microsoft.com/office/drawing/2014/main" id="{D3F7B839-9C15-BAE8-4B9F-D9E5FA416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86058" y="14307843"/>
              <a:ext cx="6377623" cy="5333837"/>
            </a:xfrm>
            <a:prstGeom prst="rect">
              <a:avLst/>
            </a:prstGeom>
          </p:spPr>
        </p:pic>
        <p:sp>
          <p:nvSpPr>
            <p:cNvPr id="15673" name="TextBox 15672">
              <a:extLst>
                <a:ext uri="{FF2B5EF4-FFF2-40B4-BE49-F238E27FC236}">
                  <a16:creationId xmlns:a16="http://schemas.microsoft.com/office/drawing/2014/main" id="{B7572CC2-F582-E038-F57D-36186A2AD7CD}"/>
                </a:ext>
              </a:extLst>
            </p:cNvPr>
            <p:cNvSpPr txBox="1"/>
            <p:nvPr/>
          </p:nvSpPr>
          <p:spPr>
            <a:xfrm>
              <a:off x="30697537" y="13427301"/>
              <a:ext cx="1827439" cy="987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X= -8</a:t>
              </a:r>
            </a:p>
          </p:txBody>
        </p:sp>
        <p:sp>
          <p:nvSpPr>
            <p:cNvPr id="15679" name="TextBox 15678">
              <a:extLst>
                <a:ext uri="{FF2B5EF4-FFF2-40B4-BE49-F238E27FC236}">
                  <a16:creationId xmlns:a16="http://schemas.microsoft.com/office/drawing/2014/main" id="{C5CCA665-31CA-7E9E-5033-AF62B19B1AEF}"/>
                </a:ext>
              </a:extLst>
            </p:cNvPr>
            <p:cNvSpPr txBox="1"/>
            <p:nvPr/>
          </p:nvSpPr>
          <p:spPr>
            <a:xfrm>
              <a:off x="30483851" y="19661963"/>
              <a:ext cx="2587045" cy="816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latin typeface="Helvetica"/>
                </a:rPr>
                <a:t>mPFC</a:t>
              </a:r>
              <a:endParaRPr lang="en-US" sz="3200" b="1" dirty="0">
                <a:latin typeface="Helvetica"/>
              </a:endParaRPr>
            </a:p>
          </p:txBody>
        </p:sp>
      </p:grpSp>
      <p:grpSp>
        <p:nvGrpSpPr>
          <p:cNvPr id="15708" name="Group 15707">
            <a:extLst>
              <a:ext uri="{FF2B5EF4-FFF2-40B4-BE49-F238E27FC236}">
                <a16:creationId xmlns:a16="http://schemas.microsoft.com/office/drawing/2014/main" id="{F3365FFA-9BF5-9EF3-928F-677A1E435CFE}"/>
              </a:ext>
            </a:extLst>
          </p:cNvPr>
          <p:cNvGrpSpPr/>
          <p:nvPr/>
        </p:nvGrpSpPr>
        <p:grpSpPr>
          <a:xfrm>
            <a:off x="30900627" y="6464838"/>
            <a:ext cx="4333451" cy="4397738"/>
            <a:chOff x="30936691" y="4524097"/>
            <a:chExt cx="5919174" cy="6592361"/>
          </a:xfrm>
        </p:grpSpPr>
        <p:pic>
          <p:nvPicPr>
            <p:cNvPr id="15670" name="Picture 15669" descr="A brain with a red spot&#10;&#10;Description automatically generated">
              <a:extLst>
                <a:ext uri="{FF2B5EF4-FFF2-40B4-BE49-F238E27FC236}">
                  <a16:creationId xmlns:a16="http://schemas.microsoft.com/office/drawing/2014/main" id="{BA2FE39D-46B1-0722-481F-CB4E6283E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72216" y="5328136"/>
              <a:ext cx="5683649" cy="4771937"/>
            </a:xfrm>
            <a:prstGeom prst="rect">
              <a:avLst/>
            </a:prstGeom>
          </p:spPr>
        </p:pic>
        <p:sp>
          <p:nvSpPr>
            <p:cNvPr id="15674" name="TextBox 15673">
              <a:extLst>
                <a:ext uri="{FF2B5EF4-FFF2-40B4-BE49-F238E27FC236}">
                  <a16:creationId xmlns:a16="http://schemas.microsoft.com/office/drawing/2014/main" id="{6D1FEF78-5231-7339-DB44-5A31EBAD6F9E}"/>
                </a:ext>
              </a:extLst>
            </p:cNvPr>
            <p:cNvSpPr txBox="1"/>
            <p:nvPr/>
          </p:nvSpPr>
          <p:spPr>
            <a:xfrm>
              <a:off x="30952727" y="4524097"/>
              <a:ext cx="15392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X= 52</a:t>
              </a:r>
            </a:p>
          </p:txBody>
        </p:sp>
        <p:sp>
          <p:nvSpPr>
            <p:cNvPr id="15680" name="TextBox 15679">
              <a:extLst>
                <a:ext uri="{FF2B5EF4-FFF2-40B4-BE49-F238E27FC236}">
                  <a16:creationId xmlns:a16="http://schemas.microsoft.com/office/drawing/2014/main" id="{0FE2F447-254E-923E-162C-DC99AACAFC55}"/>
                </a:ext>
              </a:extLst>
            </p:cNvPr>
            <p:cNvSpPr txBox="1"/>
            <p:nvPr/>
          </p:nvSpPr>
          <p:spPr>
            <a:xfrm>
              <a:off x="30936691" y="10239860"/>
              <a:ext cx="2517094" cy="876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latin typeface="Helvetica"/>
                </a:rPr>
                <a:t>dlPFC</a:t>
              </a:r>
              <a:endParaRPr lang="en-US" sz="3200" b="1" dirty="0">
                <a:latin typeface="Helvetica"/>
              </a:endParaRPr>
            </a:p>
          </p:txBody>
        </p:sp>
      </p:grpSp>
      <p:sp>
        <p:nvSpPr>
          <p:cNvPr id="15707" name="TextBox 15706">
            <a:extLst>
              <a:ext uri="{FF2B5EF4-FFF2-40B4-BE49-F238E27FC236}">
                <a16:creationId xmlns:a16="http://schemas.microsoft.com/office/drawing/2014/main" id="{0830B512-1237-C170-3104-978D2CC18E8D}"/>
              </a:ext>
            </a:extLst>
          </p:cNvPr>
          <p:cNvSpPr txBox="1"/>
          <p:nvPr/>
        </p:nvSpPr>
        <p:spPr>
          <a:xfrm>
            <a:off x="31019416" y="4697710"/>
            <a:ext cx="9097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effectLst/>
                <a:latin typeface="Helvetica" pitchFamily="2" charset="0"/>
              </a:rPr>
              <a:t>Friend Defecting &gt;</a:t>
            </a:r>
            <a:r>
              <a:rPr lang="en-US" sz="3200" dirty="0">
                <a:latin typeface="Helvetica" pitchFamily="2" charset="0"/>
              </a:rPr>
              <a:t> Computer Defecting</a:t>
            </a:r>
            <a:endParaRPr lang="en-US" sz="3200" i="0" dirty="0">
              <a:effectLst/>
              <a:latin typeface="Helvetica" pitchFamily="2" charset="0"/>
            </a:endParaRPr>
          </a:p>
        </p:txBody>
      </p:sp>
      <p:sp>
        <p:nvSpPr>
          <p:cNvPr id="15709" name="TextBox 15708">
            <a:extLst>
              <a:ext uri="{FF2B5EF4-FFF2-40B4-BE49-F238E27FC236}">
                <a16:creationId xmlns:a16="http://schemas.microsoft.com/office/drawing/2014/main" id="{80412985-0DFC-4CC7-0908-955D07FD1104}"/>
              </a:ext>
            </a:extLst>
          </p:cNvPr>
          <p:cNvSpPr txBox="1"/>
          <p:nvPr/>
        </p:nvSpPr>
        <p:spPr>
          <a:xfrm>
            <a:off x="34641901" y="15025102"/>
            <a:ext cx="9086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effectLst/>
                <a:latin typeface="Helvetica" pitchFamily="2" charset="0"/>
              </a:rPr>
              <a:t>Friend Reciprocating &gt; Computer Reciprocating</a:t>
            </a:r>
            <a:endParaRPr lang="en-US" sz="3200" i="0" dirty="0">
              <a:effectLst/>
              <a:latin typeface="Helvetica" pitchFamily="2" charset="0"/>
            </a:endParaRPr>
          </a:p>
        </p:txBody>
      </p:sp>
      <p:sp>
        <p:nvSpPr>
          <p:cNvPr id="15729" name="TextBox 15728">
            <a:extLst>
              <a:ext uri="{FF2B5EF4-FFF2-40B4-BE49-F238E27FC236}">
                <a16:creationId xmlns:a16="http://schemas.microsoft.com/office/drawing/2014/main" id="{9C4B6981-AC7F-0DBE-5162-C0039C526C7C}"/>
              </a:ext>
            </a:extLst>
          </p:cNvPr>
          <p:cNvSpPr txBox="1"/>
          <p:nvPr/>
        </p:nvSpPr>
        <p:spPr>
          <a:xfrm>
            <a:off x="30959587" y="12969017"/>
            <a:ext cx="12062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i="0" dirty="0">
                <a:effectLst/>
                <a:latin typeface="Helvetica" pitchFamily="2" charset="0"/>
              </a:rPr>
              <a:t>We found greater MFG activation in older adults than in younger adults when experiencing friend defecting.</a:t>
            </a:r>
          </a:p>
        </p:txBody>
      </p:sp>
      <p:grpSp>
        <p:nvGrpSpPr>
          <p:cNvPr id="15731" name="Group 15730">
            <a:extLst>
              <a:ext uri="{FF2B5EF4-FFF2-40B4-BE49-F238E27FC236}">
                <a16:creationId xmlns:a16="http://schemas.microsoft.com/office/drawing/2014/main" id="{06155C43-338B-1F84-917E-F663403BFB29}"/>
              </a:ext>
            </a:extLst>
          </p:cNvPr>
          <p:cNvGrpSpPr/>
          <p:nvPr/>
        </p:nvGrpSpPr>
        <p:grpSpPr>
          <a:xfrm>
            <a:off x="22241892" y="22389514"/>
            <a:ext cx="7672050" cy="8491864"/>
            <a:chOff x="23053763" y="15328939"/>
            <a:chExt cx="6729801" cy="7219447"/>
          </a:xfrm>
        </p:grpSpPr>
        <p:grpSp>
          <p:nvGrpSpPr>
            <p:cNvPr id="15637" name="Group 15636">
              <a:extLst>
                <a:ext uri="{FF2B5EF4-FFF2-40B4-BE49-F238E27FC236}">
                  <a16:creationId xmlns:a16="http://schemas.microsoft.com/office/drawing/2014/main" id="{3A2B419D-DEB8-5DE4-6994-E09E435EDE6A}"/>
                </a:ext>
              </a:extLst>
            </p:cNvPr>
            <p:cNvGrpSpPr/>
            <p:nvPr/>
          </p:nvGrpSpPr>
          <p:grpSpPr>
            <a:xfrm>
              <a:off x="23053763" y="15328939"/>
              <a:ext cx="6729801" cy="7219447"/>
              <a:chOff x="23611670" y="15386915"/>
              <a:chExt cx="5877242" cy="6288526"/>
            </a:xfrm>
          </p:grpSpPr>
          <p:grpSp>
            <p:nvGrpSpPr>
              <p:cNvPr id="15627" name="Group 15626">
                <a:extLst>
                  <a:ext uri="{FF2B5EF4-FFF2-40B4-BE49-F238E27FC236}">
                    <a16:creationId xmlns:a16="http://schemas.microsoft.com/office/drawing/2014/main" id="{06AA4FCA-34DA-E471-770A-8C935B50E788}"/>
                  </a:ext>
                </a:extLst>
              </p:cNvPr>
              <p:cNvGrpSpPr/>
              <p:nvPr/>
            </p:nvGrpSpPr>
            <p:grpSpPr>
              <a:xfrm>
                <a:off x="23684560" y="15386915"/>
                <a:ext cx="5804352" cy="6288526"/>
                <a:chOff x="23684560" y="15386915"/>
                <a:chExt cx="5804352" cy="6288526"/>
              </a:xfrm>
            </p:grpSpPr>
            <p:pic>
              <p:nvPicPr>
                <p:cNvPr id="15623" name="Graphic 15622">
                  <a:extLst>
                    <a:ext uri="{FF2B5EF4-FFF2-40B4-BE49-F238E27FC236}">
                      <a16:creationId xmlns:a16="http://schemas.microsoft.com/office/drawing/2014/main" id="{D58E3C64-D70B-D4DC-2B91-07C64E1936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rcRect l="10234" b="7938"/>
                <a:stretch/>
              </p:blipFill>
              <p:spPr>
                <a:xfrm>
                  <a:off x="24165170" y="15386915"/>
                  <a:ext cx="5323742" cy="5662134"/>
                </a:xfrm>
                <a:prstGeom prst="rect">
                  <a:avLst/>
                </a:prstGeom>
              </p:spPr>
            </p:pic>
            <p:sp>
              <p:nvSpPr>
                <p:cNvPr id="15625" name="TextBox 15624">
                  <a:extLst>
                    <a:ext uri="{FF2B5EF4-FFF2-40B4-BE49-F238E27FC236}">
                      <a16:creationId xmlns:a16="http://schemas.microsoft.com/office/drawing/2014/main" id="{7328C975-6B3E-4A8B-7D28-2CBF3C3AA243}"/>
                    </a:ext>
                  </a:extLst>
                </p:cNvPr>
                <p:cNvSpPr txBox="1"/>
                <p:nvPr/>
              </p:nvSpPr>
              <p:spPr>
                <a:xfrm>
                  <a:off x="25887039" y="21058834"/>
                  <a:ext cx="957831" cy="616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000" dirty="0"/>
                    <a:t>Age</a:t>
                  </a:r>
                </a:p>
              </p:txBody>
            </p:sp>
            <p:sp>
              <p:nvSpPr>
                <p:cNvPr id="15626" name="TextBox 15625">
                  <a:extLst>
                    <a:ext uri="{FF2B5EF4-FFF2-40B4-BE49-F238E27FC236}">
                      <a16:creationId xmlns:a16="http://schemas.microsoft.com/office/drawing/2014/main" id="{0741CC01-E666-6FF6-4DCF-5C0AEA54A228}"/>
                    </a:ext>
                  </a:extLst>
                </p:cNvPr>
                <p:cNvSpPr txBox="1"/>
                <p:nvPr/>
              </p:nvSpPr>
              <p:spPr>
                <a:xfrm rot="16200000">
                  <a:off x="22278692" y="18345658"/>
                  <a:ext cx="3295551" cy="4838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000" dirty="0"/>
                    <a:t>Reciprocate &gt; Defect</a:t>
                  </a:r>
                </a:p>
              </p:txBody>
            </p:sp>
          </p:grpSp>
          <p:sp>
            <p:nvSpPr>
              <p:cNvPr id="15632" name="TextBox 15631">
                <a:extLst>
                  <a:ext uri="{FF2B5EF4-FFF2-40B4-BE49-F238E27FC236}">
                    <a16:creationId xmlns:a16="http://schemas.microsoft.com/office/drawing/2014/main" id="{DB5643A6-0963-1889-743A-BE329E7DFA26}"/>
                  </a:ext>
                </a:extLst>
              </p:cNvPr>
              <p:cNvSpPr txBox="1"/>
              <p:nvPr/>
            </p:nvSpPr>
            <p:spPr>
              <a:xfrm>
                <a:off x="23666606" y="16454726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15633" name="TextBox 15632">
                <a:extLst>
                  <a:ext uri="{FF2B5EF4-FFF2-40B4-BE49-F238E27FC236}">
                    <a16:creationId xmlns:a16="http://schemas.microsoft.com/office/drawing/2014/main" id="{F005320C-94E9-2CF4-6842-98DA1FA46221}"/>
                  </a:ext>
                </a:extLst>
              </p:cNvPr>
              <p:cNvSpPr txBox="1"/>
              <p:nvPr/>
            </p:nvSpPr>
            <p:spPr>
              <a:xfrm>
                <a:off x="23611670" y="20489922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15634" name="TextBox 15633">
                <a:extLst>
                  <a:ext uri="{FF2B5EF4-FFF2-40B4-BE49-F238E27FC236}">
                    <a16:creationId xmlns:a16="http://schemas.microsoft.com/office/drawing/2014/main" id="{E721D839-B7EC-B05A-38DA-D9704D0EBA2E}"/>
                  </a:ext>
                </a:extLst>
              </p:cNvPr>
              <p:cNvSpPr txBox="1"/>
              <p:nvPr/>
            </p:nvSpPr>
            <p:spPr>
              <a:xfrm>
                <a:off x="24150950" y="21022056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15635" name="TextBox 15634">
                <a:extLst>
                  <a:ext uri="{FF2B5EF4-FFF2-40B4-BE49-F238E27FC236}">
                    <a16:creationId xmlns:a16="http://schemas.microsoft.com/office/drawing/2014/main" id="{61C5ED5A-0A65-9C1A-0AC3-7712D59B3795}"/>
                  </a:ext>
                </a:extLst>
              </p:cNvPr>
              <p:cNvSpPr txBox="1"/>
              <p:nvPr/>
            </p:nvSpPr>
            <p:spPr>
              <a:xfrm>
                <a:off x="27777018" y="21022056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</p:grpSp>
        <p:sp>
          <p:nvSpPr>
            <p:cNvPr id="15730" name="Rectangle 15729">
              <a:extLst>
                <a:ext uri="{FF2B5EF4-FFF2-40B4-BE49-F238E27FC236}">
                  <a16:creationId xmlns:a16="http://schemas.microsoft.com/office/drawing/2014/main" id="{FDF15931-1516-DE49-340B-5A133AA95A93}"/>
                </a:ext>
              </a:extLst>
            </p:cNvPr>
            <p:cNvSpPr/>
            <p:nvPr/>
          </p:nvSpPr>
          <p:spPr bwMode="auto">
            <a:xfrm>
              <a:off x="23923841" y="15957914"/>
              <a:ext cx="5627696" cy="5591284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4EC582-60D1-2B41-B3B4-7BDF0B9C3848}"/>
              </a:ext>
            </a:extLst>
          </p:cNvPr>
          <p:cNvGrpSpPr/>
          <p:nvPr/>
        </p:nvGrpSpPr>
        <p:grpSpPr>
          <a:xfrm>
            <a:off x="35440249" y="15080821"/>
            <a:ext cx="7581682" cy="8191817"/>
            <a:chOff x="37324753" y="15097157"/>
            <a:chExt cx="6030525" cy="6738219"/>
          </a:xfrm>
        </p:grpSpPr>
        <p:grpSp>
          <p:nvGrpSpPr>
            <p:cNvPr id="15726" name="Group 15725">
              <a:extLst>
                <a:ext uri="{FF2B5EF4-FFF2-40B4-BE49-F238E27FC236}">
                  <a16:creationId xmlns:a16="http://schemas.microsoft.com/office/drawing/2014/main" id="{B3430D81-BB79-4C3F-9F94-3445BBB422F8}"/>
                </a:ext>
              </a:extLst>
            </p:cNvPr>
            <p:cNvGrpSpPr/>
            <p:nvPr/>
          </p:nvGrpSpPr>
          <p:grpSpPr>
            <a:xfrm>
              <a:off x="37324753" y="15097157"/>
              <a:ext cx="5956404" cy="6738219"/>
              <a:chOff x="37462544" y="15444990"/>
              <a:chExt cx="5956404" cy="6738219"/>
            </a:xfrm>
          </p:grpSpPr>
          <p:pic>
            <p:nvPicPr>
              <p:cNvPr id="15654" name="Graphic 15653">
                <a:extLst>
                  <a:ext uri="{FF2B5EF4-FFF2-40B4-BE49-F238E27FC236}">
                    <a16:creationId xmlns:a16="http://schemas.microsoft.com/office/drawing/2014/main" id="{10803621-C472-7ABD-EBF3-5EE9AE8C4D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 l="12332" r="4359" b="8540"/>
              <a:stretch/>
            </p:blipFill>
            <p:spPr>
              <a:xfrm>
                <a:off x="38085758" y="15444990"/>
                <a:ext cx="5333190" cy="6071802"/>
              </a:xfrm>
              <a:prstGeom prst="rect">
                <a:avLst/>
              </a:prstGeom>
            </p:spPr>
          </p:pic>
          <p:sp>
            <p:nvSpPr>
              <p:cNvPr id="15719" name="TextBox 15718">
                <a:extLst>
                  <a:ext uri="{FF2B5EF4-FFF2-40B4-BE49-F238E27FC236}">
                    <a16:creationId xmlns:a16="http://schemas.microsoft.com/office/drawing/2014/main" id="{F04F4CFA-B833-1DD9-86EC-A956DC37137A}"/>
                  </a:ext>
                </a:extLst>
              </p:cNvPr>
              <p:cNvSpPr txBox="1"/>
              <p:nvPr/>
            </p:nvSpPr>
            <p:spPr>
              <a:xfrm>
                <a:off x="37516370" y="16909110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15720" name="TextBox 15719">
                <a:extLst>
                  <a:ext uri="{FF2B5EF4-FFF2-40B4-BE49-F238E27FC236}">
                    <a16:creationId xmlns:a16="http://schemas.microsoft.com/office/drawing/2014/main" id="{0D17E5B2-CB95-D5BD-E169-9C1854A0AD37}"/>
                  </a:ext>
                </a:extLst>
              </p:cNvPr>
              <p:cNvSpPr txBox="1"/>
              <p:nvPr/>
            </p:nvSpPr>
            <p:spPr>
              <a:xfrm>
                <a:off x="37462544" y="20542022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15721" name="TextBox 15720">
                <a:extLst>
                  <a:ext uri="{FF2B5EF4-FFF2-40B4-BE49-F238E27FC236}">
                    <a16:creationId xmlns:a16="http://schemas.microsoft.com/office/drawing/2014/main" id="{81E64089-644A-E436-A434-45AF685F62E1}"/>
                  </a:ext>
                </a:extLst>
              </p:cNvPr>
              <p:cNvSpPr txBox="1"/>
              <p:nvPr/>
            </p:nvSpPr>
            <p:spPr>
              <a:xfrm rot="16200000">
                <a:off x="36531370" y="18699129"/>
                <a:ext cx="2471242" cy="440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 err="1"/>
                  <a:t>mPFC</a:t>
                </a:r>
                <a:r>
                  <a:rPr lang="en-US" sz="3000" dirty="0"/>
                  <a:t> activation</a:t>
                </a:r>
              </a:p>
            </p:txBody>
          </p:sp>
          <p:sp>
            <p:nvSpPr>
              <p:cNvPr id="15722" name="TextBox 15721">
                <a:extLst>
                  <a:ext uri="{FF2B5EF4-FFF2-40B4-BE49-F238E27FC236}">
                    <a16:creationId xmlns:a16="http://schemas.microsoft.com/office/drawing/2014/main" id="{D6E3B518-3825-F962-6455-6381AEA6B615}"/>
                  </a:ext>
                </a:extLst>
              </p:cNvPr>
              <p:cNvSpPr txBox="1"/>
              <p:nvPr/>
            </p:nvSpPr>
            <p:spPr>
              <a:xfrm>
                <a:off x="38109468" y="21552103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15723" name="TextBox 15722">
                <a:extLst>
                  <a:ext uri="{FF2B5EF4-FFF2-40B4-BE49-F238E27FC236}">
                    <a16:creationId xmlns:a16="http://schemas.microsoft.com/office/drawing/2014/main" id="{8B001207-DE47-3A09-905A-EBCA2F9F5C56}"/>
                  </a:ext>
                </a:extLst>
              </p:cNvPr>
              <p:cNvSpPr txBox="1"/>
              <p:nvPr/>
            </p:nvSpPr>
            <p:spPr>
              <a:xfrm>
                <a:off x="41781537" y="21614547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  <p:sp>
            <p:nvSpPr>
              <p:cNvPr id="15724" name="TextBox 15723">
                <a:extLst>
                  <a:ext uri="{FF2B5EF4-FFF2-40B4-BE49-F238E27FC236}">
                    <a16:creationId xmlns:a16="http://schemas.microsoft.com/office/drawing/2014/main" id="{A7A779AE-265E-DD6C-9D50-6736DE453C86}"/>
                  </a:ext>
                </a:extLst>
              </p:cNvPr>
              <p:cNvSpPr txBox="1"/>
              <p:nvPr/>
            </p:nvSpPr>
            <p:spPr>
              <a:xfrm>
                <a:off x="39784621" y="21475323"/>
                <a:ext cx="109677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</p:grpSp>
        <p:sp>
          <p:nvSpPr>
            <p:cNvPr id="15736" name="Rectangle 15735">
              <a:extLst>
                <a:ext uri="{FF2B5EF4-FFF2-40B4-BE49-F238E27FC236}">
                  <a16:creationId xmlns:a16="http://schemas.microsoft.com/office/drawing/2014/main" id="{885157CA-2A93-73F2-A17C-8ACD95507E22}"/>
                </a:ext>
              </a:extLst>
            </p:cNvPr>
            <p:cNvSpPr/>
            <p:nvPr/>
          </p:nvSpPr>
          <p:spPr bwMode="auto">
            <a:xfrm>
              <a:off x="38024698" y="15618426"/>
              <a:ext cx="5330580" cy="541131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655AFED-3947-A740-B235-4AE33711962C}"/>
              </a:ext>
            </a:extLst>
          </p:cNvPr>
          <p:cNvGrpSpPr/>
          <p:nvPr/>
        </p:nvGrpSpPr>
        <p:grpSpPr>
          <a:xfrm>
            <a:off x="35322155" y="5111358"/>
            <a:ext cx="8025077" cy="7927695"/>
            <a:chOff x="37564868" y="5920531"/>
            <a:chExt cx="6139033" cy="6439521"/>
          </a:xfrm>
        </p:grpSpPr>
        <p:sp>
          <p:nvSpPr>
            <p:cNvPr id="15711" name="TextBox 15710">
              <a:extLst>
                <a:ext uri="{FF2B5EF4-FFF2-40B4-BE49-F238E27FC236}">
                  <a16:creationId xmlns:a16="http://schemas.microsoft.com/office/drawing/2014/main" id="{3F0968C1-C452-1885-6B38-F154CD473A3F}"/>
                </a:ext>
              </a:extLst>
            </p:cNvPr>
            <p:cNvSpPr txBox="1"/>
            <p:nvPr/>
          </p:nvSpPr>
          <p:spPr>
            <a:xfrm>
              <a:off x="37616989" y="6979043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</a:t>
              </a:r>
            </a:p>
          </p:txBody>
        </p:sp>
        <p:sp>
          <p:nvSpPr>
            <p:cNvPr id="15713" name="TextBox 15712">
              <a:extLst>
                <a:ext uri="{FF2B5EF4-FFF2-40B4-BE49-F238E27FC236}">
                  <a16:creationId xmlns:a16="http://schemas.microsoft.com/office/drawing/2014/main" id="{0538FBF6-7909-445F-ACD2-9599FE92C967}"/>
                </a:ext>
              </a:extLst>
            </p:cNvPr>
            <p:cNvSpPr txBox="1"/>
            <p:nvPr/>
          </p:nvSpPr>
          <p:spPr>
            <a:xfrm>
              <a:off x="37564868" y="1133718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-300</a:t>
              </a:r>
            </a:p>
          </p:txBody>
        </p:sp>
        <p:sp>
          <p:nvSpPr>
            <p:cNvPr id="15716" name="TextBox 15715">
              <a:extLst>
                <a:ext uri="{FF2B5EF4-FFF2-40B4-BE49-F238E27FC236}">
                  <a16:creationId xmlns:a16="http://schemas.microsoft.com/office/drawing/2014/main" id="{A7B791E9-2592-EA60-AB27-F2DBE3421768}"/>
                </a:ext>
              </a:extLst>
            </p:cNvPr>
            <p:cNvSpPr txBox="1"/>
            <p:nvPr/>
          </p:nvSpPr>
          <p:spPr>
            <a:xfrm>
              <a:off x="38211199" y="11728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15717" name="TextBox 15716">
              <a:extLst>
                <a:ext uri="{FF2B5EF4-FFF2-40B4-BE49-F238E27FC236}">
                  <a16:creationId xmlns:a16="http://schemas.microsoft.com/office/drawing/2014/main" id="{4288430D-B235-E5D2-0E3C-C928486D0544}"/>
                </a:ext>
              </a:extLst>
            </p:cNvPr>
            <p:cNvSpPr txBox="1"/>
            <p:nvPr/>
          </p:nvSpPr>
          <p:spPr>
            <a:xfrm>
              <a:off x="41883268" y="1179139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  <p:sp>
          <p:nvSpPr>
            <p:cNvPr id="15718" name="TextBox 15717">
              <a:extLst>
                <a:ext uri="{FF2B5EF4-FFF2-40B4-BE49-F238E27FC236}">
                  <a16:creationId xmlns:a16="http://schemas.microsoft.com/office/drawing/2014/main" id="{C5EDCAEC-F972-A2CD-DE27-9E216B9AC130}"/>
                </a:ext>
              </a:extLst>
            </p:cNvPr>
            <p:cNvSpPr txBox="1"/>
            <p:nvPr/>
          </p:nvSpPr>
          <p:spPr>
            <a:xfrm>
              <a:off x="39886352" y="11652166"/>
              <a:ext cx="109677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Age</a:t>
              </a:r>
            </a:p>
          </p:txBody>
        </p:sp>
        <p:pic>
          <p:nvPicPr>
            <p:cNvPr id="15650" name="Graphic 15649">
              <a:extLst>
                <a:ext uri="{FF2B5EF4-FFF2-40B4-BE49-F238E27FC236}">
                  <a16:creationId xmlns:a16="http://schemas.microsoft.com/office/drawing/2014/main" id="{A066B4DE-396E-E58D-5D45-BFC7D72F81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l="10653" b="8997"/>
            <a:stretch/>
          </p:blipFill>
          <p:spPr>
            <a:xfrm>
              <a:off x="38145721" y="5920531"/>
              <a:ext cx="5558180" cy="5870860"/>
            </a:xfrm>
            <a:prstGeom prst="rect">
              <a:avLst/>
            </a:prstGeom>
          </p:spPr>
        </p:pic>
        <p:sp>
          <p:nvSpPr>
            <p:cNvPr id="15715" name="TextBox 15714">
              <a:extLst>
                <a:ext uri="{FF2B5EF4-FFF2-40B4-BE49-F238E27FC236}">
                  <a16:creationId xmlns:a16="http://schemas.microsoft.com/office/drawing/2014/main" id="{6A186BD7-7E16-8AE4-2E56-FAD05BEC16F6}"/>
                </a:ext>
              </a:extLst>
            </p:cNvPr>
            <p:cNvSpPr txBox="1"/>
            <p:nvPr/>
          </p:nvSpPr>
          <p:spPr>
            <a:xfrm rot="16200000">
              <a:off x="36657648" y="8884400"/>
              <a:ext cx="2422148" cy="423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 err="1"/>
                <a:t>dlPFC</a:t>
              </a:r>
              <a:r>
                <a:rPr lang="en-US" sz="3000" dirty="0"/>
                <a:t> activation</a:t>
              </a:r>
            </a:p>
          </p:txBody>
        </p:sp>
        <p:sp>
          <p:nvSpPr>
            <p:cNvPr id="15737" name="Rectangle 15736">
              <a:extLst>
                <a:ext uri="{FF2B5EF4-FFF2-40B4-BE49-F238E27FC236}">
                  <a16:creationId xmlns:a16="http://schemas.microsoft.com/office/drawing/2014/main" id="{EEA0696C-64C6-F5A4-E63B-F257E6A68B97}"/>
                </a:ext>
              </a:extLst>
            </p:cNvPr>
            <p:cNvSpPr/>
            <p:nvPr/>
          </p:nvSpPr>
          <p:spPr bwMode="auto">
            <a:xfrm>
              <a:off x="38192920" y="6275932"/>
              <a:ext cx="5330580" cy="541131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pic>
        <p:nvPicPr>
          <p:cNvPr id="1025" name="Picture 1" descr="page1image36299968">
            <a:extLst>
              <a:ext uri="{FF2B5EF4-FFF2-40B4-BE49-F238E27FC236}">
                <a16:creationId xmlns:a16="http://schemas.microsoft.com/office/drawing/2014/main" id="{60035D50-8936-684B-B250-A56C0072C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14" y="487329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1image36299968">
            <a:extLst>
              <a:ext uri="{FF2B5EF4-FFF2-40B4-BE49-F238E27FC236}">
                <a16:creationId xmlns:a16="http://schemas.microsoft.com/office/drawing/2014/main" id="{EA3B4680-C131-E644-9965-35912127B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778" y="592888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1image36299744">
            <a:extLst>
              <a:ext uri="{FF2B5EF4-FFF2-40B4-BE49-F238E27FC236}">
                <a16:creationId xmlns:a16="http://schemas.microsoft.com/office/drawing/2014/main" id="{C5462043-3FBA-174F-8046-F6A09633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5086" y="643380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image52530848">
            <a:extLst>
              <a:ext uri="{FF2B5EF4-FFF2-40B4-BE49-F238E27FC236}">
                <a16:creationId xmlns:a16="http://schemas.microsoft.com/office/drawing/2014/main" id="{B03A8A5E-93A8-8D4C-8490-C8A39AE1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778" y="592888"/>
            <a:ext cx="302387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EBE959C-E76F-26F5-3977-7B65ACC54BDB}"/>
              </a:ext>
            </a:extLst>
          </p:cNvPr>
          <p:cNvGrpSpPr/>
          <p:nvPr/>
        </p:nvGrpSpPr>
        <p:grpSpPr>
          <a:xfrm>
            <a:off x="14047943" y="1512177"/>
            <a:ext cx="7364964" cy="7636639"/>
            <a:chOff x="17267302" y="5300010"/>
            <a:chExt cx="15233772" cy="1418725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CEBC02A-D17E-C673-FF14-B2A7299CD29C}"/>
                </a:ext>
              </a:extLst>
            </p:cNvPr>
            <p:cNvGrpSpPr/>
            <p:nvPr/>
          </p:nvGrpSpPr>
          <p:grpSpPr>
            <a:xfrm>
              <a:off x="17267302" y="5300010"/>
              <a:ext cx="15233772" cy="14187253"/>
              <a:chOff x="17267302" y="5300010"/>
              <a:chExt cx="15233772" cy="14187253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7764D22-FEE2-29D5-77DA-B49907121EA6}"/>
                  </a:ext>
                </a:extLst>
              </p:cNvPr>
              <p:cNvGrpSpPr/>
              <p:nvPr/>
            </p:nvGrpSpPr>
            <p:grpSpPr>
              <a:xfrm>
                <a:off x="17267302" y="5300010"/>
                <a:ext cx="15233772" cy="12987990"/>
                <a:chOff x="17267302" y="5300010"/>
                <a:chExt cx="15233772" cy="12987990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34AFE783-B325-8261-217E-BB4718A01EFE}"/>
                    </a:ext>
                  </a:extLst>
                </p:cNvPr>
                <p:cNvSpPr/>
                <p:nvPr/>
              </p:nvSpPr>
              <p:spPr bwMode="auto">
                <a:xfrm>
                  <a:off x="17267302" y="5300010"/>
                  <a:ext cx="2814638" cy="6500813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50A6255-10BD-F4E5-2627-B4138E01A997}"/>
                    </a:ext>
                  </a:extLst>
                </p:cNvPr>
                <p:cNvSpPr/>
                <p:nvPr/>
              </p:nvSpPr>
              <p:spPr bwMode="auto">
                <a:xfrm>
                  <a:off x="23482859" y="16121903"/>
                  <a:ext cx="2814638" cy="2166097"/>
                </a:xfrm>
                <a:prstGeom prst="rect">
                  <a:avLst/>
                </a:prstGeom>
                <a:solidFill>
                  <a:schemeClr val="accent1">
                    <a:lumMod val="25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5E1BAF2-0B1B-D6EB-D2FA-146E5C5CA6F3}"/>
                    </a:ext>
                  </a:extLst>
                </p:cNvPr>
                <p:cNvSpPr/>
                <p:nvPr/>
              </p:nvSpPr>
              <p:spPr bwMode="auto">
                <a:xfrm>
                  <a:off x="29686436" y="16121903"/>
                  <a:ext cx="2814638" cy="2166097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C5D78FB-3804-D93A-C859-BB3859DEF4C8}"/>
                    </a:ext>
                  </a:extLst>
                </p:cNvPr>
                <p:cNvCxnSpPr>
                  <a:cxnSpLocks/>
                  <a:stCxn id="3" idx="2"/>
                </p:cNvCxnSpPr>
                <p:nvPr/>
              </p:nvCxnSpPr>
              <p:spPr bwMode="auto">
                <a:xfrm>
                  <a:off x="18674621" y="11800823"/>
                  <a:ext cx="0" cy="430614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323A30F-EB0B-0BC4-120E-17A180965A1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4890178" y="13968833"/>
                  <a:ext cx="0" cy="215307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094A9A13-7EB7-FB0C-327F-5A30EB7CA15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1104633" y="13968833"/>
                  <a:ext cx="0" cy="215307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6E28200-C2D5-D487-234B-026AA92A5BE8}"/>
                    </a:ext>
                  </a:extLst>
                </p:cNvPr>
                <p:cNvCxnSpPr/>
                <p:nvPr/>
              </p:nvCxnSpPr>
              <p:spPr bwMode="auto">
                <a:xfrm>
                  <a:off x="18010414" y="1612190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F1CF9C76-ADBF-601C-5AB7-771E0AFB6314}"/>
                    </a:ext>
                  </a:extLst>
                </p:cNvPr>
                <p:cNvCxnSpPr/>
                <p:nvPr/>
              </p:nvCxnSpPr>
              <p:spPr bwMode="auto">
                <a:xfrm>
                  <a:off x="24237035" y="1396883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0D94689-F8BC-3D65-2CD3-9F5CE68EF435}"/>
                    </a:ext>
                  </a:extLst>
                </p:cNvPr>
                <p:cNvCxnSpPr/>
                <p:nvPr/>
              </p:nvCxnSpPr>
              <p:spPr bwMode="auto">
                <a:xfrm>
                  <a:off x="30451490" y="1396883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" name="Multiply 17">
                  <a:extLst>
                    <a:ext uri="{FF2B5EF4-FFF2-40B4-BE49-F238E27FC236}">
                      <a16:creationId xmlns:a16="http://schemas.microsoft.com/office/drawing/2014/main" id="{B86E0230-0B5B-2336-900D-8F8ED1CB2692}"/>
                    </a:ext>
                  </a:extLst>
                </p:cNvPr>
                <p:cNvSpPr/>
                <p:nvPr/>
              </p:nvSpPr>
              <p:spPr bwMode="auto">
                <a:xfrm>
                  <a:off x="30860534" y="11343623"/>
                  <a:ext cx="457200" cy="457200"/>
                </a:xfrm>
                <a:prstGeom prst="mathMultiply">
                  <a:avLst/>
                </a:prstGeom>
                <a:solidFill>
                  <a:srgbClr val="72BFC5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DC4BE0B-55CC-21CC-228D-4D58C6F81768}"/>
                    </a:ext>
                  </a:extLst>
                </p:cNvPr>
                <p:cNvCxnSpPr/>
                <p:nvPr/>
              </p:nvCxnSpPr>
              <p:spPr bwMode="auto">
                <a:xfrm>
                  <a:off x="17301874" y="9627476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D54C4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1CE6A5D-1BCC-6244-27A6-2E6271A4DF81}"/>
                    </a:ext>
                  </a:extLst>
                </p:cNvPr>
                <p:cNvCxnSpPr/>
                <p:nvPr/>
              </p:nvCxnSpPr>
              <p:spPr bwMode="auto">
                <a:xfrm>
                  <a:off x="23513855" y="18210955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BB423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BE1D573-BA3F-6844-0338-2311984CF2CB}"/>
                    </a:ext>
                  </a:extLst>
                </p:cNvPr>
                <p:cNvCxnSpPr/>
                <p:nvPr/>
              </p:nvCxnSpPr>
              <p:spPr bwMode="auto">
                <a:xfrm>
                  <a:off x="29707024" y="18210954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EF544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2CD6FC-4197-B0F5-EB5E-7B8778E1D9B9}"/>
                  </a:ext>
                </a:extLst>
              </p:cNvPr>
              <p:cNvSpPr txBox="1"/>
              <p:nvPr/>
            </p:nvSpPr>
            <p:spPr>
              <a:xfrm>
                <a:off x="18047432" y="18801292"/>
                <a:ext cx="127310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Friend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EAD576-740F-E665-EA00-7C83C68CAF0A}"/>
                  </a:ext>
                </a:extLst>
              </p:cNvPr>
              <p:cNvSpPr txBox="1"/>
              <p:nvPr/>
            </p:nvSpPr>
            <p:spPr>
              <a:xfrm>
                <a:off x="24016659" y="18801291"/>
                <a:ext cx="165782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Stranger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B7075-BCE9-5433-D5D4-988B3A796C17}"/>
                  </a:ext>
                </a:extLst>
              </p:cNvPr>
              <p:cNvSpPr txBox="1"/>
              <p:nvPr/>
            </p:nvSpPr>
            <p:spPr>
              <a:xfrm>
                <a:off x="30153622" y="18933265"/>
                <a:ext cx="187102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Computer</a:t>
                </a:r>
              </a:p>
            </p:txBody>
          </p:sp>
        </p:grpSp>
        <p:sp>
          <p:nvSpPr>
            <p:cNvPr id="29" name="Multiply 28">
              <a:extLst>
                <a:ext uri="{FF2B5EF4-FFF2-40B4-BE49-F238E27FC236}">
                  <a16:creationId xmlns:a16="http://schemas.microsoft.com/office/drawing/2014/main" id="{E2544558-A55A-31AE-362C-DC229ED9A5F8}"/>
                </a:ext>
              </a:extLst>
            </p:cNvPr>
            <p:cNvSpPr/>
            <p:nvPr/>
          </p:nvSpPr>
          <p:spPr bwMode="auto">
            <a:xfrm>
              <a:off x="30860534" y="9433297"/>
              <a:ext cx="457200" cy="457200"/>
            </a:xfrm>
            <a:prstGeom prst="mathMultiply">
              <a:avLst/>
            </a:prstGeom>
            <a:solidFill>
              <a:srgbClr val="72BFC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0" name="Multiply 29">
              <a:extLst>
                <a:ext uri="{FF2B5EF4-FFF2-40B4-BE49-F238E27FC236}">
                  <a16:creationId xmlns:a16="http://schemas.microsoft.com/office/drawing/2014/main" id="{49EFB42A-BDC5-EDFE-30E2-3E0854186CEB}"/>
                </a:ext>
              </a:extLst>
            </p:cNvPr>
            <p:cNvSpPr/>
            <p:nvPr/>
          </p:nvSpPr>
          <p:spPr bwMode="auto">
            <a:xfrm>
              <a:off x="24661578" y="11557807"/>
              <a:ext cx="457200" cy="457200"/>
            </a:xfrm>
            <a:prstGeom prst="mathMultiply">
              <a:avLst/>
            </a:prstGeom>
            <a:solidFill>
              <a:srgbClr val="1D464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1" name="Multiply 30">
              <a:extLst>
                <a:ext uri="{FF2B5EF4-FFF2-40B4-BE49-F238E27FC236}">
                  <a16:creationId xmlns:a16="http://schemas.microsoft.com/office/drawing/2014/main" id="{1F137DB2-67E6-E506-A500-26336390C594}"/>
                </a:ext>
              </a:extLst>
            </p:cNvPr>
            <p:cNvSpPr/>
            <p:nvPr/>
          </p:nvSpPr>
          <p:spPr bwMode="auto">
            <a:xfrm>
              <a:off x="24661578" y="9433297"/>
              <a:ext cx="457200" cy="457200"/>
            </a:xfrm>
            <a:prstGeom prst="mathMultiply">
              <a:avLst/>
            </a:prstGeom>
            <a:solidFill>
              <a:srgbClr val="1D464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B27CAF-4280-AD34-B210-5080F180D2C2}"/>
              </a:ext>
            </a:extLst>
          </p:cNvPr>
          <p:cNvGrpSpPr/>
          <p:nvPr/>
        </p:nvGrpSpPr>
        <p:grpSpPr>
          <a:xfrm>
            <a:off x="3302117" y="697747"/>
            <a:ext cx="7765387" cy="8857886"/>
            <a:chOff x="15752261" y="4761579"/>
            <a:chExt cx="6351768" cy="72453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781F48-3237-34BE-792E-D00CC6F352EC}"/>
                </a:ext>
              </a:extLst>
            </p:cNvPr>
            <p:cNvGrpSpPr/>
            <p:nvPr/>
          </p:nvGrpSpPr>
          <p:grpSpPr>
            <a:xfrm>
              <a:off x="15752261" y="4761579"/>
              <a:ext cx="6351768" cy="7245387"/>
              <a:chOff x="15752261" y="4761579"/>
              <a:chExt cx="6351768" cy="724538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FCDB739-B6CA-6A2F-4FF4-2D6158E62F41}"/>
                  </a:ext>
                </a:extLst>
              </p:cNvPr>
              <p:cNvSpPr/>
              <p:nvPr/>
            </p:nvSpPr>
            <p:spPr bwMode="auto">
              <a:xfrm>
                <a:off x="15752261" y="4761579"/>
                <a:ext cx="6351768" cy="7245387"/>
              </a:xfrm>
              <a:prstGeom prst="rect">
                <a:avLst/>
              </a:prstGeom>
              <a:solidFill>
                <a:srgbClr val="FAF86D">
                  <a:alpha val="54118"/>
                </a:srgbClr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8CB1042-C763-7E92-8F91-E80C5111A56D}"/>
                  </a:ext>
                </a:extLst>
              </p:cNvPr>
              <p:cNvSpPr txBox="1"/>
              <p:nvPr/>
            </p:nvSpPr>
            <p:spPr>
              <a:xfrm>
                <a:off x="15906068" y="11363259"/>
                <a:ext cx="4965131" cy="5790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n-US" altLang="en-US" sz="2000" dirty="0">
                    <a:latin typeface="Helvetica"/>
                    <a:ea typeface="MS PGothic"/>
                  </a:rPr>
                  <a:t>Kyle M. </a:t>
                </a:r>
                <a:r>
                  <a:rPr lang="en-US" altLang="en-US" sz="2000" dirty="0" err="1">
                    <a:latin typeface="Helvetica"/>
                    <a:ea typeface="MS PGothic"/>
                  </a:rPr>
                  <a:t>Woosnam</a:t>
                </a:r>
                <a:r>
                  <a:rPr lang="en-US" altLang="en-US" sz="2000" dirty="0">
                    <a:latin typeface="Helvetica"/>
                    <a:ea typeface="MS PGothic"/>
                  </a:rPr>
                  <a:t>,</a:t>
                </a:r>
              </a:p>
              <a:p>
                <a:r>
                  <a:rPr lang="en-US" altLang="en-US" sz="2000" dirty="0">
                    <a:latin typeface="Helvetica"/>
                    <a:ea typeface="MS PGothic"/>
                  </a:rPr>
                  <a:t>The inclusion of other in the self (</a:t>
                </a:r>
                <a:r>
                  <a:rPr lang="en-US" altLang="en-US" sz="2000" dirty="0" err="1">
                    <a:latin typeface="Helvetica"/>
                    <a:ea typeface="MS PGothic"/>
                  </a:rPr>
                  <a:t>ios</a:t>
                </a:r>
                <a:r>
                  <a:rPr lang="en-US" altLang="en-US" sz="2000" dirty="0">
                    <a:latin typeface="Helvetica"/>
                    <a:ea typeface="MS PGothic"/>
                  </a:rPr>
                  <a:t>) scale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D816D11-3FBA-D07E-6B9E-38A2F4EB099B}"/>
                </a:ext>
              </a:extLst>
            </p:cNvPr>
            <p:cNvGrpSpPr/>
            <p:nvPr/>
          </p:nvGrpSpPr>
          <p:grpSpPr>
            <a:xfrm>
              <a:off x="16266708" y="5102620"/>
              <a:ext cx="5346874" cy="6245250"/>
              <a:chOff x="24606262" y="5087612"/>
              <a:chExt cx="5346874" cy="624525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775D2E0-EA68-224B-714D-E08D12FB0BC4}"/>
                  </a:ext>
                </a:extLst>
              </p:cNvPr>
              <p:cNvGrpSpPr/>
              <p:nvPr/>
            </p:nvGrpSpPr>
            <p:grpSpPr>
              <a:xfrm>
                <a:off x="24606262" y="5087612"/>
                <a:ext cx="5346874" cy="2981162"/>
                <a:chOff x="24230508" y="5420973"/>
                <a:chExt cx="5346874" cy="2981162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F210A4F8-95CD-6B0C-1156-2D603B9862CF}"/>
                    </a:ext>
                  </a:extLst>
                </p:cNvPr>
                <p:cNvSpPr/>
                <p:nvPr/>
              </p:nvSpPr>
              <p:spPr bwMode="auto">
                <a:xfrm>
                  <a:off x="24230508" y="5440590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3000" dirty="0">
                      <a:latin typeface="Arial" charset="0"/>
                      <a:cs typeface="Arial" charset="0"/>
                    </a:rPr>
                    <a:t>Other</a:t>
                  </a:r>
                  <a:endParaRPr kumimoji="0" lang="en-US" sz="3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094E4F7B-794E-48AC-145A-00C8986E4091}"/>
                    </a:ext>
                  </a:extLst>
                </p:cNvPr>
                <p:cNvSpPr/>
                <p:nvPr/>
              </p:nvSpPr>
              <p:spPr bwMode="auto">
                <a:xfrm>
                  <a:off x="26615837" y="5420973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rPr>
                    <a:t>Self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954FFDE-545B-AD1D-A25A-59FD7AEFC418}"/>
                  </a:ext>
                </a:extLst>
              </p:cNvPr>
              <p:cNvGrpSpPr/>
              <p:nvPr/>
            </p:nvGrpSpPr>
            <p:grpSpPr>
              <a:xfrm>
                <a:off x="25411939" y="8348344"/>
                <a:ext cx="3925091" cy="2984518"/>
                <a:chOff x="25130667" y="8968962"/>
                <a:chExt cx="3925091" cy="2984518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FC73058-CB31-27B0-772A-3BDDA9B99C29}"/>
                    </a:ext>
                  </a:extLst>
                </p:cNvPr>
                <p:cNvSpPr/>
                <p:nvPr/>
              </p:nvSpPr>
              <p:spPr bwMode="auto">
                <a:xfrm>
                  <a:off x="25130667" y="8968962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67D4BD0-69C1-6205-729F-359FD089EF50}"/>
                    </a:ext>
                  </a:extLst>
                </p:cNvPr>
                <p:cNvSpPr/>
                <p:nvPr/>
              </p:nvSpPr>
              <p:spPr bwMode="auto">
                <a:xfrm>
                  <a:off x="26094213" y="8991935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</p:grpSp>
        </p:grpSp>
      </p:grpSp>
      <p:pic>
        <p:nvPicPr>
          <p:cNvPr id="44" name="Picture 43" descr="A graph with a line and dots&#10;&#10;Description automatically generated">
            <a:extLst>
              <a:ext uri="{FF2B5EF4-FFF2-40B4-BE49-F238E27FC236}">
                <a16:creationId xmlns:a16="http://schemas.microsoft.com/office/drawing/2014/main" id="{5A9B45D2-69CE-45B6-E0FF-63E075F12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7"/>
          <a:stretch/>
        </p:blipFill>
        <p:spPr>
          <a:xfrm>
            <a:off x="17565458" y="20012822"/>
            <a:ext cx="5976934" cy="625626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101D678-0DF9-DFE7-5AB5-E5E73F160921}"/>
              </a:ext>
            </a:extLst>
          </p:cNvPr>
          <p:cNvSpPr txBox="1"/>
          <p:nvPr/>
        </p:nvSpPr>
        <p:spPr>
          <a:xfrm>
            <a:off x="25431750" y="21945601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mask Cope 10, f-s behavior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5566B34-90A2-F860-BA56-C61310F4490F}"/>
              </a:ext>
            </a:extLst>
          </p:cNvPr>
          <p:cNvGrpSpPr/>
          <p:nvPr/>
        </p:nvGrpSpPr>
        <p:grpSpPr>
          <a:xfrm>
            <a:off x="23956247" y="1593935"/>
            <a:ext cx="8009593" cy="7451869"/>
            <a:chOff x="18887859" y="360968"/>
            <a:chExt cx="6543891" cy="6151778"/>
          </a:xfrm>
        </p:grpSpPr>
        <p:pic>
          <p:nvPicPr>
            <p:cNvPr id="46" name="Picture 45" descr="A green check mark on a grey background&#10;&#10;Description automatically generated">
              <a:extLst>
                <a:ext uri="{FF2B5EF4-FFF2-40B4-BE49-F238E27FC236}">
                  <a16:creationId xmlns:a16="http://schemas.microsoft.com/office/drawing/2014/main" id="{05D821C2-E885-CC67-E0E9-FCC0C910A1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791" t="15087" r="12450" b="22936"/>
            <a:stretch/>
          </p:blipFill>
          <p:spPr>
            <a:xfrm>
              <a:off x="19244972" y="4622666"/>
              <a:ext cx="2991981" cy="18900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7" name="Picture 46" descr="A computer screen shot&#10;&#10;Description automatically generated">
              <a:extLst>
                <a:ext uri="{FF2B5EF4-FFF2-40B4-BE49-F238E27FC236}">
                  <a16:creationId xmlns:a16="http://schemas.microsoft.com/office/drawing/2014/main" id="{25A164EB-4BEF-B4A5-B060-06D4C5267B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658" t="18357" r="18046" b="25816"/>
            <a:stretch/>
          </p:blipFill>
          <p:spPr>
            <a:xfrm>
              <a:off x="22543408" y="4676154"/>
              <a:ext cx="2888342" cy="181903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8" name="Picture 47" descr="A white cross on a gray background&#10;&#10;Description automatically generated">
              <a:extLst>
                <a:ext uri="{FF2B5EF4-FFF2-40B4-BE49-F238E27FC236}">
                  <a16:creationId xmlns:a16="http://schemas.microsoft.com/office/drawing/2014/main" id="{2A82ECC0-02D2-399E-A379-0EF13FCC0D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620" t="7420" r="2620" b="4981"/>
            <a:stretch/>
          </p:blipFill>
          <p:spPr>
            <a:xfrm>
              <a:off x="20965957" y="2971697"/>
              <a:ext cx="2848448" cy="18900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9" name="Picture 48" descr="A grey background with white text&#10;&#10;Description automatically generated">
              <a:extLst>
                <a:ext uri="{FF2B5EF4-FFF2-40B4-BE49-F238E27FC236}">
                  <a16:creationId xmlns:a16="http://schemas.microsoft.com/office/drawing/2014/main" id="{8319B2F5-A88D-8E16-A0DB-3B22400CE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926908" y="1639461"/>
              <a:ext cx="2848448" cy="19438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0" name="Picture 49" descr="A computer and a keyboard&#10;&#10;Description automatically generated with medium confidence">
              <a:extLst>
                <a:ext uri="{FF2B5EF4-FFF2-40B4-BE49-F238E27FC236}">
                  <a16:creationId xmlns:a16="http://schemas.microsoft.com/office/drawing/2014/main" id="{462EC6A9-8181-A755-C6DF-08487EECDC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378" t="5420" r="2378" b="9853"/>
            <a:stretch/>
          </p:blipFill>
          <p:spPr>
            <a:xfrm>
              <a:off x="18887859" y="360968"/>
              <a:ext cx="2848448" cy="191943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98D2AA0-6856-8BFC-A013-3D7002419DA0}"/>
                </a:ext>
              </a:extLst>
            </p:cNvPr>
            <p:cNvGrpSpPr/>
            <p:nvPr/>
          </p:nvGrpSpPr>
          <p:grpSpPr>
            <a:xfrm>
              <a:off x="22071524" y="360968"/>
              <a:ext cx="3360226" cy="995434"/>
              <a:chOff x="3514264" y="206684"/>
              <a:chExt cx="3360226" cy="995434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A58D4E4-38FC-FF26-3C92-D95E613FF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14264" y="206684"/>
                <a:ext cx="1027916" cy="99067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53" name="Picture 52" descr="A grey square with a person's head&#10;&#10;Description automatically generated">
                <a:extLst>
                  <a:ext uri="{FF2B5EF4-FFF2-40B4-BE49-F238E27FC236}">
                    <a16:creationId xmlns:a16="http://schemas.microsoft.com/office/drawing/2014/main" id="{DCD9D8FF-F003-604C-A09E-3B749D263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7835" y="206684"/>
                <a:ext cx="982991" cy="995434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54" name="Picture 53" descr="A person with a smile on his face&#10;&#10;Description automatically generated">
                <a:extLst>
                  <a:ext uri="{FF2B5EF4-FFF2-40B4-BE49-F238E27FC236}">
                    <a16:creationId xmlns:a16="http://schemas.microsoft.com/office/drawing/2014/main" id="{AA177AC5-6357-26F0-BFC6-A1CAE04EB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83817" y="206684"/>
                <a:ext cx="990673" cy="99067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p:grpSp>
      </p:grpSp>
    </p:spTree>
    <p:extLst>
      <p:ext uri="{BB962C8B-B14F-4D97-AF65-F5344CB8AC3E}">
        <p14:creationId xmlns:p14="http://schemas.microsoft.com/office/powerpoint/2010/main" val="244735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837406F-5692-3E0A-6846-F0234F4B64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739"/>
          <a:stretch/>
        </p:blipFill>
        <p:spPr>
          <a:xfrm>
            <a:off x="256032" y="871751"/>
            <a:ext cx="11692074" cy="113080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BE36795-2270-B2A4-DE7D-9C6377C48B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956"/>
          <a:stretch/>
        </p:blipFill>
        <p:spPr>
          <a:xfrm>
            <a:off x="11948106" y="871751"/>
            <a:ext cx="11719381" cy="11308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D788F-1A31-5C44-8566-4F528D1785C4}"/>
              </a:ext>
            </a:extLst>
          </p:cNvPr>
          <p:cNvSpPr txBox="1"/>
          <p:nvPr/>
        </p:nvSpPr>
        <p:spPr>
          <a:xfrm>
            <a:off x="26309510" y="21994513"/>
            <a:ext cx="1258645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Participants were asked to rate their closeness with the three partners before the task on a 7-point Likert Scale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C166C9F-8AFD-5144-B709-C6E7D9C77CF0}"/>
              </a:ext>
            </a:extLst>
          </p:cNvPr>
          <p:cNvGrpSpPr/>
          <p:nvPr/>
        </p:nvGrpSpPr>
        <p:grpSpPr>
          <a:xfrm>
            <a:off x="26566310" y="4480341"/>
            <a:ext cx="6524991" cy="6955685"/>
            <a:chOff x="23087465" y="23975816"/>
            <a:chExt cx="6524991" cy="69556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33FE7B0-A177-6F40-9F4C-961AE0B6758A}"/>
                </a:ext>
              </a:extLst>
            </p:cNvPr>
            <p:cNvGrpSpPr/>
            <p:nvPr/>
          </p:nvGrpSpPr>
          <p:grpSpPr>
            <a:xfrm>
              <a:off x="23087465" y="23975816"/>
              <a:ext cx="6524991" cy="6955685"/>
              <a:chOff x="23087465" y="23975816"/>
              <a:chExt cx="6524991" cy="69556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7D19EB7-28AC-B744-9ABA-310DAFD29B0A}"/>
                  </a:ext>
                </a:extLst>
              </p:cNvPr>
              <p:cNvGrpSpPr/>
              <p:nvPr/>
            </p:nvGrpSpPr>
            <p:grpSpPr>
              <a:xfrm>
                <a:off x="23087465" y="23975816"/>
                <a:ext cx="6524991" cy="6955685"/>
                <a:chOff x="23087465" y="23975816"/>
                <a:chExt cx="6524991" cy="6955685"/>
              </a:xfrm>
            </p:grpSpPr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507378A2-7B75-EB4F-912D-685D66F7F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0991" t="5046" r="3126" b="7756"/>
                <a:stretch/>
              </p:blipFill>
              <p:spPr>
                <a:xfrm>
                  <a:off x="23723984" y="23975816"/>
                  <a:ext cx="5888472" cy="6200049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64BED4-0C1E-384C-B252-76748CAC1B6C}"/>
                    </a:ext>
                  </a:extLst>
                </p:cNvPr>
                <p:cNvSpPr txBox="1"/>
                <p:nvPr/>
              </p:nvSpPr>
              <p:spPr>
                <a:xfrm>
                  <a:off x="25810594" y="30223615"/>
                  <a:ext cx="109677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000" dirty="0"/>
                    <a:t>Age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34BF677-2248-9642-9CB1-6ADE36E56B3C}"/>
                    </a:ext>
                  </a:extLst>
                </p:cNvPr>
                <p:cNvSpPr txBox="1"/>
                <p:nvPr/>
              </p:nvSpPr>
              <p:spPr>
                <a:xfrm>
                  <a:off x="23166754" y="24615337"/>
                  <a:ext cx="6519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400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A2794F8-6A32-D94B-8839-99CAF4032589}"/>
                    </a:ext>
                  </a:extLst>
                </p:cNvPr>
                <p:cNvSpPr txBox="1"/>
                <p:nvPr/>
              </p:nvSpPr>
              <p:spPr>
                <a:xfrm>
                  <a:off x="23087465" y="28711327"/>
                  <a:ext cx="7400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-200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2E2E51-16E7-B342-93EF-ABF930710291}"/>
                    </a:ext>
                  </a:extLst>
                </p:cNvPr>
                <p:cNvSpPr txBox="1"/>
                <p:nvPr/>
              </p:nvSpPr>
              <p:spPr>
                <a:xfrm>
                  <a:off x="23822666" y="30181392"/>
                  <a:ext cx="505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20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E3C9A62-C76F-1041-B055-E2304EC80EB4}"/>
                    </a:ext>
                  </a:extLst>
                </p:cNvPr>
                <p:cNvSpPr txBox="1"/>
                <p:nvPr/>
              </p:nvSpPr>
              <p:spPr>
                <a:xfrm>
                  <a:off x="27974735" y="30181392"/>
                  <a:ext cx="505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60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BA07AC-5E67-7848-9F24-BE968F5514E2}"/>
                  </a:ext>
                </a:extLst>
              </p:cNvPr>
              <p:cNvSpPr txBox="1"/>
              <p:nvPr/>
            </p:nvSpPr>
            <p:spPr>
              <a:xfrm rot="16200000">
                <a:off x="21699109" y="26614219"/>
                <a:ext cx="342062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Friend (Reciprocate &gt; Defect) &gt; Computer (Reciprocate &gt; Defect)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5CE9A9-886F-5747-B508-B31965E7B11B}"/>
                </a:ext>
              </a:extLst>
            </p:cNvPr>
            <p:cNvSpPr/>
            <p:nvPr/>
          </p:nvSpPr>
          <p:spPr bwMode="auto">
            <a:xfrm>
              <a:off x="23891921" y="24154307"/>
              <a:ext cx="5627696" cy="5921353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205221-E6BB-984A-80FC-B768489ECF10}"/>
              </a:ext>
            </a:extLst>
          </p:cNvPr>
          <p:cNvGrpSpPr/>
          <p:nvPr/>
        </p:nvGrpSpPr>
        <p:grpSpPr>
          <a:xfrm>
            <a:off x="27234750" y="13488174"/>
            <a:ext cx="6532972" cy="6817128"/>
            <a:chOff x="16026704" y="24108846"/>
            <a:chExt cx="6532972" cy="681712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0433B2-F60B-4A4E-9F6A-D5A3E2F8F7FF}"/>
                </a:ext>
              </a:extLst>
            </p:cNvPr>
            <p:cNvGrpSpPr/>
            <p:nvPr/>
          </p:nvGrpSpPr>
          <p:grpSpPr>
            <a:xfrm>
              <a:off x="16026704" y="24108846"/>
              <a:ext cx="6532972" cy="6817128"/>
              <a:chOff x="16026704" y="24108846"/>
              <a:chExt cx="6532972" cy="6817128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CFB3CE83-290B-E54C-965D-A1F022D2AD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10756" t="6660" r="2865" b="7584"/>
              <a:stretch/>
            </p:blipFill>
            <p:spPr>
              <a:xfrm>
                <a:off x="16651056" y="24108846"/>
                <a:ext cx="5908620" cy="6083352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31EF0-D61A-AC42-80D7-E4C2C70A86DD}"/>
                  </a:ext>
                </a:extLst>
              </p:cNvPr>
              <p:cNvSpPr txBox="1"/>
              <p:nvPr/>
            </p:nvSpPr>
            <p:spPr>
              <a:xfrm>
                <a:off x="18654011" y="30218088"/>
                <a:ext cx="109677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BAA111-FF13-5A4A-B69C-A3BEF7F2C2B3}"/>
                  </a:ext>
                </a:extLst>
              </p:cNvPr>
              <p:cNvSpPr txBox="1"/>
              <p:nvPr/>
            </p:nvSpPr>
            <p:spPr>
              <a:xfrm rot="16200000">
                <a:off x="14608848" y="26568394"/>
                <a:ext cx="342062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Friend (Reciprocate &gt; Defect) &gt; Stranger (Reciprocate &gt; Defect)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916F5A-8012-EA4D-BA81-C47464F545AD}"/>
                  </a:ext>
                </a:extLst>
              </p:cNvPr>
              <p:cNvSpPr txBox="1"/>
              <p:nvPr/>
            </p:nvSpPr>
            <p:spPr>
              <a:xfrm>
                <a:off x="16115961" y="24411311"/>
                <a:ext cx="651983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C5619E-A9D2-A346-9083-0B1EA81D8AF9}"/>
                  </a:ext>
                </a:extLst>
              </p:cNvPr>
              <p:cNvSpPr txBox="1"/>
              <p:nvPr/>
            </p:nvSpPr>
            <p:spPr>
              <a:xfrm>
                <a:off x="16026704" y="28875791"/>
                <a:ext cx="740088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936398-21FA-9248-BA6E-155315401154}"/>
                  </a:ext>
                </a:extLst>
              </p:cNvPr>
              <p:cNvSpPr txBox="1"/>
              <p:nvPr/>
            </p:nvSpPr>
            <p:spPr>
              <a:xfrm>
                <a:off x="16666083" y="30175865"/>
                <a:ext cx="505139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84EDFF-F84E-1940-8B80-DC8DAD1049BE}"/>
                  </a:ext>
                </a:extLst>
              </p:cNvPr>
              <p:cNvSpPr txBox="1"/>
              <p:nvPr/>
            </p:nvSpPr>
            <p:spPr>
              <a:xfrm>
                <a:off x="20818152" y="30175865"/>
                <a:ext cx="505139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323B76-BAFB-8D40-86EB-D23726D85EA0}"/>
                </a:ext>
              </a:extLst>
            </p:cNvPr>
            <p:cNvSpPr/>
            <p:nvPr/>
          </p:nvSpPr>
          <p:spPr bwMode="auto">
            <a:xfrm>
              <a:off x="16871673" y="24149410"/>
              <a:ext cx="5627696" cy="5921353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01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62">
            <a:extLst>
              <a:ext uri="{FF2B5EF4-FFF2-40B4-BE49-F238E27FC236}">
                <a16:creationId xmlns:a16="http://schemas.microsoft.com/office/drawing/2014/main" id="{F85C8D55-E7D1-1411-7315-1807B9914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0883" y="14071787"/>
            <a:ext cx="14827930" cy="18612720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81" name="TextBox 86">
            <a:extLst>
              <a:ext uri="{FF2B5EF4-FFF2-40B4-BE49-F238E27FC236}">
                <a16:creationId xmlns:a16="http://schemas.microsoft.com/office/drawing/2014/main" id="{4AA4023A-FE9C-8A8F-DAD7-839D36EF1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2340" y="13743817"/>
            <a:ext cx="10223153" cy="1400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50" b="1" dirty="0">
                <a:solidFill>
                  <a:srgbClr val="C00000"/>
                </a:solidFill>
                <a:latin typeface="Trebuchet MS"/>
                <a:ea typeface="MS PGothic"/>
              </a:rPr>
              <a:t>4. Ventral Striatal Activation Is not Associated with Age </a:t>
            </a:r>
            <a:endParaRPr lang="en-US" altLang="en-US" sz="4267" b="1" dirty="0">
              <a:solidFill>
                <a:srgbClr val="C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374AF7-01C1-54D1-AF5E-5E845D42E41B}"/>
              </a:ext>
            </a:extLst>
          </p:cNvPr>
          <p:cNvSpPr/>
          <p:nvPr/>
        </p:nvSpPr>
        <p:spPr>
          <a:xfrm>
            <a:off x="15753891" y="15011657"/>
            <a:ext cx="14650695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3200" i="1" dirty="0">
                <a:latin typeface="Helvetica"/>
                <a:ea typeface="MS PGothic"/>
                <a:cs typeface="Helvetica"/>
              </a:rPr>
              <a:t>We found Ventral Striatum (VS) activation for Reciprocate &gt; Defect outcomes</a:t>
            </a:r>
            <a:endParaRPr lang="en-US" sz="3200" i="1" dirty="0">
              <a:cs typeface="Helvetica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B87F1C-C65B-2365-C691-F84E272B2128}"/>
              </a:ext>
            </a:extLst>
          </p:cNvPr>
          <p:cNvSpPr txBox="1"/>
          <p:nvPr/>
        </p:nvSpPr>
        <p:spPr>
          <a:xfrm>
            <a:off x="15470883" y="23756535"/>
            <a:ext cx="1465069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We found activation in the VS when participants were presented with a reciprocate outcome as opposed to a defect outcome.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DE505BC-359F-2B64-7BF5-86249E8BC13F}"/>
              </a:ext>
            </a:extLst>
          </p:cNvPr>
          <p:cNvGrpSpPr/>
          <p:nvPr/>
        </p:nvGrpSpPr>
        <p:grpSpPr>
          <a:xfrm>
            <a:off x="16413362" y="16845193"/>
            <a:ext cx="6012596" cy="5359483"/>
            <a:chOff x="14976740" y="15406812"/>
            <a:chExt cx="6810930" cy="6071098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CF128A2-7337-58D4-4F0F-518CE4ACA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05594" y="15406812"/>
              <a:ext cx="6082076" cy="6071098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8F892C7-F6CA-BE50-D63E-C9CEF7BBEA28}"/>
                </a:ext>
              </a:extLst>
            </p:cNvPr>
            <p:cNvSpPr txBox="1"/>
            <p:nvPr/>
          </p:nvSpPr>
          <p:spPr>
            <a:xfrm>
              <a:off x="14986107" y="20885189"/>
              <a:ext cx="113319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latin typeface="Helvetica"/>
                  <a:ea typeface="MS PGothic"/>
                </a:rPr>
                <a:t>VS</a:t>
              </a:r>
              <a:endParaRPr lang="en-US" sz="3200" b="1" dirty="0">
                <a:latin typeface="Helvetic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BCFA7F6-6616-FD53-A415-FA1DC4F386A1}"/>
                </a:ext>
              </a:extLst>
            </p:cNvPr>
            <p:cNvSpPr txBox="1"/>
            <p:nvPr/>
          </p:nvSpPr>
          <p:spPr>
            <a:xfrm>
              <a:off x="14976740" y="15690149"/>
              <a:ext cx="1400615" cy="128997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4000" dirty="0">
                  <a:latin typeface="Helvetica"/>
                  <a:ea typeface="MS PGothic"/>
                </a:rPr>
                <a:t>Y=9</a:t>
              </a:r>
            </a:p>
            <a:p>
              <a:pPr algn="ctr"/>
              <a:endParaRPr lang="en-US" sz="2800" dirty="0">
                <a:latin typeface="Helvetica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A569D325-14D6-3FBA-46F9-0533E45EEBA2}"/>
              </a:ext>
            </a:extLst>
          </p:cNvPr>
          <p:cNvSpPr txBox="1"/>
          <p:nvPr/>
        </p:nvSpPr>
        <p:spPr>
          <a:xfrm>
            <a:off x="18209595" y="31314065"/>
            <a:ext cx="98552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We found that activation in the VS was not related to age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0A3D42-2685-DD83-F550-6D419DE0CEA4}"/>
              </a:ext>
            </a:extLst>
          </p:cNvPr>
          <p:cNvGrpSpPr/>
          <p:nvPr/>
        </p:nvGrpSpPr>
        <p:grpSpPr>
          <a:xfrm>
            <a:off x="25203363" y="25624464"/>
            <a:ext cx="4662175" cy="5381809"/>
            <a:chOff x="23611670" y="15386915"/>
            <a:chExt cx="5877242" cy="6288526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B07F237-2D1D-AA5C-4846-56948C9E0ECF}"/>
                </a:ext>
              </a:extLst>
            </p:cNvPr>
            <p:cNvGrpSpPr/>
            <p:nvPr/>
          </p:nvGrpSpPr>
          <p:grpSpPr>
            <a:xfrm>
              <a:off x="23722773" y="15386915"/>
              <a:ext cx="5766139" cy="6288526"/>
              <a:chOff x="23722773" y="15386915"/>
              <a:chExt cx="5766139" cy="628852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66B512C-6DEA-DDC7-23FB-35CCDB864537}"/>
                  </a:ext>
                </a:extLst>
              </p:cNvPr>
              <p:cNvSpPr/>
              <p:nvPr/>
            </p:nvSpPr>
            <p:spPr bwMode="auto">
              <a:xfrm>
                <a:off x="24280009" y="15747147"/>
                <a:ext cx="5109967" cy="52138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6ECB501-C792-BAA1-2CC5-9DE81B55F030}"/>
                  </a:ext>
                </a:extLst>
              </p:cNvPr>
              <p:cNvGrpSpPr/>
              <p:nvPr/>
            </p:nvGrpSpPr>
            <p:grpSpPr>
              <a:xfrm>
                <a:off x="23722773" y="15386915"/>
                <a:ext cx="5766139" cy="6288526"/>
                <a:chOff x="23722773" y="15386915"/>
                <a:chExt cx="5766139" cy="6288526"/>
              </a:xfrm>
            </p:grpSpPr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43C9306F-2C03-A2C8-4848-B619109DAA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10234" b="7938"/>
                <a:stretch/>
              </p:blipFill>
              <p:spPr>
                <a:xfrm>
                  <a:off x="24165170" y="15386915"/>
                  <a:ext cx="5323742" cy="5662134"/>
                </a:xfrm>
                <a:prstGeom prst="rect">
                  <a:avLst/>
                </a:prstGeom>
              </p:spPr>
            </p:pic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F1AC5B5-014D-8A7A-6881-70B646DCADDF}"/>
                    </a:ext>
                  </a:extLst>
                </p:cNvPr>
                <p:cNvSpPr txBox="1"/>
                <p:nvPr/>
              </p:nvSpPr>
              <p:spPr>
                <a:xfrm>
                  <a:off x="25887039" y="21058834"/>
                  <a:ext cx="957831" cy="616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000" dirty="0"/>
                    <a:t>Age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E01277E7-C84C-A41A-2386-24226DEDA212}"/>
                    </a:ext>
                  </a:extLst>
                </p:cNvPr>
                <p:cNvSpPr txBox="1"/>
                <p:nvPr/>
              </p:nvSpPr>
              <p:spPr>
                <a:xfrm rot="16200000">
                  <a:off x="22764974" y="18383871"/>
                  <a:ext cx="2322987" cy="4073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500" dirty="0"/>
                    <a:t>Reciprocate &gt; Defect</a:t>
                  </a:r>
                </a:p>
              </p:txBody>
            </p:sp>
          </p:grp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2297617-5CA2-19EC-AC1C-E6A5EBEB3DA3}"/>
                </a:ext>
              </a:extLst>
            </p:cNvPr>
            <p:cNvSpPr txBox="1"/>
            <p:nvPr/>
          </p:nvSpPr>
          <p:spPr>
            <a:xfrm>
              <a:off x="23666606" y="16454726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6A708FA-10E2-460A-AE78-BE3AAF25F2B4}"/>
                </a:ext>
              </a:extLst>
            </p:cNvPr>
            <p:cNvSpPr txBox="1"/>
            <p:nvPr/>
          </p:nvSpPr>
          <p:spPr>
            <a:xfrm>
              <a:off x="23611670" y="2048992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D91668E-A7C9-DBD7-3DF8-EF6C30111537}"/>
                </a:ext>
              </a:extLst>
            </p:cNvPr>
            <p:cNvSpPr txBox="1"/>
            <p:nvPr/>
          </p:nvSpPr>
          <p:spPr>
            <a:xfrm>
              <a:off x="24150950" y="2102205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C03A6CC-92ED-1BA3-D06A-54B62448CA2B}"/>
                </a:ext>
              </a:extLst>
            </p:cNvPr>
            <p:cNvSpPr txBox="1"/>
            <p:nvPr/>
          </p:nvSpPr>
          <p:spPr>
            <a:xfrm>
              <a:off x="27777018" y="2102205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C529997-E613-6FA5-A7DF-DF57A82C0094}"/>
              </a:ext>
            </a:extLst>
          </p:cNvPr>
          <p:cNvGrpSpPr/>
          <p:nvPr/>
        </p:nvGrpSpPr>
        <p:grpSpPr>
          <a:xfrm>
            <a:off x="15648945" y="26169771"/>
            <a:ext cx="4327314" cy="4753042"/>
            <a:chOff x="16026704" y="24076052"/>
            <a:chExt cx="6621599" cy="6849922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0CE68F0-AF14-6656-57CF-FFBB06F2924C}"/>
                </a:ext>
              </a:extLst>
            </p:cNvPr>
            <p:cNvGrpSpPr/>
            <p:nvPr/>
          </p:nvGrpSpPr>
          <p:grpSpPr>
            <a:xfrm>
              <a:off x="16651056" y="24076052"/>
              <a:ext cx="5997247" cy="6116146"/>
              <a:chOff x="16298215" y="23901746"/>
              <a:chExt cx="5444618" cy="5552561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765E8AC-BEF2-0C10-2C08-A7AA533B4CC4}"/>
                  </a:ext>
                </a:extLst>
              </p:cNvPr>
              <p:cNvSpPr/>
              <p:nvPr/>
            </p:nvSpPr>
            <p:spPr bwMode="auto">
              <a:xfrm>
                <a:off x="16404332" y="23901746"/>
                <a:ext cx="5338501" cy="5461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pic>
            <p:nvPicPr>
              <p:cNvPr id="109" name="Graphic 108">
                <a:extLst>
                  <a:ext uri="{FF2B5EF4-FFF2-40B4-BE49-F238E27FC236}">
                    <a16:creationId xmlns:a16="http://schemas.microsoft.com/office/drawing/2014/main" id="{F3F0E9D3-8D47-FE8D-3B18-3A8FE90E5C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0756" t="6660" r="2865" b="7584"/>
              <a:stretch/>
            </p:blipFill>
            <p:spPr>
              <a:xfrm>
                <a:off x="16298215" y="23931518"/>
                <a:ext cx="5364158" cy="5522789"/>
              </a:xfrm>
              <a:prstGeom prst="rect">
                <a:avLst/>
              </a:prstGeom>
            </p:spPr>
          </p:pic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D665922-354B-5F7B-52DE-B5A9E06AF3C3}"/>
                </a:ext>
              </a:extLst>
            </p:cNvPr>
            <p:cNvSpPr txBox="1"/>
            <p:nvPr/>
          </p:nvSpPr>
          <p:spPr>
            <a:xfrm>
              <a:off x="18654011" y="30218088"/>
              <a:ext cx="109677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Age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E4CE376-1456-3558-63EF-76F2B29FCC9C}"/>
                </a:ext>
              </a:extLst>
            </p:cNvPr>
            <p:cNvSpPr txBox="1"/>
            <p:nvPr/>
          </p:nvSpPr>
          <p:spPr>
            <a:xfrm rot="16200000">
              <a:off x="14608848" y="26568394"/>
              <a:ext cx="34206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Friend (Reciprocate &gt; Defect) &gt; Stranger (Reciprocate &gt; Defect)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E3A315D-C5AE-B382-C760-332506165832}"/>
                </a:ext>
              </a:extLst>
            </p:cNvPr>
            <p:cNvSpPr txBox="1"/>
            <p:nvPr/>
          </p:nvSpPr>
          <p:spPr>
            <a:xfrm>
              <a:off x="16115961" y="24411311"/>
              <a:ext cx="651983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400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3A14E67-238A-82CF-0752-574EAE3C7987}"/>
                </a:ext>
              </a:extLst>
            </p:cNvPr>
            <p:cNvSpPr txBox="1"/>
            <p:nvPr/>
          </p:nvSpPr>
          <p:spPr>
            <a:xfrm>
              <a:off x="16026704" y="28875791"/>
              <a:ext cx="740088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-200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6A6E8B3-1BEE-12B6-2F1C-7AF1856CBDE9}"/>
                </a:ext>
              </a:extLst>
            </p:cNvPr>
            <p:cNvSpPr txBox="1"/>
            <p:nvPr/>
          </p:nvSpPr>
          <p:spPr>
            <a:xfrm>
              <a:off x="16666083" y="30175865"/>
              <a:ext cx="505139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32BEBEC-04E3-AC3D-CE24-FB42999CD2B3}"/>
                </a:ext>
              </a:extLst>
            </p:cNvPr>
            <p:cNvSpPr txBox="1"/>
            <p:nvPr/>
          </p:nvSpPr>
          <p:spPr>
            <a:xfrm>
              <a:off x="20818152" y="30175865"/>
              <a:ext cx="505139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AD1EF36-AA4E-A44B-D919-824BBFDA4A0C}"/>
              </a:ext>
            </a:extLst>
          </p:cNvPr>
          <p:cNvGrpSpPr/>
          <p:nvPr/>
        </p:nvGrpSpPr>
        <p:grpSpPr>
          <a:xfrm>
            <a:off x="20253272" y="25944605"/>
            <a:ext cx="4649725" cy="5094016"/>
            <a:chOff x="23087465" y="23975816"/>
            <a:chExt cx="6623276" cy="7256145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DEAB958-C111-9F02-623D-071183F50D19}"/>
                </a:ext>
              </a:extLst>
            </p:cNvPr>
            <p:cNvGrpSpPr/>
            <p:nvPr/>
          </p:nvGrpSpPr>
          <p:grpSpPr>
            <a:xfrm>
              <a:off x="23087465" y="23975816"/>
              <a:ext cx="6623276" cy="7256145"/>
              <a:chOff x="23087465" y="23975816"/>
              <a:chExt cx="6623276" cy="7256145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8534103F-0EA0-62CC-7520-621D0FE2C856}"/>
                  </a:ext>
                </a:extLst>
              </p:cNvPr>
              <p:cNvGrpSpPr/>
              <p:nvPr/>
            </p:nvGrpSpPr>
            <p:grpSpPr>
              <a:xfrm>
                <a:off x="23723984" y="23975816"/>
                <a:ext cx="5986757" cy="6200049"/>
                <a:chOff x="22850799" y="23722813"/>
                <a:chExt cx="6404865" cy="6633053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08F19C4F-7188-5689-67D2-5A26E5430A88}"/>
                    </a:ext>
                  </a:extLst>
                </p:cNvPr>
                <p:cNvSpPr/>
                <p:nvPr/>
              </p:nvSpPr>
              <p:spPr bwMode="auto">
                <a:xfrm>
                  <a:off x="22910829" y="23794038"/>
                  <a:ext cx="6344835" cy="649060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20" name="Graphic 119">
                  <a:extLst>
                    <a:ext uri="{FF2B5EF4-FFF2-40B4-BE49-F238E27FC236}">
                      <a16:creationId xmlns:a16="http://schemas.microsoft.com/office/drawing/2014/main" id="{939A497A-8EAF-4E1B-2E8E-15CA0621CB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l="10991" t="5046" r="3126" b="7756"/>
                <a:stretch/>
              </p:blipFill>
              <p:spPr>
                <a:xfrm>
                  <a:off x="22850799" y="23722813"/>
                  <a:ext cx="6299716" cy="6633053"/>
                </a:xfrm>
                <a:prstGeom prst="rect">
                  <a:avLst/>
                </a:prstGeom>
              </p:spPr>
            </p:pic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D1524EC-D92B-8FA3-D8A6-098201DDCA0F}"/>
                  </a:ext>
                </a:extLst>
              </p:cNvPr>
              <p:cNvSpPr txBox="1"/>
              <p:nvPr/>
            </p:nvSpPr>
            <p:spPr>
              <a:xfrm>
                <a:off x="25810593" y="30223616"/>
                <a:ext cx="2418355" cy="100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DC9BEAD-E103-68DA-5790-185983E037AD}"/>
                  </a:ext>
                </a:extLst>
              </p:cNvPr>
              <p:cNvSpPr txBox="1"/>
              <p:nvPr/>
            </p:nvSpPr>
            <p:spPr>
              <a:xfrm>
                <a:off x="23166754" y="24615337"/>
                <a:ext cx="651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EB83C2D-A0BE-8C30-A945-0F86106E2CDC}"/>
                  </a:ext>
                </a:extLst>
              </p:cNvPr>
              <p:cNvSpPr txBox="1"/>
              <p:nvPr/>
            </p:nvSpPr>
            <p:spPr>
              <a:xfrm>
                <a:off x="23087465" y="28711327"/>
                <a:ext cx="740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18FC39E-578D-0D68-C88D-76EE001D6E18}"/>
                  </a:ext>
                </a:extLst>
              </p:cNvPr>
              <p:cNvSpPr txBox="1"/>
              <p:nvPr/>
            </p:nvSpPr>
            <p:spPr>
              <a:xfrm>
                <a:off x="23822666" y="30181392"/>
                <a:ext cx="505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E6319DE-0316-C93F-9818-3984FE3B0383}"/>
                  </a:ext>
                </a:extLst>
              </p:cNvPr>
              <p:cNvSpPr txBox="1"/>
              <p:nvPr/>
            </p:nvSpPr>
            <p:spPr>
              <a:xfrm>
                <a:off x="27974735" y="30181392"/>
                <a:ext cx="505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9F44120-45BB-E9BC-5BC4-EAAC98EBCF93}"/>
                </a:ext>
              </a:extLst>
            </p:cNvPr>
            <p:cNvSpPr txBox="1"/>
            <p:nvPr/>
          </p:nvSpPr>
          <p:spPr>
            <a:xfrm rot="16200000">
              <a:off x="21699109" y="26614219"/>
              <a:ext cx="34206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Friend (Reciprocate &gt; Defect) &gt; Computer (Reciprocate &gt; Defect)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70752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E0AC601CE7945A16C28BE7D604718" ma:contentTypeVersion="16" ma:contentTypeDescription="Create a new document." ma:contentTypeScope="" ma:versionID="7200742d51933ad5859751156d985908">
  <xsd:schema xmlns:xsd="http://www.w3.org/2001/XMLSchema" xmlns:xs="http://www.w3.org/2001/XMLSchema" xmlns:p="http://schemas.microsoft.com/office/2006/metadata/properties" xmlns:ns2="068132b6-27af-4cc5-9624-46e0bc309f9c" xmlns:ns3="1ec1d487-840c-40ff-aca1-00ff13008544" targetNamespace="http://schemas.microsoft.com/office/2006/metadata/properties" ma:root="true" ma:fieldsID="ef3bb859774f4d5f12e6e11e5f5551df" ns2:_="" ns3:_="">
    <xsd:import namespace="068132b6-27af-4cc5-9624-46e0bc309f9c"/>
    <xsd:import namespace="1ec1d487-840c-40ff-aca1-00ff130085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32b6-27af-4cc5-9624-46e0bc309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6aeeafc-10b8-45d8-a1af-5ed376f9e1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1d487-840c-40ff-aca1-00ff1300854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585dd9d-b35f-48e0-ab88-fcb6ff0e764c}" ma:internalName="TaxCatchAll" ma:showField="CatchAllData" ma:web="1ec1d487-840c-40ff-aca1-00ff130085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CAE7E8-1A3A-4A91-86FB-BA9E176234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138A07-987C-4A73-AAED-022482DDD0A4}">
  <ds:schemaRefs>
    <ds:schemaRef ds:uri="068132b6-27af-4cc5-9624-46e0bc309f9c"/>
    <ds:schemaRef ds:uri="1ec1d487-840c-40ff-aca1-00ff130085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15839</TotalTime>
  <Words>671</Words>
  <Application>Microsoft Macintosh PowerPoint</Application>
  <PresentationFormat>Custom</PresentationFormat>
  <Paragraphs>121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Helvetica</vt:lpstr>
      <vt:lpstr>Slack-Lato</vt:lpstr>
      <vt:lpstr>Trebuchet MS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DVS</dc:creator>
  <cp:lastModifiedBy>Cooper Joseph Sharp</cp:lastModifiedBy>
  <cp:revision>28</cp:revision>
  <cp:lastPrinted>2018-05-07T13:24:31Z</cp:lastPrinted>
  <dcterms:created xsi:type="dcterms:W3CDTF">2007-10-30T17:33:32Z</dcterms:created>
  <dcterms:modified xsi:type="dcterms:W3CDTF">2023-11-09T22:32:40Z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