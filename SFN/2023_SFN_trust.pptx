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3"/>
  </p:sldMasterIdLst>
  <p:notesMasterIdLst>
    <p:notesMasterId r:id="rId6"/>
  </p:notesMasterIdLst>
  <p:handoutMasterIdLst>
    <p:handoutMasterId r:id="rId7"/>
  </p:handoutMasterIdLst>
  <p:sldIdLst>
    <p:sldId id="256" r:id="rId4"/>
    <p:sldId id="257" r:id="rId5"/>
  </p:sldIdLst>
  <p:sldSz cx="43891200" cy="32918400"/>
  <p:notesSz cx="7023100" cy="9309100"/>
  <p:defaultTextStyle>
    <a:defPPr>
      <a:defRPr lang="en-US"/>
    </a:defPPr>
    <a:lvl1pPr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1pPr>
    <a:lvl2pPr marL="453154" indent="-62200"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2pPr>
    <a:lvl3pPr marL="912229" indent="-127357"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3pPr>
    <a:lvl4pPr marL="1368346" indent="-192519"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4pPr>
    <a:lvl5pPr marL="1824462" indent="-257677" algn="l" rtl="0" eaLnBrk="0" fontAlgn="base" hangingPunct="0">
      <a:spcBef>
        <a:spcPct val="0"/>
      </a:spcBef>
      <a:spcAft>
        <a:spcPct val="0"/>
      </a:spcAft>
      <a:defRPr kern="1200">
        <a:solidFill>
          <a:schemeClr val="tx1"/>
        </a:solidFill>
        <a:latin typeface="Helvetica" panose="020B0604020202020204" pitchFamily="34" charset="0"/>
        <a:ea typeface="MS PGothic" panose="020B0600070205080204" pitchFamily="34" charset="-128"/>
        <a:cs typeface="+mn-cs"/>
      </a:defRPr>
    </a:lvl5pPr>
    <a:lvl6pPr marL="4264975"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6pPr>
    <a:lvl7pPr marL="5117969"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7pPr>
    <a:lvl8pPr marL="5970966"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8pPr>
    <a:lvl9pPr marL="6823959" algn="l" defTabSz="1705991" rtl="0" eaLnBrk="1" latinLnBrk="0" hangingPunct="1">
      <a:defRPr kern="1200">
        <a:solidFill>
          <a:schemeClr val="tx1"/>
        </a:solidFill>
        <a:latin typeface="Helvetica" panose="020B060402020202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10368" userDrawn="1">
          <p15:clr>
            <a:srgbClr val="A4A3A4"/>
          </p15:clr>
        </p15:guide>
        <p15:guide id="2" pos="13824"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elle Chiu" initials="MC" lastIdx="2" clrIdx="0">
    <p:extLst>
      <p:ext uri="{19B8F6BF-5375-455C-9EA6-DF929625EA0E}">
        <p15:presenceInfo xmlns:p15="http://schemas.microsoft.com/office/powerpoint/2012/main" userId="S-1-5-21-3496871491-3148157022-986074665-411994" providerId="AD"/>
      </p:ext>
    </p:extLst>
  </p:cmAuthor>
  <p:cmAuthor id="2" name="Dominic Fareri" initials="DF" lastIdx="7" clrIdx="1">
    <p:extLst>
      <p:ext uri="{19B8F6BF-5375-455C-9EA6-DF929625EA0E}">
        <p15:presenceInfo xmlns:p15="http://schemas.microsoft.com/office/powerpoint/2012/main" userId="Dominic Fareri" providerId="None"/>
      </p:ext>
    </p:extLst>
  </p:cmAuthor>
  <p:cmAuthor id="3" name="David V. Smith" initials="DVS" lastIdx="4" clrIdx="2">
    <p:extLst>
      <p:ext uri="{19B8F6BF-5375-455C-9EA6-DF929625EA0E}">
        <p15:presenceInfo xmlns:p15="http://schemas.microsoft.com/office/powerpoint/2012/main" userId="David V. Smith" providerId="None"/>
      </p:ext>
    </p:extLst>
  </p:cmAuthor>
  <p:cmAuthor id="4" name="Katherine Hackett" initials="KH" lastIdx="3" clrIdx="3">
    <p:extLst>
      <p:ext uri="{19B8F6BF-5375-455C-9EA6-DF929625EA0E}">
        <p15:presenceInfo xmlns:p15="http://schemas.microsoft.com/office/powerpoint/2012/main" userId="S::tug90253@temple.edu::140e704c-c617-467c-a834-32d4bb446dd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E0BA"/>
    <a:srgbClr val="D8E3C1"/>
    <a:srgbClr val="EF544A"/>
    <a:srgbClr val="BDE4CB"/>
    <a:srgbClr val="FAF86D"/>
    <a:srgbClr val="F2DD71"/>
    <a:srgbClr val="E6D7AF"/>
    <a:srgbClr val="1D4647"/>
    <a:srgbClr val="BB423A"/>
    <a:srgbClr val="A73B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46"/>
    <p:restoredTop sz="94650"/>
  </p:normalViewPr>
  <p:slideViewPr>
    <p:cSldViewPr snapToGrid="0">
      <p:cViewPr>
        <p:scale>
          <a:sx n="31" d="100"/>
          <a:sy n="31" d="100"/>
        </p:scale>
        <p:origin x="624" y="-960"/>
      </p:cViewPr>
      <p:guideLst>
        <p:guide orient="horz" pos="1036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commentAuthors" Target="commentAuthors.xml"/><Relationship Id="rId3" Type="http://schemas.openxmlformats.org/officeDocument/2006/relationships/slideMaster" Target="slideMasters/slideMaster1.xml"/><Relationship Id="rId7" Type="http://schemas.openxmlformats.org/officeDocument/2006/relationships/handoutMaster" Target="handoutMasters/handoutMaster1.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heme" Target="theme/theme1.xml"/><Relationship Id="rId5" Type="http://schemas.openxmlformats.org/officeDocument/2006/relationships/slide" Target="slides/slide2.xml"/><Relationship Id="rId10"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43979" cy="467363"/>
          </a:xfrm>
          <a:prstGeom prst="rect">
            <a:avLst/>
          </a:prstGeom>
        </p:spPr>
        <p:txBody>
          <a:bodyPr vert="horz" wrap="square" lIns="91577" tIns="45789" rIns="91577" bIns="45789" numCol="1" anchor="t" anchorCtr="0" compatLnSpc="1">
            <a:prstTxWarp prst="textNoShape">
              <a:avLst/>
            </a:prstTxWarp>
          </a:bodyPr>
          <a:lstStyle>
            <a:lvl1pPr eaLnBrk="1" hangingPunct="1">
              <a:defRPr sz="1200" smtClean="0">
                <a:latin typeface="Helvetica" charset="0"/>
                <a:ea typeface="MS PGothic" charset="0"/>
                <a:cs typeface="MS PGothic" charset="0"/>
              </a:defRPr>
            </a:lvl1pPr>
          </a:lstStyle>
          <a:p>
            <a:pPr>
              <a:defRPr/>
            </a:pPr>
            <a:endParaRPr lang="en-US"/>
          </a:p>
        </p:txBody>
      </p:sp>
      <p:sp>
        <p:nvSpPr>
          <p:cNvPr id="3" name="Date Placeholder 2"/>
          <p:cNvSpPr>
            <a:spLocks noGrp="1"/>
          </p:cNvSpPr>
          <p:nvPr>
            <p:ph type="dt" sz="quarter" idx="1"/>
          </p:nvPr>
        </p:nvSpPr>
        <p:spPr>
          <a:xfrm>
            <a:off x="3977531" y="0"/>
            <a:ext cx="3043979" cy="467363"/>
          </a:xfrm>
          <a:prstGeom prst="rect">
            <a:avLst/>
          </a:prstGeom>
        </p:spPr>
        <p:txBody>
          <a:bodyPr vert="horz" wrap="square" lIns="91577" tIns="45789" rIns="91577" bIns="45789" numCol="1" anchor="t" anchorCtr="0" compatLnSpc="1">
            <a:prstTxWarp prst="textNoShape">
              <a:avLst/>
            </a:prstTxWarp>
          </a:bodyPr>
          <a:lstStyle>
            <a:lvl1pPr algn="r" eaLnBrk="1" hangingPunct="1">
              <a:defRPr sz="1200"/>
            </a:lvl1pPr>
          </a:lstStyle>
          <a:p>
            <a:fld id="{A12439DB-88A9-47CB-8306-24653602898A}" type="datetimeFigureOut">
              <a:rPr lang="en-US" altLang="en-US"/>
              <a:pPr/>
              <a:t>11/6/23</a:t>
            </a:fld>
            <a:endParaRPr lang="en-US" altLang="en-US"/>
          </a:p>
        </p:txBody>
      </p:sp>
      <p:sp>
        <p:nvSpPr>
          <p:cNvPr id="4" name="Footer Placeholder 3"/>
          <p:cNvSpPr>
            <a:spLocks noGrp="1"/>
          </p:cNvSpPr>
          <p:nvPr>
            <p:ph type="ftr" sz="quarter" idx="2"/>
          </p:nvPr>
        </p:nvSpPr>
        <p:spPr>
          <a:xfrm>
            <a:off x="1" y="8841738"/>
            <a:ext cx="3043979" cy="467363"/>
          </a:xfrm>
          <a:prstGeom prst="rect">
            <a:avLst/>
          </a:prstGeom>
        </p:spPr>
        <p:txBody>
          <a:bodyPr vert="horz" wrap="square" lIns="91577" tIns="45789" rIns="91577" bIns="45789" numCol="1" anchor="b" anchorCtr="0" compatLnSpc="1">
            <a:prstTxWarp prst="textNoShape">
              <a:avLst/>
            </a:prstTxWarp>
          </a:bodyPr>
          <a:lstStyle>
            <a:lvl1pPr eaLnBrk="1" hangingPunct="1">
              <a:defRPr sz="1200" smtClean="0">
                <a:latin typeface="Helvetica" charset="0"/>
                <a:ea typeface="MS PGothic" charset="0"/>
                <a:cs typeface="MS PGothic" charset="0"/>
              </a:defRPr>
            </a:lvl1pPr>
          </a:lstStyle>
          <a:p>
            <a:pPr>
              <a:defRPr/>
            </a:pPr>
            <a:endParaRPr lang="en-US"/>
          </a:p>
        </p:txBody>
      </p:sp>
      <p:sp>
        <p:nvSpPr>
          <p:cNvPr id="5" name="Slide Number Placeholder 4"/>
          <p:cNvSpPr>
            <a:spLocks noGrp="1"/>
          </p:cNvSpPr>
          <p:nvPr>
            <p:ph type="sldNum" sz="quarter" idx="3"/>
          </p:nvPr>
        </p:nvSpPr>
        <p:spPr>
          <a:xfrm>
            <a:off x="3977531" y="8841738"/>
            <a:ext cx="3043979" cy="467363"/>
          </a:xfrm>
          <a:prstGeom prst="rect">
            <a:avLst/>
          </a:prstGeom>
        </p:spPr>
        <p:txBody>
          <a:bodyPr vert="horz" wrap="square" lIns="91577" tIns="45789" rIns="91577" bIns="45789" numCol="1" anchor="b" anchorCtr="0" compatLnSpc="1">
            <a:prstTxWarp prst="textNoShape">
              <a:avLst/>
            </a:prstTxWarp>
          </a:bodyPr>
          <a:lstStyle>
            <a:lvl1pPr algn="r" eaLnBrk="1" hangingPunct="1">
              <a:defRPr sz="1200"/>
            </a:lvl1pPr>
          </a:lstStyle>
          <a:p>
            <a:fld id="{BE2D3955-F8C1-45A6-BC0E-23ADC1AD9BD5}"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Rectangle 2"/>
          <p:cNvSpPr>
            <a:spLocks noGrp="1" noChangeArrowheads="1"/>
          </p:cNvSpPr>
          <p:nvPr>
            <p:ph type="hdr" sz="quarter"/>
          </p:nvPr>
        </p:nvSpPr>
        <p:spPr bwMode="auto">
          <a:xfrm>
            <a:off x="1" y="0"/>
            <a:ext cx="3043979" cy="465773"/>
          </a:xfrm>
          <a:prstGeom prst="rect">
            <a:avLst/>
          </a:prstGeom>
          <a:noFill/>
          <a:ln>
            <a:noFill/>
          </a:ln>
        </p:spPr>
        <p:txBody>
          <a:bodyPr vert="horz" wrap="square" lIns="91564" tIns="45783" rIns="91564" bIns="45783" numCol="1" anchor="t" anchorCtr="0" compatLnSpc="1">
            <a:prstTxWarp prst="textNoShape">
              <a:avLst/>
            </a:prstTxWarp>
          </a:bodyPr>
          <a:lstStyle>
            <a:lvl1pPr eaLnBrk="1" hangingPunct="1">
              <a:defRPr sz="1200" smtClean="0">
                <a:latin typeface="Arial" charset="0"/>
                <a:ea typeface="MS PGothic" charset="0"/>
                <a:cs typeface="MS PGothic" charset="0"/>
              </a:defRPr>
            </a:lvl1pPr>
          </a:lstStyle>
          <a:p>
            <a:pPr>
              <a:defRPr/>
            </a:pPr>
            <a:endParaRPr lang="en-US"/>
          </a:p>
        </p:txBody>
      </p:sp>
      <p:sp>
        <p:nvSpPr>
          <p:cNvPr id="5123" name="Rectangle 3"/>
          <p:cNvSpPr>
            <a:spLocks noGrp="1" noChangeArrowheads="1"/>
          </p:cNvSpPr>
          <p:nvPr>
            <p:ph type="dt" idx="1"/>
          </p:nvPr>
        </p:nvSpPr>
        <p:spPr bwMode="auto">
          <a:xfrm>
            <a:off x="3977531" y="0"/>
            <a:ext cx="3043979" cy="465773"/>
          </a:xfrm>
          <a:prstGeom prst="rect">
            <a:avLst/>
          </a:prstGeom>
          <a:noFill/>
          <a:ln>
            <a:noFill/>
          </a:ln>
        </p:spPr>
        <p:txBody>
          <a:bodyPr vert="horz" wrap="square" lIns="91564" tIns="45783" rIns="91564" bIns="45783" numCol="1" anchor="t" anchorCtr="0" compatLnSpc="1">
            <a:prstTxWarp prst="textNoShape">
              <a:avLst/>
            </a:prstTxWarp>
          </a:bodyPr>
          <a:lstStyle>
            <a:lvl1pPr algn="r" eaLnBrk="1" hangingPunct="1">
              <a:defRPr sz="1200" smtClean="0">
                <a:latin typeface="Arial" charset="0"/>
                <a:ea typeface="MS PGothic" charset="0"/>
                <a:cs typeface="MS PGothic" charset="0"/>
              </a:defRPr>
            </a:lvl1pPr>
          </a:lstStyle>
          <a:p>
            <a:pPr>
              <a:defRPr/>
            </a:pPr>
            <a:endParaRPr lang="en-US"/>
          </a:p>
        </p:txBody>
      </p:sp>
      <p:sp>
        <p:nvSpPr>
          <p:cNvPr id="14340" name="Rectangle 4"/>
          <p:cNvSpPr>
            <a:spLocks noGrp="1" noRot="1" noChangeAspect="1" noChangeArrowheads="1" noTextEdit="1"/>
          </p:cNvSpPr>
          <p:nvPr>
            <p:ph type="sldImg" idx="2"/>
          </p:nvPr>
        </p:nvSpPr>
        <p:spPr bwMode="auto">
          <a:xfrm>
            <a:off x="1184275" y="698500"/>
            <a:ext cx="4654550" cy="3490913"/>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5" name="Rectangle 5"/>
          <p:cNvSpPr>
            <a:spLocks noGrp="1" noChangeArrowheads="1"/>
          </p:cNvSpPr>
          <p:nvPr>
            <p:ph type="body" sz="quarter" idx="3"/>
          </p:nvPr>
        </p:nvSpPr>
        <p:spPr bwMode="auto">
          <a:xfrm>
            <a:off x="702946" y="4422459"/>
            <a:ext cx="5617208" cy="4188778"/>
          </a:xfrm>
          <a:prstGeom prst="rect">
            <a:avLst/>
          </a:prstGeom>
          <a:noFill/>
          <a:ln>
            <a:noFill/>
          </a:ln>
        </p:spPr>
        <p:txBody>
          <a:bodyPr vert="horz" wrap="square" lIns="91564" tIns="45783" rIns="91564" bIns="45783"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126" name="Rectangle 6"/>
          <p:cNvSpPr>
            <a:spLocks noGrp="1" noChangeArrowheads="1"/>
          </p:cNvSpPr>
          <p:nvPr>
            <p:ph type="ftr" sz="quarter" idx="4"/>
          </p:nvPr>
        </p:nvSpPr>
        <p:spPr bwMode="auto">
          <a:xfrm>
            <a:off x="1" y="8841738"/>
            <a:ext cx="3043979" cy="465773"/>
          </a:xfrm>
          <a:prstGeom prst="rect">
            <a:avLst/>
          </a:prstGeom>
          <a:noFill/>
          <a:ln>
            <a:noFill/>
          </a:ln>
        </p:spPr>
        <p:txBody>
          <a:bodyPr vert="horz" wrap="square" lIns="91564" tIns="45783" rIns="91564" bIns="45783" numCol="1" anchor="b" anchorCtr="0" compatLnSpc="1">
            <a:prstTxWarp prst="textNoShape">
              <a:avLst/>
            </a:prstTxWarp>
          </a:bodyPr>
          <a:lstStyle>
            <a:lvl1pPr eaLnBrk="1" hangingPunct="1">
              <a:defRPr sz="1200" smtClean="0">
                <a:latin typeface="Arial" charset="0"/>
                <a:ea typeface="MS PGothic" charset="0"/>
                <a:cs typeface="MS PGothic" charset="0"/>
              </a:defRPr>
            </a:lvl1pPr>
          </a:lstStyle>
          <a:p>
            <a:pPr>
              <a:defRPr/>
            </a:pPr>
            <a:endParaRPr lang="en-US"/>
          </a:p>
        </p:txBody>
      </p:sp>
      <p:sp>
        <p:nvSpPr>
          <p:cNvPr id="5127" name="Rectangle 7"/>
          <p:cNvSpPr>
            <a:spLocks noGrp="1" noChangeArrowheads="1"/>
          </p:cNvSpPr>
          <p:nvPr>
            <p:ph type="sldNum" sz="quarter" idx="5"/>
          </p:nvPr>
        </p:nvSpPr>
        <p:spPr bwMode="auto">
          <a:xfrm>
            <a:off x="3977531" y="8841738"/>
            <a:ext cx="3043979" cy="465773"/>
          </a:xfrm>
          <a:prstGeom prst="rect">
            <a:avLst/>
          </a:prstGeom>
          <a:noFill/>
          <a:ln>
            <a:noFill/>
          </a:ln>
        </p:spPr>
        <p:txBody>
          <a:bodyPr vert="horz" wrap="square" lIns="91564" tIns="45783" rIns="91564" bIns="45783" numCol="1" anchor="b" anchorCtr="0" compatLnSpc="1">
            <a:prstTxWarp prst="textNoShape">
              <a:avLst/>
            </a:prstTxWarp>
          </a:bodyPr>
          <a:lstStyle>
            <a:lvl1pPr algn="r" eaLnBrk="1" hangingPunct="1">
              <a:defRPr sz="1200">
                <a:latin typeface="Arial" panose="020B0604020202020204" pitchFamily="34" charset="0"/>
              </a:defRPr>
            </a:lvl1pPr>
          </a:lstStyle>
          <a:p>
            <a:fld id="{3F6F6737-73D4-41EA-8E23-BF979942D6DD}"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120" kern="1200">
        <a:solidFill>
          <a:schemeClr val="tx1"/>
        </a:solidFill>
        <a:latin typeface="Arial" charset="0"/>
        <a:ea typeface="MS PGothic" panose="020B0600070205080204" pitchFamily="34" charset="-128"/>
        <a:cs typeface="Arial" charset="0"/>
      </a:defRPr>
    </a:lvl1pPr>
    <a:lvl2pPr marL="453154" algn="l" rtl="0" eaLnBrk="0" fontAlgn="base" hangingPunct="0">
      <a:spcBef>
        <a:spcPct val="30000"/>
      </a:spcBef>
      <a:spcAft>
        <a:spcPct val="0"/>
      </a:spcAft>
      <a:defRPr sz="1120" kern="1200">
        <a:solidFill>
          <a:schemeClr val="tx1"/>
        </a:solidFill>
        <a:latin typeface="Arial" charset="0"/>
        <a:ea typeface="Arial" charset="0"/>
        <a:cs typeface="Arial" charset="0"/>
      </a:defRPr>
    </a:lvl2pPr>
    <a:lvl3pPr marL="912229" algn="l" rtl="0" eaLnBrk="0" fontAlgn="base" hangingPunct="0">
      <a:spcBef>
        <a:spcPct val="30000"/>
      </a:spcBef>
      <a:spcAft>
        <a:spcPct val="0"/>
      </a:spcAft>
      <a:defRPr sz="1120" kern="1200">
        <a:solidFill>
          <a:schemeClr val="tx1"/>
        </a:solidFill>
        <a:latin typeface="Arial" charset="0"/>
        <a:ea typeface="Arial" charset="0"/>
        <a:cs typeface="Arial" charset="0"/>
      </a:defRPr>
    </a:lvl3pPr>
    <a:lvl4pPr marL="1368346" algn="l" rtl="0" eaLnBrk="0" fontAlgn="base" hangingPunct="0">
      <a:spcBef>
        <a:spcPct val="30000"/>
      </a:spcBef>
      <a:spcAft>
        <a:spcPct val="0"/>
      </a:spcAft>
      <a:defRPr sz="1120" kern="1200">
        <a:solidFill>
          <a:schemeClr val="tx1"/>
        </a:solidFill>
        <a:latin typeface="Arial" charset="0"/>
        <a:ea typeface="Arial" charset="0"/>
        <a:cs typeface="Arial" charset="0"/>
      </a:defRPr>
    </a:lvl4pPr>
    <a:lvl5pPr marL="1824462" algn="l" rtl="0" eaLnBrk="0" fontAlgn="base" hangingPunct="0">
      <a:spcBef>
        <a:spcPct val="30000"/>
      </a:spcBef>
      <a:spcAft>
        <a:spcPct val="0"/>
      </a:spcAft>
      <a:defRPr sz="1120" kern="1200">
        <a:solidFill>
          <a:schemeClr val="tx1"/>
        </a:solidFill>
        <a:latin typeface="Arial" charset="0"/>
        <a:ea typeface="Arial" charset="0"/>
        <a:cs typeface="Arial" charset="0"/>
      </a:defRPr>
    </a:lvl5pPr>
    <a:lvl6pPr marL="2284261" algn="l" defTabSz="913704" rtl="0" eaLnBrk="1" latinLnBrk="0" hangingPunct="1">
      <a:defRPr sz="1200" kern="1200">
        <a:solidFill>
          <a:schemeClr val="tx1"/>
        </a:solidFill>
        <a:latin typeface="+mn-lt"/>
        <a:ea typeface="+mn-ea"/>
        <a:cs typeface="+mn-cs"/>
      </a:defRPr>
    </a:lvl6pPr>
    <a:lvl7pPr marL="2741115" algn="l" defTabSz="913704" rtl="0" eaLnBrk="1" latinLnBrk="0" hangingPunct="1">
      <a:defRPr sz="1200" kern="1200">
        <a:solidFill>
          <a:schemeClr val="tx1"/>
        </a:solidFill>
        <a:latin typeface="+mn-lt"/>
        <a:ea typeface="+mn-ea"/>
        <a:cs typeface="+mn-cs"/>
      </a:defRPr>
    </a:lvl7pPr>
    <a:lvl8pPr marL="3197968" algn="l" defTabSz="913704" rtl="0" eaLnBrk="1" latinLnBrk="0" hangingPunct="1">
      <a:defRPr sz="1200" kern="1200">
        <a:solidFill>
          <a:schemeClr val="tx1"/>
        </a:solidFill>
        <a:latin typeface="+mn-lt"/>
        <a:ea typeface="+mn-ea"/>
        <a:cs typeface="+mn-cs"/>
      </a:defRPr>
    </a:lvl8pPr>
    <a:lvl9pPr marL="3654816" algn="l" defTabSz="913704"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Helvetica" panose="020B0604020202020204" pitchFamily="34" charset="0"/>
                <a:ea typeface="MS PGothic" panose="020B0600070205080204" pitchFamily="34" charset="-128"/>
              </a:defRPr>
            </a:lvl1pPr>
            <a:lvl2pPr marL="744064" indent="-286179">
              <a:defRPr sz="2400">
                <a:solidFill>
                  <a:schemeClr val="tx1"/>
                </a:solidFill>
                <a:latin typeface="Helvetica" panose="020B0604020202020204" pitchFamily="34" charset="0"/>
                <a:ea typeface="MS PGothic" panose="020B0600070205080204" pitchFamily="34" charset="-128"/>
              </a:defRPr>
            </a:lvl2pPr>
            <a:lvl3pPr marL="1144715" indent="-228943">
              <a:defRPr sz="2400">
                <a:solidFill>
                  <a:schemeClr val="tx1"/>
                </a:solidFill>
                <a:latin typeface="Helvetica" panose="020B0604020202020204" pitchFamily="34" charset="0"/>
                <a:ea typeface="MS PGothic" panose="020B0600070205080204" pitchFamily="34" charset="-128"/>
              </a:defRPr>
            </a:lvl3pPr>
            <a:lvl4pPr marL="1602600" indent="-228943">
              <a:defRPr sz="2400">
                <a:solidFill>
                  <a:schemeClr val="tx1"/>
                </a:solidFill>
                <a:latin typeface="Helvetica" panose="020B0604020202020204" pitchFamily="34" charset="0"/>
                <a:ea typeface="MS PGothic" panose="020B0600070205080204" pitchFamily="34" charset="-128"/>
              </a:defRPr>
            </a:lvl4pPr>
            <a:lvl5pPr marL="2060486" indent="-228943">
              <a:defRPr sz="2400">
                <a:solidFill>
                  <a:schemeClr val="tx1"/>
                </a:solidFill>
                <a:latin typeface="Helvetica" panose="020B0604020202020204" pitchFamily="34" charset="0"/>
                <a:ea typeface="MS PGothic" panose="020B0600070205080204" pitchFamily="34" charset="-128"/>
              </a:defRPr>
            </a:lvl5pPr>
            <a:lvl6pPr marL="2518372"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6258"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34144"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92029" indent="-228943"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fld id="{EE4736F1-11A1-4F15-821F-373E647BE191}" type="slidenum">
              <a:rPr lang="en-US" altLang="en-US" sz="1200">
                <a:latin typeface="Arial" panose="020B0604020202020204" pitchFamily="34" charset="0"/>
              </a:rPr>
              <a:pPr/>
              <a:t>1</a:t>
            </a:fld>
            <a:endParaRPr lang="en-US" altLang="en-US" sz="1200">
              <a:latin typeface="Arial" panose="020B0604020202020204" pitchFamily="34" charset="0"/>
            </a:endParaRPr>
          </a:p>
        </p:txBody>
      </p:sp>
      <p:sp>
        <p:nvSpPr>
          <p:cNvPr id="16386" name="Rectangle 2"/>
          <p:cNvSpPr>
            <a:spLocks noGrp="1" noRot="1" noChangeAspect="1" noChangeArrowheads="1" noTextEdit="1"/>
          </p:cNvSpPr>
          <p:nvPr>
            <p:ph type="sldImg"/>
          </p:nvPr>
        </p:nvSpPr>
        <p:spPr>
          <a:xfrm>
            <a:off x="1184275" y="698500"/>
            <a:ext cx="4654550" cy="3490913"/>
          </a:xfrm>
          <a:ln/>
        </p:spPr>
      </p:sp>
      <p:sp>
        <p:nvSpPr>
          <p:cNvPr id="1638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171450" indent="-171450" eaLnBrk="1" hangingPunct="1">
              <a:buFontTx/>
              <a:buChar char="-"/>
            </a:pPr>
            <a:endParaRPr lang="en-US" altLang="en-US" dirty="0">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292482" y="10226677"/>
            <a:ext cx="37306249" cy="7054850"/>
          </a:xfrm>
        </p:spPr>
        <p:txBody>
          <a:bodyPr/>
          <a:lstStyle/>
          <a:p>
            <a:r>
              <a:rPr lang="en-US"/>
              <a:t>Click to edit Master title style</a:t>
            </a:r>
          </a:p>
        </p:txBody>
      </p:sp>
      <p:sp>
        <p:nvSpPr>
          <p:cNvPr id="3" name="Subtitle 2"/>
          <p:cNvSpPr>
            <a:spLocks noGrp="1"/>
          </p:cNvSpPr>
          <p:nvPr>
            <p:ph type="subTitle" idx="1"/>
          </p:nvPr>
        </p:nvSpPr>
        <p:spPr>
          <a:xfrm>
            <a:off x="6583365" y="18653127"/>
            <a:ext cx="30724474" cy="8413750"/>
          </a:xfrm>
        </p:spPr>
        <p:txBody>
          <a:bodyPr/>
          <a:lstStyle>
            <a:lvl1pPr marL="0" indent="0" algn="ctr">
              <a:buNone/>
              <a:defRPr/>
            </a:lvl1pPr>
            <a:lvl2pPr marL="406356" indent="0" algn="ctr">
              <a:buNone/>
              <a:defRPr/>
            </a:lvl2pPr>
            <a:lvl3pPr marL="812714" indent="0" algn="ctr">
              <a:buNone/>
              <a:defRPr/>
            </a:lvl3pPr>
            <a:lvl4pPr marL="1219072" indent="0" algn="ctr">
              <a:buNone/>
              <a:defRPr/>
            </a:lvl4pPr>
            <a:lvl5pPr marL="1625431" indent="0" algn="ctr">
              <a:buNone/>
              <a:defRPr/>
            </a:lvl5pPr>
            <a:lvl6pPr marL="2031789" indent="0" algn="ctr">
              <a:buNone/>
              <a:defRPr/>
            </a:lvl6pPr>
            <a:lvl7pPr marL="2438145" indent="0" algn="ctr">
              <a:buNone/>
              <a:defRPr/>
            </a:lvl7pPr>
            <a:lvl8pPr marL="2844503" indent="0" algn="ctr">
              <a:buNone/>
              <a:defRPr/>
            </a:lvl8pPr>
            <a:lvl9pPr marL="3250859"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CE045733-9CD5-4A39-AF19-1576EAAC5827}" type="slidenum">
              <a:rPr lang="en-US" altLang="en-US"/>
              <a:pPr/>
              <a:t>‹#›</a:t>
            </a:fld>
            <a:endParaRPr lang="en-US" altLang="en-US"/>
          </a:p>
        </p:txBody>
      </p:sp>
    </p:spTree>
    <p:extLst>
      <p:ext uri="{BB962C8B-B14F-4D97-AF65-F5344CB8AC3E}">
        <p14:creationId xmlns:p14="http://schemas.microsoft.com/office/powerpoint/2010/main" val="2100657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D5AEFD10-DBAF-4AE2-89A0-5AF92A9DB40B}" type="slidenum">
              <a:rPr lang="en-US" altLang="en-US"/>
              <a:pPr/>
              <a:t>‹#›</a:t>
            </a:fld>
            <a:endParaRPr lang="en-US" altLang="en-US"/>
          </a:p>
        </p:txBody>
      </p:sp>
    </p:spTree>
    <p:extLst>
      <p:ext uri="{BB962C8B-B14F-4D97-AF65-F5344CB8AC3E}">
        <p14:creationId xmlns:p14="http://schemas.microsoft.com/office/powerpoint/2010/main" val="16841051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67106" y="21153440"/>
            <a:ext cx="37307838" cy="6537324"/>
          </a:xfrm>
        </p:spPr>
        <p:txBody>
          <a:bodyPr anchor="t"/>
          <a:lstStyle>
            <a:lvl1pPr algn="l">
              <a:defRPr sz="3580" b="1" cap="all"/>
            </a:lvl1pPr>
          </a:lstStyle>
          <a:p>
            <a:r>
              <a:rPr lang="en-US"/>
              <a:t>Click to edit Master title style</a:t>
            </a:r>
          </a:p>
        </p:txBody>
      </p:sp>
      <p:sp>
        <p:nvSpPr>
          <p:cNvPr id="3" name="Text Placeholder 2"/>
          <p:cNvSpPr>
            <a:spLocks noGrp="1"/>
          </p:cNvSpPr>
          <p:nvPr>
            <p:ph type="body" idx="1"/>
          </p:nvPr>
        </p:nvSpPr>
        <p:spPr>
          <a:xfrm>
            <a:off x="3467106" y="13952538"/>
            <a:ext cx="37307838" cy="7200900"/>
          </a:xfrm>
        </p:spPr>
        <p:txBody>
          <a:bodyPr anchor="b"/>
          <a:lstStyle>
            <a:lvl1pPr marL="0" indent="0">
              <a:buNone/>
              <a:defRPr sz="1753"/>
            </a:lvl1pPr>
            <a:lvl2pPr marL="406356" indent="0">
              <a:buNone/>
              <a:defRPr sz="1600"/>
            </a:lvl2pPr>
            <a:lvl3pPr marL="812714" indent="0">
              <a:buNone/>
              <a:defRPr sz="1447"/>
            </a:lvl3pPr>
            <a:lvl4pPr marL="1219072" indent="0">
              <a:buNone/>
              <a:defRPr sz="1220"/>
            </a:lvl4pPr>
            <a:lvl5pPr marL="1625431" indent="0">
              <a:buNone/>
              <a:defRPr sz="1220"/>
            </a:lvl5pPr>
            <a:lvl6pPr marL="2031789" indent="0">
              <a:buNone/>
              <a:defRPr sz="1220"/>
            </a:lvl6pPr>
            <a:lvl7pPr marL="2438145" indent="0">
              <a:buNone/>
              <a:defRPr sz="1220"/>
            </a:lvl7pPr>
            <a:lvl8pPr marL="2844503" indent="0">
              <a:buNone/>
              <a:defRPr sz="1220"/>
            </a:lvl8pPr>
            <a:lvl9pPr marL="3250859" indent="0">
              <a:buNone/>
              <a:defRPr sz="122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EDC3906F-68E1-40D4-92B5-7E5E62F91829}" type="slidenum">
              <a:rPr lang="en-US" altLang="en-US"/>
              <a:pPr/>
              <a:t>‹#›</a:t>
            </a:fld>
            <a:endParaRPr lang="en-US" altLang="en-US"/>
          </a:p>
        </p:txBody>
      </p:sp>
    </p:spTree>
    <p:extLst>
      <p:ext uri="{BB962C8B-B14F-4D97-AF65-F5344CB8AC3E}">
        <p14:creationId xmlns:p14="http://schemas.microsoft.com/office/powerpoint/2010/main" val="28139030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193931" y="7680331"/>
            <a:ext cx="19675475" cy="21724938"/>
          </a:xfrm>
        </p:spPr>
        <p:txBody>
          <a:bodyPr/>
          <a:lstStyle>
            <a:lvl1pPr>
              <a:defRPr sz="2514"/>
            </a:lvl1pPr>
            <a:lvl2pPr>
              <a:defRPr sz="2133"/>
            </a:lvl2pPr>
            <a:lvl3pPr>
              <a:defRPr sz="1753"/>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021806" y="7680331"/>
            <a:ext cx="19675475" cy="21724938"/>
          </a:xfrm>
        </p:spPr>
        <p:txBody>
          <a:bodyPr/>
          <a:lstStyle>
            <a:lvl1pPr>
              <a:defRPr sz="2514"/>
            </a:lvl1pPr>
            <a:lvl2pPr>
              <a:defRPr sz="2133"/>
            </a:lvl2pPr>
            <a:lvl3pPr>
              <a:defRPr sz="1753"/>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A46F8588-11AB-46DB-B65B-0DA5B032DFB0}" type="slidenum">
              <a:rPr lang="en-US" altLang="en-US"/>
              <a:pPr/>
              <a:t>‹#›</a:t>
            </a:fld>
            <a:endParaRPr lang="en-US" altLang="en-US"/>
          </a:p>
        </p:txBody>
      </p:sp>
    </p:spTree>
    <p:extLst>
      <p:ext uri="{BB962C8B-B14F-4D97-AF65-F5344CB8AC3E}">
        <p14:creationId xmlns:p14="http://schemas.microsoft.com/office/powerpoint/2010/main" val="7407294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93926" y="7369176"/>
            <a:ext cx="19392899" cy="3070224"/>
          </a:xfrm>
        </p:spPr>
        <p:txBody>
          <a:bodyPr anchor="b"/>
          <a:lstStyle>
            <a:lvl1pPr marL="0" indent="0">
              <a:buNone/>
              <a:defRPr sz="2133" b="1"/>
            </a:lvl1pPr>
            <a:lvl2pPr marL="406356" indent="0">
              <a:buNone/>
              <a:defRPr sz="1753" b="1"/>
            </a:lvl2pPr>
            <a:lvl3pPr marL="812714" indent="0">
              <a:buNone/>
              <a:defRPr sz="1600" b="1"/>
            </a:lvl3pPr>
            <a:lvl4pPr marL="1219072" indent="0">
              <a:buNone/>
              <a:defRPr sz="1447" b="1"/>
            </a:lvl4pPr>
            <a:lvl5pPr marL="1625431" indent="0">
              <a:buNone/>
              <a:defRPr sz="1447" b="1"/>
            </a:lvl5pPr>
            <a:lvl6pPr marL="2031789" indent="0">
              <a:buNone/>
              <a:defRPr sz="1447" b="1"/>
            </a:lvl6pPr>
            <a:lvl7pPr marL="2438145" indent="0">
              <a:buNone/>
              <a:defRPr sz="1447" b="1"/>
            </a:lvl7pPr>
            <a:lvl8pPr marL="2844503" indent="0">
              <a:buNone/>
              <a:defRPr sz="1447" b="1"/>
            </a:lvl8pPr>
            <a:lvl9pPr marL="3250859" indent="0">
              <a:buNone/>
              <a:defRPr sz="1447" b="1"/>
            </a:lvl9pPr>
          </a:lstStyle>
          <a:p>
            <a:pPr lvl="0"/>
            <a:r>
              <a:rPr lang="en-US"/>
              <a:t>Click to edit Master text styles</a:t>
            </a:r>
          </a:p>
        </p:txBody>
      </p:sp>
      <p:sp>
        <p:nvSpPr>
          <p:cNvPr id="4" name="Content Placeholder 3"/>
          <p:cNvSpPr>
            <a:spLocks noGrp="1"/>
          </p:cNvSpPr>
          <p:nvPr>
            <p:ph sz="half" idx="2"/>
          </p:nvPr>
        </p:nvSpPr>
        <p:spPr>
          <a:xfrm>
            <a:off x="2193926" y="10439407"/>
            <a:ext cx="19392899" cy="18965862"/>
          </a:xfrm>
        </p:spPr>
        <p:txBody>
          <a:bodyPr/>
          <a:lstStyle>
            <a:lvl1pPr>
              <a:defRPr sz="2133"/>
            </a:lvl1pPr>
            <a:lvl2pPr>
              <a:defRPr sz="1753"/>
            </a:lvl2pPr>
            <a:lvl3pPr>
              <a:defRPr sz="1600"/>
            </a:lvl3pPr>
            <a:lvl4pPr>
              <a:defRPr sz="1447"/>
            </a:lvl4pPr>
            <a:lvl5pPr>
              <a:defRPr sz="1447"/>
            </a:lvl5pPr>
            <a:lvl6pPr>
              <a:defRPr sz="1447"/>
            </a:lvl6pPr>
            <a:lvl7pPr>
              <a:defRPr sz="1447"/>
            </a:lvl7pPr>
            <a:lvl8pPr>
              <a:defRPr sz="1447"/>
            </a:lvl8pPr>
            <a:lvl9pPr>
              <a:defRPr sz="144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296440" y="7369176"/>
            <a:ext cx="19400837" cy="3070224"/>
          </a:xfrm>
        </p:spPr>
        <p:txBody>
          <a:bodyPr anchor="b"/>
          <a:lstStyle>
            <a:lvl1pPr marL="0" indent="0">
              <a:buNone/>
              <a:defRPr sz="2133" b="1"/>
            </a:lvl1pPr>
            <a:lvl2pPr marL="406356" indent="0">
              <a:buNone/>
              <a:defRPr sz="1753" b="1"/>
            </a:lvl2pPr>
            <a:lvl3pPr marL="812714" indent="0">
              <a:buNone/>
              <a:defRPr sz="1600" b="1"/>
            </a:lvl3pPr>
            <a:lvl4pPr marL="1219072" indent="0">
              <a:buNone/>
              <a:defRPr sz="1447" b="1"/>
            </a:lvl4pPr>
            <a:lvl5pPr marL="1625431" indent="0">
              <a:buNone/>
              <a:defRPr sz="1447" b="1"/>
            </a:lvl5pPr>
            <a:lvl6pPr marL="2031789" indent="0">
              <a:buNone/>
              <a:defRPr sz="1447" b="1"/>
            </a:lvl6pPr>
            <a:lvl7pPr marL="2438145" indent="0">
              <a:buNone/>
              <a:defRPr sz="1447" b="1"/>
            </a:lvl7pPr>
            <a:lvl8pPr marL="2844503" indent="0">
              <a:buNone/>
              <a:defRPr sz="1447" b="1"/>
            </a:lvl8pPr>
            <a:lvl9pPr marL="3250859" indent="0">
              <a:buNone/>
              <a:defRPr sz="1447" b="1"/>
            </a:lvl9pPr>
          </a:lstStyle>
          <a:p>
            <a:pPr lvl="0"/>
            <a:r>
              <a:rPr lang="en-US"/>
              <a:t>Click to edit Master text styles</a:t>
            </a:r>
          </a:p>
        </p:txBody>
      </p:sp>
      <p:sp>
        <p:nvSpPr>
          <p:cNvPr id="6" name="Content Placeholder 5"/>
          <p:cNvSpPr>
            <a:spLocks noGrp="1"/>
          </p:cNvSpPr>
          <p:nvPr>
            <p:ph sz="quarter" idx="4"/>
          </p:nvPr>
        </p:nvSpPr>
        <p:spPr>
          <a:xfrm>
            <a:off x="22296440" y="10439407"/>
            <a:ext cx="19400837" cy="18965862"/>
          </a:xfrm>
        </p:spPr>
        <p:txBody>
          <a:bodyPr/>
          <a:lstStyle>
            <a:lvl1pPr>
              <a:defRPr sz="2133"/>
            </a:lvl1pPr>
            <a:lvl2pPr>
              <a:defRPr sz="1753"/>
            </a:lvl2pPr>
            <a:lvl3pPr>
              <a:defRPr sz="1600"/>
            </a:lvl3pPr>
            <a:lvl4pPr>
              <a:defRPr sz="1447"/>
            </a:lvl4pPr>
            <a:lvl5pPr>
              <a:defRPr sz="1447"/>
            </a:lvl5pPr>
            <a:lvl6pPr>
              <a:defRPr sz="1447"/>
            </a:lvl6pPr>
            <a:lvl7pPr>
              <a:defRPr sz="1447"/>
            </a:lvl7pPr>
            <a:lvl8pPr>
              <a:defRPr sz="1447"/>
            </a:lvl8pPr>
            <a:lvl9pPr>
              <a:defRPr sz="144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fld id="{D8F70D44-9EE5-494F-B24D-9088C4F630A4}" type="slidenum">
              <a:rPr lang="en-US" altLang="en-US"/>
              <a:pPr/>
              <a:t>‹#›</a:t>
            </a:fld>
            <a:endParaRPr lang="en-US" altLang="en-US"/>
          </a:p>
        </p:txBody>
      </p:sp>
    </p:spTree>
    <p:extLst>
      <p:ext uri="{BB962C8B-B14F-4D97-AF65-F5344CB8AC3E}">
        <p14:creationId xmlns:p14="http://schemas.microsoft.com/office/powerpoint/2010/main" val="24659509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fld id="{7B282EB0-6A1C-42AA-BBF4-30A498DC98E8}" type="slidenum">
              <a:rPr lang="en-US" altLang="en-US"/>
              <a:pPr/>
              <a:t>‹#›</a:t>
            </a:fld>
            <a:endParaRPr lang="en-US" altLang="en-US"/>
          </a:p>
        </p:txBody>
      </p:sp>
    </p:spTree>
    <p:extLst>
      <p:ext uri="{BB962C8B-B14F-4D97-AF65-F5344CB8AC3E}">
        <p14:creationId xmlns:p14="http://schemas.microsoft.com/office/powerpoint/2010/main" val="20781020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fld id="{A58D00DC-00D9-48A8-8591-ED180EF32D4C}" type="slidenum">
              <a:rPr lang="en-US" altLang="en-US"/>
              <a:pPr/>
              <a:t>‹#›</a:t>
            </a:fld>
            <a:endParaRPr lang="en-US" altLang="en-US"/>
          </a:p>
        </p:txBody>
      </p:sp>
    </p:spTree>
    <p:extLst>
      <p:ext uri="{BB962C8B-B14F-4D97-AF65-F5344CB8AC3E}">
        <p14:creationId xmlns:p14="http://schemas.microsoft.com/office/powerpoint/2010/main" val="2389963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93925" y="1311276"/>
            <a:ext cx="14439901" cy="5576888"/>
          </a:xfrm>
        </p:spPr>
        <p:txBody>
          <a:bodyPr anchor="b"/>
          <a:lstStyle>
            <a:lvl1pPr algn="l">
              <a:defRPr sz="1753" b="1"/>
            </a:lvl1pPr>
          </a:lstStyle>
          <a:p>
            <a:r>
              <a:rPr lang="en-US"/>
              <a:t>Click to edit Master title style</a:t>
            </a:r>
          </a:p>
        </p:txBody>
      </p:sp>
      <p:sp>
        <p:nvSpPr>
          <p:cNvPr id="3" name="Content Placeholder 2"/>
          <p:cNvSpPr>
            <a:spLocks noGrp="1"/>
          </p:cNvSpPr>
          <p:nvPr>
            <p:ph idx="1"/>
          </p:nvPr>
        </p:nvSpPr>
        <p:spPr>
          <a:xfrm>
            <a:off x="17160875" y="1311276"/>
            <a:ext cx="24536400" cy="28093988"/>
          </a:xfrm>
        </p:spPr>
        <p:txBody>
          <a:bodyPr/>
          <a:lstStyle>
            <a:lvl1pPr>
              <a:defRPr sz="2820"/>
            </a:lvl1pPr>
            <a:lvl2pPr>
              <a:defRPr sz="2514"/>
            </a:lvl2pPr>
            <a:lvl3pPr>
              <a:defRPr sz="2133"/>
            </a:lvl3pPr>
            <a:lvl4pPr>
              <a:defRPr sz="1753"/>
            </a:lvl4pPr>
            <a:lvl5pPr>
              <a:defRPr sz="1753"/>
            </a:lvl5pPr>
            <a:lvl6pPr>
              <a:defRPr sz="1753"/>
            </a:lvl6pPr>
            <a:lvl7pPr>
              <a:defRPr sz="1753"/>
            </a:lvl7pPr>
            <a:lvl8pPr>
              <a:defRPr sz="1753"/>
            </a:lvl8pPr>
            <a:lvl9pPr>
              <a:defRPr sz="175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93925" y="6888162"/>
            <a:ext cx="14439901" cy="22517100"/>
          </a:xfrm>
        </p:spPr>
        <p:txBody>
          <a:bodyPr/>
          <a:lstStyle>
            <a:lvl1pPr marL="0" indent="0">
              <a:buNone/>
              <a:defRPr sz="1220"/>
            </a:lvl1pPr>
            <a:lvl2pPr marL="406356" indent="0">
              <a:buNone/>
              <a:defRPr sz="1066"/>
            </a:lvl2pPr>
            <a:lvl3pPr marL="812714" indent="0">
              <a:buNone/>
              <a:defRPr sz="914"/>
            </a:lvl3pPr>
            <a:lvl4pPr marL="1219072" indent="0">
              <a:buNone/>
              <a:defRPr sz="763"/>
            </a:lvl4pPr>
            <a:lvl5pPr marL="1625431" indent="0">
              <a:buNone/>
              <a:defRPr sz="763"/>
            </a:lvl5pPr>
            <a:lvl6pPr marL="2031789" indent="0">
              <a:buNone/>
              <a:defRPr sz="763"/>
            </a:lvl6pPr>
            <a:lvl7pPr marL="2438145" indent="0">
              <a:buNone/>
              <a:defRPr sz="763"/>
            </a:lvl7pPr>
            <a:lvl8pPr marL="2844503" indent="0">
              <a:buNone/>
              <a:defRPr sz="763"/>
            </a:lvl8pPr>
            <a:lvl9pPr marL="3250859" indent="0">
              <a:buNone/>
              <a:defRPr sz="763"/>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C0D8C0C4-CE81-4EEF-9770-5470521DE371}" type="slidenum">
              <a:rPr lang="en-US" altLang="en-US"/>
              <a:pPr/>
              <a:t>‹#›</a:t>
            </a:fld>
            <a:endParaRPr lang="en-US" altLang="en-US"/>
          </a:p>
        </p:txBody>
      </p:sp>
    </p:spTree>
    <p:extLst>
      <p:ext uri="{BB962C8B-B14F-4D97-AF65-F5344CB8AC3E}">
        <p14:creationId xmlns:p14="http://schemas.microsoft.com/office/powerpoint/2010/main" val="7338367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02665" y="23042564"/>
            <a:ext cx="26335036" cy="2720976"/>
          </a:xfrm>
        </p:spPr>
        <p:txBody>
          <a:bodyPr anchor="b"/>
          <a:lstStyle>
            <a:lvl1pPr algn="l">
              <a:defRPr sz="1753" b="1"/>
            </a:lvl1pPr>
          </a:lstStyle>
          <a:p>
            <a:r>
              <a:rPr lang="en-US"/>
              <a:t>Click to edit Master title style</a:t>
            </a:r>
          </a:p>
        </p:txBody>
      </p:sp>
      <p:sp>
        <p:nvSpPr>
          <p:cNvPr id="3" name="Picture Placeholder 2"/>
          <p:cNvSpPr>
            <a:spLocks noGrp="1"/>
          </p:cNvSpPr>
          <p:nvPr>
            <p:ph type="pic" idx="1"/>
          </p:nvPr>
        </p:nvSpPr>
        <p:spPr>
          <a:xfrm>
            <a:off x="8602665" y="2941645"/>
            <a:ext cx="26335036" cy="19750086"/>
          </a:xfrm>
        </p:spPr>
        <p:txBody>
          <a:bodyPr/>
          <a:lstStyle>
            <a:lvl1pPr marL="0" indent="0">
              <a:buNone/>
              <a:defRPr sz="2820"/>
            </a:lvl1pPr>
            <a:lvl2pPr marL="406356" indent="0">
              <a:buNone/>
              <a:defRPr sz="2514"/>
            </a:lvl2pPr>
            <a:lvl3pPr marL="812714" indent="0">
              <a:buNone/>
              <a:defRPr sz="2133"/>
            </a:lvl3pPr>
            <a:lvl4pPr marL="1219072" indent="0">
              <a:buNone/>
              <a:defRPr sz="1753"/>
            </a:lvl4pPr>
            <a:lvl5pPr marL="1625431" indent="0">
              <a:buNone/>
              <a:defRPr sz="1753"/>
            </a:lvl5pPr>
            <a:lvl6pPr marL="2031789" indent="0">
              <a:buNone/>
              <a:defRPr sz="1753"/>
            </a:lvl6pPr>
            <a:lvl7pPr marL="2438145" indent="0">
              <a:buNone/>
              <a:defRPr sz="1753"/>
            </a:lvl7pPr>
            <a:lvl8pPr marL="2844503" indent="0">
              <a:buNone/>
              <a:defRPr sz="1753"/>
            </a:lvl8pPr>
            <a:lvl9pPr marL="3250859" indent="0">
              <a:buNone/>
              <a:defRPr sz="1753"/>
            </a:lvl9pPr>
          </a:lstStyle>
          <a:p>
            <a:pPr lvl="0"/>
            <a:endParaRPr lang="en-US" noProof="0"/>
          </a:p>
        </p:txBody>
      </p:sp>
      <p:sp>
        <p:nvSpPr>
          <p:cNvPr id="4" name="Text Placeholder 3"/>
          <p:cNvSpPr>
            <a:spLocks noGrp="1"/>
          </p:cNvSpPr>
          <p:nvPr>
            <p:ph type="body" sz="half" idx="2"/>
          </p:nvPr>
        </p:nvSpPr>
        <p:spPr>
          <a:xfrm>
            <a:off x="8602665" y="25763545"/>
            <a:ext cx="26335036" cy="3862386"/>
          </a:xfrm>
        </p:spPr>
        <p:txBody>
          <a:bodyPr/>
          <a:lstStyle>
            <a:lvl1pPr marL="0" indent="0">
              <a:buNone/>
              <a:defRPr sz="1220"/>
            </a:lvl1pPr>
            <a:lvl2pPr marL="406356" indent="0">
              <a:buNone/>
              <a:defRPr sz="1066"/>
            </a:lvl2pPr>
            <a:lvl3pPr marL="812714" indent="0">
              <a:buNone/>
              <a:defRPr sz="914"/>
            </a:lvl3pPr>
            <a:lvl4pPr marL="1219072" indent="0">
              <a:buNone/>
              <a:defRPr sz="763"/>
            </a:lvl4pPr>
            <a:lvl5pPr marL="1625431" indent="0">
              <a:buNone/>
              <a:defRPr sz="763"/>
            </a:lvl5pPr>
            <a:lvl6pPr marL="2031789" indent="0">
              <a:buNone/>
              <a:defRPr sz="763"/>
            </a:lvl6pPr>
            <a:lvl7pPr marL="2438145" indent="0">
              <a:buNone/>
              <a:defRPr sz="763"/>
            </a:lvl7pPr>
            <a:lvl8pPr marL="2844503" indent="0">
              <a:buNone/>
              <a:defRPr sz="763"/>
            </a:lvl8pPr>
            <a:lvl9pPr marL="3250859" indent="0">
              <a:buNone/>
              <a:defRPr sz="763"/>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fld id="{AEF393D9-CF7B-4330-B265-DED19A74F3DD}" type="slidenum">
              <a:rPr lang="en-US" altLang="en-US"/>
              <a:pPr/>
              <a:t>‹#›</a:t>
            </a:fld>
            <a:endParaRPr lang="en-US" altLang="en-US"/>
          </a:p>
        </p:txBody>
      </p:sp>
    </p:spTree>
    <p:extLst>
      <p:ext uri="{BB962C8B-B14F-4D97-AF65-F5344CB8AC3E}">
        <p14:creationId xmlns:p14="http://schemas.microsoft.com/office/powerpoint/2010/main" val="24252516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046C7718-C7BA-4E2F-9613-1867C7C3438F}" type="slidenum">
              <a:rPr lang="en-US" altLang="en-US"/>
              <a:pPr/>
              <a:t>‹#›</a:t>
            </a:fld>
            <a:endParaRPr lang="en-US" altLang="en-US"/>
          </a:p>
        </p:txBody>
      </p:sp>
    </p:spTree>
    <p:extLst>
      <p:ext uri="{BB962C8B-B14F-4D97-AF65-F5344CB8AC3E}">
        <p14:creationId xmlns:p14="http://schemas.microsoft.com/office/powerpoint/2010/main" val="8272061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1821440" y="1317631"/>
            <a:ext cx="9875836" cy="280876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193926" y="1317631"/>
            <a:ext cx="29475113" cy="280876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fld id="{132C855F-A866-40A9-8FAF-89579C6C0437}" type="slidenum">
              <a:rPr lang="en-US" altLang="en-US"/>
              <a:pPr/>
              <a:t>‹#›</a:t>
            </a:fld>
            <a:endParaRPr lang="en-US" altLang="en-US"/>
          </a:p>
        </p:txBody>
      </p:sp>
    </p:spTree>
    <p:extLst>
      <p:ext uri="{BB962C8B-B14F-4D97-AF65-F5344CB8AC3E}">
        <p14:creationId xmlns:p14="http://schemas.microsoft.com/office/powerpoint/2010/main" val="3638186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192873" y="1317626"/>
            <a:ext cx="39505467" cy="548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512035" tIns="256017" rIns="512035" bIns="256017" numCol="1" anchor="ctr" anchorCtr="0" compatLnSpc="1">
            <a:prstTxWarp prst="textNoShape">
              <a:avLst/>
            </a:prstTxWarp>
          </a:bodyPr>
          <a:lstStyle/>
          <a:p>
            <a:pPr lvl="0"/>
            <a:r>
              <a:rPr lang="en-US" altLang="en-US"/>
              <a:t>Click to edit Master title style</a:t>
            </a:r>
          </a:p>
        </p:txBody>
      </p:sp>
      <p:sp>
        <p:nvSpPr>
          <p:cNvPr id="1027" name="Rectangle 3"/>
          <p:cNvSpPr>
            <a:spLocks noGrp="1" noChangeArrowheads="1"/>
          </p:cNvSpPr>
          <p:nvPr>
            <p:ph type="body" idx="1"/>
          </p:nvPr>
        </p:nvSpPr>
        <p:spPr bwMode="auto">
          <a:xfrm>
            <a:off x="2192873" y="7680331"/>
            <a:ext cx="39505467" cy="21723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512035" tIns="256017" rIns="512035" bIns="256017"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Grp="1" noChangeArrowheads="1"/>
          </p:cNvSpPr>
          <p:nvPr>
            <p:ph type="dt" sz="half" idx="2"/>
          </p:nvPr>
        </p:nvSpPr>
        <p:spPr bwMode="auto">
          <a:xfrm>
            <a:off x="2192873" y="29975176"/>
            <a:ext cx="102446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eaLnBrk="1" hangingPunct="1">
              <a:defRPr sz="5867" smtClean="0">
                <a:latin typeface="Arial" charset="0"/>
                <a:ea typeface="MS PGothic" charset="0"/>
                <a:cs typeface="MS PGothic" charset="0"/>
              </a:defRPr>
            </a:lvl1pPr>
          </a:lstStyle>
          <a:p>
            <a:pPr>
              <a:defRPr/>
            </a:pPr>
            <a:endParaRPr lang="en-US"/>
          </a:p>
        </p:txBody>
      </p:sp>
      <p:sp>
        <p:nvSpPr>
          <p:cNvPr id="1029" name="Rectangle 5"/>
          <p:cNvSpPr>
            <a:spLocks noGrp="1" noChangeArrowheads="1"/>
          </p:cNvSpPr>
          <p:nvPr>
            <p:ph type="ftr" sz="quarter" idx="3"/>
          </p:nvPr>
        </p:nvSpPr>
        <p:spPr bwMode="auto">
          <a:xfrm>
            <a:off x="14994473" y="29975176"/>
            <a:ext cx="139022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algn="ctr" eaLnBrk="1" hangingPunct="1">
              <a:defRPr sz="5867" smtClean="0">
                <a:latin typeface="Arial" charset="0"/>
                <a:ea typeface="MS PGothic" charset="0"/>
                <a:cs typeface="MS PGothic" charset="0"/>
              </a:defRPr>
            </a:lvl1pPr>
          </a:lstStyle>
          <a:p>
            <a:pPr>
              <a:defRPr/>
            </a:pPr>
            <a:endParaRPr lang="en-US"/>
          </a:p>
        </p:txBody>
      </p:sp>
      <p:sp>
        <p:nvSpPr>
          <p:cNvPr id="1030" name="Rectangle 6"/>
          <p:cNvSpPr>
            <a:spLocks noGrp="1" noChangeArrowheads="1"/>
          </p:cNvSpPr>
          <p:nvPr>
            <p:ph type="sldNum" sz="quarter" idx="4"/>
          </p:nvPr>
        </p:nvSpPr>
        <p:spPr bwMode="auto">
          <a:xfrm>
            <a:off x="31453673" y="29975176"/>
            <a:ext cx="10244667" cy="2286000"/>
          </a:xfrm>
          <a:prstGeom prst="rect">
            <a:avLst/>
          </a:prstGeom>
          <a:noFill/>
          <a:ln w="9525">
            <a:noFill/>
            <a:miter lim="800000"/>
            <a:headEnd/>
            <a:tailEnd/>
          </a:ln>
          <a:effectLst/>
        </p:spPr>
        <p:txBody>
          <a:bodyPr vert="horz" wrap="square" lIns="512035" tIns="256017" rIns="512035" bIns="256017" numCol="1" anchor="t" anchorCtr="0" compatLnSpc="1">
            <a:prstTxWarp prst="textNoShape">
              <a:avLst/>
            </a:prstTxWarp>
          </a:bodyPr>
          <a:lstStyle>
            <a:lvl1pPr algn="r" eaLnBrk="1" hangingPunct="1">
              <a:defRPr sz="5867">
                <a:latin typeface="Arial" panose="020B0604020202020204" pitchFamily="34" charset="0"/>
              </a:defRPr>
            </a:lvl1pPr>
          </a:lstStyle>
          <a:p>
            <a:fld id="{0BDB88F5-6D3C-44D6-BE49-529E82C2D525}" type="slidenum">
              <a:rPr lang="en-US" altLang="en-US"/>
              <a:pPr/>
              <a:t>‹#›</a:t>
            </a:fld>
            <a:endParaRPr lang="en-US"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899866" rtl="0" eaLnBrk="0" fontAlgn="base" hangingPunct="0">
        <a:spcBef>
          <a:spcPct val="0"/>
        </a:spcBef>
        <a:spcAft>
          <a:spcPct val="0"/>
        </a:spcAft>
        <a:defRPr sz="18664">
          <a:solidFill>
            <a:schemeClr val="tx2"/>
          </a:solidFill>
          <a:latin typeface="+mj-lt"/>
          <a:ea typeface="MS PGothic" panose="020B0600070205080204" pitchFamily="34" charset="-128"/>
          <a:cs typeface="+mj-cs"/>
        </a:defRPr>
      </a:lvl1pPr>
      <a:lvl2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2pPr>
      <a:lvl3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3pPr>
      <a:lvl4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4pPr>
      <a:lvl5pPr algn="ctr" defTabSz="3899866" rtl="0" eaLnBrk="0" fontAlgn="base" hangingPunct="0">
        <a:spcBef>
          <a:spcPct val="0"/>
        </a:spcBef>
        <a:spcAft>
          <a:spcPct val="0"/>
        </a:spcAft>
        <a:defRPr sz="18664">
          <a:solidFill>
            <a:schemeClr val="tx2"/>
          </a:solidFill>
          <a:latin typeface="Arial" charset="0"/>
          <a:ea typeface="MS PGothic" panose="020B0600070205080204" pitchFamily="34" charset="-128"/>
          <a:cs typeface="Arial" charset="0"/>
        </a:defRPr>
      </a:lvl5pPr>
      <a:lvl6pPr marL="406356" algn="ctr" defTabSz="3901315" rtl="0" fontAlgn="base">
        <a:spcBef>
          <a:spcPct val="0"/>
        </a:spcBef>
        <a:spcAft>
          <a:spcPct val="0"/>
        </a:spcAft>
        <a:defRPr sz="18742">
          <a:solidFill>
            <a:schemeClr val="tx2"/>
          </a:solidFill>
          <a:latin typeface="Arial" charset="0"/>
          <a:cs typeface="Arial" charset="0"/>
        </a:defRPr>
      </a:lvl6pPr>
      <a:lvl7pPr marL="812714" algn="ctr" defTabSz="3901315" rtl="0" fontAlgn="base">
        <a:spcBef>
          <a:spcPct val="0"/>
        </a:spcBef>
        <a:spcAft>
          <a:spcPct val="0"/>
        </a:spcAft>
        <a:defRPr sz="18742">
          <a:solidFill>
            <a:schemeClr val="tx2"/>
          </a:solidFill>
          <a:latin typeface="Arial" charset="0"/>
          <a:cs typeface="Arial" charset="0"/>
        </a:defRPr>
      </a:lvl7pPr>
      <a:lvl8pPr marL="1219072" algn="ctr" defTabSz="3901315" rtl="0" fontAlgn="base">
        <a:spcBef>
          <a:spcPct val="0"/>
        </a:spcBef>
        <a:spcAft>
          <a:spcPct val="0"/>
        </a:spcAft>
        <a:defRPr sz="18742">
          <a:solidFill>
            <a:schemeClr val="tx2"/>
          </a:solidFill>
          <a:latin typeface="Arial" charset="0"/>
          <a:cs typeface="Arial" charset="0"/>
        </a:defRPr>
      </a:lvl8pPr>
      <a:lvl9pPr marL="1625431" algn="ctr" defTabSz="3901315" rtl="0" fontAlgn="base">
        <a:spcBef>
          <a:spcPct val="0"/>
        </a:spcBef>
        <a:spcAft>
          <a:spcPct val="0"/>
        </a:spcAft>
        <a:defRPr sz="18742">
          <a:solidFill>
            <a:schemeClr val="tx2"/>
          </a:solidFill>
          <a:latin typeface="Arial" charset="0"/>
          <a:cs typeface="Arial" charset="0"/>
        </a:defRPr>
      </a:lvl9pPr>
    </p:titleStyle>
    <p:bodyStyle>
      <a:lvl1pPr marL="1461745" indent="-1461745" algn="l" defTabSz="3899866" rtl="0" eaLnBrk="0" fontAlgn="base" hangingPunct="0">
        <a:spcBef>
          <a:spcPct val="20000"/>
        </a:spcBef>
        <a:spcAft>
          <a:spcPct val="0"/>
        </a:spcAft>
        <a:buChar char="•"/>
        <a:defRPr sz="13689">
          <a:solidFill>
            <a:schemeClr val="tx1"/>
          </a:solidFill>
          <a:latin typeface="+mn-lt"/>
          <a:ea typeface="MS PGothic" panose="020B0600070205080204" pitchFamily="34" charset="-128"/>
          <a:cs typeface="+mn-cs"/>
        </a:defRPr>
      </a:lvl1pPr>
      <a:lvl2pPr marL="3166173" indent="-1216240" algn="l" defTabSz="3899866" rtl="0" eaLnBrk="0" fontAlgn="base" hangingPunct="0">
        <a:spcBef>
          <a:spcPct val="20000"/>
        </a:spcBef>
        <a:spcAft>
          <a:spcPct val="0"/>
        </a:spcAft>
        <a:buChar char="–"/>
        <a:defRPr sz="11731">
          <a:solidFill>
            <a:schemeClr val="tx1"/>
          </a:solidFill>
          <a:latin typeface="+mn-lt"/>
          <a:ea typeface="Arial" charset="0"/>
          <a:cs typeface="+mn-cs"/>
        </a:defRPr>
      </a:lvl2pPr>
      <a:lvl3pPr marL="4873424" indent="-973557" algn="l" defTabSz="3899866" rtl="0" eaLnBrk="0" fontAlgn="base" hangingPunct="0">
        <a:spcBef>
          <a:spcPct val="20000"/>
        </a:spcBef>
        <a:spcAft>
          <a:spcPct val="0"/>
        </a:spcAft>
        <a:buChar char="•"/>
        <a:defRPr sz="10131">
          <a:solidFill>
            <a:schemeClr val="tx1"/>
          </a:solidFill>
          <a:latin typeface="+mn-lt"/>
          <a:ea typeface="Arial" charset="0"/>
          <a:cs typeface="+mn-cs"/>
        </a:defRPr>
      </a:lvl3pPr>
      <a:lvl4pPr marL="6826179" indent="-973557" algn="l" defTabSz="3899866" rtl="0" eaLnBrk="0" fontAlgn="base" hangingPunct="0">
        <a:spcBef>
          <a:spcPct val="20000"/>
        </a:spcBef>
        <a:spcAft>
          <a:spcPct val="0"/>
        </a:spcAft>
        <a:buChar char="–"/>
        <a:defRPr sz="8533">
          <a:solidFill>
            <a:schemeClr val="tx1"/>
          </a:solidFill>
          <a:latin typeface="+mn-lt"/>
          <a:ea typeface="Arial" charset="0"/>
          <a:cs typeface="+mn-cs"/>
        </a:defRPr>
      </a:lvl4pPr>
      <a:lvl5pPr marL="8776112" indent="-973557" algn="l" defTabSz="3899866" rtl="0" eaLnBrk="0" fontAlgn="base" hangingPunct="0">
        <a:spcBef>
          <a:spcPct val="20000"/>
        </a:spcBef>
        <a:spcAft>
          <a:spcPct val="0"/>
        </a:spcAft>
        <a:buChar char="»"/>
        <a:defRPr sz="8533">
          <a:solidFill>
            <a:schemeClr val="tx1"/>
          </a:solidFill>
          <a:latin typeface="+mn-lt"/>
          <a:ea typeface="Arial" charset="0"/>
          <a:cs typeface="+mn-cs"/>
        </a:defRPr>
      </a:lvl5pPr>
      <a:lvl6pPr marL="9183963" indent="-974977" algn="l" defTabSz="3901315" rtl="0" fontAlgn="base">
        <a:spcBef>
          <a:spcPct val="20000"/>
        </a:spcBef>
        <a:spcAft>
          <a:spcPct val="0"/>
        </a:spcAft>
        <a:buChar char="»"/>
        <a:defRPr sz="8533">
          <a:solidFill>
            <a:schemeClr val="tx1"/>
          </a:solidFill>
          <a:latin typeface="+mn-lt"/>
          <a:cs typeface="+mn-cs"/>
        </a:defRPr>
      </a:lvl6pPr>
      <a:lvl7pPr marL="9590323" indent="-974977" algn="l" defTabSz="3901315" rtl="0" fontAlgn="base">
        <a:spcBef>
          <a:spcPct val="20000"/>
        </a:spcBef>
        <a:spcAft>
          <a:spcPct val="0"/>
        </a:spcAft>
        <a:buChar char="»"/>
        <a:defRPr sz="8533">
          <a:solidFill>
            <a:schemeClr val="tx1"/>
          </a:solidFill>
          <a:latin typeface="+mn-lt"/>
          <a:cs typeface="+mn-cs"/>
        </a:defRPr>
      </a:lvl7pPr>
      <a:lvl8pPr marL="9996680" indent="-974977" algn="l" defTabSz="3901315" rtl="0" fontAlgn="base">
        <a:spcBef>
          <a:spcPct val="20000"/>
        </a:spcBef>
        <a:spcAft>
          <a:spcPct val="0"/>
        </a:spcAft>
        <a:buChar char="»"/>
        <a:defRPr sz="8533">
          <a:solidFill>
            <a:schemeClr val="tx1"/>
          </a:solidFill>
          <a:latin typeface="+mn-lt"/>
          <a:cs typeface="+mn-cs"/>
        </a:defRPr>
      </a:lvl8pPr>
      <a:lvl9pPr marL="10403038" indent="-974977" algn="l" defTabSz="3901315" rtl="0" fontAlgn="base">
        <a:spcBef>
          <a:spcPct val="20000"/>
        </a:spcBef>
        <a:spcAft>
          <a:spcPct val="0"/>
        </a:spcAft>
        <a:buChar char="»"/>
        <a:defRPr sz="8533">
          <a:solidFill>
            <a:schemeClr val="tx1"/>
          </a:solidFill>
          <a:latin typeface="+mn-lt"/>
          <a:cs typeface="+mn-cs"/>
        </a:defRPr>
      </a:lvl9pPr>
    </p:bodyStyle>
    <p:otherStyle>
      <a:defPPr>
        <a:defRPr lang="en-US"/>
      </a:defPPr>
      <a:lvl1pPr marL="0" algn="l" defTabSz="812714" rtl="0" eaLnBrk="1" latinLnBrk="0" hangingPunct="1">
        <a:defRPr sz="1600" kern="1200">
          <a:solidFill>
            <a:schemeClr val="tx1"/>
          </a:solidFill>
          <a:latin typeface="+mn-lt"/>
          <a:ea typeface="+mn-ea"/>
          <a:cs typeface="+mn-cs"/>
        </a:defRPr>
      </a:lvl1pPr>
      <a:lvl2pPr marL="406356" algn="l" defTabSz="812714" rtl="0" eaLnBrk="1" latinLnBrk="0" hangingPunct="1">
        <a:defRPr sz="1600" kern="1200">
          <a:solidFill>
            <a:schemeClr val="tx1"/>
          </a:solidFill>
          <a:latin typeface="+mn-lt"/>
          <a:ea typeface="+mn-ea"/>
          <a:cs typeface="+mn-cs"/>
        </a:defRPr>
      </a:lvl2pPr>
      <a:lvl3pPr marL="812714" algn="l" defTabSz="812714" rtl="0" eaLnBrk="1" latinLnBrk="0" hangingPunct="1">
        <a:defRPr sz="1600" kern="1200">
          <a:solidFill>
            <a:schemeClr val="tx1"/>
          </a:solidFill>
          <a:latin typeface="+mn-lt"/>
          <a:ea typeface="+mn-ea"/>
          <a:cs typeface="+mn-cs"/>
        </a:defRPr>
      </a:lvl3pPr>
      <a:lvl4pPr marL="1219072" algn="l" defTabSz="812714" rtl="0" eaLnBrk="1" latinLnBrk="0" hangingPunct="1">
        <a:defRPr sz="1600" kern="1200">
          <a:solidFill>
            <a:schemeClr val="tx1"/>
          </a:solidFill>
          <a:latin typeface="+mn-lt"/>
          <a:ea typeface="+mn-ea"/>
          <a:cs typeface="+mn-cs"/>
        </a:defRPr>
      </a:lvl4pPr>
      <a:lvl5pPr marL="1625431" algn="l" defTabSz="812714" rtl="0" eaLnBrk="1" latinLnBrk="0" hangingPunct="1">
        <a:defRPr sz="1600" kern="1200">
          <a:solidFill>
            <a:schemeClr val="tx1"/>
          </a:solidFill>
          <a:latin typeface="+mn-lt"/>
          <a:ea typeface="+mn-ea"/>
          <a:cs typeface="+mn-cs"/>
        </a:defRPr>
      </a:lvl5pPr>
      <a:lvl6pPr marL="2031789" algn="l" defTabSz="812714" rtl="0" eaLnBrk="1" latinLnBrk="0" hangingPunct="1">
        <a:defRPr sz="1600" kern="1200">
          <a:solidFill>
            <a:schemeClr val="tx1"/>
          </a:solidFill>
          <a:latin typeface="+mn-lt"/>
          <a:ea typeface="+mn-ea"/>
          <a:cs typeface="+mn-cs"/>
        </a:defRPr>
      </a:lvl6pPr>
      <a:lvl7pPr marL="2438145" algn="l" defTabSz="812714" rtl="0" eaLnBrk="1" latinLnBrk="0" hangingPunct="1">
        <a:defRPr sz="1600" kern="1200">
          <a:solidFill>
            <a:schemeClr val="tx1"/>
          </a:solidFill>
          <a:latin typeface="+mn-lt"/>
          <a:ea typeface="+mn-ea"/>
          <a:cs typeface="+mn-cs"/>
        </a:defRPr>
      </a:lvl7pPr>
      <a:lvl8pPr marL="2844503" algn="l" defTabSz="812714" rtl="0" eaLnBrk="1" latinLnBrk="0" hangingPunct="1">
        <a:defRPr sz="1600" kern="1200">
          <a:solidFill>
            <a:schemeClr val="tx1"/>
          </a:solidFill>
          <a:latin typeface="+mn-lt"/>
          <a:ea typeface="+mn-ea"/>
          <a:cs typeface="+mn-cs"/>
        </a:defRPr>
      </a:lvl8pPr>
      <a:lvl9pPr marL="3250859" algn="l" defTabSz="812714" rtl="0" eaLnBrk="1" latinLnBrk="0" hangingPunct="1">
        <a:defRPr sz="1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11" Type="http://schemas.openxmlformats.org/officeDocument/2006/relationships/image" Target="../media/image8.png"/><Relationship Id="rId5" Type="http://schemas.openxmlformats.org/officeDocument/2006/relationships/image" Target="../media/image3.png"/><Relationship Id="rId10" Type="http://schemas.openxmlformats.org/officeDocument/2006/relationships/image" Target="../media/image7.png"/><Relationship Id="rId4" Type="http://schemas.openxmlformats.org/officeDocument/2006/relationships/image" Target="../media/image2.png"/><Relationship Id="rId9" Type="http://schemas.microsoft.com/office/2007/relationships/hdphoto" Target="../media/hdphoto1.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99" name="Rectangle 15398">
            <a:extLst>
              <a:ext uri="{FF2B5EF4-FFF2-40B4-BE49-F238E27FC236}">
                <a16:creationId xmlns:a16="http://schemas.microsoft.com/office/drawing/2014/main" id="{3F2A222B-AB92-97CD-B2BC-B9C12D404AB1}"/>
              </a:ext>
            </a:extLst>
          </p:cNvPr>
          <p:cNvSpPr/>
          <p:nvPr/>
        </p:nvSpPr>
        <p:spPr bwMode="auto">
          <a:xfrm>
            <a:off x="15752261" y="4761579"/>
            <a:ext cx="6497345" cy="7245387"/>
          </a:xfrm>
          <a:prstGeom prst="rect">
            <a:avLst/>
          </a:prstGeom>
          <a:solidFill>
            <a:srgbClr val="FAF86D">
              <a:alpha val="54118"/>
            </a:srgb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15365" name="Rectangle 162"/>
          <p:cNvSpPr>
            <a:spLocks noChangeArrowheads="1"/>
          </p:cNvSpPr>
          <p:nvPr/>
        </p:nvSpPr>
        <p:spPr bwMode="auto">
          <a:xfrm>
            <a:off x="162957" y="12488003"/>
            <a:ext cx="14710114" cy="18312188"/>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67" name="Rectangle 162"/>
          <p:cNvSpPr>
            <a:spLocks noChangeArrowheads="1"/>
          </p:cNvSpPr>
          <p:nvPr/>
        </p:nvSpPr>
        <p:spPr bwMode="auto">
          <a:xfrm>
            <a:off x="15456311" y="4238464"/>
            <a:ext cx="14842502" cy="9451143"/>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388" name="TextBox 2"/>
          <p:cNvSpPr txBox="1">
            <a:spLocks noChangeArrowheads="1"/>
          </p:cNvSpPr>
          <p:nvPr/>
        </p:nvSpPr>
        <p:spPr bwMode="auto">
          <a:xfrm>
            <a:off x="4842671" y="1755462"/>
            <a:ext cx="33932768" cy="1938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eaLnBrk="1" hangingPunct="1"/>
            <a:r>
              <a:rPr lang="en-US" sz="4000" i="0" dirty="0">
                <a:solidFill>
                  <a:srgbClr val="000000"/>
                </a:solidFill>
                <a:effectLst/>
                <a:latin typeface="Times New Roman" panose="02020603050405020304" pitchFamily="18" charset="0"/>
              </a:rPr>
              <a:t>Abraham Dachs</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Cooper J. Sharp</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Enes Yanilmaz</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James B. </a:t>
            </a:r>
            <a:r>
              <a:rPr lang="en-US" sz="4000" i="0" dirty="0" err="1">
                <a:solidFill>
                  <a:srgbClr val="000000"/>
                </a:solidFill>
                <a:effectLst/>
                <a:latin typeface="Times New Roman" panose="02020603050405020304" pitchFamily="18" charset="0"/>
              </a:rPr>
              <a:t>Wyngaarden</a:t>
            </a:r>
            <a:r>
              <a:rPr lang="en-US" sz="4000" i="0" dirty="0">
                <a:solidFill>
                  <a:srgbClr val="000000"/>
                </a:solidFill>
                <a:effectLst/>
                <a:latin typeface="Times New Roman" panose="02020603050405020304" pitchFamily="18" charset="0"/>
              </a:rPr>
              <a:t> III</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Ori Zaff</a:t>
            </a:r>
            <a:r>
              <a:rPr lang="en-US" sz="4000" i="0" baseline="30000" dirty="0">
                <a:solidFill>
                  <a:srgbClr val="000000"/>
                </a:solidFill>
                <a:effectLst/>
                <a:latin typeface="Times New Roman" panose="02020603050405020304" pitchFamily="18" charset="0"/>
              </a:rPr>
              <a:t>2</a:t>
            </a:r>
            <a:r>
              <a:rPr lang="en-US" sz="4000" i="0" dirty="0">
                <a:solidFill>
                  <a:srgbClr val="000000"/>
                </a:solidFill>
                <a:effectLst/>
                <a:latin typeface="Times New Roman" panose="02020603050405020304" pitchFamily="18" charset="0"/>
              </a:rPr>
              <a:t>, Tia Tropea</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Daniel Sazhin</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Rita Ludwig</a:t>
            </a:r>
            <a:r>
              <a:rPr lang="en-US" sz="4000" i="0" baseline="30000" dirty="0">
                <a:solidFill>
                  <a:srgbClr val="000000"/>
                </a:solidFill>
                <a:effectLst/>
                <a:latin typeface="Times New Roman" panose="02020603050405020304" pitchFamily="18" charset="0"/>
              </a:rPr>
              <a:t>2</a:t>
            </a:r>
            <a:r>
              <a:rPr lang="en-US" sz="4000" i="0" dirty="0">
                <a:solidFill>
                  <a:srgbClr val="000000"/>
                </a:solidFill>
                <a:effectLst/>
                <a:latin typeface="Times New Roman" panose="02020603050405020304" pitchFamily="18" charset="0"/>
              </a:rPr>
              <a:t>, Tania Giovannetti</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Dominic S. Fareri</a:t>
            </a:r>
            <a:r>
              <a:rPr lang="en-US" sz="4000" baseline="30000" dirty="0">
                <a:solidFill>
                  <a:srgbClr val="000000"/>
                </a:solidFill>
                <a:latin typeface="Times New Roman" panose="02020603050405020304" pitchFamily="18" charset="0"/>
              </a:rPr>
              <a:t>3</a:t>
            </a:r>
            <a:r>
              <a:rPr lang="en-US" sz="4000" i="0" dirty="0">
                <a:solidFill>
                  <a:srgbClr val="000000"/>
                </a:solidFill>
                <a:effectLst/>
                <a:latin typeface="Times New Roman" panose="02020603050405020304" pitchFamily="18" charset="0"/>
              </a:rPr>
              <a:t>, David V. Smith</a:t>
            </a:r>
            <a:r>
              <a:rPr lang="en-US" sz="4000" i="0" baseline="30000" dirty="0">
                <a:solidFill>
                  <a:srgbClr val="000000"/>
                </a:solidFill>
                <a:effectLst/>
                <a:latin typeface="Times New Roman" panose="02020603050405020304" pitchFamily="18" charset="0"/>
              </a:rPr>
              <a:t>1</a:t>
            </a:r>
            <a:r>
              <a:rPr lang="en-US" sz="4000" i="0" dirty="0">
                <a:solidFill>
                  <a:srgbClr val="000000"/>
                </a:solidFill>
                <a:effectLst/>
                <a:latin typeface="Times New Roman" panose="02020603050405020304" pitchFamily="18" charset="0"/>
              </a:rPr>
              <a:t> </a:t>
            </a:r>
            <a:br>
              <a:rPr lang="en-US" sz="4000" dirty="0">
                <a:cs typeface="Helvetica" panose="020B0604020202020204" pitchFamily="34" charset="0"/>
              </a:rPr>
            </a:br>
            <a:endParaRPr lang="en-US" altLang="en-US" sz="4000" dirty="0">
              <a:cs typeface="Helvetica" panose="020B0604020202020204" pitchFamily="34" charset="0"/>
            </a:endParaRPr>
          </a:p>
        </p:txBody>
      </p:sp>
      <p:sp>
        <p:nvSpPr>
          <p:cNvPr id="15371" name="TextBox 15370"/>
          <p:cNvSpPr txBox="1"/>
          <p:nvPr/>
        </p:nvSpPr>
        <p:spPr>
          <a:xfrm>
            <a:off x="3880763" y="50008"/>
            <a:ext cx="36129673" cy="1669368"/>
          </a:xfrm>
          <a:prstGeom prst="rect">
            <a:avLst/>
          </a:prstGeom>
          <a:noFill/>
        </p:spPr>
        <p:txBody>
          <a:bodyPr wrap="square" lIns="91440" tIns="45720" rIns="91440" bIns="45720" rtlCol="0" anchor="t">
            <a:spAutoFit/>
          </a:bodyPr>
          <a:lstStyle/>
          <a:p>
            <a:pPr algn="ctr">
              <a:lnSpc>
                <a:spcPct val="107000"/>
              </a:lnSpc>
              <a:spcBef>
                <a:spcPts val="0"/>
              </a:spcBef>
              <a:spcAft>
                <a:spcPts val="800"/>
              </a:spcAft>
            </a:pPr>
            <a:r>
              <a:rPr lang="en-US" sz="10000" b="1" i="0" dirty="0">
                <a:solidFill>
                  <a:srgbClr val="000000"/>
                </a:solidFill>
                <a:effectLst/>
                <a:latin typeface="Times New Roman" panose="02020603050405020304" pitchFamily="18" charset="0"/>
              </a:rPr>
              <a:t>Examining Age-Related Differences in Neural Responses to Trust</a:t>
            </a:r>
            <a:endParaRPr lang="en-US" sz="10000" dirty="0">
              <a:effectLst/>
              <a:latin typeface="Helvetica"/>
              <a:ea typeface="Calibri" panose="020F0502020204030204" pitchFamily="34" charset="0"/>
              <a:cs typeface="Helvetica"/>
            </a:endParaRPr>
          </a:p>
        </p:txBody>
      </p:sp>
      <p:sp>
        <p:nvSpPr>
          <p:cNvPr id="15364" name="TextBox 4"/>
          <p:cNvSpPr txBox="1">
            <a:spLocks noChangeArrowheads="1"/>
          </p:cNvSpPr>
          <p:nvPr/>
        </p:nvSpPr>
        <p:spPr bwMode="auto">
          <a:xfrm>
            <a:off x="5483063" y="12207796"/>
            <a:ext cx="4095681"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2. Methods</a:t>
            </a:r>
          </a:p>
        </p:txBody>
      </p:sp>
      <p:sp>
        <p:nvSpPr>
          <p:cNvPr id="15366" name="TextBox 86"/>
          <p:cNvSpPr txBox="1">
            <a:spLocks noChangeArrowheads="1"/>
          </p:cNvSpPr>
          <p:nvPr/>
        </p:nvSpPr>
        <p:spPr bwMode="auto">
          <a:xfrm>
            <a:off x="15671037" y="3834958"/>
            <a:ext cx="14465760"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3. Subjects Are Closer With Friends than With Strangers</a:t>
            </a:r>
          </a:p>
        </p:txBody>
      </p:sp>
      <p:sp>
        <p:nvSpPr>
          <p:cNvPr id="83" name="Rectangle 82">
            <a:extLst>
              <a:ext uri="{FF2B5EF4-FFF2-40B4-BE49-F238E27FC236}">
                <a16:creationId xmlns:a16="http://schemas.microsoft.com/office/drawing/2014/main" id="{AF629186-1EF0-4042-8881-0E3C5287458A}"/>
              </a:ext>
            </a:extLst>
          </p:cNvPr>
          <p:cNvSpPr/>
          <p:nvPr/>
        </p:nvSpPr>
        <p:spPr>
          <a:xfrm>
            <a:off x="15599737" y="31508836"/>
            <a:ext cx="14699076" cy="1077218"/>
          </a:xfrm>
          <a:prstGeom prst="rect">
            <a:avLst/>
          </a:prstGeom>
        </p:spPr>
        <p:txBody>
          <a:bodyPr wrap="square" lIns="91440" tIns="45720" rIns="91440" bIns="45720" anchor="t">
            <a:spAutoFit/>
          </a:bodyPr>
          <a:lstStyle/>
          <a:p>
            <a:pPr algn="ctr"/>
            <a:r>
              <a:rPr lang="en-US" sz="3200" dirty="0">
                <a:ea typeface="MS PGothic"/>
                <a:cs typeface="Helvetica"/>
              </a:rPr>
              <a:t>We found that a higher difference in closeness ratings between friends and strangers was associated with an increase in ACC activation</a:t>
            </a:r>
          </a:p>
        </p:txBody>
      </p:sp>
      <p:sp>
        <p:nvSpPr>
          <p:cNvPr id="59" name="Rectangle 162"/>
          <p:cNvSpPr>
            <a:spLocks noChangeArrowheads="1"/>
          </p:cNvSpPr>
          <p:nvPr/>
        </p:nvSpPr>
        <p:spPr bwMode="auto">
          <a:xfrm>
            <a:off x="15470884" y="23615697"/>
            <a:ext cx="14827930" cy="9081591"/>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u="sng">
              <a:latin typeface="Trebuchet MS" panose="020B0603020202020204" pitchFamily="34" charset="0"/>
            </a:endParaRPr>
          </a:p>
        </p:txBody>
      </p:sp>
      <p:sp>
        <p:nvSpPr>
          <p:cNvPr id="69" name="TextBox 86">
            <a:extLst>
              <a:ext uri="{FF2B5EF4-FFF2-40B4-BE49-F238E27FC236}">
                <a16:creationId xmlns:a16="http://schemas.microsoft.com/office/drawing/2014/main" id="{339DA1BB-33FF-4114-BF82-410123DBAF36}"/>
              </a:ext>
            </a:extLst>
          </p:cNvPr>
          <p:cNvSpPr txBox="1">
            <a:spLocks noChangeArrowheads="1"/>
          </p:cNvSpPr>
          <p:nvPr/>
        </p:nvSpPr>
        <p:spPr bwMode="auto">
          <a:xfrm>
            <a:off x="16115146" y="23250026"/>
            <a:ext cx="13562675" cy="1400383"/>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5. Neural Activation in the Anterior Cingulate Cortex (ACC) is Associated with IOS Scores</a:t>
            </a:r>
          </a:p>
        </p:txBody>
      </p:sp>
      <p:sp>
        <p:nvSpPr>
          <p:cNvPr id="13" name="TextBox 12">
            <a:extLst>
              <a:ext uri="{FF2B5EF4-FFF2-40B4-BE49-F238E27FC236}">
                <a16:creationId xmlns:a16="http://schemas.microsoft.com/office/drawing/2014/main" id="{52042A99-5FFC-0E4E-8C20-72304DDA44FF}"/>
              </a:ext>
            </a:extLst>
          </p:cNvPr>
          <p:cNvSpPr txBox="1"/>
          <p:nvPr/>
        </p:nvSpPr>
        <p:spPr>
          <a:xfrm>
            <a:off x="631650" y="13229302"/>
            <a:ext cx="14016335" cy="1569660"/>
          </a:xfrm>
          <a:prstGeom prst="rect">
            <a:avLst/>
          </a:prstGeom>
          <a:noFill/>
        </p:spPr>
        <p:txBody>
          <a:bodyPr wrap="square" rtlCol="0">
            <a:spAutoFit/>
          </a:bodyPr>
          <a:lstStyle/>
          <a:p>
            <a:pPr algn="ctr"/>
            <a:r>
              <a:rPr lang="en-US" sz="3200" i="1" dirty="0"/>
              <a:t>The Ultimatum (UG) and Dictator (DG) Games were used to assess neural and behavioral responses to perceived fairness. We defined strategic behavior as the difference in offers (high vs. low) in the proposer conditions.</a:t>
            </a:r>
          </a:p>
        </p:txBody>
      </p:sp>
      <p:sp>
        <p:nvSpPr>
          <p:cNvPr id="45" name="Rectangle 162">
            <a:extLst>
              <a:ext uri="{FF2B5EF4-FFF2-40B4-BE49-F238E27FC236}">
                <a16:creationId xmlns:a16="http://schemas.microsoft.com/office/drawing/2014/main" id="{FA585F15-03D7-754B-AA26-E340A32F9A67}"/>
              </a:ext>
            </a:extLst>
          </p:cNvPr>
          <p:cNvSpPr>
            <a:spLocks noChangeArrowheads="1"/>
          </p:cNvSpPr>
          <p:nvPr/>
        </p:nvSpPr>
        <p:spPr bwMode="auto">
          <a:xfrm>
            <a:off x="30653599" y="4250489"/>
            <a:ext cx="12957755" cy="10032177"/>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55" name="TextBox 86">
            <a:extLst>
              <a:ext uri="{FF2B5EF4-FFF2-40B4-BE49-F238E27FC236}">
                <a16:creationId xmlns:a16="http://schemas.microsoft.com/office/drawing/2014/main" id="{1CF89B97-C9DF-F948-91B0-4A8F54D0C0E5}"/>
              </a:ext>
            </a:extLst>
          </p:cNvPr>
          <p:cNvSpPr txBox="1">
            <a:spLocks noChangeArrowheads="1"/>
          </p:cNvSpPr>
          <p:nvPr/>
        </p:nvSpPr>
        <p:spPr bwMode="auto">
          <a:xfrm>
            <a:off x="31681341" y="3949848"/>
            <a:ext cx="10791668" cy="1400383"/>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6. Age Related Increase in Precuneus Activation </a:t>
            </a:r>
            <a:endParaRPr lang="en-US" altLang="en-US" sz="4250" b="1" dirty="0">
              <a:solidFill>
                <a:srgbClr val="C00000"/>
              </a:solidFill>
              <a:latin typeface="Trebuchet MS"/>
            </a:endParaRPr>
          </a:p>
        </p:txBody>
      </p:sp>
      <p:sp>
        <p:nvSpPr>
          <p:cNvPr id="68" name="Rectangle 162">
            <a:extLst>
              <a:ext uri="{FF2B5EF4-FFF2-40B4-BE49-F238E27FC236}">
                <a16:creationId xmlns:a16="http://schemas.microsoft.com/office/drawing/2014/main" id="{CA8DA663-8989-0040-A19E-2D41018BB05F}"/>
              </a:ext>
            </a:extLst>
          </p:cNvPr>
          <p:cNvSpPr>
            <a:spLocks noChangeArrowheads="1"/>
          </p:cNvSpPr>
          <p:nvPr/>
        </p:nvSpPr>
        <p:spPr bwMode="auto">
          <a:xfrm>
            <a:off x="15470883" y="14071787"/>
            <a:ext cx="14827930" cy="9126039"/>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70" name="TextBox 86">
            <a:extLst>
              <a:ext uri="{FF2B5EF4-FFF2-40B4-BE49-F238E27FC236}">
                <a16:creationId xmlns:a16="http://schemas.microsoft.com/office/drawing/2014/main" id="{ED758D76-DD2F-7D44-83F3-6BA6250C10E5}"/>
              </a:ext>
            </a:extLst>
          </p:cNvPr>
          <p:cNvSpPr txBox="1">
            <a:spLocks noChangeArrowheads="1"/>
          </p:cNvSpPr>
          <p:nvPr/>
        </p:nvSpPr>
        <p:spPr bwMode="auto">
          <a:xfrm>
            <a:off x="17842418" y="13831228"/>
            <a:ext cx="10223153" cy="746358"/>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50" b="1" dirty="0">
                <a:solidFill>
                  <a:srgbClr val="C00000"/>
                </a:solidFill>
                <a:latin typeface="Trebuchet MS"/>
                <a:ea typeface="MS PGothic"/>
              </a:rPr>
              <a:t>4. Activation during Outcome Phase</a:t>
            </a:r>
            <a:endParaRPr lang="en-US" altLang="en-US" sz="4267" b="1" dirty="0">
              <a:solidFill>
                <a:srgbClr val="C00000"/>
              </a:solidFill>
              <a:latin typeface="Trebuchet MS" panose="020B0603020202020204" pitchFamily="34" charset="0"/>
            </a:endParaRPr>
          </a:p>
        </p:txBody>
      </p:sp>
      <p:sp>
        <p:nvSpPr>
          <p:cNvPr id="26" name="Rectangle 25">
            <a:extLst>
              <a:ext uri="{FF2B5EF4-FFF2-40B4-BE49-F238E27FC236}">
                <a16:creationId xmlns:a16="http://schemas.microsoft.com/office/drawing/2014/main" id="{A472AF7A-C3B6-5B44-9093-FB3FB96D32E8}"/>
              </a:ext>
            </a:extLst>
          </p:cNvPr>
          <p:cNvSpPr/>
          <p:nvPr/>
        </p:nvSpPr>
        <p:spPr>
          <a:xfrm>
            <a:off x="15724394" y="14746184"/>
            <a:ext cx="14650695" cy="584775"/>
          </a:xfrm>
          <a:prstGeom prst="rect">
            <a:avLst/>
          </a:prstGeom>
        </p:spPr>
        <p:txBody>
          <a:bodyPr wrap="square" lIns="91440" tIns="45720" rIns="91440" bIns="45720" anchor="t">
            <a:spAutoFit/>
          </a:bodyPr>
          <a:lstStyle/>
          <a:p>
            <a:pPr>
              <a:spcBef>
                <a:spcPts val="0"/>
              </a:spcBef>
              <a:spcAft>
                <a:spcPts val="1200"/>
              </a:spcAft>
            </a:pPr>
            <a:r>
              <a:rPr lang="en-US" sz="3200" i="1" dirty="0">
                <a:latin typeface="Helvetica"/>
                <a:ea typeface="MS PGothic"/>
                <a:cs typeface="Helvetica"/>
              </a:rPr>
              <a:t>We found Ventral Striatum (VS) activation for Reciprocate &gt; Defect outcomes</a:t>
            </a:r>
            <a:endParaRPr lang="en-US" sz="3200" i="1" dirty="0">
              <a:cs typeface="Helvetica" panose="020B0604020202020204" pitchFamily="34" charset="0"/>
            </a:endParaRPr>
          </a:p>
        </p:txBody>
      </p:sp>
      <p:sp>
        <p:nvSpPr>
          <p:cNvPr id="56" name="TextBox 55">
            <a:extLst>
              <a:ext uri="{FF2B5EF4-FFF2-40B4-BE49-F238E27FC236}">
                <a16:creationId xmlns:a16="http://schemas.microsoft.com/office/drawing/2014/main" id="{4CFFF830-B4D0-45F1-9D03-A4780549AB6A}"/>
              </a:ext>
            </a:extLst>
          </p:cNvPr>
          <p:cNvSpPr txBox="1"/>
          <p:nvPr/>
        </p:nvSpPr>
        <p:spPr>
          <a:xfrm>
            <a:off x="15599737" y="21846431"/>
            <a:ext cx="14650695" cy="1077218"/>
          </a:xfrm>
          <a:prstGeom prst="rect">
            <a:avLst/>
          </a:prstGeom>
          <a:noFill/>
        </p:spPr>
        <p:txBody>
          <a:bodyPr wrap="square" lIns="91440" tIns="45720" rIns="91440" bIns="45720" anchor="t">
            <a:spAutoFit/>
          </a:bodyPr>
          <a:lstStyle/>
          <a:p>
            <a:pPr algn="ctr"/>
            <a:r>
              <a:rPr lang="en-US" altLang="en-US" sz="3200" dirty="0">
                <a:latin typeface="Helvetica"/>
                <a:ea typeface="MS PGothic"/>
              </a:rPr>
              <a:t>We found increasing activation in the VS when participants were presented with a reciprocate outcome as opposed to a defect outcome.</a:t>
            </a:r>
          </a:p>
        </p:txBody>
      </p:sp>
      <p:sp>
        <p:nvSpPr>
          <p:cNvPr id="88" name="TextBox 87">
            <a:extLst>
              <a:ext uri="{FF2B5EF4-FFF2-40B4-BE49-F238E27FC236}">
                <a16:creationId xmlns:a16="http://schemas.microsoft.com/office/drawing/2014/main" id="{D0D1788F-40E9-4B4B-8F80-BF8EDB08248D}"/>
              </a:ext>
            </a:extLst>
          </p:cNvPr>
          <p:cNvSpPr txBox="1"/>
          <p:nvPr/>
        </p:nvSpPr>
        <p:spPr>
          <a:xfrm>
            <a:off x="10972800" y="3193375"/>
            <a:ext cx="21945600" cy="523220"/>
          </a:xfrm>
          <a:prstGeom prst="rect">
            <a:avLst/>
          </a:prstGeom>
          <a:noFill/>
        </p:spPr>
        <p:txBody>
          <a:bodyPr wrap="square">
            <a:spAutoFit/>
          </a:bodyPr>
          <a:lstStyle/>
          <a:p>
            <a:pPr algn="ctr"/>
            <a:r>
              <a:rPr lang="en-US" sz="2800" b="0" i="0" u="none" strike="noStrike" dirty="0">
                <a:solidFill>
                  <a:srgbClr val="000000"/>
                </a:solidFill>
                <a:effectLst/>
                <a:cs typeface="Helvetica" panose="020B0604020202020204" pitchFamily="34" charset="0"/>
              </a:rPr>
              <a:t>1. Temple University, Philadelphia, PA; 2. University of Pennsylvania, Philadelphia, PA; 3. Adelphi University, Garden City, NY</a:t>
            </a:r>
            <a:endParaRPr lang="en-US" sz="2800" dirty="0">
              <a:cs typeface="Helvetica" panose="020B0604020202020204" pitchFamily="34" charset="0"/>
            </a:endParaRPr>
          </a:p>
        </p:txBody>
      </p:sp>
      <p:grpSp>
        <p:nvGrpSpPr>
          <p:cNvPr id="15525" name="Group 15524">
            <a:extLst>
              <a:ext uri="{FF2B5EF4-FFF2-40B4-BE49-F238E27FC236}">
                <a16:creationId xmlns:a16="http://schemas.microsoft.com/office/drawing/2014/main" id="{495044C5-5185-1E74-1C51-F36E8CA64CBA}"/>
              </a:ext>
            </a:extLst>
          </p:cNvPr>
          <p:cNvGrpSpPr/>
          <p:nvPr/>
        </p:nvGrpSpPr>
        <p:grpSpPr>
          <a:xfrm>
            <a:off x="169367" y="3967558"/>
            <a:ext cx="14831195" cy="8123743"/>
            <a:chOff x="211346" y="3968278"/>
            <a:chExt cx="14831195" cy="8123743"/>
          </a:xfrm>
        </p:grpSpPr>
        <p:sp>
          <p:nvSpPr>
            <p:cNvPr id="15362" name="TextBox 189"/>
            <p:cNvSpPr txBox="1">
              <a:spLocks noChangeArrowheads="1"/>
            </p:cNvSpPr>
            <p:nvPr/>
          </p:nvSpPr>
          <p:spPr bwMode="auto">
            <a:xfrm>
              <a:off x="515553" y="4761579"/>
              <a:ext cx="14526988" cy="50167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spcBef>
                  <a:spcPts val="0"/>
                </a:spcBef>
                <a:spcAft>
                  <a:spcPts val="0"/>
                </a:spcAft>
                <a:buFont typeface="Arial" panose="020B0604020202020204" pitchFamily="34" charset="0"/>
                <a:buChar char="•"/>
              </a:pPr>
              <a:r>
                <a:rPr lang="en-US" sz="4000" dirty="0">
                  <a:latin typeface="Helvetica"/>
                  <a:ea typeface="MS PGothic"/>
                  <a:cs typeface="Helvetica"/>
                </a:rPr>
                <a:t> </a:t>
              </a:r>
              <a:r>
                <a:rPr lang="en-US" sz="4000" b="0" i="0" dirty="0">
                  <a:solidFill>
                    <a:srgbClr val="000000"/>
                  </a:solidFill>
                  <a:effectLst/>
                  <a:latin typeface="Helvetica" pitchFamily="2" charset="0"/>
                </a:rPr>
                <a:t>Social relationships influence our behaviors and may modulate our neural responses to reward. (</a:t>
              </a:r>
              <a:r>
                <a:rPr lang="en-US" sz="4000" b="0" i="0" dirty="0" err="1">
                  <a:solidFill>
                    <a:srgbClr val="000000"/>
                  </a:solidFill>
                  <a:effectLst/>
                  <a:latin typeface="Helvetica" pitchFamily="2" charset="0"/>
                </a:rPr>
                <a:t>Fareri</a:t>
              </a:r>
              <a:r>
                <a:rPr lang="en-US" sz="4000" b="0" i="0" dirty="0">
                  <a:solidFill>
                    <a:srgbClr val="000000"/>
                  </a:solidFill>
                  <a:effectLst/>
                  <a:latin typeface="Helvetica" pitchFamily="2" charset="0"/>
                </a:rPr>
                <a:t> et al., 2015)</a:t>
              </a:r>
              <a:endParaRPr lang="en-US" sz="4000" dirty="0">
                <a:latin typeface="Helvetica" pitchFamily="2" charset="0"/>
                <a:ea typeface="MS PGothic"/>
                <a:cs typeface="Helvetica"/>
              </a:endParaRPr>
            </a:p>
            <a:p>
              <a:pPr>
                <a:spcBef>
                  <a:spcPts val="0"/>
                </a:spcBef>
                <a:spcAft>
                  <a:spcPts val="0"/>
                </a:spcAft>
                <a:buFont typeface="Arial" panose="020B0604020202020204" pitchFamily="34" charset="0"/>
                <a:buChar char="•"/>
              </a:pPr>
              <a:r>
                <a:rPr lang="en-US" sz="4000" dirty="0">
                  <a:latin typeface="Helvetica"/>
                  <a:ea typeface="MS PGothic"/>
                  <a:cs typeface="Helvetica"/>
                </a:rPr>
                <a:t> </a:t>
              </a:r>
              <a:r>
                <a:rPr lang="en-US" sz="4000" dirty="0">
                  <a:solidFill>
                    <a:srgbClr val="000000"/>
                  </a:solidFill>
                  <a:latin typeface="Helvetica" pitchFamily="2" charset="0"/>
                  <a:ea typeface="MS PGothic"/>
                  <a:cs typeface="Helvetica"/>
                </a:rPr>
                <a:t>Th</a:t>
              </a:r>
              <a:r>
                <a:rPr lang="en-US" sz="4000" b="0" i="0" dirty="0">
                  <a:solidFill>
                    <a:srgbClr val="000000"/>
                  </a:solidFill>
                  <a:effectLst/>
                  <a:latin typeface="Helvetica" pitchFamily="2" charset="0"/>
                </a:rPr>
                <a:t>e effect of relationships on behavior and reward activation may change as we age. (</a:t>
              </a:r>
              <a:r>
                <a:rPr lang="en-US" sz="4000" b="0" i="0" dirty="0" err="1">
                  <a:solidFill>
                    <a:srgbClr val="000000"/>
                  </a:solidFill>
                  <a:effectLst/>
                  <a:latin typeface="Helvetica" pitchFamily="2" charset="0"/>
                </a:rPr>
                <a:t>Fareri</a:t>
              </a:r>
              <a:r>
                <a:rPr lang="en-US" sz="4000" b="0" i="0" dirty="0">
                  <a:solidFill>
                    <a:srgbClr val="000000"/>
                  </a:solidFill>
                  <a:effectLst/>
                  <a:latin typeface="Helvetica" pitchFamily="2" charset="0"/>
                </a:rPr>
                <a:t> et al., 2022)</a:t>
              </a:r>
            </a:p>
            <a:p>
              <a:pPr>
                <a:spcBef>
                  <a:spcPts val="0"/>
                </a:spcBef>
                <a:spcAft>
                  <a:spcPts val="0"/>
                </a:spcAft>
              </a:pPr>
              <a:endParaRPr lang="en-US" sz="4000" dirty="0">
                <a:latin typeface="Helvetica" pitchFamily="2" charset="0"/>
                <a:ea typeface="MS PGothic"/>
                <a:cs typeface="Helvetica"/>
              </a:endParaRPr>
            </a:p>
            <a:p>
              <a:pPr>
                <a:spcBef>
                  <a:spcPts val="0"/>
                </a:spcBef>
                <a:spcAft>
                  <a:spcPts val="0"/>
                </a:spcAft>
              </a:pPr>
              <a:r>
                <a:rPr lang="en-US" sz="4000" b="0" i="1" dirty="0">
                  <a:solidFill>
                    <a:srgbClr val="000000"/>
                  </a:solidFill>
                  <a:effectLst/>
                  <a:latin typeface="Helvetica" pitchFamily="2" charset="0"/>
                </a:rPr>
                <a:t>It remains unclear whether age-related differences in responses to trust are associated with maladaptive outcomes such as financial exploitation.</a:t>
              </a:r>
              <a:endParaRPr lang="en-US" sz="4000" i="1" dirty="0">
                <a:latin typeface="Helvetica" pitchFamily="2" charset="0"/>
                <a:ea typeface="MS PGothic"/>
                <a:cs typeface="Helvetica"/>
              </a:endParaRPr>
            </a:p>
          </p:txBody>
        </p:sp>
        <p:sp>
          <p:nvSpPr>
            <p:cNvPr id="15369" name="Rectangle 162"/>
            <p:cNvSpPr>
              <a:spLocks noChangeArrowheads="1"/>
            </p:cNvSpPr>
            <p:nvPr/>
          </p:nvSpPr>
          <p:spPr bwMode="auto">
            <a:xfrm>
              <a:off x="211346" y="4331110"/>
              <a:ext cx="14720168" cy="7760911"/>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dirty="0">
                <a:latin typeface="Trebuchet MS" panose="020B0603020202020204" pitchFamily="34" charset="0"/>
              </a:endParaRPr>
            </a:p>
          </p:txBody>
        </p:sp>
        <p:sp>
          <p:nvSpPr>
            <p:cNvPr id="15361" name="Rectangle 200"/>
            <p:cNvSpPr>
              <a:spLocks noChangeArrowheads="1"/>
            </p:cNvSpPr>
            <p:nvPr/>
          </p:nvSpPr>
          <p:spPr bwMode="auto">
            <a:xfrm>
              <a:off x="4858205" y="3968278"/>
              <a:ext cx="4805795" cy="738724"/>
            </a:xfrm>
            <a:prstGeom prst="rect">
              <a:avLst/>
            </a:prstGeom>
            <a:solidFill>
              <a:schemeClr val="bg1"/>
            </a:solidFill>
            <a:ln>
              <a:noFill/>
            </a:ln>
          </p:spPr>
          <p:txBody>
            <a:bodyPr wrap="square" lIns="81274" tIns="40638" rIns="81274" bIns="40638">
              <a:spAutoFit/>
            </a:bodyPr>
            <a:lstStyle>
              <a:lvl1pPr defTabSz="5119688">
                <a:defRPr sz="2400">
                  <a:solidFill>
                    <a:schemeClr val="tx1"/>
                  </a:solidFill>
                  <a:latin typeface="Helvetica" panose="020B0604020202020204" pitchFamily="34" charset="0"/>
                  <a:ea typeface="MS PGothic" panose="020B0600070205080204" pitchFamily="34" charset="-128"/>
                </a:defRPr>
              </a:lvl1pPr>
              <a:lvl2pPr marL="742950" indent="-285750" defTabSz="5119688">
                <a:defRPr sz="2400">
                  <a:solidFill>
                    <a:schemeClr val="tx1"/>
                  </a:solidFill>
                  <a:latin typeface="Helvetica" panose="020B0604020202020204" pitchFamily="34" charset="0"/>
                  <a:ea typeface="MS PGothic" panose="020B0600070205080204" pitchFamily="34" charset="-128"/>
                </a:defRPr>
              </a:lvl2pPr>
              <a:lvl3pPr marL="1143000" indent="-228600" defTabSz="5119688">
                <a:defRPr sz="2400">
                  <a:solidFill>
                    <a:schemeClr val="tx1"/>
                  </a:solidFill>
                  <a:latin typeface="Helvetica" panose="020B0604020202020204" pitchFamily="34" charset="0"/>
                  <a:ea typeface="MS PGothic" panose="020B0600070205080204" pitchFamily="34" charset="-128"/>
                </a:defRPr>
              </a:lvl3pPr>
              <a:lvl4pPr marL="1600200" indent="-228600" defTabSz="5119688">
                <a:defRPr sz="2400">
                  <a:solidFill>
                    <a:schemeClr val="tx1"/>
                  </a:solidFill>
                  <a:latin typeface="Helvetica" panose="020B0604020202020204" pitchFamily="34" charset="0"/>
                  <a:ea typeface="MS PGothic" panose="020B0600070205080204" pitchFamily="34" charset="-128"/>
                </a:defRPr>
              </a:lvl4pPr>
              <a:lvl5pPr marL="2057400" indent="-228600" defTabSz="5119688">
                <a:defRPr sz="2400">
                  <a:solidFill>
                    <a:schemeClr val="tx1"/>
                  </a:solidFill>
                  <a:latin typeface="Helvetica" panose="020B0604020202020204" pitchFamily="34" charset="0"/>
                  <a:ea typeface="MS PGothic" panose="020B0600070205080204" pitchFamily="34" charset="-128"/>
                </a:defRPr>
              </a:lvl5pPr>
              <a:lvl6pPr marL="25146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defTabSz="5119688"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spcBef>
                  <a:spcPct val="50000"/>
                </a:spcBef>
              </a:pPr>
              <a:r>
                <a:rPr lang="en-US" altLang="en-US" sz="4267" b="1" dirty="0">
                  <a:solidFill>
                    <a:srgbClr val="C00000"/>
                  </a:solidFill>
                  <a:latin typeface="Trebuchet MS" panose="020B0603020202020204" pitchFamily="34" charset="0"/>
                </a:rPr>
                <a:t>1. Introduction</a:t>
              </a:r>
            </a:p>
          </p:txBody>
        </p:sp>
        <p:sp>
          <p:nvSpPr>
            <p:cNvPr id="66" name="TextBox 65">
              <a:extLst>
                <a:ext uri="{FF2B5EF4-FFF2-40B4-BE49-F238E27FC236}">
                  <a16:creationId xmlns:a16="http://schemas.microsoft.com/office/drawing/2014/main" id="{828EF0BF-392F-46C6-BF23-BF99B2CEA917}"/>
                </a:ext>
              </a:extLst>
            </p:cNvPr>
            <p:cNvSpPr txBox="1"/>
            <p:nvPr/>
          </p:nvSpPr>
          <p:spPr>
            <a:xfrm>
              <a:off x="333765" y="9945451"/>
              <a:ext cx="14639262" cy="2031325"/>
            </a:xfrm>
            <a:prstGeom prst="rect">
              <a:avLst/>
            </a:prstGeom>
            <a:noFill/>
          </p:spPr>
          <p:txBody>
            <a:bodyPr wrap="square" lIns="91440" tIns="45720" rIns="91440" bIns="45720" anchor="t">
              <a:spAutoFit/>
            </a:bodyPr>
            <a:lstStyle/>
            <a:p>
              <a:pPr algn="ctr">
                <a:spcBef>
                  <a:spcPts val="360"/>
                </a:spcBef>
                <a:spcAft>
                  <a:spcPts val="0"/>
                </a:spcAft>
              </a:pPr>
              <a:r>
                <a:rPr lang="en-US" sz="4200" b="1" dirty="0">
                  <a:latin typeface="Helvetica"/>
                  <a:ea typeface="MS PGothic"/>
                  <a:cs typeface="Helvetica"/>
                </a:rPr>
                <a:t>We</a:t>
              </a:r>
              <a:r>
                <a:rPr lang="en-US" sz="4200" b="1" i="0" u="none" strike="noStrike" dirty="0">
                  <a:effectLst/>
                  <a:latin typeface="Helvetica"/>
                  <a:ea typeface="MS PGothic"/>
                  <a:cs typeface="Helvetica"/>
                </a:rPr>
                <a:t> investigated </a:t>
              </a:r>
              <a:r>
                <a:rPr lang="en-US" sz="4200" b="1" dirty="0">
                  <a:latin typeface="Helvetica"/>
                  <a:ea typeface="MS PGothic"/>
                  <a:cs typeface="Helvetica"/>
                </a:rPr>
                <a:t>whether social trust decisions change as we age, and how those changes could be related to financial exploitation.</a:t>
              </a:r>
              <a:endParaRPr lang="en-US" sz="4200" b="1" dirty="0">
                <a:cs typeface="Helvetica"/>
              </a:endParaRPr>
            </a:p>
          </p:txBody>
        </p:sp>
      </p:grpSp>
      <p:grpSp>
        <p:nvGrpSpPr>
          <p:cNvPr id="15503" name="Group 15502">
            <a:extLst>
              <a:ext uri="{FF2B5EF4-FFF2-40B4-BE49-F238E27FC236}">
                <a16:creationId xmlns:a16="http://schemas.microsoft.com/office/drawing/2014/main" id="{5FCA49CE-81E7-6F59-66DA-CE0C5F49E6D0}"/>
              </a:ext>
            </a:extLst>
          </p:cNvPr>
          <p:cNvGrpSpPr/>
          <p:nvPr/>
        </p:nvGrpSpPr>
        <p:grpSpPr>
          <a:xfrm>
            <a:off x="23573171" y="24842403"/>
            <a:ext cx="6457795" cy="5596080"/>
            <a:chOff x="23380200" y="25326205"/>
            <a:chExt cx="6457795" cy="5596080"/>
          </a:xfrm>
        </p:grpSpPr>
        <p:pic>
          <p:nvPicPr>
            <p:cNvPr id="15424" name="Picture 15423" descr="A close-up of a brain&#10;&#10;Description automatically generated">
              <a:extLst>
                <a:ext uri="{FF2B5EF4-FFF2-40B4-BE49-F238E27FC236}">
                  <a16:creationId xmlns:a16="http://schemas.microsoft.com/office/drawing/2014/main" id="{CC6419D2-DC29-B910-B6FA-A6DAC7775A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380200" y="25326205"/>
              <a:ext cx="6457795" cy="5596080"/>
            </a:xfrm>
            <a:prstGeom prst="rect">
              <a:avLst/>
            </a:prstGeom>
          </p:spPr>
        </p:pic>
        <p:sp>
          <p:nvSpPr>
            <p:cNvPr id="80" name="TextBox 79">
              <a:extLst>
                <a:ext uri="{FF2B5EF4-FFF2-40B4-BE49-F238E27FC236}">
                  <a16:creationId xmlns:a16="http://schemas.microsoft.com/office/drawing/2014/main" id="{FD72DC14-1E2D-4557-BD08-7DD34FFE9083}"/>
                </a:ext>
              </a:extLst>
            </p:cNvPr>
            <p:cNvSpPr txBox="1"/>
            <p:nvPr/>
          </p:nvSpPr>
          <p:spPr>
            <a:xfrm>
              <a:off x="26561482" y="29968178"/>
              <a:ext cx="2664868" cy="523220"/>
            </a:xfrm>
            <a:prstGeom prst="rect">
              <a:avLst/>
            </a:prstGeom>
            <a:noFill/>
          </p:spPr>
          <p:txBody>
            <a:bodyPr wrap="square" lIns="91440" tIns="45720" rIns="91440" bIns="45720" anchor="t">
              <a:spAutoFit/>
            </a:bodyPr>
            <a:lstStyle/>
            <a:p>
              <a:pPr algn="ctr"/>
              <a:r>
                <a:rPr lang="en-US" sz="2800" dirty="0">
                  <a:latin typeface="Helvetica"/>
                  <a:ea typeface="MS PGothic"/>
                </a:rPr>
                <a:t>X=5</a:t>
              </a:r>
            </a:p>
          </p:txBody>
        </p:sp>
      </p:grpSp>
      <p:grpSp>
        <p:nvGrpSpPr>
          <p:cNvPr id="15402" name="Group 15401">
            <a:extLst>
              <a:ext uri="{FF2B5EF4-FFF2-40B4-BE49-F238E27FC236}">
                <a16:creationId xmlns:a16="http://schemas.microsoft.com/office/drawing/2014/main" id="{4E348B4E-8C13-0FE0-DCD0-FB762FA1FDBA}"/>
              </a:ext>
            </a:extLst>
          </p:cNvPr>
          <p:cNvGrpSpPr/>
          <p:nvPr/>
        </p:nvGrpSpPr>
        <p:grpSpPr>
          <a:xfrm>
            <a:off x="741991" y="26606768"/>
            <a:ext cx="6854956" cy="2277700"/>
            <a:chOff x="569101" y="26252269"/>
            <a:chExt cx="6854956" cy="2277700"/>
          </a:xfrm>
        </p:grpSpPr>
        <p:sp>
          <p:nvSpPr>
            <p:cNvPr id="2" name="Rectangle 1">
              <a:extLst>
                <a:ext uri="{FF2B5EF4-FFF2-40B4-BE49-F238E27FC236}">
                  <a16:creationId xmlns:a16="http://schemas.microsoft.com/office/drawing/2014/main" id="{7DF677AF-CCA7-3603-6675-25A047C2E384}"/>
                </a:ext>
              </a:extLst>
            </p:cNvPr>
            <p:cNvSpPr/>
            <p:nvPr/>
          </p:nvSpPr>
          <p:spPr bwMode="auto">
            <a:xfrm>
              <a:off x="569101" y="26252269"/>
              <a:ext cx="6854956" cy="2277700"/>
            </a:xfrm>
            <a:prstGeom prst="rect">
              <a:avLst/>
            </a:prstGeom>
            <a:no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15387" name="TextBox 15386">
              <a:extLst>
                <a:ext uri="{FF2B5EF4-FFF2-40B4-BE49-F238E27FC236}">
                  <a16:creationId xmlns:a16="http://schemas.microsoft.com/office/drawing/2014/main" id="{05E5766B-3559-5152-42B4-205546A1ED5E}"/>
                </a:ext>
              </a:extLst>
            </p:cNvPr>
            <p:cNvSpPr txBox="1"/>
            <p:nvPr/>
          </p:nvSpPr>
          <p:spPr>
            <a:xfrm>
              <a:off x="1097130" y="26573709"/>
              <a:ext cx="6326927" cy="1569660"/>
            </a:xfrm>
            <a:prstGeom prst="rect">
              <a:avLst/>
            </a:prstGeom>
            <a:noFill/>
          </p:spPr>
          <p:txBody>
            <a:bodyPr wrap="square" lIns="91440" tIns="45720" rIns="91440" bIns="45720" anchor="t">
              <a:spAutoFit/>
            </a:bodyPr>
            <a:lstStyle/>
            <a:p>
              <a:r>
                <a:rPr lang="en-US" sz="3200" dirty="0">
                  <a:effectLst/>
                  <a:latin typeface="Helvetica"/>
                  <a:ea typeface="Times New Roman" panose="02020603050405020304" pitchFamily="18" charset="0"/>
                  <a:cs typeface="Helvetica"/>
                </a:rPr>
                <a:t>N =</a:t>
              </a:r>
              <a:r>
                <a:rPr lang="en-US" sz="3200" dirty="0">
                  <a:latin typeface="Helvetica"/>
                  <a:ea typeface="Times New Roman" panose="02020603050405020304" pitchFamily="18" charset="0"/>
                  <a:cs typeface="Helvetica"/>
                </a:rPr>
                <a:t> 62</a:t>
              </a:r>
              <a:r>
                <a:rPr lang="en-US" sz="3200" dirty="0">
                  <a:effectLst/>
                  <a:latin typeface="Helvetica"/>
                  <a:ea typeface="Times New Roman" panose="02020603050405020304" pitchFamily="18" charset="0"/>
                  <a:cs typeface="Helvetica"/>
                </a:rPr>
                <a:t> </a:t>
              </a:r>
              <a:r>
                <a:rPr lang="en-US" sz="3200" dirty="0">
                  <a:effectLst/>
                  <a:latin typeface="Helvetica" pitchFamily="2" charset="0"/>
                  <a:ea typeface="Times New Roman" panose="02020603050405020304" pitchFamily="18" charset="0"/>
                  <a:cs typeface="Helvetica"/>
                </a:rPr>
                <a:t>completed the </a:t>
              </a:r>
              <a:r>
                <a:rPr lang="en-US" sz="3200" b="0" i="0" dirty="0">
                  <a:effectLst/>
                  <a:latin typeface="Helvetica" pitchFamily="2" charset="0"/>
                </a:rPr>
                <a:t>Older Adults Financial Exploitation and Vulnerability Scale.</a:t>
              </a:r>
              <a:endParaRPr lang="en-US" sz="3200" dirty="0">
                <a:effectLst/>
                <a:latin typeface="Helvetica"/>
                <a:ea typeface="Times New Roman" panose="02020603050405020304" pitchFamily="18" charset="0"/>
                <a:cs typeface="Helvetica"/>
              </a:endParaRPr>
            </a:p>
          </p:txBody>
        </p:sp>
      </p:grpSp>
      <p:grpSp>
        <p:nvGrpSpPr>
          <p:cNvPr id="15426" name="Group 15425">
            <a:extLst>
              <a:ext uri="{FF2B5EF4-FFF2-40B4-BE49-F238E27FC236}">
                <a16:creationId xmlns:a16="http://schemas.microsoft.com/office/drawing/2014/main" id="{7261B70B-11A8-74A1-AA73-CF4BB2AED55A}"/>
              </a:ext>
            </a:extLst>
          </p:cNvPr>
          <p:cNvGrpSpPr/>
          <p:nvPr/>
        </p:nvGrpSpPr>
        <p:grpSpPr>
          <a:xfrm>
            <a:off x="8030984" y="26218030"/>
            <a:ext cx="6812529" cy="2732092"/>
            <a:chOff x="8015298" y="29141496"/>
            <a:chExt cx="6812529" cy="2732092"/>
          </a:xfrm>
        </p:grpSpPr>
        <p:sp>
          <p:nvSpPr>
            <p:cNvPr id="15385" name="Rectangle 15384">
              <a:extLst>
                <a:ext uri="{FF2B5EF4-FFF2-40B4-BE49-F238E27FC236}">
                  <a16:creationId xmlns:a16="http://schemas.microsoft.com/office/drawing/2014/main" id="{3285C709-B618-5904-7A31-44E8D825CD5B}"/>
                </a:ext>
              </a:extLst>
            </p:cNvPr>
            <p:cNvSpPr/>
            <p:nvPr/>
          </p:nvSpPr>
          <p:spPr bwMode="auto">
            <a:xfrm>
              <a:off x="8015298" y="29141496"/>
              <a:ext cx="6652707" cy="2732092"/>
            </a:xfrm>
            <a:prstGeom prst="rect">
              <a:avLst/>
            </a:prstGeom>
            <a:no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sp>
          <p:nvSpPr>
            <p:cNvPr id="3" name="TextBox 2">
              <a:extLst>
                <a:ext uri="{FF2B5EF4-FFF2-40B4-BE49-F238E27FC236}">
                  <a16:creationId xmlns:a16="http://schemas.microsoft.com/office/drawing/2014/main" id="{D0B0B240-43AB-5B1F-C75F-FEA7463EE9F3}"/>
                </a:ext>
              </a:extLst>
            </p:cNvPr>
            <p:cNvSpPr txBox="1"/>
            <p:nvPr/>
          </p:nvSpPr>
          <p:spPr>
            <a:xfrm>
              <a:off x="8051909" y="29301311"/>
              <a:ext cx="6775918" cy="2554545"/>
            </a:xfrm>
            <a:prstGeom prst="rect">
              <a:avLst/>
            </a:prstGeom>
            <a:noFill/>
          </p:spPr>
          <p:txBody>
            <a:bodyPr wrap="square" lIns="91440" tIns="45720" rIns="91440" bIns="45720" anchor="t">
              <a:spAutoFit/>
            </a:bodyPr>
            <a:lstStyle/>
            <a:p>
              <a:r>
                <a:rPr lang="en-US" sz="3200" dirty="0">
                  <a:latin typeface="Helvetica"/>
                  <a:ea typeface="MS PGothic"/>
                  <a:cs typeface="Helvetica"/>
                </a:rPr>
                <a:t>Whole brain results were </a:t>
              </a:r>
              <a:r>
                <a:rPr lang="en-US" sz="3200" dirty="0" err="1">
                  <a:latin typeface="Helvetica"/>
                  <a:ea typeface="MS PGothic"/>
                  <a:cs typeface="Helvetica"/>
                </a:rPr>
                <a:t>thresholded</a:t>
              </a:r>
              <a:r>
                <a:rPr lang="en-US" sz="3200" dirty="0">
                  <a:latin typeface="Helvetica"/>
                  <a:ea typeface="MS PGothic"/>
                  <a:cs typeface="Helvetica"/>
                </a:rPr>
                <a:t> at Z &gt; 3.1 and Family Wise Error corrected at p &gt; .05</a:t>
              </a:r>
            </a:p>
            <a:p>
              <a:r>
                <a:rPr lang="en-US" sz="3200" dirty="0">
                  <a:latin typeface="Helvetica"/>
                  <a:ea typeface="MS PGothic"/>
                  <a:cs typeface="Helvetica"/>
                </a:rPr>
                <a:t>Masks were extracted from Harvard–Oxford and Mars atlases. </a:t>
              </a:r>
              <a:endParaRPr lang="en-US" sz="3200" dirty="0">
                <a:ea typeface="MS PGothic"/>
                <a:cs typeface="Helvetica"/>
              </a:endParaRPr>
            </a:p>
          </p:txBody>
        </p:sp>
      </p:grpSp>
      <p:grpSp>
        <p:nvGrpSpPr>
          <p:cNvPr id="15508" name="Group 15507">
            <a:extLst>
              <a:ext uri="{FF2B5EF4-FFF2-40B4-BE49-F238E27FC236}">
                <a16:creationId xmlns:a16="http://schemas.microsoft.com/office/drawing/2014/main" id="{ACE08C75-5E52-BA85-3BBA-E0BBC55E5D24}"/>
              </a:ext>
            </a:extLst>
          </p:cNvPr>
          <p:cNvGrpSpPr/>
          <p:nvPr/>
        </p:nvGrpSpPr>
        <p:grpSpPr>
          <a:xfrm>
            <a:off x="19981771" y="15435963"/>
            <a:ext cx="8049317" cy="6071098"/>
            <a:chOff x="15705595" y="15406813"/>
            <a:chExt cx="8049317" cy="6071098"/>
          </a:xfrm>
        </p:grpSpPr>
        <p:sp>
          <p:nvSpPr>
            <p:cNvPr id="35" name="TextBox 34">
              <a:extLst>
                <a:ext uri="{FF2B5EF4-FFF2-40B4-BE49-F238E27FC236}">
                  <a16:creationId xmlns:a16="http://schemas.microsoft.com/office/drawing/2014/main" id="{D37958DE-5E24-D58C-4A7D-3AB8A936FE13}"/>
                </a:ext>
              </a:extLst>
            </p:cNvPr>
            <p:cNvSpPr txBox="1"/>
            <p:nvPr/>
          </p:nvSpPr>
          <p:spPr>
            <a:xfrm>
              <a:off x="21821456" y="15519657"/>
              <a:ext cx="1133197" cy="584775"/>
            </a:xfrm>
            <a:prstGeom prst="rect">
              <a:avLst/>
            </a:prstGeom>
            <a:noFill/>
          </p:spPr>
          <p:txBody>
            <a:bodyPr wrap="square">
              <a:spAutoFit/>
            </a:bodyPr>
            <a:lstStyle/>
            <a:p>
              <a:r>
                <a:rPr lang="en-US" sz="3200" b="1" dirty="0">
                  <a:latin typeface="Helvetica"/>
                  <a:ea typeface="MS PGothic"/>
                </a:rPr>
                <a:t>VS</a:t>
              </a:r>
              <a:endParaRPr lang="en-US" sz="3200" b="1" dirty="0">
                <a:latin typeface="Helvetica"/>
              </a:endParaRPr>
            </a:p>
          </p:txBody>
        </p:sp>
        <p:sp>
          <p:nvSpPr>
            <p:cNvPr id="39" name="TextBox 38">
              <a:extLst>
                <a:ext uri="{FF2B5EF4-FFF2-40B4-BE49-F238E27FC236}">
                  <a16:creationId xmlns:a16="http://schemas.microsoft.com/office/drawing/2014/main" id="{D99AB7A3-EC66-2E69-D984-AA56725B49BC}"/>
                </a:ext>
              </a:extLst>
            </p:cNvPr>
            <p:cNvSpPr txBox="1"/>
            <p:nvPr/>
          </p:nvSpPr>
          <p:spPr>
            <a:xfrm>
              <a:off x="21094087" y="20438064"/>
              <a:ext cx="2660825" cy="954107"/>
            </a:xfrm>
            <a:prstGeom prst="rect">
              <a:avLst/>
            </a:prstGeom>
            <a:noFill/>
          </p:spPr>
          <p:txBody>
            <a:bodyPr wrap="square" lIns="91440" tIns="45720" rIns="91440" bIns="45720" anchor="t">
              <a:spAutoFit/>
            </a:bodyPr>
            <a:lstStyle/>
            <a:p>
              <a:pPr algn="ctr"/>
              <a:r>
                <a:rPr lang="en-US" sz="2800" dirty="0">
                  <a:latin typeface="Helvetica"/>
                  <a:ea typeface="MS PGothic"/>
                </a:rPr>
                <a:t>Y=9</a:t>
              </a:r>
            </a:p>
            <a:p>
              <a:pPr algn="ctr"/>
              <a:endParaRPr lang="en-US" sz="2800" dirty="0">
                <a:latin typeface="Helvetica"/>
              </a:endParaRPr>
            </a:p>
          </p:txBody>
        </p:sp>
        <p:pic>
          <p:nvPicPr>
            <p:cNvPr id="17" name="Picture 16">
              <a:extLst>
                <a:ext uri="{FF2B5EF4-FFF2-40B4-BE49-F238E27FC236}">
                  <a16:creationId xmlns:a16="http://schemas.microsoft.com/office/drawing/2014/main" id="{428FE8E4-EF11-44C2-C242-0D3749E5303B}"/>
                </a:ext>
              </a:extLst>
            </p:cNvPr>
            <p:cNvPicPr>
              <a:picLocks noChangeAspect="1"/>
            </p:cNvPicPr>
            <p:nvPr/>
          </p:nvPicPr>
          <p:blipFill>
            <a:blip r:embed="rId4"/>
            <a:stretch>
              <a:fillRect/>
            </a:stretch>
          </p:blipFill>
          <p:spPr>
            <a:xfrm>
              <a:off x="15705595" y="15406813"/>
              <a:ext cx="6082076" cy="6071098"/>
            </a:xfrm>
            <a:prstGeom prst="rect">
              <a:avLst/>
            </a:prstGeom>
          </p:spPr>
        </p:pic>
      </p:grpSp>
      <p:grpSp>
        <p:nvGrpSpPr>
          <p:cNvPr id="84" name="Group 83">
            <a:extLst>
              <a:ext uri="{FF2B5EF4-FFF2-40B4-BE49-F238E27FC236}">
                <a16:creationId xmlns:a16="http://schemas.microsoft.com/office/drawing/2014/main" id="{F6598829-9A56-37ED-DD15-373A4F64219F}"/>
              </a:ext>
            </a:extLst>
          </p:cNvPr>
          <p:cNvGrpSpPr/>
          <p:nvPr/>
        </p:nvGrpSpPr>
        <p:grpSpPr>
          <a:xfrm>
            <a:off x="16266708" y="5102620"/>
            <a:ext cx="5346874" cy="6245250"/>
            <a:chOff x="24606262" y="5087612"/>
            <a:chExt cx="5346874" cy="6245250"/>
          </a:xfrm>
        </p:grpSpPr>
        <p:grpSp>
          <p:nvGrpSpPr>
            <p:cNvPr id="73" name="Group 72">
              <a:extLst>
                <a:ext uri="{FF2B5EF4-FFF2-40B4-BE49-F238E27FC236}">
                  <a16:creationId xmlns:a16="http://schemas.microsoft.com/office/drawing/2014/main" id="{9D0AD672-5D1A-CAD6-160C-701B0E0AC49D}"/>
                </a:ext>
              </a:extLst>
            </p:cNvPr>
            <p:cNvGrpSpPr/>
            <p:nvPr/>
          </p:nvGrpSpPr>
          <p:grpSpPr>
            <a:xfrm>
              <a:off x="24606262" y="5087612"/>
              <a:ext cx="5346874" cy="2981162"/>
              <a:chOff x="24230508" y="5420973"/>
              <a:chExt cx="5346874" cy="2981162"/>
            </a:xfrm>
          </p:grpSpPr>
          <p:sp>
            <p:nvSpPr>
              <p:cNvPr id="38" name="Oval 37">
                <a:extLst>
                  <a:ext uri="{FF2B5EF4-FFF2-40B4-BE49-F238E27FC236}">
                    <a16:creationId xmlns:a16="http://schemas.microsoft.com/office/drawing/2014/main" id="{9AB3227B-605C-47B6-D499-E01120A27BC6}"/>
                  </a:ext>
                </a:extLst>
              </p:cNvPr>
              <p:cNvSpPr/>
              <p:nvPr/>
            </p:nvSpPr>
            <p:spPr bwMode="auto">
              <a:xfrm>
                <a:off x="24230508" y="5440590"/>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4389438" rtl="0" eaLnBrk="1" fontAlgn="base" latinLnBrk="0" hangingPunct="1">
                  <a:lnSpc>
                    <a:spcPct val="100000"/>
                  </a:lnSpc>
                  <a:spcBef>
                    <a:spcPct val="0"/>
                  </a:spcBef>
                  <a:spcAft>
                    <a:spcPct val="0"/>
                  </a:spcAft>
                  <a:buClrTx/>
                  <a:buSzTx/>
                  <a:buFontTx/>
                  <a:buNone/>
                  <a:tabLst/>
                </a:pPr>
                <a:r>
                  <a:rPr lang="en-US" sz="3000" dirty="0">
                    <a:latin typeface="Arial" charset="0"/>
                    <a:cs typeface="Arial" charset="0"/>
                  </a:rPr>
                  <a:t>Other</a:t>
                </a:r>
                <a:endParaRPr kumimoji="0" lang="en-US" sz="3000" b="0" i="0" u="none" strike="noStrike" cap="none" normalizeH="0" baseline="0" dirty="0">
                  <a:ln>
                    <a:noFill/>
                  </a:ln>
                  <a:solidFill>
                    <a:schemeClr val="tx1"/>
                  </a:solidFill>
                  <a:effectLst/>
                  <a:latin typeface="Arial" charset="0"/>
                  <a:cs typeface="Arial" charset="0"/>
                </a:endParaRPr>
              </a:p>
            </p:txBody>
          </p:sp>
          <p:sp>
            <p:nvSpPr>
              <p:cNvPr id="44" name="Oval 43">
                <a:extLst>
                  <a:ext uri="{FF2B5EF4-FFF2-40B4-BE49-F238E27FC236}">
                    <a16:creationId xmlns:a16="http://schemas.microsoft.com/office/drawing/2014/main" id="{38C7AA76-A69B-6790-2AF3-21F88F089433}"/>
                  </a:ext>
                </a:extLst>
              </p:cNvPr>
              <p:cNvSpPr/>
              <p:nvPr/>
            </p:nvSpPr>
            <p:spPr bwMode="auto">
              <a:xfrm>
                <a:off x="26615837" y="5420973"/>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4389438" rtl="0" eaLnBrk="1" fontAlgn="base" latinLnBrk="0" hangingPunct="1">
                  <a:lnSpc>
                    <a:spcPct val="100000"/>
                  </a:lnSpc>
                  <a:spcBef>
                    <a:spcPct val="0"/>
                  </a:spcBef>
                  <a:spcAft>
                    <a:spcPct val="0"/>
                  </a:spcAft>
                  <a:buClrTx/>
                  <a:buSzTx/>
                  <a:buFontTx/>
                  <a:buNone/>
                  <a:tabLst/>
                </a:pPr>
                <a:r>
                  <a:rPr kumimoji="0" lang="en-US" sz="3000" b="0" i="0" u="none" strike="noStrike" cap="none" normalizeH="0" baseline="0" dirty="0">
                    <a:ln>
                      <a:noFill/>
                    </a:ln>
                    <a:solidFill>
                      <a:schemeClr val="tx1"/>
                    </a:solidFill>
                    <a:effectLst/>
                    <a:latin typeface="Arial" charset="0"/>
                    <a:cs typeface="Arial" charset="0"/>
                  </a:rPr>
                  <a:t>Self</a:t>
                </a:r>
              </a:p>
            </p:txBody>
          </p:sp>
        </p:grpSp>
        <p:grpSp>
          <p:nvGrpSpPr>
            <p:cNvPr id="81" name="Group 80">
              <a:extLst>
                <a:ext uri="{FF2B5EF4-FFF2-40B4-BE49-F238E27FC236}">
                  <a16:creationId xmlns:a16="http://schemas.microsoft.com/office/drawing/2014/main" id="{A502EBA9-4A64-B731-4721-E93BC2C0B38E}"/>
                </a:ext>
              </a:extLst>
            </p:cNvPr>
            <p:cNvGrpSpPr/>
            <p:nvPr/>
          </p:nvGrpSpPr>
          <p:grpSpPr>
            <a:xfrm>
              <a:off x="25411939" y="8348344"/>
              <a:ext cx="3925091" cy="2984518"/>
              <a:chOff x="25130667" y="8968962"/>
              <a:chExt cx="3925091" cy="2984518"/>
            </a:xfrm>
          </p:grpSpPr>
          <p:sp>
            <p:nvSpPr>
              <p:cNvPr id="46" name="Oval 45">
                <a:extLst>
                  <a:ext uri="{FF2B5EF4-FFF2-40B4-BE49-F238E27FC236}">
                    <a16:creationId xmlns:a16="http://schemas.microsoft.com/office/drawing/2014/main" id="{73E66EF6-812F-CEC2-83FA-171A41C69916}"/>
                  </a:ext>
                </a:extLst>
              </p:cNvPr>
              <p:cNvSpPr/>
              <p:nvPr/>
            </p:nvSpPr>
            <p:spPr bwMode="auto">
              <a:xfrm>
                <a:off x="25130667" y="8968962"/>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53" name="Oval 52">
                <a:extLst>
                  <a:ext uri="{FF2B5EF4-FFF2-40B4-BE49-F238E27FC236}">
                    <a16:creationId xmlns:a16="http://schemas.microsoft.com/office/drawing/2014/main" id="{B9FF4C20-98BA-72A9-FBA3-ADE2BE7AB857}"/>
                  </a:ext>
                </a:extLst>
              </p:cNvPr>
              <p:cNvSpPr/>
              <p:nvPr/>
            </p:nvSpPr>
            <p:spPr bwMode="auto">
              <a:xfrm>
                <a:off x="26094213" y="8991935"/>
                <a:ext cx="2961545" cy="2961545"/>
              </a:xfrm>
              <a:prstGeom prst="ellipse">
                <a:avLst/>
              </a:prstGeom>
              <a:no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grpSp>
      <p:grpSp>
        <p:nvGrpSpPr>
          <p:cNvPr id="15363" name="Group 15362">
            <a:extLst>
              <a:ext uri="{FF2B5EF4-FFF2-40B4-BE49-F238E27FC236}">
                <a16:creationId xmlns:a16="http://schemas.microsoft.com/office/drawing/2014/main" id="{5342AA36-A614-FA38-AAEB-B01CE5DEE554}"/>
              </a:ext>
            </a:extLst>
          </p:cNvPr>
          <p:cNvGrpSpPr/>
          <p:nvPr/>
        </p:nvGrpSpPr>
        <p:grpSpPr>
          <a:xfrm>
            <a:off x="22892672" y="5355290"/>
            <a:ext cx="6622052" cy="6167135"/>
            <a:chOff x="17267302" y="5300010"/>
            <a:chExt cx="15233772" cy="14187253"/>
          </a:xfrm>
        </p:grpSpPr>
        <p:grpSp>
          <p:nvGrpSpPr>
            <p:cNvPr id="15368" name="Group 15367">
              <a:extLst>
                <a:ext uri="{FF2B5EF4-FFF2-40B4-BE49-F238E27FC236}">
                  <a16:creationId xmlns:a16="http://schemas.microsoft.com/office/drawing/2014/main" id="{EF61B636-3DAB-BD36-5E77-AF660B90CB6D}"/>
                </a:ext>
              </a:extLst>
            </p:cNvPr>
            <p:cNvGrpSpPr/>
            <p:nvPr/>
          </p:nvGrpSpPr>
          <p:grpSpPr>
            <a:xfrm>
              <a:off x="17267302" y="5300010"/>
              <a:ext cx="15233772" cy="14187253"/>
              <a:chOff x="17267302" y="5300010"/>
              <a:chExt cx="15233772" cy="14187253"/>
            </a:xfrm>
          </p:grpSpPr>
          <p:grpSp>
            <p:nvGrpSpPr>
              <p:cNvPr id="15374" name="Group 15373">
                <a:extLst>
                  <a:ext uri="{FF2B5EF4-FFF2-40B4-BE49-F238E27FC236}">
                    <a16:creationId xmlns:a16="http://schemas.microsoft.com/office/drawing/2014/main" id="{9D074445-318C-EC5C-B299-FABC718AB741}"/>
                  </a:ext>
                </a:extLst>
              </p:cNvPr>
              <p:cNvGrpSpPr/>
              <p:nvPr/>
            </p:nvGrpSpPr>
            <p:grpSpPr>
              <a:xfrm>
                <a:off x="17267302" y="5300010"/>
                <a:ext cx="15233772" cy="12987990"/>
                <a:chOff x="17267302" y="5300010"/>
                <a:chExt cx="15233772" cy="12987990"/>
              </a:xfrm>
            </p:grpSpPr>
            <p:sp>
              <p:nvSpPr>
                <p:cNvPr id="15378" name="Rectangle 15377">
                  <a:extLst>
                    <a:ext uri="{FF2B5EF4-FFF2-40B4-BE49-F238E27FC236}">
                      <a16:creationId xmlns:a16="http://schemas.microsoft.com/office/drawing/2014/main" id="{D3C6FA6C-63E2-D9C7-11C3-F549FAE89481}"/>
                    </a:ext>
                  </a:extLst>
                </p:cNvPr>
                <p:cNvSpPr/>
                <p:nvPr/>
              </p:nvSpPr>
              <p:spPr bwMode="auto">
                <a:xfrm>
                  <a:off x="17267302" y="5300010"/>
                  <a:ext cx="2814638" cy="6500813"/>
                </a:xfrm>
                <a:prstGeom prst="rect">
                  <a:avLst/>
                </a:prstGeom>
                <a:solidFill>
                  <a:schemeClr val="accent1">
                    <a:lumMod val="50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15379" name="Rectangle 15378">
                  <a:extLst>
                    <a:ext uri="{FF2B5EF4-FFF2-40B4-BE49-F238E27FC236}">
                      <a16:creationId xmlns:a16="http://schemas.microsoft.com/office/drawing/2014/main" id="{82DBA69E-FE31-66D5-1ACE-25BF6D5A8306}"/>
                    </a:ext>
                  </a:extLst>
                </p:cNvPr>
                <p:cNvSpPr/>
                <p:nvPr/>
              </p:nvSpPr>
              <p:spPr bwMode="auto">
                <a:xfrm>
                  <a:off x="23482859" y="16121903"/>
                  <a:ext cx="2814638" cy="2166097"/>
                </a:xfrm>
                <a:prstGeom prst="rect">
                  <a:avLst/>
                </a:prstGeom>
                <a:solidFill>
                  <a:schemeClr val="accent1">
                    <a:lumMod val="25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15380" name="Rectangle 15379">
                  <a:extLst>
                    <a:ext uri="{FF2B5EF4-FFF2-40B4-BE49-F238E27FC236}">
                      <a16:creationId xmlns:a16="http://schemas.microsoft.com/office/drawing/2014/main" id="{738FF911-E63F-5D21-C096-62EDAFDCF6D9}"/>
                    </a:ext>
                  </a:extLst>
                </p:cNvPr>
                <p:cNvSpPr/>
                <p:nvPr/>
              </p:nvSpPr>
              <p:spPr bwMode="auto">
                <a:xfrm>
                  <a:off x="29686436" y="16121903"/>
                  <a:ext cx="2814638" cy="2166097"/>
                </a:xfrm>
                <a:prstGeom prst="rect">
                  <a:avLst/>
                </a:prstGeom>
                <a:solidFill>
                  <a:schemeClr val="accent1">
                    <a:lumMod val="75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15381" name="Straight Connector 15380">
                  <a:extLst>
                    <a:ext uri="{FF2B5EF4-FFF2-40B4-BE49-F238E27FC236}">
                      <a16:creationId xmlns:a16="http://schemas.microsoft.com/office/drawing/2014/main" id="{A5C14B6B-74F8-907A-F38C-9B44E05A9296}"/>
                    </a:ext>
                  </a:extLst>
                </p:cNvPr>
                <p:cNvCxnSpPr>
                  <a:cxnSpLocks/>
                  <a:stCxn id="15378" idx="2"/>
                </p:cNvCxnSpPr>
                <p:nvPr/>
              </p:nvCxnSpPr>
              <p:spPr bwMode="auto">
                <a:xfrm>
                  <a:off x="18674621" y="11800823"/>
                  <a:ext cx="0" cy="430614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5382" name="Straight Connector 15381">
                  <a:extLst>
                    <a:ext uri="{FF2B5EF4-FFF2-40B4-BE49-F238E27FC236}">
                      <a16:creationId xmlns:a16="http://schemas.microsoft.com/office/drawing/2014/main" id="{D38EEA3F-AEFD-B37D-71DF-A268776436C2}"/>
                    </a:ext>
                  </a:extLst>
                </p:cNvPr>
                <p:cNvCxnSpPr>
                  <a:cxnSpLocks/>
                </p:cNvCxnSpPr>
                <p:nvPr/>
              </p:nvCxnSpPr>
              <p:spPr bwMode="auto">
                <a:xfrm>
                  <a:off x="24890178" y="13968833"/>
                  <a:ext cx="0" cy="215307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5383" name="Straight Connector 15382">
                  <a:extLst>
                    <a:ext uri="{FF2B5EF4-FFF2-40B4-BE49-F238E27FC236}">
                      <a16:creationId xmlns:a16="http://schemas.microsoft.com/office/drawing/2014/main" id="{EED90813-D59C-3A49-5E0A-AA6B93E3E5AB}"/>
                    </a:ext>
                  </a:extLst>
                </p:cNvPr>
                <p:cNvCxnSpPr>
                  <a:cxnSpLocks/>
                </p:cNvCxnSpPr>
                <p:nvPr/>
              </p:nvCxnSpPr>
              <p:spPr bwMode="auto">
                <a:xfrm>
                  <a:off x="31104633" y="13968833"/>
                  <a:ext cx="0" cy="215307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5384" name="Straight Connector 15383">
                  <a:extLst>
                    <a:ext uri="{FF2B5EF4-FFF2-40B4-BE49-F238E27FC236}">
                      <a16:creationId xmlns:a16="http://schemas.microsoft.com/office/drawing/2014/main" id="{6AE61E0A-E4D7-DF87-9189-E92187D744F5}"/>
                    </a:ext>
                  </a:extLst>
                </p:cNvPr>
                <p:cNvCxnSpPr/>
                <p:nvPr/>
              </p:nvCxnSpPr>
              <p:spPr bwMode="auto">
                <a:xfrm>
                  <a:off x="18010414" y="1612190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cxnSp>
              <p:nvCxnSpPr>
                <p:cNvPr id="15386" name="Straight Connector 15385">
                  <a:extLst>
                    <a:ext uri="{FF2B5EF4-FFF2-40B4-BE49-F238E27FC236}">
                      <a16:creationId xmlns:a16="http://schemas.microsoft.com/office/drawing/2014/main" id="{CDBA45C3-8908-8CA9-EDF5-DAFDAC1E2734}"/>
                    </a:ext>
                  </a:extLst>
                </p:cNvPr>
                <p:cNvCxnSpPr/>
                <p:nvPr/>
              </p:nvCxnSpPr>
              <p:spPr bwMode="auto">
                <a:xfrm>
                  <a:off x="24237035" y="1396883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cxnSp>
              <p:nvCxnSpPr>
                <p:cNvPr id="15390" name="Straight Connector 15389">
                  <a:extLst>
                    <a:ext uri="{FF2B5EF4-FFF2-40B4-BE49-F238E27FC236}">
                      <a16:creationId xmlns:a16="http://schemas.microsoft.com/office/drawing/2014/main" id="{0300AC7D-06E5-5E4F-0700-D6A7930474C3}"/>
                    </a:ext>
                  </a:extLst>
                </p:cNvPr>
                <p:cNvCxnSpPr/>
                <p:nvPr/>
              </p:nvCxnSpPr>
              <p:spPr bwMode="auto">
                <a:xfrm>
                  <a:off x="30451490" y="1396883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sp>
              <p:nvSpPr>
                <p:cNvPr id="15391" name="Multiply 15390">
                  <a:extLst>
                    <a:ext uri="{FF2B5EF4-FFF2-40B4-BE49-F238E27FC236}">
                      <a16:creationId xmlns:a16="http://schemas.microsoft.com/office/drawing/2014/main" id="{7958EA54-9A29-7CA7-7975-8A83FD94016A}"/>
                    </a:ext>
                  </a:extLst>
                </p:cNvPr>
                <p:cNvSpPr/>
                <p:nvPr/>
              </p:nvSpPr>
              <p:spPr bwMode="auto">
                <a:xfrm>
                  <a:off x="30860534" y="11343623"/>
                  <a:ext cx="457200" cy="457200"/>
                </a:xfrm>
                <a:prstGeom prst="mathMultiply">
                  <a:avLst/>
                </a:prstGeom>
                <a:solidFill>
                  <a:srgbClr val="72BFC5"/>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15394" name="Straight Connector 15393">
                  <a:extLst>
                    <a:ext uri="{FF2B5EF4-FFF2-40B4-BE49-F238E27FC236}">
                      <a16:creationId xmlns:a16="http://schemas.microsoft.com/office/drawing/2014/main" id="{54674706-B3BE-AE0E-67F6-02AC5532DCFC}"/>
                    </a:ext>
                  </a:extLst>
                </p:cNvPr>
                <p:cNvCxnSpPr/>
                <p:nvPr/>
              </p:nvCxnSpPr>
              <p:spPr bwMode="auto">
                <a:xfrm>
                  <a:off x="17301874" y="9627476"/>
                  <a:ext cx="2764221" cy="0"/>
                </a:xfrm>
                <a:prstGeom prst="line">
                  <a:avLst/>
                </a:prstGeom>
                <a:solidFill>
                  <a:schemeClr val="accent1"/>
                </a:solidFill>
                <a:ln w="101600" cap="flat" cmpd="sng" algn="ctr">
                  <a:solidFill>
                    <a:srgbClr val="D54C43"/>
                  </a:solidFill>
                  <a:prstDash val="solid"/>
                  <a:round/>
                  <a:headEnd type="none" w="med" len="med"/>
                  <a:tailEnd type="none" w="med" len="med"/>
                </a:ln>
                <a:effectLst/>
              </p:spPr>
            </p:cxnSp>
            <p:cxnSp>
              <p:nvCxnSpPr>
                <p:cNvPr id="15395" name="Straight Connector 15394">
                  <a:extLst>
                    <a:ext uri="{FF2B5EF4-FFF2-40B4-BE49-F238E27FC236}">
                      <a16:creationId xmlns:a16="http://schemas.microsoft.com/office/drawing/2014/main" id="{E7D53ED5-EB1B-BF5F-67A1-A644E9215197}"/>
                    </a:ext>
                  </a:extLst>
                </p:cNvPr>
                <p:cNvCxnSpPr/>
                <p:nvPr/>
              </p:nvCxnSpPr>
              <p:spPr bwMode="auto">
                <a:xfrm>
                  <a:off x="23513855" y="18210955"/>
                  <a:ext cx="2764221" cy="0"/>
                </a:xfrm>
                <a:prstGeom prst="line">
                  <a:avLst/>
                </a:prstGeom>
                <a:solidFill>
                  <a:schemeClr val="accent1"/>
                </a:solidFill>
                <a:ln w="101600" cap="flat" cmpd="sng" algn="ctr">
                  <a:solidFill>
                    <a:srgbClr val="BB423A"/>
                  </a:solidFill>
                  <a:prstDash val="solid"/>
                  <a:round/>
                  <a:headEnd type="none" w="med" len="med"/>
                  <a:tailEnd type="none" w="med" len="med"/>
                </a:ln>
                <a:effectLst/>
              </p:spPr>
            </p:cxnSp>
            <p:cxnSp>
              <p:nvCxnSpPr>
                <p:cNvPr id="15396" name="Straight Connector 15395">
                  <a:extLst>
                    <a:ext uri="{FF2B5EF4-FFF2-40B4-BE49-F238E27FC236}">
                      <a16:creationId xmlns:a16="http://schemas.microsoft.com/office/drawing/2014/main" id="{2E4D4A52-9D38-12EB-42B4-266D1CB829FB}"/>
                    </a:ext>
                  </a:extLst>
                </p:cNvPr>
                <p:cNvCxnSpPr/>
                <p:nvPr/>
              </p:nvCxnSpPr>
              <p:spPr bwMode="auto">
                <a:xfrm>
                  <a:off x="29707024" y="18210954"/>
                  <a:ext cx="2764221" cy="0"/>
                </a:xfrm>
                <a:prstGeom prst="line">
                  <a:avLst/>
                </a:prstGeom>
                <a:solidFill>
                  <a:schemeClr val="accent1"/>
                </a:solidFill>
                <a:ln w="101600" cap="flat" cmpd="sng" algn="ctr">
                  <a:solidFill>
                    <a:srgbClr val="EF544A"/>
                  </a:solidFill>
                  <a:prstDash val="solid"/>
                  <a:round/>
                  <a:headEnd type="none" w="med" len="med"/>
                  <a:tailEnd type="none" w="med" len="med"/>
                </a:ln>
                <a:effectLst/>
              </p:spPr>
            </p:cxnSp>
          </p:grpSp>
          <p:sp>
            <p:nvSpPr>
              <p:cNvPr id="15375" name="TextBox 15374">
                <a:extLst>
                  <a:ext uri="{FF2B5EF4-FFF2-40B4-BE49-F238E27FC236}">
                    <a16:creationId xmlns:a16="http://schemas.microsoft.com/office/drawing/2014/main" id="{0BC64C63-F78A-F04C-FE4C-A4D80531BC92}"/>
                  </a:ext>
                </a:extLst>
              </p:cNvPr>
              <p:cNvSpPr txBox="1"/>
              <p:nvPr/>
            </p:nvSpPr>
            <p:spPr>
              <a:xfrm>
                <a:off x="18047432" y="18801292"/>
                <a:ext cx="1273104" cy="553998"/>
              </a:xfrm>
              <a:prstGeom prst="rect">
                <a:avLst/>
              </a:prstGeom>
              <a:noFill/>
            </p:spPr>
            <p:txBody>
              <a:bodyPr wrap="none" rtlCol="0">
                <a:spAutoFit/>
              </a:bodyPr>
              <a:lstStyle/>
              <a:p>
                <a:pPr algn="ctr"/>
                <a:r>
                  <a:rPr lang="en-US" sz="3000" dirty="0"/>
                  <a:t>Friend</a:t>
                </a:r>
              </a:p>
            </p:txBody>
          </p:sp>
          <p:sp>
            <p:nvSpPr>
              <p:cNvPr id="15376" name="TextBox 15375">
                <a:extLst>
                  <a:ext uri="{FF2B5EF4-FFF2-40B4-BE49-F238E27FC236}">
                    <a16:creationId xmlns:a16="http://schemas.microsoft.com/office/drawing/2014/main" id="{FBEF236D-522B-2628-F975-CA94AF1884DB}"/>
                  </a:ext>
                </a:extLst>
              </p:cNvPr>
              <p:cNvSpPr txBox="1"/>
              <p:nvPr/>
            </p:nvSpPr>
            <p:spPr>
              <a:xfrm>
                <a:off x="24016659" y="18801291"/>
                <a:ext cx="1657826" cy="553998"/>
              </a:xfrm>
              <a:prstGeom prst="rect">
                <a:avLst/>
              </a:prstGeom>
              <a:noFill/>
            </p:spPr>
            <p:txBody>
              <a:bodyPr wrap="none" rtlCol="0">
                <a:spAutoFit/>
              </a:bodyPr>
              <a:lstStyle/>
              <a:p>
                <a:pPr algn="ctr"/>
                <a:r>
                  <a:rPr lang="en-US" sz="3000" dirty="0"/>
                  <a:t>Stranger</a:t>
                </a:r>
              </a:p>
            </p:txBody>
          </p:sp>
          <p:sp>
            <p:nvSpPr>
              <p:cNvPr id="15377" name="TextBox 15376">
                <a:extLst>
                  <a:ext uri="{FF2B5EF4-FFF2-40B4-BE49-F238E27FC236}">
                    <a16:creationId xmlns:a16="http://schemas.microsoft.com/office/drawing/2014/main" id="{CF3C8066-596C-D6E7-00D6-81439E767F87}"/>
                  </a:ext>
                </a:extLst>
              </p:cNvPr>
              <p:cNvSpPr txBox="1"/>
              <p:nvPr/>
            </p:nvSpPr>
            <p:spPr>
              <a:xfrm>
                <a:off x="30153622" y="18933265"/>
                <a:ext cx="1871025" cy="553998"/>
              </a:xfrm>
              <a:prstGeom prst="rect">
                <a:avLst/>
              </a:prstGeom>
              <a:noFill/>
            </p:spPr>
            <p:txBody>
              <a:bodyPr wrap="none" rtlCol="0">
                <a:spAutoFit/>
              </a:bodyPr>
              <a:lstStyle/>
              <a:p>
                <a:pPr algn="ctr"/>
                <a:r>
                  <a:rPr lang="en-US" sz="3000" dirty="0"/>
                  <a:t>Computer</a:t>
                </a:r>
              </a:p>
            </p:txBody>
          </p:sp>
        </p:grpSp>
        <p:sp>
          <p:nvSpPr>
            <p:cNvPr id="15370" name="Multiply 15369">
              <a:extLst>
                <a:ext uri="{FF2B5EF4-FFF2-40B4-BE49-F238E27FC236}">
                  <a16:creationId xmlns:a16="http://schemas.microsoft.com/office/drawing/2014/main" id="{DA358199-D1DD-7679-4B19-9342C8CB9A71}"/>
                </a:ext>
              </a:extLst>
            </p:cNvPr>
            <p:cNvSpPr/>
            <p:nvPr/>
          </p:nvSpPr>
          <p:spPr bwMode="auto">
            <a:xfrm>
              <a:off x="30860534" y="9433297"/>
              <a:ext cx="457200" cy="457200"/>
            </a:xfrm>
            <a:prstGeom prst="mathMultiply">
              <a:avLst/>
            </a:prstGeom>
            <a:solidFill>
              <a:srgbClr val="72BFC5"/>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15372" name="Multiply 15371">
              <a:extLst>
                <a:ext uri="{FF2B5EF4-FFF2-40B4-BE49-F238E27FC236}">
                  <a16:creationId xmlns:a16="http://schemas.microsoft.com/office/drawing/2014/main" id="{4E9EE586-5835-F885-83DF-014FFC51F3BA}"/>
                </a:ext>
              </a:extLst>
            </p:cNvPr>
            <p:cNvSpPr/>
            <p:nvPr/>
          </p:nvSpPr>
          <p:spPr bwMode="auto">
            <a:xfrm>
              <a:off x="24661578" y="11557807"/>
              <a:ext cx="457200" cy="457200"/>
            </a:xfrm>
            <a:prstGeom prst="mathMultiply">
              <a:avLst/>
            </a:prstGeom>
            <a:solidFill>
              <a:srgbClr val="1D4647"/>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15373" name="Multiply 15372">
              <a:extLst>
                <a:ext uri="{FF2B5EF4-FFF2-40B4-BE49-F238E27FC236}">
                  <a16:creationId xmlns:a16="http://schemas.microsoft.com/office/drawing/2014/main" id="{9592DB17-062F-9AC2-E17E-BCFBD00FD8EC}"/>
                </a:ext>
              </a:extLst>
            </p:cNvPr>
            <p:cNvSpPr/>
            <p:nvPr/>
          </p:nvSpPr>
          <p:spPr bwMode="auto">
            <a:xfrm>
              <a:off x="24661578" y="9433297"/>
              <a:ext cx="457200" cy="457200"/>
            </a:xfrm>
            <a:prstGeom prst="mathMultiply">
              <a:avLst/>
            </a:prstGeom>
            <a:solidFill>
              <a:srgbClr val="1D4647"/>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sp>
        <p:nvSpPr>
          <p:cNvPr id="15398" name="TextBox 15397">
            <a:extLst>
              <a:ext uri="{FF2B5EF4-FFF2-40B4-BE49-F238E27FC236}">
                <a16:creationId xmlns:a16="http://schemas.microsoft.com/office/drawing/2014/main" id="{525D5E19-4B3C-AFF6-A95E-21518D8D505D}"/>
              </a:ext>
            </a:extLst>
          </p:cNvPr>
          <p:cNvSpPr txBox="1"/>
          <p:nvPr/>
        </p:nvSpPr>
        <p:spPr>
          <a:xfrm>
            <a:off x="16332717" y="12097669"/>
            <a:ext cx="12598832" cy="1077218"/>
          </a:xfrm>
          <a:prstGeom prst="rect">
            <a:avLst/>
          </a:prstGeom>
          <a:noFill/>
        </p:spPr>
        <p:txBody>
          <a:bodyPr wrap="square" lIns="91440" tIns="45720" rIns="91440" bIns="45720" anchor="t">
            <a:spAutoFit/>
          </a:bodyPr>
          <a:lstStyle/>
          <a:p>
            <a:pPr algn="ctr"/>
            <a:r>
              <a:rPr lang="en-US" altLang="en-US" sz="3200" dirty="0">
                <a:latin typeface="Helvetica"/>
                <a:ea typeface="MS PGothic"/>
              </a:rPr>
              <a:t>Participants were asked to rate their closeness with the three partners on a 7-point Leichardt scale of overlapping circles </a:t>
            </a:r>
          </a:p>
        </p:txBody>
      </p:sp>
      <p:sp>
        <p:nvSpPr>
          <p:cNvPr id="15404" name="TextBox 15403">
            <a:extLst>
              <a:ext uri="{FF2B5EF4-FFF2-40B4-BE49-F238E27FC236}">
                <a16:creationId xmlns:a16="http://schemas.microsoft.com/office/drawing/2014/main" id="{BD337C5F-52FF-AD9F-5D33-EBF01D6419CF}"/>
              </a:ext>
            </a:extLst>
          </p:cNvPr>
          <p:cNvSpPr txBox="1"/>
          <p:nvPr/>
        </p:nvSpPr>
        <p:spPr>
          <a:xfrm>
            <a:off x="15906068" y="11363259"/>
            <a:ext cx="4965130" cy="553998"/>
          </a:xfrm>
          <a:prstGeom prst="rect">
            <a:avLst/>
          </a:prstGeom>
          <a:noFill/>
        </p:spPr>
        <p:txBody>
          <a:bodyPr wrap="square" lIns="91440" tIns="45720" rIns="91440" bIns="45720" anchor="t">
            <a:spAutoFit/>
          </a:bodyPr>
          <a:lstStyle/>
          <a:p>
            <a:r>
              <a:rPr lang="en-US" altLang="en-US" sz="1500" dirty="0">
                <a:latin typeface="Helvetica"/>
                <a:ea typeface="MS PGothic"/>
              </a:rPr>
              <a:t>Kyle M. </a:t>
            </a:r>
            <a:r>
              <a:rPr lang="en-US" altLang="en-US" sz="1500" dirty="0" err="1">
                <a:latin typeface="Helvetica"/>
                <a:ea typeface="MS PGothic"/>
              </a:rPr>
              <a:t>Woosnam</a:t>
            </a:r>
            <a:r>
              <a:rPr lang="en-US" altLang="en-US" sz="1500" dirty="0">
                <a:latin typeface="Helvetica"/>
                <a:ea typeface="MS PGothic"/>
              </a:rPr>
              <a:t>,</a:t>
            </a:r>
          </a:p>
          <a:p>
            <a:r>
              <a:rPr lang="en-US" altLang="en-US" sz="1500" dirty="0">
                <a:latin typeface="Helvetica"/>
                <a:ea typeface="MS PGothic"/>
              </a:rPr>
              <a:t>The inclusion of other in the self (</a:t>
            </a:r>
            <a:r>
              <a:rPr lang="en-US" altLang="en-US" sz="1500" dirty="0" err="1">
                <a:latin typeface="Helvetica"/>
                <a:ea typeface="MS PGothic"/>
              </a:rPr>
              <a:t>ios</a:t>
            </a:r>
            <a:r>
              <a:rPr lang="en-US" altLang="en-US" sz="1500" dirty="0">
                <a:latin typeface="Helvetica"/>
                <a:ea typeface="MS PGothic"/>
              </a:rPr>
              <a:t>) scale,</a:t>
            </a:r>
          </a:p>
        </p:txBody>
      </p:sp>
      <p:pic>
        <p:nvPicPr>
          <p:cNvPr id="15406" name="Picture 15405" descr="A brain with red and green arrows&#10;&#10;Description automatically generated">
            <a:extLst>
              <a:ext uri="{FF2B5EF4-FFF2-40B4-BE49-F238E27FC236}">
                <a16:creationId xmlns:a16="http://schemas.microsoft.com/office/drawing/2014/main" id="{E3B38FA0-F543-267E-327B-2987860A8B8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0965290" y="6030821"/>
            <a:ext cx="4495800" cy="5003800"/>
          </a:xfrm>
          <a:prstGeom prst="rect">
            <a:avLst/>
          </a:prstGeom>
        </p:spPr>
      </p:pic>
      <p:sp>
        <p:nvSpPr>
          <p:cNvPr id="15400" name="Rectangle 54"/>
          <p:cNvSpPr>
            <a:spLocks noChangeArrowheads="1"/>
          </p:cNvSpPr>
          <p:nvPr/>
        </p:nvSpPr>
        <p:spPr bwMode="auto">
          <a:xfrm>
            <a:off x="30676645" y="24531321"/>
            <a:ext cx="12928282" cy="8153186"/>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72" name="TextBox 86">
            <a:extLst>
              <a:ext uri="{FF2B5EF4-FFF2-40B4-BE49-F238E27FC236}">
                <a16:creationId xmlns:a16="http://schemas.microsoft.com/office/drawing/2014/main" id="{7876542B-4364-4FD7-BCA2-651EBF34C355}"/>
              </a:ext>
            </a:extLst>
          </p:cNvPr>
          <p:cNvSpPr txBox="1">
            <a:spLocks noChangeArrowheads="1"/>
          </p:cNvSpPr>
          <p:nvPr/>
        </p:nvSpPr>
        <p:spPr bwMode="auto">
          <a:xfrm>
            <a:off x="32230620" y="24371337"/>
            <a:ext cx="9797258" cy="748988"/>
          </a:xfrm>
          <a:prstGeom prst="rect">
            <a:avLst/>
          </a:prstGeom>
          <a:solidFill>
            <a:schemeClr val="bg1"/>
          </a:solidFill>
          <a:ln>
            <a:noFill/>
          </a:ln>
        </p:spPr>
        <p:txBody>
          <a:bodyPr wrap="square">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67" b="1" dirty="0">
                <a:solidFill>
                  <a:srgbClr val="C00000"/>
                </a:solidFill>
                <a:latin typeface="Trebuchet MS" panose="020B0603020202020204" pitchFamily="34" charset="0"/>
              </a:rPr>
              <a:t>8. Conclusions and Future Directions</a:t>
            </a:r>
          </a:p>
        </p:txBody>
      </p:sp>
      <p:sp>
        <p:nvSpPr>
          <p:cNvPr id="5" name="Rectangle 4">
            <a:extLst>
              <a:ext uri="{FF2B5EF4-FFF2-40B4-BE49-F238E27FC236}">
                <a16:creationId xmlns:a16="http://schemas.microsoft.com/office/drawing/2014/main" id="{F27FB003-669C-6748-AC0B-0C13B0734BA6}"/>
              </a:ext>
            </a:extLst>
          </p:cNvPr>
          <p:cNvSpPr/>
          <p:nvPr/>
        </p:nvSpPr>
        <p:spPr>
          <a:xfrm>
            <a:off x="30912367" y="25351882"/>
            <a:ext cx="12914399" cy="2708434"/>
          </a:xfrm>
          <a:prstGeom prst="rect">
            <a:avLst/>
          </a:prstGeom>
        </p:spPr>
        <p:txBody>
          <a:bodyPr wrap="square" lIns="91440" tIns="45720" rIns="91440" bIns="45720" anchor="t">
            <a:spAutoFit/>
          </a:bodyPr>
          <a:lstStyle/>
          <a:p>
            <a:pPr>
              <a:spcBef>
                <a:spcPts val="360"/>
              </a:spcBef>
              <a:spcAft>
                <a:spcPts val="0"/>
              </a:spcAft>
              <a:buFont typeface="Arial" panose="020B0604020202020204" pitchFamily="34" charset="0"/>
              <a:buChar char="•"/>
            </a:pPr>
            <a:r>
              <a:rPr lang="en-US" sz="4000" dirty="0">
                <a:latin typeface="Helvetica"/>
                <a:ea typeface="MS PGothic"/>
                <a:cs typeface="Helvetica"/>
              </a:rPr>
              <a:t> …</a:t>
            </a:r>
          </a:p>
          <a:p>
            <a:pPr>
              <a:spcBef>
                <a:spcPts val="360"/>
              </a:spcBef>
              <a:spcAft>
                <a:spcPts val="0"/>
              </a:spcAft>
              <a:buFont typeface="Arial" panose="020B0604020202020204" pitchFamily="34" charset="0"/>
              <a:buChar char="•"/>
            </a:pPr>
            <a:r>
              <a:rPr lang="en-US" sz="4000" dirty="0">
                <a:latin typeface="Helvetica"/>
                <a:ea typeface="MS PGothic"/>
                <a:cs typeface="Helvetica"/>
              </a:rPr>
              <a:t>…</a:t>
            </a:r>
          </a:p>
          <a:p>
            <a:pPr>
              <a:spcBef>
                <a:spcPts val="360"/>
              </a:spcBef>
              <a:spcAft>
                <a:spcPts val="0"/>
              </a:spcAft>
              <a:buFont typeface="Arial" panose="020B0604020202020204" pitchFamily="34" charset="0"/>
              <a:buChar char="•"/>
            </a:pPr>
            <a:r>
              <a:rPr lang="en-US" sz="4000" dirty="0">
                <a:latin typeface="Helvetica"/>
                <a:ea typeface="MS PGothic"/>
                <a:cs typeface="Helvetica"/>
              </a:rPr>
              <a:t>…</a:t>
            </a:r>
          </a:p>
          <a:p>
            <a:pPr>
              <a:spcBef>
                <a:spcPts val="360"/>
              </a:spcBef>
              <a:spcAft>
                <a:spcPts val="0"/>
              </a:spcAft>
            </a:pPr>
            <a:endParaRPr lang="en-US" sz="4000" b="1" dirty="0">
              <a:latin typeface="Helvetica"/>
              <a:ea typeface="MS PGothic"/>
              <a:cs typeface="Helvetica"/>
            </a:endParaRPr>
          </a:p>
        </p:txBody>
      </p:sp>
      <p:sp>
        <p:nvSpPr>
          <p:cNvPr id="6" name="TextBox 5">
            <a:extLst>
              <a:ext uri="{FF2B5EF4-FFF2-40B4-BE49-F238E27FC236}">
                <a16:creationId xmlns:a16="http://schemas.microsoft.com/office/drawing/2014/main" id="{70FD3937-717B-30F1-EF0F-1BE3A44A9629}"/>
              </a:ext>
            </a:extLst>
          </p:cNvPr>
          <p:cNvSpPr txBox="1"/>
          <p:nvPr/>
        </p:nvSpPr>
        <p:spPr>
          <a:xfrm>
            <a:off x="30912367" y="29293095"/>
            <a:ext cx="12442911" cy="738664"/>
          </a:xfrm>
          <a:prstGeom prst="rect">
            <a:avLst/>
          </a:prstGeom>
          <a:noFill/>
        </p:spPr>
        <p:txBody>
          <a:bodyPr wrap="square" lIns="91440" tIns="45720" rIns="91440" bIns="45720" anchor="t">
            <a:spAutoFit/>
          </a:bodyPr>
          <a:lstStyle/>
          <a:p>
            <a:pPr algn="ctr">
              <a:spcBef>
                <a:spcPts val="360"/>
              </a:spcBef>
              <a:spcAft>
                <a:spcPts val="0"/>
              </a:spcAft>
            </a:pPr>
            <a:r>
              <a:rPr lang="en-US" sz="4200" b="1" dirty="0">
                <a:latin typeface="Helvetica"/>
                <a:ea typeface="MS PGothic"/>
                <a:cs typeface="Helvetica"/>
              </a:rPr>
              <a:t>Our findings help to ???</a:t>
            </a:r>
            <a:endParaRPr lang="en-US" sz="4200" dirty="0"/>
          </a:p>
        </p:txBody>
      </p:sp>
      <p:sp>
        <p:nvSpPr>
          <p:cNvPr id="15454" name="TextBox 15453">
            <a:extLst>
              <a:ext uri="{FF2B5EF4-FFF2-40B4-BE49-F238E27FC236}">
                <a16:creationId xmlns:a16="http://schemas.microsoft.com/office/drawing/2014/main" id="{13B2FFDE-8D7C-898B-769D-CAF01351FCBA}"/>
              </a:ext>
            </a:extLst>
          </p:cNvPr>
          <p:cNvSpPr txBox="1"/>
          <p:nvPr/>
        </p:nvSpPr>
        <p:spPr>
          <a:xfrm>
            <a:off x="39306381" y="20682657"/>
            <a:ext cx="3784646" cy="523220"/>
          </a:xfrm>
          <a:prstGeom prst="rect">
            <a:avLst/>
          </a:prstGeom>
          <a:noFill/>
        </p:spPr>
        <p:txBody>
          <a:bodyPr wrap="square">
            <a:spAutoFit/>
          </a:bodyPr>
          <a:lstStyle/>
          <a:p>
            <a:pPr algn="ctr"/>
            <a:r>
              <a:rPr lang="en-US" sz="2800" dirty="0">
                <a:latin typeface="Helvetica"/>
                <a:ea typeface="MS PGothic"/>
              </a:rPr>
              <a:t>Composite Reward</a:t>
            </a:r>
            <a:endParaRPr lang="en-US" sz="2800" dirty="0">
              <a:latin typeface="Helvetica"/>
            </a:endParaRPr>
          </a:p>
        </p:txBody>
      </p:sp>
      <p:sp>
        <p:nvSpPr>
          <p:cNvPr id="15414" name="Rectangle 162">
            <a:extLst>
              <a:ext uri="{FF2B5EF4-FFF2-40B4-BE49-F238E27FC236}">
                <a16:creationId xmlns:a16="http://schemas.microsoft.com/office/drawing/2014/main" id="{25A230EB-5F32-4224-56A1-756BF91CCD15}"/>
              </a:ext>
            </a:extLst>
          </p:cNvPr>
          <p:cNvSpPr>
            <a:spLocks noChangeArrowheads="1"/>
          </p:cNvSpPr>
          <p:nvPr/>
        </p:nvSpPr>
        <p:spPr bwMode="auto">
          <a:xfrm>
            <a:off x="30683073" y="14695105"/>
            <a:ext cx="12967320" cy="9369710"/>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429" name="Rounded Rectangle 15428">
            <a:extLst>
              <a:ext uri="{FF2B5EF4-FFF2-40B4-BE49-F238E27FC236}">
                <a16:creationId xmlns:a16="http://schemas.microsoft.com/office/drawing/2014/main" id="{4B7D9A17-B83C-E5E9-1709-3AF83FDD5AD6}"/>
              </a:ext>
            </a:extLst>
          </p:cNvPr>
          <p:cNvSpPr/>
          <p:nvPr/>
        </p:nvSpPr>
        <p:spPr bwMode="auto">
          <a:xfrm>
            <a:off x="631650" y="15031860"/>
            <a:ext cx="6233543" cy="612410"/>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You are given $8 for the trial. </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nvGrpSpPr>
          <p:cNvPr id="15435" name="Group 15434">
            <a:extLst>
              <a:ext uri="{FF2B5EF4-FFF2-40B4-BE49-F238E27FC236}">
                <a16:creationId xmlns:a16="http://schemas.microsoft.com/office/drawing/2014/main" id="{91D64F50-CCC5-FF57-B24F-9D18D2A12681}"/>
              </a:ext>
            </a:extLst>
          </p:cNvPr>
          <p:cNvGrpSpPr/>
          <p:nvPr/>
        </p:nvGrpSpPr>
        <p:grpSpPr>
          <a:xfrm>
            <a:off x="2079425" y="21133835"/>
            <a:ext cx="3898887" cy="1569660"/>
            <a:chOff x="2150236" y="20985676"/>
            <a:chExt cx="3898887" cy="1569660"/>
          </a:xfrm>
        </p:grpSpPr>
        <p:sp>
          <p:nvSpPr>
            <p:cNvPr id="52" name="TextBox 51">
              <a:extLst>
                <a:ext uri="{FF2B5EF4-FFF2-40B4-BE49-F238E27FC236}">
                  <a16:creationId xmlns:a16="http://schemas.microsoft.com/office/drawing/2014/main" id="{4707B45F-027B-576B-4808-66F0A5D95489}"/>
                </a:ext>
              </a:extLst>
            </p:cNvPr>
            <p:cNvSpPr txBox="1"/>
            <p:nvPr/>
          </p:nvSpPr>
          <p:spPr>
            <a:xfrm>
              <a:off x="4609305" y="21151595"/>
              <a:ext cx="1439818" cy="1323439"/>
            </a:xfrm>
            <a:prstGeom prst="rect">
              <a:avLst/>
            </a:prstGeom>
            <a:noFill/>
          </p:spPr>
          <p:txBody>
            <a:bodyPr wrap="none" rtlCol="0">
              <a:spAutoFit/>
            </a:bodyPr>
            <a:lstStyle/>
            <a:p>
              <a:r>
                <a:rPr lang="en-US" sz="8000" b="1" dirty="0">
                  <a:solidFill>
                    <a:srgbClr val="03DF04"/>
                  </a:solidFill>
                </a:rPr>
                <a:t>X3</a:t>
              </a:r>
            </a:p>
          </p:txBody>
        </p:sp>
        <p:sp>
          <p:nvSpPr>
            <p:cNvPr id="15433" name="Rounded Rectangle 15432">
              <a:extLst>
                <a:ext uri="{FF2B5EF4-FFF2-40B4-BE49-F238E27FC236}">
                  <a16:creationId xmlns:a16="http://schemas.microsoft.com/office/drawing/2014/main" id="{9D770554-0135-2E8B-9BC3-8228F9631C8A}"/>
                </a:ext>
              </a:extLst>
            </p:cNvPr>
            <p:cNvSpPr/>
            <p:nvPr/>
          </p:nvSpPr>
          <p:spPr bwMode="auto">
            <a:xfrm>
              <a:off x="2150236" y="20985676"/>
              <a:ext cx="2382793" cy="1569660"/>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The money you  sent is tripled</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grpSp>
        <p:nvGrpSpPr>
          <p:cNvPr id="15490" name="Group 15489">
            <a:extLst>
              <a:ext uri="{FF2B5EF4-FFF2-40B4-BE49-F238E27FC236}">
                <a16:creationId xmlns:a16="http://schemas.microsoft.com/office/drawing/2014/main" id="{26CF14B9-FE18-01D5-1A0A-E19BE8376A0A}"/>
              </a:ext>
            </a:extLst>
          </p:cNvPr>
          <p:cNvGrpSpPr/>
          <p:nvPr/>
        </p:nvGrpSpPr>
        <p:grpSpPr>
          <a:xfrm>
            <a:off x="631650" y="18495767"/>
            <a:ext cx="3370254" cy="2302479"/>
            <a:chOff x="631650" y="18495767"/>
            <a:chExt cx="3370254" cy="2302479"/>
          </a:xfrm>
        </p:grpSpPr>
        <p:sp>
          <p:nvSpPr>
            <p:cNvPr id="15432" name="Rounded Rectangle 15431">
              <a:extLst>
                <a:ext uri="{FF2B5EF4-FFF2-40B4-BE49-F238E27FC236}">
                  <a16:creationId xmlns:a16="http://schemas.microsoft.com/office/drawing/2014/main" id="{29E5F4B4-9ECB-A12A-6B3F-C0855A0CDE34}"/>
                </a:ext>
              </a:extLst>
            </p:cNvPr>
            <p:cNvSpPr/>
            <p:nvPr/>
          </p:nvSpPr>
          <p:spPr bwMode="auto">
            <a:xfrm>
              <a:off x="631650" y="19228586"/>
              <a:ext cx="3370254" cy="1569660"/>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You choose an amount to share with your partner.</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15442" name="Elbow Connector 15441">
              <a:extLst>
                <a:ext uri="{FF2B5EF4-FFF2-40B4-BE49-F238E27FC236}">
                  <a16:creationId xmlns:a16="http://schemas.microsoft.com/office/drawing/2014/main" id="{FD357802-D2BB-A2AC-2582-D36E431D92F1}"/>
                </a:ext>
              </a:extLst>
            </p:cNvPr>
            <p:cNvCxnSpPr>
              <a:cxnSpLocks/>
            </p:cNvCxnSpPr>
            <p:nvPr/>
          </p:nvCxnSpPr>
          <p:spPr bwMode="auto">
            <a:xfrm flipV="1">
              <a:off x="1252845" y="18495767"/>
              <a:ext cx="1111214" cy="732821"/>
            </a:xfrm>
            <a:prstGeom prst="bentConnector3">
              <a:avLst>
                <a:gd name="adj1" fmla="val 1831"/>
              </a:avLst>
            </a:prstGeom>
            <a:solidFill>
              <a:schemeClr val="accent1"/>
            </a:solidFill>
            <a:ln w="50800" cap="flat" cmpd="sng" algn="ctr">
              <a:solidFill>
                <a:schemeClr val="tx1"/>
              </a:solidFill>
              <a:prstDash val="solid"/>
              <a:round/>
              <a:headEnd type="none" w="med" len="med"/>
              <a:tailEnd type="triangle"/>
            </a:ln>
            <a:effectLst/>
          </p:spPr>
        </p:cxnSp>
      </p:grpSp>
      <p:grpSp>
        <p:nvGrpSpPr>
          <p:cNvPr id="15489" name="Group 15488">
            <a:extLst>
              <a:ext uri="{FF2B5EF4-FFF2-40B4-BE49-F238E27FC236}">
                <a16:creationId xmlns:a16="http://schemas.microsoft.com/office/drawing/2014/main" id="{2951BED7-5D33-D9B9-A2B4-2D6D3E26469E}"/>
              </a:ext>
            </a:extLst>
          </p:cNvPr>
          <p:cNvGrpSpPr/>
          <p:nvPr/>
        </p:nvGrpSpPr>
        <p:grpSpPr>
          <a:xfrm>
            <a:off x="741529" y="15880810"/>
            <a:ext cx="14307083" cy="10069546"/>
            <a:chOff x="741529" y="15748222"/>
            <a:chExt cx="14307083" cy="10069546"/>
          </a:xfrm>
        </p:grpSpPr>
        <p:grpSp>
          <p:nvGrpSpPr>
            <p:cNvPr id="15428" name="Group 15427">
              <a:extLst>
                <a:ext uri="{FF2B5EF4-FFF2-40B4-BE49-F238E27FC236}">
                  <a16:creationId xmlns:a16="http://schemas.microsoft.com/office/drawing/2014/main" id="{788D9291-9D84-C5C9-22EF-259D72BF4C72}"/>
                </a:ext>
              </a:extLst>
            </p:cNvPr>
            <p:cNvGrpSpPr/>
            <p:nvPr/>
          </p:nvGrpSpPr>
          <p:grpSpPr>
            <a:xfrm>
              <a:off x="2652237" y="15748222"/>
              <a:ext cx="12396375" cy="10069546"/>
              <a:chOff x="2781091" y="15729662"/>
              <a:chExt cx="12396375" cy="10069546"/>
            </a:xfrm>
          </p:grpSpPr>
          <p:pic>
            <p:nvPicPr>
              <p:cNvPr id="16" name="Picture 15" descr="A screenshot of a computer&#10;&#10;Description automatically generated">
                <a:extLst>
                  <a:ext uri="{FF2B5EF4-FFF2-40B4-BE49-F238E27FC236}">
                    <a16:creationId xmlns:a16="http://schemas.microsoft.com/office/drawing/2014/main" id="{B07BD813-AE34-D73D-AC53-EFCB279F97D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81091" y="15729662"/>
                <a:ext cx="12396375" cy="10069546"/>
              </a:xfrm>
              <a:prstGeom prst="rect">
                <a:avLst/>
              </a:prstGeom>
            </p:spPr>
          </p:pic>
          <p:grpSp>
            <p:nvGrpSpPr>
              <p:cNvPr id="71" name="Group 70">
                <a:extLst>
                  <a:ext uri="{FF2B5EF4-FFF2-40B4-BE49-F238E27FC236}">
                    <a16:creationId xmlns:a16="http://schemas.microsoft.com/office/drawing/2014/main" id="{814CA469-7657-DBE5-12BC-BAA454599468}"/>
                  </a:ext>
                </a:extLst>
              </p:cNvPr>
              <p:cNvGrpSpPr/>
              <p:nvPr/>
            </p:nvGrpSpPr>
            <p:grpSpPr>
              <a:xfrm>
                <a:off x="9652951" y="17772995"/>
                <a:ext cx="3819225" cy="1953370"/>
                <a:chOff x="9671298" y="17666601"/>
                <a:chExt cx="3819225" cy="1953370"/>
              </a:xfrm>
            </p:grpSpPr>
            <p:cxnSp>
              <p:nvCxnSpPr>
                <p:cNvPr id="20" name="Connector: Elbow 19">
                  <a:extLst>
                    <a:ext uri="{FF2B5EF4-FFF2-40B4-BE49-F238E27FC236}">
                      <a16:creationId xmlns:a16="http://schemas.microsoft.com/office/drawing/2014/main" id="{4C9C54D6-8639-996D-7EDB-4A5B70577FDF}"/>
                    </a:ext>
                  </a:extLst>
                </p:cNvPr>
                <p:cNvCxnSpPr>
                  <a:cxnSpLocks/>
                </p:cNvCxnSpPr>
                <p:nvPr/>
              </p:nvCxnSpPr>
              <p:spPr bwMode="auto">
                <a:xfrm rot="16200000" flipH="1">
                  <a:off x="12757996" y="18887445"/>
                  <a:ext cx="1066831" cy="398222"/>
                </a:xfrm>
                <a:prstGeom prst="bentConnector3">
                  <a:avLst>
                    <a:gd name="adj1" fmla="val -750"/>
                  </a:avLst>
                </a:prstGeom>
                <a:solidFill>
                  <a:schemeClr val="accent1"/>
                </a:solidFill>
                <a:ln w="76200" cap="flat" cmpd="sng" algn="ctr">
                  <a:solidFill>
                    <a:schemeClr val="tx1"/>
                  </a:solidFill>
                  <a:prstDash val="dash"/>
                  <a:round/>
                  <a:headEnd type="none" w="med" len="med"/>
                  <a:tailEnd type="triangle"/>
                </a:ln>
                <a:effectLst/>
              </p:spPr>
            </p:cxnSp>
            <p:grpSp>
              <p:nvGrpSpPr>
                <p:cNvPr id="65" name="Group 64">
                  <a:extLst>
                    <a:ext uri="{FF2B5EF4-FFF2-40B4-BE49-F238E27FC236}">
                      <a16:creationId xmlns:a16="http://schemas.microsoft.com/office/drawing/2014/main" id="{89055108-BE18-C2C5-0FF5-A55BEBB4A05F}"/>
                    </a:ext>
                  </a:extLst>
                </p:cNvPr>
                <p:cNvGrpSpPr/>
                <p:nvPr/>
              </p:nvGrpSpPr>
              <p:grpSpPr>
                <a:xfrm>
                  <a:off x="9671298" y="17666601"/>
                  <a:ext cx="3434963" cy="1716829"/>
                  <a:chOff x="9671298" y="17666601"/>
                  <a:chExt cx="3434963" cy="1716829"/>
                </a:xfrm>
              </p:grpSpPr>
              <p:sp>
                <p:nvSpPr>
                  <p:cNvPr id="8" name="TextBox 7">
                    <a:extLst>
                      <a:ext uri="{FF2B5EF4-FFF2-40B4-BE49-F238E27FC236}">
                        <a16:creationId xmlns:a16="http://schemas.microsoft.com/office/drawing/2014/main" id="{8F94C34F-C114-09E7-7592-2C68A047774A}"/>
                      </a:ext>
                    </a:extLst>
                  </p:cNvPr>
                  <p:cNvSpPr txBox="1"/>
                  <p:nvPr/>
                </p:nvSpPr>
                <p:spPr>
                  <a:xfrm>
                    <a:off x="9671298" y="17740837"/>
                    <a:ext cx="3434963" cy="15696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Helvetica"/>
                        <a:ea typeface="MS PGothic"/>
                      </a:rPr>
                      <a:t>Scan the QR code to see the</a:t>
                    </a:r>
                    <a:endParaRPr lang="en-US" sz="3200" b="1" dirty="0"/>
                  </a:p>
                  <a:p>
                    <a:pPr algn="ctr"/>
                    <a:r>
                      <a:rPr lang="en-US" sz="3200" b="1" u="sng" dirty="0">
                        <a:latin typeface="Helvetica"/>
                        <a:ea typeface="MS PGothic"/>
                      </a:rPr>
                      <a:t>Pre-registration!</a:t>
                    </a:r>
                    <a:endParaRPr lang="en-US" sz="3200" b="1" u="sng" dirty="0"/>
                  </a:p>
                </p:txBody>
              </p:sp>
              <p:sp>
                <p:nvSpPr>
                  <p:cNvPr id="15" name="Rectangle 14">
                    <a:extLst>
                      <a:ext uri="{FF2B5EF4-FFF2-40B4-BE49-F238E27FC236}">
                        <a16:creationId xmlns:a16="http://schemas.microsoft.com/office/drawing/2014/main" id="{353421B0-7681-A37B-CA3F-986E07C1DB77}"/>
                      </a:ext>
                    </a:extLst>
                  </p:cNvPr>
                  <p:cNvSpPr/>
                  <p:nvPr/>
                </p:nvSpPr>
                <p:spPr bwMode="auto">
                  <a:xfrm>
                    <a:off x="9719468" y="17666601"/>
                    <a:ext cx="3375557" cy="1716829"/>
                  </a:xfrm>
                  <a:prstGeom prst="rect">
                    <a:avLst/>
                  </a:prstGeom>
                  <a:noFill/>
                  <a:ln w="5715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a:ln>
                        <a:noFill/>
                      </a:ln>
                      <a:solidFill>
                        <a:schemeClr val="tx1"/>
                      </a:solidFill>
                      <a:effectLst/>
                      <a:latin typeface="Arial" charset="0"/>
                      <a:cs typeface="Arial" charset="0"/>
                    </a:endParaRPr>
                  </a:p>
                </p:txBody>
              </p:sp>
            </p:grpSp>
          </p:grpSp>
          <p:pic>
            <p:nvPicPr>
              <p:cNvPr id="7" name="Picture 6">
                <a:extLst>
                  <a:ext uri="{FF2B5EF4-FFF2-40B4-BE49-F238E27FC236}">
                    <a16:creationId xmlns:a16="http://schemas.microsoft.com/office/drawing/2014/main" id="{E5B61256-0745-91A9-AD49-FA138651C227}"/>
                  </a:ext>
                </a:extLst>
              </p:cNvPr>
              <p:cNvPicPr>
                <a:picLocks noChangeAspect="1"/>
              </p:cNvPicPr>
              <p:nvPr/>
            </p:nvPicPr>
            <p:blipFill>
              <a:blip r:embed="rId7"/>
              <a:stretch>
                <a:fillRect/>
              </a:stretch>
            </p:blipFill>
            <p:spPr>
              <a:xfrm>
                <a:off x="12246737" y="19903601"/>
                <a:ext cx="2419305" cy="2411132"/>
              </a:xfrm>
              <a:prstGeom prst="rect">
                <a:avLst/>
              </a:prstGeom>
            </p:spPr>
          </p:pic>
        </p:grpSp>
        <p:sp>
          <p:nvSpPr>
            <p:cNvPr id="15479" name="Rounded Rectangle 15478">
              <a:extLst>
                <a:ext uri="{FF2B5EF4-FFF2-40B4-BE49-F238E27FC236}">
                  <a16:creationId xmlns:a16="http://schemas.microsoft.com/office/drawing/2014/main" id="{07C0CAA6-BAA5-C192-15EA-35D34F993B8C}"/>
                </a:ext>
              </a:extLst>
            </p:cNvPr>
            <p:cNvSpPr/>
            <p:nvPr/>
          </p:nvSpPr>
          <p:spPr bwMode="auto">
            <a:xfrm>
              <a:off x="741529" y="24366169"/>
              <a:ext cx="3638652" cy="1191968"/>
            </a:xfrm>
            <a:prstGeom prst="roundRect">
              <a:avLst/>
            </a:prstGeom>
            <a:solidFill>
              <a:schemeClr val="accent1"/>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defTabSz="4389438" eaLnBrk="1" hangingPunct="1"/>
              <a:r>
                <a:rPr lang="en-US" sz="3000" dirty="0"/>
                <a:t>You see your partner’s response.</a:t>
              </a:r>
            </a:p>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15482" name="Elbow Connector 15481">
              <a:extLst>
                <a:ext uri="{FF2B5EF4-FFF2-40B4-BE49-F238E27FC236}">
                  <a16:creationId xmlns:a16="http://schemas.microsoft.com/office/drawing/2014/main" id="{34530FBC-4A4D-E431-FA44-6FAEC08B2B30}"/>
                </a:ext>
              </a:extLst>
            </p:cNvPr>
            <p:cNvCxnSpPr>
              <a:cxnSpLocks/>
            </p:cNvCxnSpPr>
            <p:nvPr/>
          </p:nvCxnSpPr>
          <p:spPr bwMode="auto">
            <a:xfrm flipV="1">
              <a:off x="3531898" y="23865396"/>
              <a:ext cx="848283" cy="500773"/>
            </a:xfrm>
            <a:prstGeom prst="bentConnector3">
              <a:avLst>
                <a:gd name="adj1" fmla="val -7841"/>
              </a:avLst>
            </a:prstGeom>
            <a:solidFill>
              <a:schemeClr val="accent1"/>
            </a:solidFill>
            <a:ln w="50800" cap="flat" cmpd="sng" algn="ctr">
              <a:solidFill>
                <a:schemeClr val="tx1"/>
              </a:solidFill>
              <a:prstDash val="solid"/>
              <a:round/>
              <a:headEnd type="none" w="med" len="med"/>
              <a:tailEnd type="triangle"/>
            </a:ln>
            <a:effectLst/>
          </p:spPr>
        </p:cxnSp>
      </p:grpSp>
      <p:grpSp>
        <p:nvGrpSpPr>
          <p:cNvPr id="15504" name="Group 15503">
            <a:extLst>
              <a:ext uri="{FF2B5EF4-FFF2-40B4-BE49-F238E27FC236}">
                <a16:creationId xmlns:a16="http://schemas.microsoft.com/office/drawing/2014/main" id="{644DC864-CB77-FB1C-CD61-505A98BC9282}"/>
              </a:ext>
            </a:extLst>
          </p:cNvPr>
          <p:cNvGrpSpPr/>
          <p:nvPr/>
        </p:nvGrpSpPr>
        <p:grpSpPr>
          <a:xfrm>
            <a:off x="15451643" y="25162475"/>
            <a:ext cx="7503010" cy="5479971"/>
            <a:chOff x="15470883" y="25749188"/>
            <a:chExt cx="7503010" cy="5479971"/>
          </a:xfrm>
        </p:grpSpPr>
        <p:grpSp>
          <p:nvGrpSpPr>
            <p:cNvPr id="15501" name="Group 15500">
              <a:extLst>
                <a:ext uri="{FF2B5EF4-FFF2-40B4-BE49-F238E27FC236}">
                  <a16:creationId xmlns:a16="http://schemas.microsoft.com/office/drawing/2014/main" id="{4EBE445F-826A-9AF7-418D-8850E8E507A0}"/>
                </a:ext>
              </a:extLst>
            </p:cNvPr>
            <p:cNvGrpSpPr/>
            <p:nvPr/>
          </p:nvGrpSpPr>
          <p:grpSpPr>
            <a:xfrm>
              <a:off x="15470883" y="25749188"/>
              <a:ext cx="7503010" cy="4871119"/>
              <a:chOff x="15598291" y="25491649"/>
              <a:chExt cx="7503010" cy="4871119"/>
            </a:xfrm>
          </p:grpSpPr>
          <p:sp>
            <p:nvSpPr>
              <p:cNvPr id="15496" name="TextBox 15495">
                <a:extLst>
                  <a:ext uri="{FF2B5EF4-FFF2-40B4-BE49-F238E27FC236}">
                    <a16:creationId xmlns:a16="http://schemas.microsoft.com/office/drawing/2014/main" id="{97F12319-F968-5A70-A870-C2BAE5E8D7F2}"/>
                  </a:ext>
                </a:extLst>
              </p:cNvPr>
              <p:cNvSpPr txBox="1"/>
              <p:nvPr/>
            </p:nvSpPr>
            <p:spPr>
              <a:xfrm rot="5400000">
                <a:off x="16099096" y="29487428"/>
                <a:ext cx="615553" cy="894559"/>
              </a:xfrm>
              <a:prstGeom prst="rect">
                <a:avLst/>
              </a:prstGeom>
              <a:noFill/>
            </p:spPr>
            <p:txBody>
              <a:bodyPr vert="vert270" wrap="square">
                <a:spAutoFit/>
              </a:bodyPr>
              <a:lstStyle/>
              <a:p>
                <a:pPr algn="ctr"/>
                <a:r>
                  <a:rPr lang="en-US" sz="2000" dirty="0">
                    <a:latin typeface="Helvetica"/>
                    <a:ea typeface="MS PGothic"/>
                  </a:rPr>
                  <a:t>-500</a:t>
                </a:r>
              </a:p>
            </p:txBody>
          </p:sp>
          <p:grpSp>
            <p:nvGrpSpPr>
              <p:cNvPr id="15500" name="Group 15499">
                <a:extLst>
                  <a:ext uri="{FF2B5EF4-FFF2-40B4-BE49-F238E27FC236}">
                    <a16:creationId xmlns:a16="http://schemas.microsoft.com/office/drawing/2014/main" id="{5DE2D8B9-CD7D-1452-B68B-1344AA4FF437}"/>
                  </a:ext>
                </a:extLst>
              </p:cNvPr>
              <p:cNvGrpSpPr/>
              <p:nvPr/>
            </p:nvGrpSpPr>
            <p:grpSpPr>
              <a:xfrm>
                <a:off x="15598291" y="25491649"/>
                <a:ext cx="7503010" cy="4871119"/>
                <a:chOff x="15598291" y="25491649"/>
                <a:chExt cx="7503010" cy="4871119"/>
              </a:xfrm>
            </p:grpSpPr>
            <p:sp>
              <p:nvSpPr>
                <p:cNvPr id="50" name="TextBox 49">
                  <a:extLst>
                    <a:ext uri="{FF2B5EF4-FFF2-40B4-BE49-F238E27FC236}">
                      <a16:creationId xmlns:a16="http://schemas.microsoft.com/office/drawing/2014/main" id="{3E5D8420-A794-E6A2-1628-ED1203DBAD11}"/>
                    </a:ext>
                  </a:extLst>
                </p:cNvPr>
                <p:cNvSpPr txBox="1"/>
                <p:nvPr/>
              </p:nvSpPr>
              <p:spPr>
                <a:xfrm>
                  <a:off x="15598291" y="25950356"/>
                  <a:ext cx="615553" cy="3833392"/>
                </a:xfrm>
                <a:prstGeom prst="rect">
                  <a:avLst/>
                </a:prstGeom>
                <a:noFill/>
              </p:spPr>
              <p:txBody>
                <a:bodyPr vert="vert270" wrap="square">
                  <a:spAutoFit/>
                </a:bodyPr>
                <a:lstStyle/>
                <a:p>
                  <a:pPr algn="ctr"/>
                  <a:r>
                    <a:rPr lang="en-US" sz="2800" dirty="0">
                      <a:latin typeface="Helvetica"/>
                    </a:rPr>
                    <a:t>ACC Activation</a:t>
                  </a:r>
                </a:p>
              </p:txBody>
            </p:sp>
            <p:grpSp>
              <p:nvGrpSpPr>
                <p:cNvPr id="15499" name="Group 15498">
                  <a:extLst>
                    <a:ext uri="{FF2B5EF4-FFF2-40B4-BE49-F238E27FC236}">
                      <a16:creationId xmlns:a16="http://schemas.microsoft.com/office/drawing/2014/main" id="{96FE859C-4C1F-A2C4-A1D3-E89307BFE71C}"/>
                    </a:ext>
                  </a:extLst>
                </p:cNvPr>
                <p:cNvGrpSpPr/>
                <p:nvPr/>
              </p:nvGrpSpPr>
              <p:grpSpPr>
                <a:xfrm>
                  <a:off x="16012786" y="25491649"/>
                  <a:ext cx="7088515" cy="4871119"/>
                  <a:chOff x="16012786" y="25491649"/>
                  <a:chExt cx="7088515" cy="4871119"/>
                </a:xfrm>
              </p:grpSpPr>
              <p:pic>
                <p:nvPicPr>
                  <p:cNvPr id="15495" name="Picture 15494" descr="A white background with red dots&#10;&#10;Description automatically generated">
                    <a:extLst>
                      <a:ext uri="{FF2B5EF4-FFF2-40B4-BE49-F238E27FC236}">
                        <a16:creationId xmlns:a16="http://schemas.microsoft.com/office/drawing/2014/main" id="{F821A0E6-FCAD-A479-2153-337980B9048C}"/>
                      </a:ext>
                    </a:extLst>
                  </p:cNvPr>
                  <p:cNvPicPr>
                    <a:picLocks noChangeAspect="1"/>
                  </p:cNvPicPr>
                  <p:nvPr/>
                </p:nvPicPr>
                <p:blipFill rotWithShape="1">
                  <a:blip r:embed="rId8">
                    <a:duotone>
                      <a:prstClr val="black"/>
                      <a:srgbClr val="D9C3A5">
                        <a:tint val="50000"/>
                        <a:satMod val="180000"/>
                      </a:srgbClr>
                    </a:duotone>
                    <a:extLst>
                      <a:ext uri="{BEBA8EAE-BF5A-486C-A8C5-ECC9F3942E4B}">
                        <a14:imgProps xmlns:a14="http://schemas.microsoft.com/office/drawing/2010/main">
                          <a14:imgLayer r:embed="rId9">
                            <a14:imgEffect>
                              <a14:colorTemperature colorTemp="9463"/>
                            </a14:imgEffect>
                            <a14:imgEffect>
                              <a14:saturation sat="377000"/>
                            </a14:imgEffect>
                          </a14:imgLayer>
                        </a14:imgProps>
                      </a:ext>
                      <a:ext uri="{28A0092B-C50C-407E-A947-70E740481C1C}">
                        <a14:useLocalDpi xmlns:a14="http://schemas.microsoft.com/office/drawing/2010/main" val="0"/>
                      </a:ext>
                    </a:extLst>
                  </a:blip>
                  <a:srcRect l="6725" r="12309" b="12526"/>
                  <a:stretch/>
                </p:blipFill>
                <p:spPr>
                  <a:xfrm>
                    <a:off x="16872273" y="25491649"/>
                    <a:ext cx="6229028" cy="4871119"/>
                  </a:xfrm>
                  <a:prstGeom prst="rect">
                    <a:avLst/>
                  </a:prstGeom>
                  <a:ln w="50800">
                    <a:solidFill>
                      <a:schemeClr val="tx1"/>
                    </a:solidFill>
                  </a:ln>
                </p:spPr>
              </p:pic>
              <p:sp>
                <p:nvSpPr>
                  <p:cNvPr id="15497" name="TextBox 15496">
                    <a:extLst>
                      <a:ext uri="{FF2B5EF4-FFF2-40B4-BE49-F238E27FC236}">
                        <a16:creationId xmlns:a16="http://schemas.microsoft.com/office/drawing/2014/main" id="{E8D4CB9D-FFD4-3493-3F54-665739D04D07}"/>
                      </a:ext>
                    </a:extLst>
                  </p:cNvPr>
                  <p:cNvSpPr txBox="1"/>
                  <p:nvPr/>
                </p:nvSpPr>
                <p:spPr>
                  <a:xfrm rot="5400000">
                    <a:off x="16213844" y="25459501"/>
                    <a:ext cx="492443" cy="894559"/>
                  </a:xfrm>
                  <a:prstGeom prst="rect">
                    <a:avLst/>
                  </a:prstGeom>
                  <a:noFill/>
                </p:spPr>
                <p:txBody>
                  <a:bodyPr vert="vert270" wrap="square">
                    <a:spAutoFit/>
                  </a:bodyPr>
                  <a:lstStyle/>
                  <a:p>
                    <a:pPr algn="ctr"/>
                    <a:r>
                      <a:rPr lang="en-US" sz="2000" dirty="0">
                        <a:latin typeface="Helvetica"/>
                        <a:ea typeface="MS PGothic"/>
                      </a:rPr>
                      <a:t>500</a:t>
                    </a:r>
                  </a:p>
                </p:txBody>
              </p:sp>
            </p:grpSp>
          </p:grpSp>
          <p:sp>
            <p:nvSpPr>
              <p:cNvPr id="15498" name="TextBox 15497">
                <a:extLst>
                  <a:ext uri="{FF2B5EF4-FFF2-40B4-BE49-F238E27FC236}">
                    <a16:creationId xmlns:a16="http://schemas.microsoft.com/office/drawing/2014/main" id="{477A1EE9-E5E5-6824-266B-1635FC9DBB6C}"/>
                  </a:ext>
                </a:extLst>
              </p:cNvPr>
              <p:cNvSpPr txBox="1"/>
              <p:nvPr/>
            </p:nvSpPr>
            <p:spPr>
              <a:xfrm rot="5400000">
                <a:off x="16213844" y="27480909"/>
                <a:ext cx="492443" cy="894559"/>
              </a:xfrm>
              <a:prstGeom prst="rect">
                <a:avLst/>
              </a:prstGeom>
              <a:noFill/>
            </p:spPr>
            <p:txBody>
              <a:bodyPr vert="vert270" wrap="square">
                <a:spAutoFit/>
              </a:bodyPr>
              <a:lstStyle/>
              <a:p>
                <a:pPr algn="ctr"/>
                <a:r>
                  <a:rPr lang="en-US" sz="2000" dirty="0">
                    <a:latin typeface="Helvetica"/>
                    <a:ea typeface="MS PGothic"/>
                  </a:rPr>
                  <a:t>0</a:t>
                </a:r>
              </a:p>
            </p:txBody>
          </p:sp>
        </p:grpSp>
        <p:sp>
          <p:nvSpPr>
            <p:cNvPr id="15502" name="TextBox 15501">
              <a:extLst>
                <a:ext uri="{FF2B5EF4-FFF2-40B4-BE49-F238E27FC236}">
                  <a16:creationId xmlns:a16="http://schemas.microsoft.com/office/drawing/2014/main" id="{43DB2953-AA93-0F11-DA93-B42076077EAC}"/>
                </a:ext>
              </a:extLst>
            </p:cNvPr>
            <p:cNvSpPr txBox="1"/>
            <p:nvPr/>
          </p:nvSpPr>
          <p:spPr>
            <a:xfrm rot="5400000">
              <a:off x="16647360" y="30664325"/>
              <a:ext cx="492443" cy="637225"/>
            </a:xfrm>
            <a:prstGeom prst="rect">
              <a:avLst/>
            </a:prstGeom>
            <a:noFill/>
          </p:spPr>
          <p:txBody>
            <a:bodyPr vert="vert270" wrap="square">
              <a:spAutoFit/>
            </a:bodyPr>
            <a:lstStyle/>
            <a:p>
              <a:pPr algn="ctr"/>
              <a:r>
                <a:rPr lang="en-US" sz="2000" dirty="0">
                  <a:latin typeface="Helvetica"/>
                  <a:ea typeface="MS PGothic"/>
                </a:rPr>
                <a:t>-1</a:t>
              </a:r>
            </a:p>
          </p:txBody>
        </p:sp>
      </p:grpSp>
      <p:sp>
        <p:nvSpPr>
          <p:cNvPr id="15505" name="TextBox 15504">
            <a:extLst>
              <a:ext uri="{FF2B5EF4-FFF2-40B4-BE49-F238E27FC236}">
                <a16:creationId xmlns:a16="http://schemas.microsoft.com/office/drawing/2014/main" id="{C7E50644-C212-0221-C878-B75C7841A6FE}"/>
              </a:ext>
            </a:extLst>
          </p:cNvPr>
          <p:cNvSpPr txBox="1"/>
          <p:nvPr/>
        </p:nvSpPr>
        <p:spPr>
          <a:xfrm rot="5400000">
            <a:off x="22478589" y="30047597"/>
            <a:ext cx="492443" cy="637225"/>
          </a:xfrm>
          <a:prstGeom prst="rect">
            <a:avLst/>
          </a:prstGeom>
          <a:noFill/>
        </p:spPr>
        <p:txBody>
          <a:bodyPr vert="vert270" wrap="square">
            <a:spAutoFit/>
          </a:bodyPr>
          <a:lstStyle/>
          <a:p>
            <a:pPr algn="ctr"/>
            <a:r>
              <a:rPr lang="en-US" sz="2000" dirty="0">
                <a:latin typeface="Helvetica"/>
                <a:ea typeface="MS PGothic"/>
              </a:rPr>
              <a:t>7</a:t>
            </a:r>
          </a:p>
        </p:txBody>
      </p:sp>
      <p:sp>
        <p:nvSpPr>
          <p:cNvPr id="15506" name="TextBox 15505">
            <a:extLst>
              <a:ext uri="{FF2B5EF4-FFF2-40B4-BE49-F238E27FC236}">
                <a16:creationId xmlns:a16="http://schemas.microsoft.com/office/drawing/2014/main" id="{F6AA0DD9-AF8A-14EF-EE60-8F981B287B70}"/>
              </a:ext>
            </a:extLst>
          </p:cNvPr>
          <p:cNvSpPr txBox="1"/>
          <p:nvPr/>
        </p:nvSpPr>
        <p:spPr>
          <a:xfrm rot="5400000">
            <a:off x="19500266" y="30009878"/>
            <a:ext cx="492443" cy="637225"/>
          </a:xfrm>
          <a:prstGeom prst="rect">
            <a:avLst/>
          </a:prstGeom>
          <a:noFill/>
        </p:spPr>
        <p:txBody>
          <a:bodyPr vert="vert270" wrap="square">
            <a:spAutoFit/>
          </a:bodyPr>
          <a:lstStyle/>
          <a:p>
            <a:pPr algn="ctr"/>
            <a:r>
              <a:rPr lang="en-US" sz="2000" dirty="0">
                <a:latin typeface="Helvetica"/>
                <a:ea typeface="MS PGothic"/>
              </a:rPr>
              <a:t>3</a:t>
            </a:r>
          </a:p>
        </p:txBody>
      </p:sp>
      <p:sp>
        <p:nvSpPr>
          <p:cNvPr id="15507" name="TextBox 15506">
            <a:extLst>
              <a:ext uri="{FF2B5EF4-FFF2-40B4-BE49-F238E27FC236}">
                <a16:creationId xmlns:a16="http://schemas.microsoft.com/office/drawing/2014/main" id="{AAFE7BAC-F7B5-54A6-6F9D-FC90E9E56E1C}"/>
              </a:ext>
            </a:extLst>
          </p:cNvPr>
          <p:cNvSpPr txBox="1"/>
          <p:nvPr/>
        </p:nvSpPr>
        <p:spPr>
          <a:xfrm rot="5400000">
            <a:off x="19405757" y="27269918"/>
            <a:ext cx="538609" cy="7047408"/>
          </a:xfrm>
          <a:prstGeom prst="rect">
            <a:avLst/>
          </a:prstGeom>
          <a:noFill/>
        </p:spPr>
        <p:txBody>
          <a:bodyPr vert="vert270" wrap="square">
            <a:spAutoFit/>
          </a:bodyPr>
          <a:lstStyle/>
          <a:p>
            <a:pPr algn="ctr"/>
            <a:r>
              <a:rPr lang="en-US" sz="2300" dirty="0">
                <a:latin typeface="Helvetica"/>
              </a:rPr>
              <a:t>Closeness with Friends - Closeness with Strangers</a:t>
            </a:r>
          </a:p>
        </p:txBody>
      </p:sp>
      <p:grpSp>
        <p:nvGrpSpPr>
          <p:cNvPr id="15521" name="Group 15520">
            <a:extLst>
              <a:ext uri="{FF2B5EF4-FFF2-40B4-BE49-F238E27FC236}">
                <a16:creationId xmlns:a16="http://schemas.microsoft.com/office/drawing/2014/main" id="{64719E14-F38F-FF1C-E91E-4FC7882FC372}"/>
              </a:ext>
            </a:extLst>
          </p:cNvPr>
          <p:cNvGrpSpPr/>
          <p:nvPr/>
        </p:nvGrpSpPr>
        <p:grpSpPr>
          <a:xfrm>
            <a:off x="35583421" y="5816737"/>
            <a:ext cx="8287372" cy="6693875"/>
            <a:chOff x="36784826" y="6632182"/>
            <a:chExt cx="6753481" cy="5222307"/>
          </a:xfrm>
        </p:grpSpPr>
        <p:sp>
          <p:nvSpPr>
            <p:cNvPr id="15434" name="TextBox 15433">
              <a:extLst>
                <a:ext uri="{FF2B5EF4-FFF2-40B4-BE49-F238E27FC236}">
                  <a16:creationId xmlns:a16="http://schemas.microsoft.com/office/drawing/2014/main" id="{F42DD616-45E9-33CA-3CBB-04AC7B550D62}"/>
                </a:ext>
              </a:extLst>
            </p:cNvPr>
            <p:cNvSpPr txBox="1"/>
            <p:nvPr/>
          </p:nvSpPr>
          <p:spPr>
            <a:xfrm>
              <a:off x="36784826" y="6632182"/>
              <a:ext cx="615553" cy="4368929"/>
            </a:xfrm>
            <a:prstGeom prst="rect">
              <a:avLst/>
            </a:prstGeom>
            <a:noFill/>
          </p:spPr>
          <p:txBody>
            <a:bodyPr vert="vert270" wrap="square">
              <a:spAutoFit/>
            </a:bodyPr>
            <a:lstStyle/>
            <a:p>
              <a:pPr algn="ctr"/>
              <a:r>
                <a:rPr lang="en-US" sz="2800" dirty="0">
                  <a:latin typeface="Helvetica"/>
                  <a:ea typeface="MS PGothic"/>
                </a:rPr>
                <a:t>Precuneus Activation</a:t>
              </a:r>
            </a:p>
          </p:txBody>
        </p:sp>
        <p:pic>
          <p:nvPicPr>
            <p:cNvPr id="15418" name="Picture 15417" descr="A graph with red dots&#10;&#10;Description automatically generated">
              <a:extLst>
                <a:ext uri="{FF2B5EF4-FFF2-40B4-BE49-F238E27FC236}">
                  <a16:creationId xmlns:a16="http://schemas.microsoft.com/office/drawing/2014/main" id="{7AE9EF6F-6375-47A1-D536-FAF3F473B789}"/>
                </a:ext>
              </a:extLst>
            </p:cNvPr>
            <p:cNvPicPr>
              <a:picLocks noChangeAspect="1"/>
            </p:cNvPicPr>
            <p:nvPr/>
          </p:nvPicPr>
          <p:blipFill rotWithShape="1">
            <a:blip r:embed="rId10">
              <a:extLst>
                <a:ext uri="{28A0092B-C50C-407E-A947-70E740481C1C}">
                  <a14:useLocalDpi xmlns:a14="http://schemas.microsoft.com/office/drawing/2010/main" val="0"/>
                </a:ext>
              </a:extLst>
            </a:blip>
            <a:srcRect l="3131"/>
            <a:stretch/>
          </p:blipFill>
          <p:spPr>
            <a:xfrm>
              <a:off x="37850303" y="6924524"/>
              <a:ext cx="5314627" cy="4025900"/>
            </a:xfrm>
            <a:prstGeom prst="rect">
              <a:avLst/>
            </a:prstGeom>
          </p:spPr>
        </p:pic>
        <p:sp>
          <p:nvSpPr>
            <p:cNvPr id="15420" name="TextBox 15419">
              <a:extLst>
                <a:ext uri="{FF2B5EF4-FFF2-40B4-BE49-F238E27FC236}">
                  <a16:creationId xmlns:a16="http://schemas.microsoft.com/office/drawing/2014/main" id="{069F462D-BFA5-DA6C-F8A4-6704B438B9AA}"/>
                </a:ext>
              </a:extLst>
            </p:cNvPr>
            <p:cNvSpPr txBox="1"/>
            <p:nvPr/>
          </p:nvSpPr>
          <p:spPr>
            <a:xfrm>
              <a:off x="40013832" y="11300491"/>
              <a:ext cx="867545" cy="553998"/>
            </a:xfrm>
            <a:prstGeom prst="rect">
              <a:avLst/>
            </a:prstGeom>
            <a:noFill/>
          </p:spPr>
          <p:txBody>
            <a:bodyPr wrap="none" rtlCol="0">
              <a:spAutoFit/>
            </a:bodyPr>
            <a:lstStyle/>
            <a:p>
              <a:r>
                <a:rPr lang="en-US" sz="3000" dirty="0"/>
                <a:t>Age</a:t>
              </a:r>
            </a:p>
          </p:txBody>
        </p:sp>
        <p:sp>
          <p:nvSpPr>
            <p:cNvPr id="15511" name="TextBox 15510">
              <a:extLst>
                <a:ext uri="{FF2B5EF4-FFF2-40B4-BE49-F238E27FC236}">
                  <a16:creationId xmlns:a16="http://schemas.microsoft.com/office/drawing/2014/main" id="{973A9BDE-83AF-A703-4ACB-BD3D64A294A1}"/>
                </a:ext>
              </a:extLst>
            </p:cNvPr>
            <p:cNvSpPr txBox="1"/>
            <p:nvPr/>
          </p:nvSpPr>
          <p:spPr>
            <a:xfrm rot="5400000">
              <a:off x="37377370" y="10243912"/>
              <a:ext cx="492443" cy="894559"/>
            </a:xfrm>
            <a:prstGeom prst="rect">
              <a:avLst/>
            </a:prstGeom>
            <a:noFill/>
          </p:spPr>
          <p:txBody>
            <a:bodyPr vert="vert270" wrap="square">
              <a:spAutoFit/>
            </a:bodyPr>
            <a:lstStyle/>
            <a:p>
              <a:pPr algn="ctr"/>
              <a:r>
                <a:rPr lang="en-US" sz="2000" dirty="0">
                  <a:latin typeface="Helvetica"/>
                  <a:ea typeface="MS PGothic"/>
                </a:rPr>
                <a:t>-300</a:t>
              </a:r>
            </a:p>
          </p:txBody>
        </p:sp>
        <p:sp>
          <p:nvSpPr>
            <p:cNvPr id="15512" name="TextBox 15511">
              <a:extLst>
                <a:ext uri="{FF2B5EF4-FFF2-40B4-BE49-F238E27FC236}">
                  <a16:creationId xmlns:a16="http://schemas.microsoft.com/office/drawing/2014/main" id="{E1070220-5A52-F0E6-B2E9-302B7EA961E1}"/>
                </a:ext>
              </a:extLst>
            </p:cNvPr>
            <p:cNvSpPr txBox="1"/>
            <p:nvPr/>
          </p:nvSpPr>
          <p:spPr>
            <a:xfrm rot="5400000">
              <a:off x="37332998" y="6887202"/>
              <a:ext cx="492443" cy="894559"/>
            </a:xfrm>
            <a:prstGeom prst="rect">
              <a:avLst/>
            </a:prstGeom>
            <a:noFill/>
          </p:spPr>
          <p:txBody>
            <a:bodyPr vert="vert270" wrap="square">
              <a:spAutoFit/>
            </a:bodyPr>
            <a:lstStyle/>
            <a:p>
              <a:pPr algn="ctr"/>
              <a:r>
                <a:rPr lang="en-US" sz="2000" dirty="0">
                  <a:latin typeface="Helvetica"/>
                  <a:ea typeface="MS PGothic"/>
                </a:rPr>
                <a:t>500</a:t>
              </a:r>
            </a:p>
          </p:txBody>
        </p:sp>
        <p:sp>
          <p:nvSpPr>
            <p:cNvPr id="15513" name="TextBox 15512">
              <a:extLst>
                <a:ext uri="{FF2B5EF4-FFF2-40B4-BE49-F238E27FC236}">
                  <a16:creationId xmlns:a16="http://schemas.microsoft.com/office/drawing/2014/main" id="{0F8B9AF0-2622-2A04-F1ED-ED9368F9B986}"/>
                </a:ext>
              </a:extLst>
            </p:cNvPr>
            <p:cNvSpPr txBox="1"/>
            <p:nvPr/>
          </p:nvSpPr>
          <p:spPr>
            <a:xfrm rot="5400000">
              <a:off x="42844806" y="10544726"/>
              <a:ext cx="492443" cy="894559"/>
            </a:xfrm>
            <a:prstGeom prst="rect">
              <a:avLst/>
            </a:prstGeom>
            <a:noFill/>
          </p:spPr>
          <p:txBody>
            <a:bodyPr vert="vert270" wrap="square">
              <a:spAutoFit/>
            </a:bodyPr>
            <a:lstStyle/>
            <a:p>
              <a:pPr algn="ctr"/>
              <a:r>
                <a:rPr lang="en-US" sz="2000" dirty="0">
                  <a:latin typeface="Helvetica"/>
                  <a:ea typeface="MS PGothic"/>
                </a:rPr>
                <a:t>73</a:t>
              </a:r>
            </a:p>
          </p:txBody>
        </p:sp>
        <p:sp>
          <p:nvSpPr>
            <p:cNvPr id="15514" name="TextBox 15513">
              <a:extLst>
                <a:ext uri="{FF2B5EF4-FFF2-40B4-BE49-F238E27FC236}">
                  <a16:creationId xmlns:a16="http://schemas.microsoft.com/office/drawing/2014/main" id="{E60AC3A4-3AE3-AE30-E0E3-896B8FAA10B3}"/>
                </a:ext>
              </a:extLst>
            </p:cNvPr>
            <p:cNvSpPr txBox="1"/>
            <p:nvPr/>
          </p:nvSpPr>
          <p:spPr>
            <a:xfrm rot="5400000">
              <a:off x="38011338" y="10662467"/>
              <a:ext cx="492443" cy="894559"/>
            </a:xfrm>
            <a:prstGeom prst="rect">
              <a:avLst/>
            </a:prstGeom>
            <a:noFill/>
          </p:spPr>
          <p:txBody>
            <a:bodyPr vert="vert270" wrap="square">
              <a:spAutoFit/>
            </a:bodyPr>
            <a:lstStyle/>
            <a:p>
              <a:pPr algn="ctr"/>
              <a:r>
                <a:rPr lang="en-US" sz="2000" dirty="0">
                  <a:latin typeface="Helvetica"/>
                  <a:ea typeface="MS PGothic"/>
                </a:rPr>
                <a:t>21</a:t>
              </a:r>
            </a:p>
          </p:txBody>
        </p:sp>
      </p:grpSp>
      <p:sp>
        <p:nvSpPr>
          <p:cNvPr id="15516" name="Rectangle 15515">
            <a:extLst>
              <a:ext uri="{FF2B5EF4-FFF2-40B4-BE49-F238E27FC236}">
                <a16:creationId xmlns:a16="http://schemas.microsoft.com/office/drawing/2014/main" id="{69025403-F6D7-C8C4-F5D8-FF27361E4E91}"/>
              </a:ext>
            </a:extLst>
          </p:cNvPr>
          <p:cNvSpPr/>
          <p:nvPr/>
        </p:nvSpPr>
        <p:spPr>
          <a:xfrm>
            <a:off x="31178642" y="12908794"/>
            <a:ext cx="12293617" cy="584775"/>
          </a:xfrm>
          <a:prstGeom prst="rect">
            <a:avLst/>
          </a:prstGeom>
        </p:spPr>
        <p:txBody>
          <a:bodyPr wrap="square" lIns="91440" tIns="45720" rIns="91440" bIns="45720" anchor="t">
            <a:spAutoFit/>
          </a:bodyPr>
          <a:lstStyle/>
          <a:p>
            <a:pPr algn="ctr"/>
            <a:r>
              <a:rPr lang="en-US" sz="3200" dirty="0">
                <a:ea typeface="MS PGothic"/>
                <a:cs typeface="Helvetica"/>
              </a:rPr>
              <a:t>We found an association between the precuneus and age</a:t>
            </a:r>
          </a:p>
        </p:txBody>
      </p:sp>
      <p:pic>
        <p:nvPicPr>
          <p:cNvPr id="15519" name="Picture 15518">
            <a:extLst>
              <a:ext uri="{FF2B5EF4-FFF2-40B4-BE49-F238E27FC236}">
                <a16:creationId xmlns:a16="http://schemas.microsoft.com/office/drawing/2014/main" id="{ED5B2D2C-98F6-DF06-D6F2-C1EB7BDB5BB2}"/>
              </a:ext>
            </a:extLst>
          </p:cNvPr>
          <p:cNvPicPr>
            <a:picLocks noChangeAspect="1"/>
          </p:cNvPicPr>
          <p:nvPr/>
        </p:nvPicPr>
        <p:blipFill>
          <a:blip r:embed="rId11"/>
          <a:stretch>
            <a:fillRect/>
          </a:stretch>
        </p:blipFill>
        <p:spPr>
          <a:xfrm>
            <a:off x="31354424" y="15485476"/>
            <a:ext cx="7216034" cy="7151686"/>
          </a:xfrm>
          <a:prstGeom prst="rect">
            <a:avLst/>
          </a:prstGeom>
        </p:spPr>
      </p:pic>
      <p:sp>
        <p:nvSpPr>
          <p:cNvPr id="15520" name="Rectangle 15519">
            <a:extLst>
              <a:ext uri="{FF2B5EF4-FFF2-40B4-BE49-F238E27FC236}">
                <a16:creationId xmlns:a16="http://schemas.microsoft.com/office/drawing/2014/main" id="{93FF6634-0FA7-FD32-F6D8-ADBE0C3DF974}"/>
              </a:ext>
            </a:extLst>
          </p:cNvPr>
          <p:cNvSpPr/>
          <p:nvPr/>
        </p:nvSpPr>
        <p:spPr>
          <a:xfrm>
            <a:off x="31809199" y="22940971"/>
            <a:ext cx="12293617" cy="1077218"/>
          </a:xfrm>
          <a:prstGeom prst="rect">
            <a:avLst/>
          </a:prstGeom>
        </p:spPr>
        <p:txBody>
          <a:bodyPr wrap="square" lIns="91440" tIns="45720" rIns="91440" bIns="45720" anchor="t">
            <a:spAutoFit/>
          </a:bodyPr>
          <a:lstStyle/>
          <a:p>
            <a:pPr algn="ctr"/>
            <a:r>
              <a:rPr lang="en-US" sz="3200" dirty="0">
                <a:ea typeface="MS PGothic"/>
                <a:cs typeface="Helvetica"/>
              </a:rPr>
              <a:t>We found Orbitofrontal Cortex activation in the three way effects model between IOS, age and OAFEM</a:t>
            </a:r>
          </a:p>
        </p:txBody>
      </p:sp>
      <p:grpSp>
        <p:nvGrpSpPr>
          <p:cNvPr id="15524" name="Group 15523">
            <a:extLst>
              <a:ext uri="{FF2B5EF4-FFF2-40B4-BE49-F238E27FC236}">
                <a16:creationId xmlns:a16="http://schemas.microsoft.com/office/drawing/2014/main" id="{2BE13E56-51BA-1AA5-3DFC-DFF18406D067}"/>
              </a:ext>
            </a:extLst>
          </p:cNvPr>
          <p:cNvGrpSpPr/>
          <p:nvPr/>
        </p:nvGrpSpPr>
        <p:grpSpPr>
          <a:xfrm>
            <a:off x="175846" y="31162938"/>
            <a:ext cx="14710114" cy="1521569"/>
            <a:chOff x="348551" y="31162937"/>
            <a:chExt cx="14710114" cy="1521569"/>
          </a:xfrm>
        </p:grpSpPr>
        <p:sp>
          <p:nvSpPr>
            <p:cNvPr id="15522" name="Rectangle 162">
              <a:extLst>
                <a:ext uri="{FF2B5EF4-FFF2-40B4-BE49-F238E27FC236}">
                  <a16:creationId xmlns:a16="http://schemas.microsoft.com/office/drawing/2014/main" id="{FE02C6A3-84E3-8711-744E-4E036833F418}"/>
                </a:ext>
              </a:extLst>
            </p:cNvPr>
            <p:cNvSpPr>
              <a:spLocks noChangeArrowheads="1"/>
            </p:cNvSpPr>
            <p:nvPr/>
          </p:nvSpPr>
          <p:spPr bwMode="auto">
            <a:xfrm>
              <a:off x="348551" y="31162937"/>
              <a:ext cx="14710114" cy="1521569"/>
            </a:xfrm>
            <a:prstGeom prst="rect">
              <a:avLst/>
            </a:prstGeom>
            <a:noFill/>
            <a:ln w="76200">
              <a:solidFill>
                <a:srgbClr val="C00000"/>
              </a:solidFill>
              <a:miter lim="800000"/>
              <a:headEnd/>
              <a:tailEnd/>
            </a:ln>
            <a:extLst>
              <a:ext uri="{909E8E84-426E-40DD-AFC4-6F175D3DCCD1}">
                <a14:hiddenFill xmlns:a14="http://schemas.microsoft.com/office/drawing/2010/main">
                  <a:solidFill>
                    <a:srgbClr val="FFFFFF"/>
                  </a:solidFill>
                </a14:hiddenFill>
              </a:ext>
            </a:extLst>
          </p:spPr>
          <p:txBody>
            <a:bodyPr wrap="none" lIns="81274" tIns="40638" rIns="81274" bIns="40638" anchor="ct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eaLnBrk="1" hangingPunct="1"/>
              <a:endParaRPr lang="en-US" altLang="en-US" sz="1245">
                <a:latin typeface="Trebuchet MS" panose="020B0603020202020204" pitchFamily="34" charset="0"/>
              </a:endParaRPr>
            </a:p>
          </p:txBody>
        </p:sp>
        <p:sp>
          <p:nvSpPr>
            <p:cNvPr id="15523" name="TextBox 15522">
              <a:extLst>
                <a:ext uri="{FF2B5EF4-FFF2-40B4-BE49-F238E27FC236}">
                  <a16:creationId xmlns:a16="http://schemas.microsoft.com/office/drawing/2014/main" id="{D58D20F7-A26B-E2DB-0B9B-4184ACFBEF53}"/>
                </a:ext>
              </a:extLst>
            </p:cNvPr>
            <p:cNvSpPr txBox="1"/>
            <p:nvPr/>
          </p:nvSpPr>
          <p:spPr>
            <a:xfrm>
              <a:off x="515553" y="31367653"/>
              <a:ext cx="14106747" cy="954107"/>
            </a:xfrm>
            <a:prstGeom prst="rect">
              <a:avLst/>
            </a:prstGeom>
            <a:noFill/>
          </p:spPr>
          <p:txBody>
            <a:bodyPr wrap="none" rtlCol="0">
              <a:spAutoFit/>
            </a:bodyPr>
            <a:lstStyle/>
            <a:p>
              <a:r>
                <a:rPr lang="en-US" sz="2800" b="0" i="0" dirty="0">
                  <a:effectLst/>
                  <a:highlight>
                    <a:srgbClr val="D8E3C1"/>
                  </a:highlight>
                  <a:latin typeface="Slack-Lato"/>
                </a:rPr>
                <a:t>This study was supported by National Institutes of Health grant R01-AG067011 (David V. Smith).</a:t>
              </a:r>
              <a:br>
                <a:rPr lang="en-US" sz="2800" dirty="0">
                  <a:highlight>
                    <a:srgbClr val="D8E3C1"/>
                  </a:highlight>
                </a:rPr>
              </a:br>
              <a:r>
                <a:rPr lang="en-US" sz="2800" b="0" i="0" dirty="0">
                  <a:effectLst/>
                  <a:highlight>
                    <a:srgbClr val="D8E3C1"/>
                  </a:highlight>
                  <a:latin typeface="Slack-Lato"/>
                </a:rPr>
                <a:t>Contact information: </a:t>
              </a:r>
              <a:r>
                <a:rPr lang="en-US" sz="2800" b="0" i="0" dirty="0" err="1">
                  <a:effectLst/>
                  <a:highlight>
                    <a:srgbClr val="D8E3C1"/>
                  </a:highlight>
                  <a:latin typeface="Slack-Lato"/>
                </a:rPr>
                <a:t>Avi.Dachs@temple.edu</a:t>
              </a:r>
              <a:r>
                <a:rPr lang="en-US" sz="2800" b="0" i="0" dirty="0">
                  <a:effectLst/>
                  <a:highlight>
                    <a:srgbClr val="D8E3C1"/>
                  </a:highlight>
                  <a:latin typeface="Slack-Lato"/>
                </a:rPr>
                <a:t>, </a:t>
              </a:r>
              <a:r>
                <a:rPr lang="en-US" sz="2800" b="0" i="0" dirty="0" err="1">
                  <a:effectLst/>
                  <a:highlight>
                    <a:srgbClr val="D8E3C1"/>
                  </a:highlight>
                  <a:latin typeface="Slack-Lato"/>
                </a:rPr>
                <a:t>Cooper.sharp@temple.edu</a:t>
              </a:r>
              <a:endParaRPr lang="en-US" sz="2800" dirty="0">
                <a:highlight>
                  <a:srgbClr val="D8E3C1"/>
                </a:highlight>
              </a:endParaRPr>
            </a:p>
          </p:txBody>
        </p:sp>
      </p:grpSp>
      <p:sp>
        <p:nvSpPr>
          <p:cNvPr id="15415" name="TextBox 86">
            <a:extLst>
              <a:ext uri="{FF2B5EF4-FFF2-40B4-BE49-F238E27FC236}">
                <a16:creationId xmlns:a16="http://schemas.microsoft.com/office/drawing/2014/main" id="{B1E3A897-53DA-649F-39B9-6F4056C35336}"/>
              </a:ext>
            </a:extLst>
          </p:cNvPr>
          <p:cNvSpPr txBox="1">
            <a:spLocks noChangeArrowheads="1"/>
          </p:cNvSpPr>
          <p:nvPr/>
        </p:nvSpPr>
        <p:spPr bwMode="auto">
          <a:xfrm>
            <a:off x="33696613" y="14379109"/>
            <a:ext cx="7345905" cy="749436"/>
          </a:xfrm>
          <a:prstGeom prst="rect">
            <a:avLst/>
          </a:prstGeom>
          <a:solidFill>
            <a:schemeClr val="bg1"/>
          </a:solidFill>
          <a:ln>
            <a:noFill/>
          </a:ln>
        </p:spPr>
        <p:txBody>
          <a:bodyPr wrap="square" lIns="91440" tIns="45720" rIns="91440" bIns="45720" anchor="t">
            <a:spAutoFit/>
          </a:bodyPr>
          <a:lstStyle>
            <a:lvl1pPr>
              <a:defRPr sz="2400">
                <a:solidFill>
                  <a:schemeClr val="tx1"/>
                </a:solidFill>
                <a:latin typeface="Helvetica" panose="020B0604020202020204" pitchFamily="34" charset="0"/>
                <a:ea typeface="MS PGothic" panose="020B0600070205080204" pitchFamily="34" charset="-128"/>
              </a:defRPr>
            </a:lvl1pPr>
            <a:lvl2pPr marL="742950" indent="-285750">
              <a:defRPr sz="2400">
                <a:solidFill>
                  <a:schemeClr val="tx1"/>
                </a:solidFill>
                <a:latin typeface="Helvetica" panose="020B0604020202020204" pitchFamily="34" charset="0"/>
                <a:ea typeface="MS PGothic" panose="020B0600070205080204" pitchFamily="34" charset="-128"/>
              </a:defRPr>
            </a:lvl2pPr>
            <a:lvl3pPr marL="1143000" indent="-228600">
              <a:defRPr sz="2400">
                <a:solidFill>
                  <a:schemeClr val="tx1"/>
                </a:solidFill>
                <a:latin typeface="Helvetica" panose="020B0604020202020204" pitchFamily="34" charset="0"/>
                <a:ea typeface="MS PGothic" panose="020B0600070205080204" pitchFamily="34" charset="-128"/>
              </a:defRPr>
            </a:lvl3pPr>
            <a:lvl4pPr marL="1600200" indent="-228600">
              <a:defRPr sz="2400">
                <a:solidFill>
                  <a:schemeClr val="tx1"/>
                </a:solidFill>
                <a:latin typeface="Helvetica" panose="020B0604020202020204" pitchFamily="34" charset="0"/>
                <a:ea typeface="MS PGothic" panose="020B0600070205080204" pitchFamily="34" charset="-128"/>
              </a:defRPr>
            </a:lvl4pPr>
            <a:lvl5pPr marL="2057400" indent="-228600">
              <a:defRPr sz="2400">
                <a:solidFill>
                  <a:schemeClr val="tx1"/>
                </a:solidFill>
                <a:latin typeface="Helvetica" panose="020B0604020202020204" pitchFamily="34" charset="0"/>
                <a:ea typeface="MS PGothic" panose="020B0600070205080204" pitchFamily="34" charset="-128"/>
              </a:defRPr>
            </a:lvl5pPr>
            <a:lvl6pPr marL="25146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6pPr>
            <a:lvl7pPr marL="29718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7pPr>
            <a:lvl8pPr marL="34290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8pPr>
            <a:lvl9pPr marL="3886200" indent="-228600" eaLnBrk="0" fontAlgn="base" hangingPunct="0">
              <a:spcBef>
                <a:spcPct val="0"/>
              </a:spcBef>
              <a:spcAft>
                <a:spcPct val="0"/>
              </a:spcAft>
              <a:defRPr sz="2400">
                <a:solidFill>
                  <a:schemeClr val="tx1"/>
                </a:solidFill>
                <a:latin typeface="Helvetica" panose="020B0604020202020204" pitchFamily="34" charset="0"/>
                <a:ea typeface="MS PGothic" panose="020B0600070205080204" pitchFamily="34" charset="-128"/>
              </a:defRPr>
            </a:lvl9pPr>
          </a:lstStyle>
          <a:p>
            <a:pPr algn="ctr"/>
            <a:r>
              <a:rPr lang="en-US" altLang="en-US" sz="4270" b="1" dirty="0">
                <a:solidFill>
                  <a:srgbClr val="C00000"/>
                </a:solidFill>
                <a:latin typeface="Trebuchet MS"/>
                <a:ea typeface="MS PGothic"/>
              </a:rPr>
              <a:t>7. IOS x Age x OAFEM</a:t>
            </a:r>
            <a:endParaRPr lang="en-US" altLang="en-US" sz="4270" b="1" dirty="0">
              <a:solidFill>
                <a:srgbClr val="C00000"/>
              </a:solidFill>
              <a:latin typeface="Trebuchet MS" panose="020B0603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2" name="Group 31">
            <a:extLst>
              <a:ext uri="{FF2B5EF4-FFF2-40B4-BE49-F238E27FC236}">
                <a16:creationId xmlns:a16="http://schemas.microsoft.com/office/drawing/2014/main" id="{0EBE959C-E76F-26F5-3977-7B65ACC54BDB}"/>
              </a:ext>
            </a:extLst>
          </p:cNvPr>
          <p:cNvGrpSpPr/>
          <p:nvPr/>
        </p:nvGrpSpPr>
        <p:grpSpPr>
          <a:xfrm>
            <a:off x="17267302" y="5300010"/>
            <a:ext cx="15233772" cy="14187253"/>
            <a:chOff x="17267302" y="5300010"/>
            <a:chExt cx="15233772" cy="14187253"/>
          </a:xfrm>
        </p:grpSpPr>
        <p:grpSp>
          <p:nvGrpSpPr>
            <p:cNvPr id="28" name="Group 27">
              <a:extLst>
                <a:ext uri="{FF2B5EF4-FFF2-40B4-BE49-F238E27FC236}">
                  <a16:creationId xmlns:a16="http://schemas.microsoft.com/office/drawing/2014/main" id="{ACEBC02A-D17E-C673-FF14-B2A7299CD29C}"/>
                </a:ext>
              </a:extLst>
            </p:cNvPr>
            <p:cNvGrpSpPr/>
            <p:nvPr/>
          </p:nvGrpSpPr>
          <p:grpSpPr>
            <a:xfrm>
              <a:off x="17267302" y="5300010"/>
              <a:ext cx="15233772" cy="14187253"/>
              <a:chOff x="17267302" y="5300010"/>
              <a:chExt cx="15233772" cy="14187253"/>
            </a:xfrm>
          </p:grpSpPr>
          <p:grpSp>
            <p:nvGrpSpPr>
              <p:cNvPr id="24" name="Group 23">
                <a:extLst>
                  <a:ext uri="{FF2B5EF4-FFF2-40B4-BE49-F238E27FC236}">
                    <a16:creationId xmlns:a16="http://schemas.microsoft.com/office/drawing/2014/main" id="{E7764D22-FEE2-29D5-77DA-B49907121EA6}"/>
                  </a:ext>
                </a:extLst>
              </p:cNvPr>
              <p:cNvGrpSpPr/>
              <p:nvPr/>
            </p:nvGrpSpPr>
            <p:grpSpPr>
              <a:xfrm>
                <a:off x="17267302" y="5300010"/>
                <a:ext cx="15233772" cy="12987990"/>
                <a:chOff x="17267302" y="5300010"/>
                <a:chExt cx="15233772" cy="12987990"/>
              </a:xfrm>
            </p:grpSpPr>
            <p:sp>
              <p:nvSpPr>
                <p:cNvPr id="3" name="Rectangle 2">
                  <a:extLst>
                    <a:ext uri="{FF2B5EF4-FFF2-40B4-BE49-F238E27FC236}">
                      <a16:creationId xmlns:a16="http://schemas.microsoft.com/office/drawing/2014/main" id="{34AFE783-B325-8261-217E-BB4718A01EFE}"/>
                    </a:ext>
                  </a:extLst>
                </p:cNvPr>
                <p:cNvSpPr/>
                <p:nvPr/>
              </p:nvSpPr>
              <p:spPr bwMode="auto">
                <a:xfrm>
                  <a:off x="17267302" y="5300010"/>
                  <a:ext cx="2814638" cy="6500813"/>
                </a:xfrm>
                <a:prstGeom prst="rect">
                  <a:avLst/>
                </a:prstGeom>
                <a:solidFill>
                  <a:schemeClr val="accent1">
                    <a:lumMod val="50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4" name="Rectangle 3">
                  <a:extLst>
                    <a:ext uri="{FF2B5EF4-FFF2-40B4-BE49-F238E27FC236}">
                      <a16:creationId xmlns:a16="http://schemas.microsoft.com/office/drawing/2014/main" id="{D50A6255-10BD-F4E5-2627-B4138E01A997}"/>
                    </a:ext>
                  </a:extLst>
                </p:cNvPr>
                <p:cNvSpPr/>
                <p:nvPr/>
              </p:nvSpPr>
              <p:spPr bwMode="auto">
                <a:xfrm>
                  <a:off x="23482859" y="16121903"/>
                  <a:ext cx="2814638" cy="2166097"/>
                </a:xfrm>
                <a:prstGeom prst="rect">
                  <a:avLst/>
                </a:prstGeom>
                <a:solidFill>
                  <a:schemeClr val="accent1">
                    <a:lumMod val="25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5" name="Rectangle 4">
                  <a:extLst>
                    <a:ext uri="{FF2B5EF4-FFF2-40B4-BE49-F238E27FC236}">
                      <a16:creationId xmlns:a16="http://schemas.microsoft.com/office/drawing/2014/main" id="{D5E1BAF2-0B1B-D6EB-D2FA-146E5C5CA6F3}"/>
                    </a:ext>
                  </a:extLst>
                </p:cNvPr>
                <p:cNvSpPr/>
                <p:nvPr/>
              </p:nvSpPr>
              <p:spPr bwMode="auto">
                <a:xfrm>
                  <a:off x="29686436" y="16121903"/>
                  <a:ext cx="2814638" cy="2166097"/>
                </a:xfrm>
                <a:prstGeom prst="rect">
                  <a:avLst/>
                </a:prstGeom>
                <a:solidFill>
                  <a:schemeClr val="accent1">
                    <a:lumMod val="75000"/>
                  </a:schemeClr>
                </a:solidFill>
                <a:ln w="508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7" name="Straight Connector 6">
                  <a:extLst>
                    <a:ext uri="{FF2B5EF4-FFF2-40B4-BE49-F238E27FC236}">
                      <a16:creationId xmlns:a16="http://schemas.microsoft.com/office/drawing/2014/main" id="{BC5D78FB-3804-D93A-C859-BB3859DEF4C8}"/>
                    </a:ext>
                  </a:extLst>
                </p:cNvPr>
                <p:cNvCxnSpPr>
                  <a:cxnSpLocks/>
                  <a:stCxn id="3" idx="2"/>
                </p:cNvCxnSpPr>
                <p:nvPr/>
              </p:nvCxnSpPr>
              <p:spPr bwMode="auto">
                <a:xfrm>
                  <a:off x="18674621" y="11800823"/>
                  <a:ext cx="0" cy="430614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9" name="Straight Connector 8">
                  <a:extLst>
                    <a:ext uri="{FF2B5EF4-FFF2-40B4-BE49-F238E27FC236}">
                      <a16:creationId xmlns:a16="http://schemas.microsoft.com/office/drawing/2014/main" id="{3323A30F-EB0B-0BC4-120E-17A180965A1E}"/>
                    </a:ext>
                  </a:extLst>
                </p:cNvPr>
                <p:cNvCxnSpPr>
                  <a:cxnSpLocks/>
                </p:cNvCxnSpPr>
                <p:nvPr/>
              </p:nvCxnSpPr>
              <p:spPr bwMode="auto">
                <a:xfrm>
                  <a:off x="24890178" y="13968833"/>
                  <a:ext cx="0" cy="215307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1" name="Straight Connector 10">
                  <a:extLst>
                    <a:ext uri="{FF2B5EF4-FFF2-40B4-BE49-F238E27FC236}">
                      <a16:creationId xmlns:a16="http://schemas.microsoft.com/office/drawing/2014/main" id="{094A9A13-7EB7-FB0C-327F-5A30EB7CA157}"/>
                    </a:ext>
                  </a:extLst>
                </p:cNvPr>
                <p:cNvCxnSpPr>
                  <a:cxnSpLocks/>
                </p:cNvCxnSpPr>
                <p:nvPr/>
              </p:nvCxnSpPr>
              <p:spPr bwMode="auto">
                <a:xfrm>
                  <a:off x="31104633" y="13968833"/>
                  <a:ext cx="0" cy="2153070"/>
                </a:xfrm>
                <a:prstGeom prst="line">
                  <a:avLst/>
                </a:prstGeom>
                <a:solidFill>
                  <a:schemeClr val="accent1"/>
                </a:solidFill>
                <a:ln w="50800" cap="flat" cmpd="sng" algn="ctr">
                  <a:solidFill>
                    <a:schemeClr val="tx1"/>
                  </a:solidFill>
                  <a:prstDash val="dash"/>
                  <a:round/>
                  <a:headEnd type="none" w="med" len="med"/>
                  <a:tailEnd type="none" w="med" len="med"/>
                </a:ln>
                <a:effectLst/>
              </p:spPr>
            </p:cxnSp>
            <p:cxnSp>
              <p:nvCxnSpPr>
                <p:cNvPr id="13" name="Straight Connector 12">
                  <a:extLst>
                    <a:ext uri="{FF2B5EF4-FFF2-40B4-BE49-F238E27FC236}">
                      <a16:creationId xmlns:a16="http://schemas.microsoft.com/office/drawing/2014/main" id="{E6E28200-C2D5-D487-234B-026AA92A5BE8}"/>
                    </a:ext>
                  </a:extLst>
                </p:cNvPr>
                <p:cNvCxnSpPr/>
                <p:nvPr/>
              </p:nvCxnSpPr>
              <p:spPr bwMode="auto">
                <a:xfrm>
                  <a:off x="18010414" y="1612190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cxnSp>
              <p:nvCxnSpPr>
                <p:cNvPr id="14" name="Straight Connector 13">
                  <a:extLst>
                    <a:ext uri="{FF2B5EF4-FFF2-40B4-BE49-F238E27FC236}">
                      <a16:creationId xmlns:a16="http://schemas.microsoft.com/office/drawing/2014/main" id="{F1CF9C76-ADBF-601C-5AB7-771E0AFB6314}"/>
                    </a:ext>
                  </a:extLst>
                </p:cNvPr>
                <p:cNvCxnSpPr/>
                <p:nvPr/>
              </p:nvCxnSpPr>
              <p:spPr bwMode="auto">
                <a:xfrm>
                  <a:off x="24237035" y="1396883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cxnSp>
              <p:nvCxnSpPr>
                <p:cNvPr id="15" name="Straight Connector 14">
                  <a:extLst>
                    <a:ext uri="{FF2B5EF4-FFF2-40B4-BE49-F238E27FC236}">
                      <a16:creationId xmlns:a16="http://schemas.microsoft.com/office/drawing/2014/main" id="{00D94689-F8BC-3D65-2CD3-9F5CE68EF435}"/>
                    </a:ext>
                  </a:extLst>
                </p:cNvPr>
                <p:cNvCxnSpPr/>
                <p:nvPr/>
              </p:nvCxnSpPr>
              <p:spPr bwMode="auto">
                <a:xfrm>
                  <a:off x="30451490" y="13968833"/>
                  <a:ext cx="1306286" cy="0"/>
                </a:xfrm>
                <a:prstGeom prst="line">
                  <a:avLst/>
                </a:prstGeom>
                <a:solidFill>
                  <a:schemeClr val="accent1"/>
                </a:solidFill>
                <a:ln w="50800" cap="flat" cmpd="sng" algn="ctr">
                  <a:solidFill>
                    <a:schemeClr val="tx1"/>
                  </a:solidFill>
                  <a:prstDash val="solid"/>
                  <a:round/>
                  <a:headEnd type="none" w="med" len="med"/>
                  <a:tailEnd type="none" w="med" len="med"/>
                </a:ln>
                <a:effectLst/>
              </p:spPr>
            </p:cxnSp>
            <p:sp>
              <p:nvSpPr>
                <p:cNvPr id="18" name="Multiply 17">
                  <a:extLst>
                    <a:ext uri="{FF2B5EF4-FFF2-40B4-BE49-F238E27FC236}">
                      <a16:creationId xmlns:a16="http://schemas.microsoft.com/office/drawing/2014/main" id="{B86E0230-0B5B-2336-900D-8F8ED1CB2692}"/>
                    </a:ext>
                  </a:extLst>
                </p:cNvPr>
                <p:cNvSpPr/>
                <p:nvPr/>
              </p:nvSpPr>
              <p:spPr bwMode="auto">
                <a:xfrm>
                  <a:off x="30860534" y="11343623"/>
                  <a:ext cx="457200" cy="457200"/>
                </a:xfrm>
                <a:prstGeom prst="mathMultiply">
                  <a:avLst/>
                </a:prstGeom>
                <a:solidFill>
                  <a:srgbClr val="72BFC5"/>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cxnSp>
              <p:nvCxnSpPr>
                <p:cNvPr id="21" name="Straight Connector 20">
                  <a:extLst>
                    <a:ext uri="{FF2B5EF4-FFF2-40B4-BE49-F238E27FC236}">
                      <a16:creationId xmlns:a16="http://schemas.microsoft.com/office/drawing/2014/main" id="{3DC4BE0B-55CC-21CC-228D-4D58C6F81768}"/>
                    </a:ext>
                  </a:extLst>
                </p:cNvPr>
                <p:cNvCxnSpPr/>
                <p:nvPr/>
              </p:nvCxnSpPr>
              <p:spPr bwMode="auto">
                <a:xfrm>
                  <a:off x="17301874" y="9627476"/>
                  <a:ext cx="2764221" cy="0"/>
                </a:xfrm>
                <a:prstGeom prst="line">
                  <a:avLst/>
                </a:prstGeom>
                <a:solidFill>
                  <a:schemeClr val="accent1"/>
                </a:solidFill>
                <a:ln w="101600" cap="flat" cmpd="sng" algn="ctr">
                  <a:solidFill>
                    <a:srgbClr val="D54C43"/>
                  </a:solidFill>
                  <a:prstDash val="solid"/>
                  <a:round/>
                  <a:headEnd type="none" w="med" len="med"/>
                  <a:tailEnd type="none" w="med" len="med"/>
                </a:ln>
                <a:effectLst/>
              </p:spPr>
            </p:cxnSp>
            <p:cxnSp>
              <p:nvCxnSpPr>
                <p:cNvPr id="22" name="Straight Connector 21">
                  <a:extLst>
                    <a:ext uri="{FF2B5EF4-FFF2-40B4-BE49-F238E27FC236}">
                      <a16:creationId xmlns:a16="http://schemas.microsoft.com/office/drawing/2014/main" id="{A1CE6A5D-1BCC-6244-27A6-2E6271A4DF81}"/>
                    </a:ext>
                  </a:extLst>
                </p:cNvPr>
                <p:cNvCxnSpPr/>
                <p:nvPr/>
              </p:nvCxnSpPr>
              <p:spPr bwMode="auto">
                <a:xfrm>
                  <a:off x="23513855" y="18210955"/>
                  <a:ext cx="2764221" cy="0"/>
                </a:xfrm>
                <a:prstGeom prst="line">
                  <a:avLst/>
                </a:prstGeom>
                <a:solidFill>
                  <a:schemeClr val="accent1"/>
                </a:solidFill>
                <a:ln w="101600" cap="flat" cmpd="sng" algn="ctr">
                  <a:solidFill>
                    <a:srgbClr val="BB423A"/>
                  </a:solidFill>
                  <a:prstDash val="solid"/>
                  <a:round/>
                  <a:headEnd type="none" w="med" len="med"/>
                  <a:tailEnd type="none" w="med" len="med"/>
                </a:ln>
                <a:effectLst/>
              </p:spPr>
            </p:cxnSp>
            <p:cxnSp>
              <p:nvCxnSpPr>
                <p:cNvPr id="23" name="Straight Connector 22">
                  <a:extLst>
                    <a:ext uri="{FF2B5EF4-FFF2-40B4-BE49-F238E27FC236}">
                      <a16:creationId xmlns:a16="http://schemas.microsoft.com/office/drawing/2014/main" id="{ABE1D573-BA3F-6844-0338-2311984CF2CB}"/>
                    </a:ext>
                  </a:extLst>
                </p:cNvPr>
                <p:cNvCxnSpPr/>
                <p:nvPr/>
              </p:nvCxnSpPr>
              <p:spPr bwMode="auto">
                <a:xfrm>
                  <a:off x="29707024" y="18210954"/>
                  <a:ext cx="2764221" cy="0"/>
                </a:xfrm>
                <a:prstGeom prst="line">
                  <a:avLst/>
                </a:prstGeom>
                <a:solidFill>
                  <a:schemeClr val="accent1"/>
                </a:solidFill>
                <a:ln w="101600" cap="flat" cmpd="sng" algn="ctr">
                  <a:solidFill>
                    <a:srgbClr val="EF544A"/>
                  </a:solidFill>
                  <a:prstDash val="solid"/>
                  <a:round/>
                  <a:headEnd type="none" w="med" len="med"/>
                  <a:tailEnd type="none" w="med" len="med"/>
                </a:ln>
                <a:effectLst/>
              </p:spPr>
            </p:cxnSp>
          </p:grpSp>
          <p:sp>
            <p:nvSpPr>
              <p:cNvPr id="25" name="TextBox 24">
                <a:extLst>
                  <a:ext uri="{FF2B5EF4-FFF2-40B4-BE49-F238E27FC236}">
                    <a16:creationId xmlns:a16="http://schemas.microsoft.com/office/drawing/2014/main" id="{E82CD6FC-4197-B0F5-EB5E-7B8778E1D9B9}"/>
                  </a:ext>
                </a:extLst>
              </p:cNvPr>
              <p:cNvSpPr txBox="1"/>
              <p:nvPr/>
            </p:nvSpPr>
            <p:spPr>
              <a:xfrm>
                <a:off x="18047432" y="18801292"/>
                <a:ext cx="1273104" cy="553998"/>
              </a:xfrm>
              <a:prstGeom prst="rect">
                <a:avLst/>
              </a:prstGeom>
              <a:noFill/>
            </p:spPr>
            <p:txBody>
              <a:bodyPr wrap="none" rtlCol="0">
                <a:spAutoFit/>
              </a:bodyPr>
              <a:lstStyle/>
              <a:p>
                <a:pPr algn="ctr"/>
                <a:r>
                  <a:rPr lang="en-US" sz="3000" dirty="0"/>
                  <a:t>Friend</a:t>
                </a:r>
              </a:p>
            </p:txBody>
          </p:sp>
          <p:sp>
            <p:nvSpPr>
              <p:cNvPr id="26" name="TextBox 25">
                <a:extLst>
                  <a:ext uri="{FF2B5EF4-FFF2-40B4-BE49-F238E27FC236}">
                    <a16:creationId xmlns:a16="http://schemas.microsoft.com/office/drawing/2014/main" id="{5FEAD576-740F-E665-EA00-7C83C68CAF0A}"/>
                  </a:ext>
                </a:extLst>
              </p:cNvPr>
              <p:cNvSpPr txBox="1"/>
              <p:nvPr/>
            </p:nvSpPr>
            <p:spPr>
              <a:xfrm>
                <a:off x="24016659" y="18801291"/>
                <a:ext cx="1657826" cy="553998"/>
              </a:xfrm>
              <a:prstGeom prst="rect">
                <a:avLst/>
              </a:prstGeom>
              <a:noFill/>
            </p:spPr>
            <p:txBody>
              <a:bodyPr wrap="none" rtlCol="0">
                <a:spAutoFit/>
              </a:bodyPr>
              <a:lstStyle/>
              <a:p>
                <a:pPr algn="ctr"/>
                <a:r>
                  <a:rPr lang="en-US" sz="3000" dirty="0"/>
                  <a:t>Stranger</a:t>
                </a:r>
              </a:p>
            </p:txBody>
          </p:sp>
          <p:sp>
            <p:nvSpPr>
              <p:cNvPr id="27" name="TextBox 26">
                <a:extLst>
                  <a:ext uri="{FF2B5EF4-FFF2-40B4-BE49-F238E27FC236}">
                    <a16:creationId xmlns:a16="http://schemas.microsoft.com/office/drawing/2014/main" id="{484B7075-BCE9-5433-D5D4-988B3A796C17}"/>
                  </a:ext>
                </a:extLst>
              </p:cNvPr>
              <p:cNvSpPr txBox="1"/>
              <p:nvPr/>
            </p:nvSpPr>
            <p:spPr>
              <a:xfrm>
                <a:off x="30153622" y="18933265"/>
                <a:ext cx="1871025" cy="553998"/>
              </a:xfrm>
              <a:prstGeom prst="rect">
                <a:avLst/>
              </a:prstGeom>
              <a:noFill/>
            </p:spPr>
            <p:txBody>
              <a:bodyPr wrap="none" rtlCol="0">
                <a:spAutoFit/>
              </a:bodyPr>
              <a:lstStyle/>
              <a:p>
                <a:pPr algn="ctr"/>
                <a:r>
                  <a:rPr lang="en-US" sz="3000" dirty="0"/>
                  <a:t>Computer</a:t>
                </a:r>
              </a:p>
            </p:txBody>
          </p:sp>
        </p:grpSp>
        <p:sp>
          <p:nvSpPr>
            <p:cNvPr id="29" name="Multiply 28">
              <a:extLst>
                <a:ext uri="{FF2B5EF4-FFF2-40B4-BE49-F238E27FC236}">
                  <a16:creationId xmlns:a16="http://schemas.microsoft.com/office/drawing/2014/main" id="{E2544558-A55A-31AE-362C-DC229ED9A5F8}"/>
                </a:ext>
              </a:extLst>
            </p:cNvPr>
            <p:cNvSpPr/>
            <p:nvPr/>
          </p:nvSpPr>
          <p:spPr bwMode="auto">
            <a:xfrm>
              <a:off x="30860534" y="9433297"/>
              <a:ext cx="457200" cy="457200"/>
            </a:xfrm>
            <a:prstGeom prst="mathMultiply">
              <a:avLst/>
            </a:prstGeom>
            <a:solidFill>
              <a:srgbClr val="72BFC5"/>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30" name="Multiply 29">
              <a:extLst>
                <a:ext uri="{FF2B5EF4-FFF2-40B4-BE49-F238E27FC236}">
                  <a16:creationId xmlns:a16="http://schemas.microsoft.com/office/drawing/2014/main" id="{49EFB42A-BDC5-EDFE-30E2-3E0854186CEB}"/>
                </a:ext>
              </a:extLst>
            </p:cNvPr>
            <p:cNvSpPr/>
            <p:nvPr/>
          </p:nvSpPr>
          <p:spPr bwMode="auto">
            <a:xfrm>
              <a:off x="24661578" y="11557807"/>
              <a:ext cx="457200" cy="457200"/>
            </a:xfrm>
            <a:prstGeom prst="mathMultiply">
              <a:avLst/>
            </a:prstGeom>
            <a:solidFill>
              <a:srgbClr val="1D4647"/>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sp>
          <p:nvSpPr>
            <p:cNvPr id="31" name="Multiply 30">
              <a:extLst>
                <a:ext uri="{FF2B5EF4-FFF2-40B4-BE49-F238E27FC236}">
                  <a16:creationId xmlns:a16="http://schemas.microsoft.com/office/drawing/2014/main" id="{1F137DB2-67E6-E506-A500-26336390C594}"/>
                </a:ext>
              </a:extLst>
            </p:cNvPr>
            <p:cNvSpPr/>
            <p:nvPr/>
          </p:nvSpPr>
          <p:spPr bwMode="auto">
            <a:xfrm>
              <a:off x="24661578" y="9433297"/>
              <a:ext cx="457200" cy="457200"/>
            </a:xfrm>
            <a:prstGeom prst="mathMultiply">
              <a:avLst/>
            </a:prstGeom>
            <a:solidFill>
              <a:srgbClr val="1D4647"/>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4389438" rtl="0" eaLnBrk="1" fontAlgn="base" latinLnBrk="0" hangingPunct="1">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charset="0"/>
                <a:cs typeface="Arial" charset="0"/>
              </a:endParaRPr>
            </a:p>
          </p:txBody>
        </p:sp>
      </p:grpSp>
    </p:spTree>
    <p:extLst>
      <p:ext uri="{BB962C8B-B14F-4D97-AF65-F5344CB8AC3E}">
        <p14:creationId xmlns:p14="http://schemas.microsoft.com/office/powerpoint/2010/main" val="2447354785"/>
      </p:ext>
    </p:extLst>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438943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4389438" rtl="0" eaLnBrk="1" fontAlgn="base" latinLnBrk="0" hangingPunct="1">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cs typeface="Arial" charset="0"/>
          </a:defRPr>
        </a:defPPr>
      </a:lstStyle>
    </a:lnDef>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0DE0AC601CE7945A16C28BE7D604718" ma:contentTypeVersion="16" ma:contentTypeDescription="Create a new document." ma:contentTypeScope="" ma:versionID="7200742d51933ad5859751156d985908">
  <xsd:schema xmlns:xsd="http://www.w3.org/2001/XMLSchema" xmlns:xs="http://www.w3.org/2001/XMLSchema" xmlns:p="http://schemas.microsoft.com/office/2006/metadata/properties" xmlns:ns2="068132b6-27af-4cc5-9624-46e0bc309f9c" xmlns:ns3="1ec1d487-840c-40ff-aca1-00ff13008544" targetNamespace="http://schemas.microsoft.com/office/2006/metadata/properties" ma:root="true" ma:fieldsID="ef3bb859774f4d5f12e6e11e5f5551df" ns2:_="" ns3:_="">
    <xsd:import namespace="068132b6-27af-4cc5-9624-46e0bc309f9c"/>
    <xsd:import namespace="1ec1d487-840c-40ff-aca1-00ff1300854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68132b6-27af-4cc5-9624-46e0bc309f9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46aeeafc-10b8-45d8-a1af-5ed376f9e159"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ec1d487-840c-40ff-aca1-00ff13008544"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585dd9d-b35f-48e0-ab88-fcb6ff0e764c}" ma:internalName="TaxCatchAll" ma:showField="CatchAllData" ma:web="1ec1d487-840c-40ff-aca1-00ff1300854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6138A07-987C-4A73-AAED-022482DDD0A4}">
  <ds:schemaRefs>
    <ds:schemaRef ds:uri="068132b6-27af-4cc5-9624-46e0bc309f9c"/>
    <ds:schemaRef ds:uri="1ec1d487-840c-40ff-aca1-00ff1300854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D5CAE7E8-1A3A-4A91-86FB-BA9E1762341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12592</TotalTime>
  <Words>558</Words>
  <Application>Microsoft Macintosh PowerPoint</Application>
  <PresentationFormat>Custom</PresentationFormat>
  <Paragraphs>67</Paragraphs>
  <Slides>2</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vt:i4>
      </vt:variant>
    </vt:vector>
  </HeadingPairs>
  <TitlesOfParts>
    <vt:vector size="8" baseType="lpstr">
      <vt:lpstr>Arial</vt:lpstr>
      <vt:lpstr>Helvetica</vt:lpstr>
      <vt:lpstr>Slack-Lato</vt:lpstr>
      <vt:lpstr>Times New Roman</vt:lpstr>
      <vt:lpstr>Trebuchet MS</vt:lpstr>
      <vt:lpstr>Default Design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DVS</dc:creator>
  <cp:lastModifiedBy>Avi Dachs</cp:lastModifiedBy>
  <cp:revision>21</cp:revision>
  <cp:lastPrinted>2018-05-07T13:24:31Z</cp:lastPrinted>
  <dcterms:created xsi:type="dcterms:W3CDTF">2007-10-30T17:33:32Z</dcterms:created>
  <dcterms:modified xsi:type="dcterms:W3CDTF">2023-11-07T16:23:25Z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1</vt:i4>
  </property>
</Properties>
</file>