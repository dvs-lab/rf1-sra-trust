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8"/>
  </p:notesMasterIdLst>
  <p:handoutMasterIdLst>
    <p:handoutMasterId r:id="rId9"/>
  </p:handoutMasterIdLst>
  <p:sldIdLst>
    <p:sldId id="256" r:id="rId4"/>
    <p:sldId id="257" r:id="rId5"/>
    <p:sldId id="260" r:id="rId6"/>
    <p:sldId id="261" r:id="rId7"/>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E78F60-8CE4-956A-0128-6E549761F19F}" name="Avi Dachs" initials="AD" userId="S::tur74001@temple.edu::87fc8e61-7f3a-4332-ab39-1fb75fe6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CB9F"/>
    <a:srgbClr val="95CB8F"/>
    <a:srgbClr val="79CB7A"/>
    <a:srgbClr val="FAF86D"/>
    <a:srgbClr val="848484"/>
    <a:srgbClr val="E4E0BA"/>
    <a:srgbClr val="D8E3C1"/>
    <a:srgbClr val="EF544A"/>
    <a:srgbClr val="BDE4CB"/>
    <a:srgbClr val="F2DD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24"/>
    <p:restoredTop sz="94650"/>
  </p:normalViewPr>
  <p:slideViewPr>
    <p:cSldViewPr snapToGrid="0">
      <p:cViewPr>
        <p:scale>
          <a:sx n="27" d="100"/>
          <a:sy n="27" d="100"/>
        </p:scale>
        <p:origin x="-136" y="-96"/>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Master" Target="slideMasters/slideMaster1.xml"/><Relationship Id="rId7" Type="http://schemas.openxmlformats.org/officeDocument/2006/relationships/slide" Target="slides/slide4.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presProps" Target="presProps.xml"/><Relationship Id="rId5" Type="http://schemas.openxmlformats.org/officeDocument/2006/relationships/slide" Target="slides/slide2.xml"/><Relationship Id="rId15" Type="http://schemas.microsoft.com/office/2018/10/relationships/authors" Target="authors.xml"/><Relationship Id="rId10" Type="http://schemas.openxmlformats.org/officeDocument/2006/relationships/commentAuthors" Target="commentAuthors.xml"/><Relationship Id="rId4" Type="http://schemas.openxmlformats.org/officeDocument/2006/relationships/slide" Target="slides/slide1.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7BFDDBB1-044E-9D49-A06F-A3C869B026F2}" authorId="{65E78F60-8CE4-956A-0128-6E549761F19F}" created="2023-11-09T16:08:01.580">
    <pc:sldMkLst xmlns:pc="http://schemas.microsoft.com/office/powerpoint/2013/main/command">
      <pc:docMk/>
      <pc:sldMk cId="0" sldId="256"/>
    </pc:sldMkLst>
    <p188:replyLst>
      <p188:reply id="{3B9890BE-EE1D-3A49-92EB-1992130D2BCD}" authorId="{65E78F60-8CE4-956A-0128-6E549761F19F}" created="2023-11-09T16:08:57.249">
        <p188:txBody>
          <a:bodyPr/>
          <a:lstStyle/>
          <a:p>
            <a:r>
              <a:rPr lang="en-US"/>
              <a:t>IOS x age</a:t>
            </a:r>
          </a:p>
        </p188:txBody>
      </p188:reply>
    </p188:replyLst>
    <p188:txBody>
      <a:bodyPr/>
      <a:lstStyle/>
      <a:p>
        <a:r>
          <a:rPr lang="en-US"/>
          <a:t>Computer Stranger order 3.</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svg"/><Relationship Id="rId26" Type="http://schemas.openxmlformats.org/officeDocument/2006/relationships/image" Target="../media/image23.svg"/><Relationship Id="rId3" Type="http://schemas.microsoft.com/office/2018/10/relationships/comments" Target="../comments/modernComment_100_0.xml"/><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svg"/><Relationship Id="rId20"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sv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28" Type="http://schemas.openxmlformats.org/officeDocument/2006/relationships/image" Target="../media/image25.svg"/><Relationship Id="rId10" Type="http://schemas.openxmlformats.org/officeDocument/2006/relationships/image" Target="../media/image7.png"/><Relationship Id="rId19"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sv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5" Type="http://schemas.openxmlformats.org/officeDocument/2006/relationships/image" Target="../media/image30.svg"/><Relationship Id="rId4" Type="http://schemas.openxmlformats.org/officeDocument/2006/relationships/image" Target="../media/image29.png"/></Relationships>
</file>

<file path=ppt/slides/_rels/slide4.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621" name="Group 15620">
            <a:extLst>
              <a:ext uri="{FF2B5EF4-FFF2-40B4-BE49-F238E27FC236}">
                <a16:creationId xmlns:a16="http://schemas.microsoft.com/office/drawing/2014/main" id="{5C45E275-5A15-8C98-B9C5-16C75C23860A}"/>
              </a:ext>
            </a:extLst>
          </p:cNvPr>
          <p:cNvGrpSpPr/>
          <p:nvPr/>
        </p:nvGrpSpPr>
        <p:grpSpPr>
          <a:xfrm>
            <a:off x="3779671" y="16218296"/>
            <a:ext cx="10697765" cy="10056750"/>
            <a:chOff x="3779671" y="16218296"/>
            <a:chExt cx="10697765" cy="10056750"/>
          </a:xfrm>
        </p:grpSpPr>
        <p:grpSp>
          <p:nvGrpSpPr>
            <p:cNvPr id="15606" name="Group 15605">
              <a:extLst>
                <a:ext uri="{FF2B5EF4-FFF2-40B4-BE49-F238E27FC236}">
                  <a16:creationId xmlns:a16="http://schemas.microsoft.com/office/drawing/2014/main" id="{B0CC5957-EC01-CDC2-ADAF-5A0141831C57}"/>
                </a:ext>
              </a:extLst>
            </p:cNvPr>
            <p:cNvGrpSpPr/>
            <p:nvPr/>
          </p:nvGrpSpPr>
          <p:grpSpPr>
            <a:xfrm>
              <a:off x="3779671" y="16218296"/>
              <a:ext cx="10697765" cy="10056750"/>
              <a:chOff x="18887859" y="360968"/>
              <a:chExt cx="6543891" cy="6151778"/>
            </a:xfrm>
          </p:grpSpPr>
          <p:pic>
            <p:nvPicPr>
              <p:cNvPr id="15607" name="Picture 15606" descr="A green check mark on a grey background&#10;&#10;Description automatically generated">
                <a:extLst>
                  <a:ext uri="{FF2B5EF4-FFF2-40B4-BE49-F238E27FC236}">
                    <a16:creationId xmlns:a16="http://schemas.microsoft.com/office/drawing/2014/main" id="{BFD42068-273C-19B5-B61E-D2752FACB16C}"/>
                  </a:ext>
                </a:extLst>
              </p:cNvPr>
              <p:cNvPicPr>
                <a:picLocks noChangeAspect="1"/>
              </p:cNvPicPr>
              <p:nvPr/>
            </p:nvPicPr>
            <p:blipFill rotWithShape="1">
              <a:blip r:embed="rId4"/>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8" name="Picture 15607" descr="A computer screen shot&#10;&#10;Description automatically generated">
                <a:extLst>
                  <a:ext uri="{FF2B5EF4-FFF2-40B4-BE49-F238E27FC236}">
                    <a16:creationId xmlns:a16="http://schemas.microsoft.com/office/drawing/2014/main" id="{7AF89E18-68CC-9284-01FB-59B8ECC6A7F3}"/>
                  </a:ext>
                </a:extLst>
              </p:cNvPr>
              <p:cNvPicPr>
                <a:picLocks noChangeAspect="1"/>
              </p:cNvPicPr>
              <p:nvPr/>
            </p:nvPicPr>
            <p:blipFill rotWithShape="1">
              <a:blip r:embed="rId5"/>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09" name="Picture 15608" descr="A white cross on a gray background&#10;&#10;Description automatically generated">
                <a:extLst>
                  <a:ext uri="{FF2B5EF4-FFF2-40B4-BE49-F238E27FC236}">
                    <a16:creationId xmlns:a16="http://schemas.microsoft.com/office/drawing/2014/main" id="{A316990F-59C7-631E-47E9-456D55904891}"/>
                  </a:ext>
                </a:extLst>
              </p:cNvPr>
              <p:cNvPicPr>
                <a:picLocks noChangeAspect="1"/>
              </p:cNvPicPr>
              <p:nvPr/>
            </p:nvPicPr>
            <p:blipFill rotWithShape="1">
              <a:blip r:embed="rId6"/>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0" name="Picture 15609" descr="A grey background with white text&#10;&#10;Description automatically generated">
                <a:extLst>
                  <a:ext uri="{FF2B5EF4-FFF2-40B4-BE49-F238E27FC236}">
                    <a16:creationId xmlns:a16="http://schemas.microsoft.com/office/drawing/2014/main" id="{E95A9EFF-122D-C651-FDF5-564B82E90BBA}"/>
                  </a:ext>
                </a:extLst>
              </p:cNvPr>
              <p:cNvPicPr>
                <a:picLocks noChangeAspect="1"/>
              </p:cNvPicPr>
              <p:nvPr/>
            </p:nvPicPr>
            <p:blipFill>
              <a:blip r:embed="rId7"/>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1" name="Picture 15610" descr="A computer and a keyboard&#10;&#10;Description automatically generated with medium confidence">
                <a:extLst>
                  <a:ext uri="{FF2B5EF4-FFF2-40B4-BE49-F238E27FC236}">
                    <a16:creationId xmlns:a16="http://schemas.microsoft.com/office/drawing/2014/main" id="{BD10086D-C152-9AEB-CD34-13177C8F6D4A}"/>
                  </a:ext>
                </a:extLst>
              </p:cNvPr>
              <p:cNvPicPr>
                <a:picLocks noChangeAspect="1"/>
              </p:cNvPicPr>
              <p:nvPr/>
            </p:nvPicPr>
            <p:blipFill rotWithShape="1">
              <a:blip r:embed="rId8"/>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5612" name="Group 15611">
                <a:extLst>
                  <a:ext uri="{FF2B5EF4-FFF2-40B4-BE49-F238E27FC236}">
                    <a16:creationId xmlns:a16="http://schemas.microsoft.com/office/drawing/2014/main" id="{60B2107B-4199-FD0C-4076-CA2B2F109B20}"/>
                  </a:ext>
                </a:extLst>
              </p:cNvPr>
              <p:cNvGrpSpPr/>
              <p:nvPr/>
            </p:nvGrpSpPr>
            <p:grpSpPr>
              <a:xfrm>
                <a:off x="22071524" y="360968"/>
                <a:ext cx="3360226" cy="995434"/>
                <a:chOff x="3514264" y="206684"/>
                <a:chExt cx="3360226" cy="995434"/>
              </a:xfrm>
            </p:grpSpPr>
            <p:pic>
              <p:nvPicPr>
                <p:cNvPr id="15613" name="Picture 15612">
                  <a:extLst>
                    <a:ext uri="{FF2B5EF4-FFF2-40B4-BE49-F238E27FC236}">
                      <a16:creationId xmlns:a16="http://schemas.microsoft.com/office/drawing/2014/main" id="{8F1F804F-2F4C-1C69-0ED4-456A517A34F3}"/>
                    </a:ext>
                  </a:extLst>
                </p:cNvPr>
                <p:cNvPicPr>
                  <a:picLocks noChangeAspect="1"/>
                </p:cNvPicPr>
                <p:nvPr/>
              </p:nvPicPr>
              <p:blipFill>
                <a:blip r:embed="rId9"/>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4" name="Picture 15613" descr="A grey square with a person's head&#10;&#10;Description automatically generated">
                  <a:extLst>
                    <a:ext uri="{FF2B5EF4-FFF2-40B4-BE49-F238E27FC236}">
                      <a16:creationId xmlns:a16="http://schemas.microsoft.com/office/drawing/2014/main" id="{2172C1AD-5BEC-2CFE-FCB3-472B60E2C225}"/>
                    </a:ext>
                  </a:extLst>
                </p:cNvPr>
                <p:cNvPicPr>
                  <a:picLocks noChangeAspect="1"/>
                </p:cNvPicPr>
                <p:nvPr/>
              </p:nvPicPr>
              <p:blipFill>
                <a:blip r:embed="rId10"/>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615" name="Picture 15614" descr="A person with a smile on his face&#10;&#10;Description automatically generated">
                  <a:extLst>
                    <a:ext uri="{FF2B5EF4-FFF2-40B4-BE49-F238E27FC236}">
                      <a16:creationId xmlns:a16="http://schemas.microsoft.com/office/drawing/2014/main" id="{7957BC4D-151A-EB1E-5CAE-777FF2B16B20}"/>
                    </a:ext>
                  </a:extLst>
                </p:cNvPr>
                <p:cNvPicPr>
                  <a:picLocks noChangeAspect="1"/>
                </p:cNvPicPr>
                <p:nvPr/>
              </p:nvPicPr>
              <p:blipFill>
                <a:blip r:embed="rId11"/>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
          <p:nvSpPr>
            <p:cNvPr id="15616" name="Rectangle 15615">
              <a:extLst>
                <a:ext uri="{FF2B5EF4-FFF2-40B4-BE49-F238E27FC236}">
                  <a16:creationId xmlns:a16="http://schemas.microsoft.com/office/drawing/2014/main" id="{946783DC-D597-2C29-6191-5B3893CFCF5D}"/>
                </a:ext>
              </a:extLst>
            </p:cNvPr>
            <p:cNvSpPr/>
            <p:nvPr/>
          </p:nvSpPr>
          <p:spPr bwMode="auto">
            <a:xfrm>
              <a:off x="4019981" y="18563950"/>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$8</a:t>
              </a:r>
            </a:p>
          </p:txBody>
        </p:sp>
        <p:sp>
          <p:nvSpPr>
            <p:cNvPr id="15618" name="Rectangle 15617">
              <a:extLst>
                <a:ext uri="{FF2B5EF4-FFF2-40B4-BE49-F238E27FC236}">
                  <a16:creationId xmlns:a16="http://schemas.microsoft.com/office/drawing/2014/main" id="{C6024063-9D2C-50D8-70B5-FC3D7C6F49F8}"/>
                </a:ext>
              </a:extLst>
            </p:cNvPr>
            <p:cNvSpPr/>
            <p:nvPr/>
          </p:nvSpPr>
          <p:spPr bwMode="auto">
            <a:xfrm>
              <a:off x="6502102" y="18568097"/>
              <a:ext cx="1803026"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Share $2</a:t>
              </a:r>
            </a:p>
          </p:txBody>
        </p:sp>
        <p:sp>
          <p:nvSpPr>
            <p:cNvPr id="15619" name="Rectangle 15618">
              <a:extLst>
                <a:ext uri="{FF2B5EF4-FFF2-40B4-BE49-F238E27FC236}">
                  <a16:creationId xmlns:a16="http://schemas.microsoft.com/office/drawing/2014/main" id="{8EBB5886-1680-B3C7-DEC7-CD388B0CA60C}"/>
                </a:ext>
              </a:extLst>
            </p:cNvPr>
            <p:cNvSpPr/>
            <p:nvPr/>
          </p:nvSpPr>
          <p:spPr bwMode="auto">
            <a:xfrm>
              <a:off x="7005674" y="19674283"/>
              <a:ext cx="1978245"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Loading…</a:t>
              </a:r>
            </a:p>
          </p:txBody>
        </p:sp>
        <p:sp>
          <p:nvSpPr>
            <p:cNvPr id="15620" name="Rectangle 15619">
              <a:extLst>
                <a:ext uri="{FF2B5EF4-FFF2-40B4-BE49-F238E27FC236}">
                  <a16:creationId xmlns:a16="http://schemas.microsoft.com/office/drawing/2014/main" id="{98A52E85-D70D-5398-4E75-D523A6EBBF49}"/>
                </a:ext>
              </a:extLst>
            </p:cNvPr>
            <p:cNvSpPr/>
            <p:nvPr/>
          </p:nvSpPr>
          <p:spPr bwMode="auto">
            <a:xfrm>
              <a:off x="9139048" y="21549198"/>
              <a:ext cx="704737" cy="718761"/>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5000" b="0" i="0" u="none" strike="noStrike" cap="none" normalizeH="0" baseline="0" dirty="0">
                  <a:ln>
                    <a:noFill/>
                  </a:ln>
                  <a:solidFill>
                    <a:schemeClr val="bg1"/>
                  </a:solidFill>
                  <a:effectLst/>
                  <a:latin typeface="Arial" charset="0"/>
                  <a:cs typeface="Arial" charset="0"/>
                </a:rPr>
                <a:t>+</a:t>
              </a:r>
            </a:p>
          </p:txBody>
        </p:sp>
      </p:grpSp>
      <p:grpSp>
        <p:nvGrpSpPr>
          <p:cNvPr id="15428" name="Group 15427">
            <a:extLst>
              <a:ext uri="{FF2B5EF4-FFF2-40B4-BE49-F238E27FC236}">
                <a16:creationId xmlns:a16="http://schemas.microsoft.com/office/drawing/2014/main" id="{788D9291-9D84-C5C9-22EF-259D72BF4C72}"/>
              </a:ext>
            </a:extLst>
          </p:cNvPr>
          <p:cNvGrpSpPr/>
          <p:nvPr/>
        </p:nvGrpSpPr>
        <p:grpSpPr>
          <a:xfrm>
            <a:off x="10524474" y="18375577"/>
            <a:ext cx="4086526" cy="4565394"/>
            <a:chOff x="10579516" y="17749339"/>
            <a:chExt cx="4086526" cy="4565394"/>
          </a:xfrm>
        </p:grpSpPr>
        <p:grpSp>
          <p:nvGrpSpPr>
            <p:cNvPr id="65" name="Group 64">
              <a:extLst>
                <a:ext uri="{FF2B5EF4-FFF2-40B4-BE49-F238E27FC236}">
                  <a16:creationId xmlns:a16="http://schemas.microsoft.com/office/drawing/2014/main" id="{89055108-BE18-C2C5-0FF5-A55BEBB4A05F}"/>
                </a:ext>
              </a:extLst>
            </p:cNvPr>
            <p:cNvGrpSpPr/>
            <p:nvPr/>
          </p:nvGrpSpPr>
          <p:grpSpPr>
            <a:xfrm>
              <a:off x="10579516" y="17749339"/>
              <a:ext cx="3543576" cy="1716829"/>
              <a:chOff x="10597863" y="17642945"/>
              <a:chExt cx="3543576" cy="1716829"/>
            </a:xfrm>
          </p:grpSpPr>
          <p:sp>
            <p:nvSpPr>
              <p:cNvPr id="15" name="Rectangle 14">
                <a:extLst>
                  <a:ext uri="{FF2B5EF4-FFF2-40B4-BE49-F238E27FC236}">
                    <a16:creationId xmlns:a16="http://schemas.microsoft.com/office/drawing/2014/main" id="{353421B0-7681-A37B-CA3F-986E07C1DB77}"/>
                  </a:ext>
                </a:extLst>
              </p:cNvPr>
              <p:cNvSpPr/>
              <p:nvPr/>
            </p:nvSpPr>
            <p:spPr bwMode="auto">
              <a:xfrm>
                <a:off x="10597863" y="17642945"/>
                <a:ext cx="3543576" cy="1716829"/>
              </a:xfrm>
              <a:prstGeom prst="rect">
                <a:avLst/>
              </a:prstGeom>
              <a:solidFill>
                <a:srgbClr val="FAF86D">
                  <a:alpha val="82294"/>
                </a:srgbClr>
              </a:solid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8" name="TextBox 7">
                <a:extLst>
                  <a:ext uri="{FF2B5EF4-FFF2-40B4-BE49-F238E27FC236}">
                    <a16:creationId xmlns:a16="http://schemas.microsoft.com/office/drawing/2014/main" id="{8F94C34F-C114-09E7-7592-2C68A047774A}"/>
                  </a:ext>
                </a:extLst>
              </p:cNvPr>
              <p:cNvSpPr txBox="1"/>
              <p:nvPr/>
            </p:nvSpPr>
            <p:spPr>
              <a:xfrm>
                <a:off x="10597863" y="17717299"/>
                <a:ext cx="3386365"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12"/>
            <a:stretch>
              <a:fillRect/>
            </a:stretch>
          </p:blipFill>
          <p:spPr>
            <a:xfrm>
              <a:off x="12246737" y="19903601"/>
              <a:ext cx="2419305" cy="2411132"/>
            </a:xfrm>
            <a:prstGeom prst="rect">
              <a:avLst/>
            </a:prstGeom>
          </p:spPr>
        </p:pic>
      </p:grpSp>
      <p:sp>
        <p:nvSpPr>
          <p:cNvPr id="15365" name="Rectangle 162"/>
          <p:cNvSpPr>
            <a:spLocks noChangeArrowheads="1"/>
          </p:cNvSpPr>
          <p:nvPr/>
        </p:nvSpPr>
        <p:spPr bwMode="auto">
          <a:xfrm>
            <a:off x="162957" y="12488003"/>
            <a:ext cx="14710114" cy="18312188"/>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7554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rebuchet MS" panose="020B0703020202090204" pitchFamily="34" charset="0"/>
              </a:rPr>
              <a:t>Abraham Dachs</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Cooper J. Sharp</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Enes Yanilmaz</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James B. </a:t>
            </a:r>
            <a:r>
              <a:rPr lang="en-US" sz="4000" i="0" dirty="0" err="1">
                <a:solidFill>
                  <a:srgbClr val="000000"/>
                </a:solidFill>
                <a:effectLst/>
                <a:latin typeface="Trebuchet MS" panose="020B0703020202090204" pitchFamily="34" charset="0"/>
              </a:rPr>
              <a:t>Wyngaarden</a:t>
            </a:r>
            <a:r>
              <a:rPr lang="en-US" sz="4000" i="0" dirty="0">
                <a:solidFill>
                  <a:srgbClr val="000000"/>
                </a:solidFill>
                <a:effectLst/>
                <a:latin typeface="Trebuchet MS" panose="020B0703020202090204" pitchFamily="34" charset="0"/>
              </a:rPr>
              <a:t> III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Ori Zaff</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Tia Tropea</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Daniel Sazhin</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Rita Ludwig</a:t>
            </a:r>
            <a:r>
              <a:rPr lang="en-US" sz="4000" i="0" baseline="30000" dirty="0">
                <a:solidFill>
                  <a:srgbClr val="000000"/>
                </a:solidFill>
                <a:effectLst/>
                <a:latin typeface="Trebuchet MS" panose="020B0703020202090204" pitchFamily="34" charset="0"/>
              </a:rPr>
              <a:t>2</a:t>
            </a:r>
            <a:r>
              <a:rPr lang="en-US" sz="4000" i="0" dirty="0">
                <a:solidFill>
                  <a:srgbClr val="000000"/>
                </a:solidFill>
                <a:effectLst/>
                <a:latin typeface="Trebuchet MS" panose="020B0703020202090204" pitchFamily="34" charset="0"/>
              </a:rPr>
              <a:t>, Tania Giovannetti</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Dominic S. Fareri</a:t>
            </a:r>
            <a:r>
              <a:rPr lang="en-US" sz="4000" baseline="30000" dirty="0">
                <a:solidFill>
                  <a:srgbClr val="000000"/>
                </a:solidFill>
                <a:latin typeface="Trebuchet MS" panose="020B0703020202090204" pitchFamily="34" charset="0"/>
              </a:rPr>
              <a:t>3</a:t>
            </a:r>
            <a:r>
              <a:rPr lang="en-US" sz="4000" i="0" dirty="0">
                <a:solidFill>
                  <a:srgbClr val="000000"/>
                </a:solidFill>
                <a:effectLst/>
                <a:latin typeface="Trebuchet MS" panose="020B0703020202090204" pitchFamily="34" charset="0"/>
              </a:rPr>
              <a:t>, David V. Smith</a:t>
            </a:r>
            <a:r>
              <a:rPr lang="en-US" sz="4000" i="0" baseline="30000" dirty="0">
                <a:solidFill>
                  <a:srgbClr val="000000"/>
                </a:solidFill>
                <a:effectLst/>
                <a:latin typeface="Trebuchet MS" panose="020B0703020202090204" pitchFamily="34" charset="0"/>
              </a:rPr>
              <a:t>1</a:t>
            </a:r>
            <a:r>
              <a:rPr lang="en-US" sz="4000" i="0" dirty="0">
                <a:solidFill>
                  <a:srgbClr val="000000"/>
                </a:solidFill>
                <a:effectLst/>
                <a:latin typeface="Trebuchet MS" panose="020B0703020202090204" pitchFamily="34" charset="0"/>
              </a:rPr>
              <a:t> </a:t>
            </a:r>
            <a:br>
              <a:rPr lang="en-US" sz="4000" dirty="0">
                <a:latin typeface="Trebuchet MS" panose="020B0703020202090204" pitchFamily="34" charset="0"/>
                <a:cs typeface="Helvetica" panose="020B0604020202020204" pitchFamily="34" charset="0"/>
              </a:rPr>
            </a:br>
            <a:endParaRPr lang="en-US" altLang="en-US" sz="4000" dirty="0">
              <a:latin typeface="Trebuchet MS" panose="020B0703020202090204" pitchFamily="34" charset="0"/>
              <a:cs typeface="Helvetica" panose="020B0604020202020204" pitchFamily="34" charset="0"/>
            </a:endParaRPr>
          </a:p>
        </p:txBody>
      </p:sp>
      <p:sp>
        <p:nvSpPr>
          <p:cNvPr id="15371" name="TextBox 15370"/>
          <p:cNvSpPr txBox="1"/>
          <p:nvPr/>
        </p:nvSpPr>
        <p:spPr>
          <a:xfrm>
            <a:off x="2302577" y="53433"/>
            <a:ext cx="40393584" cy="1698222"/>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10500" b="1" i="0" dirty="0">
                <a:solidFill>
                  <a:srgbClr val="000000"/>
                </a:solidFill>
                <a:effectLst/>
                <a:latin typeface="Trebuchet MS" panose="020B0703020202090204" pitchFamily="34" charset="0"/>
              </a:rPr>
              <a:t>Examining Age-Related Differences in Neural Responses to Trust</a:t>
            </a:r>
            <a:endParaRPr lang="en-US" sz="10500" dirty="0">
              <a:effectLst/>
              <a:latin typeface="Trebuchet MS" panose="020B0703020202090204" pitchFamily="34" charset="0"/>
              <a:ea typeface="Calibri" panose="020F0502020204030204" pitchFamily="34" charset="0"/>
              <a:cs typeface="Helvetica"/>
            </a:endParaRP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86681" y="13228864"/>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9868614"/>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4287424" y="3926011"/>
            <a:ext cx="5683649"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dirty="0">
                <a:solidFill>
                  <a:srgbClr val="C00000"/>
                </a:solidFill>
                <a:latin typeface="Trebuchet MS"/>
                <a:ea typeface="MS PGothic"/>
              </a:rPr>
              <a:t>6. </a:t>
            </a:r>
            <a:endParaRPr lang="en-US" altLang="en-US" sz="4250"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658143" y="22548386"/>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grpSp>
        <p:nvGrpSpPr>
          <p:cNvPr id="15525" name="Group 15524">
            <a:extLst>
              <a:ext uri="{FF2B5EF4-FFF2-40B4-BE49-F238E27FC236}">
                <a16:creationId xmlns:a16="http://schemas.microsoft.com/office/drawing/2014/main" id="{495044C5-5185-1E74-1C51-F36E8CA64CBA}"/>
              </a:ext>
            </a:extLst>
          </p:cNvPr>
          <p:cNvGrpSpPr/>
          <p:nvPr/>
        </p:nvGrpSpPr>
        <p:grpSpPr>
          <a:xfrm>
            <a:off x="169367" y="3967558"/>
            <a:ext cx="14831195" cy="8123743"/>
            <a:chOff x="211346" y="3968278"/>
            <a:chExt cx="14831195" cy="8123743"/>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9" name="Rectangle 162"/>
            <p:cNvSpPr>
              <a:spLocks noChangeArrowheads="1"/>
            </p:cNvSpPr>
            <p:nvPr/>
          </p:nvSpPr>
          <p:spPr bwMode="auto">
            <a:xfrm>
              <a:off x="211346" y="4331110"/>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dirty="0">
                <a:latin typeface="Trebuchet MS" panose="020B0603020202020204" pitchFamily="34" charset="0"/>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dirty="0">
                  <a:solidFill>
                    <a:srgbClr val="C00000"/>
                  </a:solidFill>
                  <a:latin typeface="Trebuchet MS" panose="020B0603020202020204" pitchFamily="34" charset="0"/>
                </a:rPr>
                <a:t>1. Introduction</a:t>
              </a: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grpSp>
      <p:grpSp>
        <p:nvGrpSpPr>
          <p:cNvPr id="15508" name="Group 15507">
            <a:extLst>
              <a:ext uri="{FF2B5EF4-FFF2-40B4-BE49-F238E27FC236}">
                <a16:creationId xmlns:a16="http://schemas.microsoft.com/office/drawing/2014/main" id="{ACE08C75-5E52-BA85-3BBA-E0BBC55E5D24}"/>
              </a:ext>
            </a:extLst>
          </p:cNvPr>
          <p:cNvGrpSpPr/>
          <p:nvPr/>
        </p:nvGrpSpPr>
        <p:grpSpPr>
          <a:xfrm>
            <a:off x="16601267" y="16040170"/>
            <a:ext cx="6012596" cy="5359483"/>
            <a:chOff x="14976740" y="15406812"/>
            <a:chExt cx="6810930" cy="6071098"/>
          </a:xfrm>
        </p:grpSpPr>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13"/>
            <a:stretch>
              <a:fillRect/>
            </a:stretch>
          </p:blipFill>
          <p:spPr>
            <a:xfrm>
              <a:off x="15705594" y="15406812"/>
              <a:ext cx="6082076" cy="6071098"/>
            </a:xfrm>
            <a:prstGeom prst="rect">
              <a:avLst/>
            </a:prstGeom>
          </p:spPr>
        </p:pic>
        <p:sp>
          <p:nvSpPr>
            <p:cNvPr id="35" name="TextBox 34">
              <a:extLst>
                <a:ext uri="{FF2B5EF4-FFF2-40B4-BE49-F238E27FC236}">
                  <a16:creationId xmlns:a16="http://schemas.microsoft.com/office/drawing/2014/main" id="{D37958DE-5E24-D58C-4A7D-3AB8A936FE13}"/>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049619" y="12144591"/>
            <a:ext cx="1258645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before the task on a 7-point Likert Scale</a:t>
            </a:r>
          </a:p>
        </p:txBody>
      </p:sp>
      <p:sp>
        <p:nvSpPr>
          <p:cNvPr id="15400" name="Rectangle 54"/>
          <p:cNvSpPr>
            <a:spLocks noChangeArrowheads="1"/>
          </p:cNvSpPr>
          <p:nvPr/>
        </p:nvSpPr>
        <p:spPr bwMode="auto">
          <a:xfrm>
            <a:off x="30676645" y="24531321"/>
            <a:ext cx="12928282" cy="81531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7.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4606389"/>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Experiencing reciprocation elicited VS activation</a:t>
            </a:r>
          </a:p>
          <a:p>
            <a:pPr>
              <a:spcBef>
                <a:spcPts val="360"/>
              </a:spcBef>
              <a:spcAft>
                <a:spcPts val="0"/>
              </a:spcAft>
              <a:buFont typeface="Arial" panose="020B0604020202020204" pitchFamily="34" charset="0"/>
              <a:buChar char="•"/>
            </a:pPr>
            <a:r>
              <a:rPr lang="en-US" sz="4000" dirty="0">
                <a:latin typeface="Helvetica"/>
                <a:ea typeface="MS PGothic"/>
                <a:cs typeface="Helvetica"/>
              </a:rPr>
              <a:t> There were no age related effects in the VS</a:t>
            </a:r>
          </a:p>
          <a:p>
            <a:pPr>
              <a:spcBef>
                <a:spcPts val="360"/>
              </a:spcBef>
              <a:spcAft>
                <a:spcPts val="0"/>
              </a:spcAft>
              <a:buFont typeface="Arial" panose="020B0604020202020204" pitchFamily="34" charset="0"/>
              <a:buChar char="•"/>
            </a:pPr>
            <a:r>
              <a:rPr lang="en-US" sz="4000" dirty="0">
                <a:latin typeface="Helvetica"/>
                <a:ea typeface="MS PGothic"/>
                <a:cs typeface="Helvetica"/>
              </a:rPr>
              <a:t> Increase in age was associated with increase in MFG activation</a:t>
            </a:r>
          </a:p>
          <a:p>
            <a:pPr>
              <a:spcBef>
                <a:spcPts val="360"/>
              </a:spcBef>
              <a:spcAft>
                <a:spcPts val="0"/>
              </a:spcAft>
              <a:buFont typeface="Arial" panose="020B0604020202020204" pitchFamily="34" charset="0"/>
              <a:buChar char="•"/>
            </a:pPr>
            <a:r>
              <a:rPr lang="en-US" sz="4000" dirty="0">
                <a:latin typeface="Helvetica"/>
                <a:ea typeface="MS PGothic"/>
                <a:cs typeface="Helvetica"/>
              </a:rPr>
              <a:t> Increase in age was associated with decrease in ACC activation</a:t>
            </a:r>
          </a:p>
          <a:p>
            <a:pPr>
              <a:spcBef>
                <a:spcPts val="360"/>
              </a:spcBef>
              <a:spcAft>
                <a:spcPts val="0"/>
              </a:spcAft>
            </a:pPr>
            <a:endParaRPr lang="en-US" sz="4000" b="1" dirty="0">
              <a:latin typeface="Helvetica"/>
              <a:ea typeface="MS PGothic"/>
              <a:cs typeface="Helvetica"/>
            </a:endParaRPr>
          </a:p>
        </p:txBody>
      </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1446550"/>
          </a:xfrm>
          <a:prstGeom prst="rect">
            <a:avLst/>
          </a:prstGeom>
          <a:noFill/>
        </p:spPr>
        <p:txBody>
          <a:bodyPr wrap="square" lIns="91440" tIns="45720" rIns="91440" bIns="45720" anchor="t">
            <a:spAutoFit/>
          </a:bodyPr>
          <a:lstStyle/>
          <a:p>
            <a:r>
              <a:rPr lang="en-US" sz="4400" dirty="0"/>
              <a:t>Data collection is ongoing. We anticipate tripling our sample size</a:t>
            </a: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81129" y="15250685"/>
            <a:ext cx="6101659" cy="707229"/>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500" u="sng" dirty="0"/>
              <a:t>You are given </a:t>
            </a:r>
            <a:r>
              <a:rPr lang="en-US" sz="3500" b="1" u="sng" dirty="0"/>
              <a:t>$8</a:t>
            </a:r>
            <a:r>
              <a:rPr lang="en-US" sz="3500" u="sng" dirty="0"/>
              <a:t>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92" name="Group 15591">
            <a:extLst>
              <a:ext uri="{FF2B5EF4-FFF2-40B4-BE49-F238E27FC236}">
                <a16:creationId xmlns:a16="http://schemas.microsoft.com/office/drawing/2014/main" id="{415B0EBC-8379-F485-6113-E5DF57F87E19}"/>
              </a:ext>
            </a:extLst>
          </p:cNvPr>
          <p:cNvGrpSpPr/>
          <p:nvPr/>
        </p:nvGrpSpPr>
        <p:grpSpPr>
          <a:xfrm>
            <a:off x="2182475" y="21738507"/>
            <a:ext cx="4667290" cy="1325771"/>
            <a:chOff x="1804103" y="21738507"/>
            <a:chExt cx="4667290" cy="1325771"/>
          </a:xfrm>
        </p:grpSpPr>
        <p:sp>
          <p:nvSpPr>
            <p:cNvPr id="52" name="TextBox 51">
              <a:extLst>
                <a:ext uri="{FF2B5EF4-FFF2-40B4-BE49-F238E27FC236}">
                  <a16:creationId xmlns:a16="http://schemas.microsoft.com/office/drawing/2014/main" id="{4707B45F-027B-576B-4808-66F0A5D95489}"/>
                </a:ext>
              </a:extLst>
            </p:cNvPr>
            <p:cNvSpPr txBox="1"/>
            <p:nvPr/>
          </p:nvSpPr>
          <p:spPr>
            <a:xfrm>
              <a:off x="5031575" y="21740839"/>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1804103" y="21738507"/>
              <a:ext cx="2967279" cy="1168944"/>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530502" y="18979791"/>
            <a:ext cx="4534151" cy="2464546"/>
            <a:chOff x="533974" y="18532980"/>
            <a:chExt cx="4534151" cy="2464546"/>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533974" y="19334093"/>
              <a:ext cx="4534151" cy="1663433"/>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 higher or lower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2361558" y="18532980"/>
              <a:ext cx="953880" cy="801113"/>
            </a:xfrm>
            <a:prstGeom prst="bentConnector3">
              <a:avLst>
                <a:gd name="adj1" fmla="val -3922"/>
              </a:avLst>
            </a:prstGeom>
            <a:solidFill>
              <a:schemeClr val="accent1"/>
            </a:solidFill>
            <a:ln w="50800" cap="flat" cmpd="sng" algn="ctr">
              <a:solidFill>
                <a:schemeClr val="tx1"/>
              </a:solidFill>
              <a:prstDash val="solid"/>
              <a:round/>
              <a:headEnd type="none" w="med" len="med"/>
              <a:tailEnd type="triangle"/>
            </a:ln>
            <a:effectLst/>
          </p:spPr>
        </p:cxnSp>
      </p:grpSp>
      <p:grpSp>
        <p:nvGrpSpPr>
          <p:cNvPr id="15524" name="Group 15523">
            <a:extLst>
              <a:ext uri="{FF2B5EF4-FFF2-40B4-BE49-F238E27FC236}">
                <a16:creationId xmlns:a16="http://schemas.microsoft.com/office/drawing/2014/main" id="{2BE13E56-51BA-1AA5-3DFC-DFF18406D067}"/>
              </a:ext>
            </a:extLst>
          </p:cNvPr>
          <p:cNvGrpSpPr/>
          <p:nvPr/>
        </p:nvGrpSpPr>
        <p:grpSpPr>
          <a:xfrm>
            <a:off x="175846" y="31162938"/>
            <a:ext cx="14969676" cy="1521569"/>
            <a:chOff x="348551" y="31162937"/>
            <a:chExt cx="14969676" cy="1521569"/>
          </a:xfrm>
        </p:grpSpPr>
        <p:sp>
          <p:nvSpPr>
            <p:cNvPr id="15522" name="Rectangle 162">
              <a:extLst>
                <a:ext uri="{FF2B5EF4-FFF2-40B4-BE49-F238E27FC236}">
                  <a16:creationId xmlns:a16="http://schemas.microsoft.com/office/drawing/2014/main" id="{FE02C6A3-84E3-8711-744E-4E036833F418}"/>
                </a:ext>
              </a:extLst>
            </p:cNvPr>
            <p:cNvSpPr>
              <a:spLocks noChangeArrowheads="1"/>
            </p:cNvSpPr>
            <p:nvPr/>
          </p:nvSpPr>
          <p:spPr bwMode="auto">
            <a:xfrm>
              <a:off x="348551" y="31162937"/>
              <a:ext cx="14710114" cy="152156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523" name="TextBox 15522">
              <a:extLst>
                <a:ext uri="{FF2B5EF4-FFF2-40B4-BE49-F238E27FC236}">
                  <a16:creationId xmlns:a16="http://schemas.microsoft.com/office/drawing/2014/main" id="{D58D20F7-A26B-E2DB-0B9B-4184ACFBEF53}"/>
                </a:ext>
              </a:extLst>
            </p:cNvPr>
            <p:cNvSpPr txBox="1"/>
            <p:nvPr/>
          </p:nvSpPr>
          <p:spPr>
            <a:xfrm>
              <a:off x="452491" y="31399184"/>
              <a:ext cx="14865736" cy="1015663"/>
            </a:xfrm>
            <a:prstGeom prst="rect">
              <a:avLst/>
            </a:prstGeom>
            <a:noFill/>
          </p:spPr>
          <p:txBody>
            <a:bodyPr wrap="none" rtlCol="0">
              <a:spAutoFit/>
            </a:bodyPr>
            <a:lstStyle/>
            <a:p>
              <a:r>
                <a:rPr lang="en-US" sz="2900" b="0" i="0" dirty="0">
                  <a:effectLst/>
                  <a:highlight>
                    <a:srgbClr val="D8E3C1"/>
                  </a:highlight>
                  <a:latin typeface="Slack-Lato"/>
                </a:rPr>
                <a:t>This study was supported by National Institutes of Health grant RF1-AG67011 (David V. Smith).</a:t>
              </a:r>
              <a:br>
                <a:rPr lang="en-US" sz="2900" dirty="0">
                  <a:highlight>
                    <a:srgbClr val="D8E3C1"/>
                  </a:highlight>
                </a:rPr>
              </a:br>
              <a:r>
                <a:rPr lang="en-US" sz="2900" b="0" i="0" dirty="0">
                  <a:effectLst/>
                  <a:highlight>
                    <a:srgbClr val="D8E3C1"/>
                  </a:highlight>
                  <a:latin typeface="Slack-Lato"/>
                </a:rPr>
                <a:t>Contact information: </a:t>
              </a:r>
              <a:r>
                <a:rPr lang="en-US" sz="2900" b="0" i="0" dirty="0" err="1">
                  <a:effectLst/>
                  <a:highlight>
                    <a:srgbClr val="D8E3C1"/>
                  </a:highlight>
                  <a:latin typeface="Slack-Lato"/>
                </a:rPr>
                <a:t>Avi.Dachs@temple.edu</a:t>
              </a:r>
              <a:r>
                <a:rPr lang="en-US" sz="2900" b="0" i="0" dirty="0">
                  <a:effectLst/>
                  <a:highlight>
                    <a:srgbClr val="D8E3C1"/>
                  </a:highlight>
                  <a:latin typeface="Slack-Lato"/>
                </a:rPr>
                <a:t>, </a:t>
              </a:r>
              <a:r>
                <a:rPr lang="en-US" sz="2900" b="0" i="0" dirty="0" err="1">
                  <a:effectLst/>
                  <a:highlight>
                    <a:srgbClr val="D8E3C1"/>
                  </a:highlight>
                  <a:latin typeface="Slack-Lato"/>
                </a:rPr>
                <a:t>Cooper.Sharp@temple.edu</a:t>
              </a:r>
              <a:endParaRPr lang="en-US" sz="2900" dirty="0">
                <a:highlight>
                  <a:srgbClr val="D8E3C1"/>
                </a:highlight>
              </a:endParaRPr>
            </a:p>
          </p:txBody>
        </p:sp>
      </p:grpSp>
      <p:grpSp>
        <p:nvGrpSpPr>
          <p:cNvPr id="15538" name="Group 15537">
            <a:extLst>
              <a:ext uri="{FF2B5EF4-FFF2-40B4-BE49-F238E27FC236}">
                <a16:creationId xmlns:a16="http://schemas.microsoft.com/office/drawing/2014/main" id="{4ABA81B2-5B67-77D2-5517-08033E19241B}"/>
              </a:ext>
            </a:extLst>
          </p:cNvPr>
          <p:cNvGrpSpPr/>
          <p:nvPr/>
        </p:nvGrpSpPr>
        <p:grpSpPr>
          <a:xfrm>
            <a:off x="1364527" y="17047384"/>
            <a:ext cx="3578072" cy="1569660"/>
            <a:chOff x="1398495" y="16644992"/>
            <a:chExt cx="3578072" cy="1569660"/>
          </a:xfrm>
        </p:grpSpPr>
        <p:sp>
          <p:nvSpPr>
            <p:cNvPr id="15528" name="Rounded Rectangle 15527">
              <a:extLst>
                <a:ext uri="{FF2B5EF4-FFF2-40B4-BE49-F238E27FC236}">
                  <a16:creationId xmlns:a16="http://schemas.microsoft.com/office/drawing/2014/main" id="{AD2DBFD4-1DD0-D27D-7CB0-35408A9E32E4}"/>
                </a:ext>
              </a:extLst>
            </p:cNvPr>
            <p:cNvSpPr/>
            <p:nvPr/>
          </p:nvSpPr>
          <p:spPr bwMode="auto">
            <a:xfrm>
              <a:off x="1398495" y="16644992"/>
              <a:ext cx="1947439"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assigned a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537" name="Straight Arrow Connector 15536">
              <a:extLst>
                <a:ext uri="{FF2B5EF4-FFF2-40B4-BE49-F238E27FC236}">
                  <a16:creationId xmlns:a16="http://schemas.microsoft.com/office/drawing/2014/main" id="{7A1CFB10-A83A-AA5A-7CB9-EC39B260985E}"/>
                </a:ext>
              </a:extLst>
            </p:cNvPr>
            <p:cNvCxnSpPr>
              <a:cxnSpLocks/>
              <a:stCxn id="15528" idx="3"/>
            </p:cNvCxnSpPr>
            <p:nvPr/>
          </p:nvCxnSpPr>
          <p:spPr bwMode="auto">
            <a:xfrm>
              <a:off x="3345934" y="17429822"/>
              <a:ext cx="1630633" cy="0"/>
            </a:xfrm>
            <a:prstGeom prst="straightConnector1">
              <a:avLst/>
            </a:prstGeom>
            <a:solidFill>
              <a:schemeClr val="accent1"/>
            </a:solidFill>
            <a:ln w="50800" cap="flat" cmpd="sng" algn="ctr">
              <a:solidFill>
                <a:schemeClr val="tx1"/>
              </a:solidFill>
              <a:prstDash val="solid"/>
              <a:round/>
              <a:headEnd type="none" w="med" len="med"/>
              <a:tailEnd type="triangle"/>
            </a:ln>
            <a:effectLst/>
          </p:spPr>
        </p:cxnSp>
      </p:grpSp>
      <p:sp>
        <p:nvSpPr>
          <p:cNvPr id="15542" name="Rounded Rectangle 15541">
            <a:extLst>
              <a:ext uri="{FF2B5EF4-FFF2-40B4-BE49-F238E27FC236}">
                <a16:creationId xmlns:a16="http://schemas.microsoft.com/office/drawing/2014/main" id="{F919F17A-D127-CAD0-86F8-9896BB472FB5}"/>
              </a:ext>
            </a:extLst>
          </p:cNvPr>
          <p:cNvSpPr/>
          <p:nvPr/>
        </p:nvSpPr>
        <p:spPr bwMode="auto">
          <a:xfrm>
            <a:off x="1019445" y="25306099"/>
            <a:ext cx="2843041" cy="76408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4000" u="sng" dirty="0"/>
              <a:t>End of trial</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583" name="Group 15582">
            <a:extLst>
              <a:ext uri="{FF2B5EF4-FFF2-40B4-BE49-F238E27FC236}">
                <a16:creationId xmlns:a16="http://schemas.microsoft.com/office/drawing/2014/main" id="{81424957-973F-2BA6-23A6-71C1377BD2AF}"/>
              </a:ext>
            </a:extLst>
          </p:cNvPr>
          <p:cNvGrpSpPr/>
          <p:nvPr/>
        </p:nvGrpSpPr>
        <p:grpSpPr>
          <a:xfrm>
            <a:off x="23079238" y="5095222"/>
            <a:ext cx="6472299" cy="6595040"/>
            <a:chOff x="23205210" y="4927197"/>
            <a:chExt cx="5400682" cy="6202336"/>
          </a:xfrm>
        </p:grpSpPr>
        <p:pic>
          <p:nvPicPr>
            <p:cNvPr id="15574" name="Picture 15573" descr="A graph of a line&#10;&#10;Description automatically generated with medium confidence">
              <a:extLst>
                <a:ext uri="{FF2B5EF4-FFF2-40B4-BE49-F238E27FC236}">
                  <a16:creationId xmlns:a16="http://schemas.microsoft.com/office/drawing/2014/main" id="{C54D0E15-DCC7-A19B-7997-13F421CEA2FB}"/>
                </a:ext>
              </a:extLst>
            </p:cNvPr>
            <p:cNvPicPr>
              <a:picLocks noChangeAspect="1"/>
            </p:cNvPicPr>
            <p:nvPr/>
          </p:nvPicPr>
          <p:blipFill rotWithShape="1">
            <a:blip r:embed="rId14">
              <a:extLst>
                <a:ext uri="{28A0092B-C50C-407E-A947-70E740481C1C}">
                  <a14:useLocalDpi xmlns:a14="http://schemas.microsoft.com/office/drawing/2010/main" val="0"/>
                </a:ext>
              </a:extLst>
            </a:blip>
            <a:srcRect r="3644" b="9068"/>
            <a:stretch/>
          </p:blipFill>
          <p:spPr>
            <a:xfrm>
              <a:off x="24004670" y="4927197"/>
              <a:ext cx="4601222" cy="5427765"/>
            </a:xfrm>
            <a:prstGeom prst="rect">
              <a:avLst/>
            </a:prstGeom>
          </p:spPr>
        </p:pic>
        <p:sp>
          <p:nvSpPr>
            <p:cNvPr id="15575" name="TextBox 15574">
              <a:extLst>
                <a:ext uri="{FF2B5EF4-FFF2-40B4-BE49-F238E27FC236}">
                  <a16:creationId xmlns:a16="http://schemas.microsoft.com/office/drawing/2014/main" id="{136D78E5-71EA-17ED-91C9-F9CCADA262FF}"/>
                </a:ext>
              </a:extLst>
            </p:cNvPr>
            <p:cNvSpPr txBox="1"/>
            <p:nvPr/>
          </p:nvSpPr>
          <p:spPr>
            <a:xfrm rot="16200000">
              <a:off x="21066163" y="7584362"/>
              <a:ext cx="4647426" cy="369332"/>
            </a:xfrm>
            <a:prstGeom prst="rect">
              <a:avLst/>
            </a:prstGeom>
            <a:noFill/>
          </p:spPr>
          <p:txBody>
            <a:bodyPr wrap="none" rtlCol="0">
              <a:spAutoFit/>
            </a:bodyPr>
            <a:lstStyle/>
            <a:p>
              <a:r>
                <a:rPr lang="en-US" dirty="0"/>
                <a:t>Sharing with Friend – Sharing with Stranger</a:t>
              </a:r>
            </a:p>
          </p:txBody>
        </p:sp>
        <p:sp>
          <p:nvSpPr>
            <p:cNvPr id="15576" name="TextBox 15575">
              <a:extLst>
                <a:ext uri="{FF2B5EF4-FFF2-40B4-BE49-F238E27FC236}">
                  <a16:creationId xmlns:a16="http://schemas.microsoft.com/office/drawing/2014/main" id="{7E602785-88A0-0942-659B-9A750B46996F}"/>
                </a:ext>
              </a:extLst>
            </p:cNvPr>
            <p:cNvSpPr txBox="1"/>
            <p:nvPr/>
          </p:nvSpPr>
          <p:spPr>
            <a:xfrm>
              <a:off x="23603500" y="9333929"/>
              <a:ext cx="389850" cy="369332"/>
            </a:xfrm>
            <a:prstGeom prst="rect">
              <a:avLst/>
            </a:prstGeom>
            <a:noFill/>
          </p:spPr>
          <p:txBody>
            <a:bodyPr wrap="none" rtlCol="0">
              <a:spAutoFit/>
            </a:bodyPr>
            <a:lstStyle/>
            <a:p>
              <a:r>
                <a:rPr lang="en-US" dirty="0"/>
                <a:t>-2</a:t>
              </a:r>
            </a:p>
          </p:txBody>
        </p:sp>
        <p:sp>
          <p:nvSpPr>
            <p:cNvPr id="15577" name="TextBox 15576">
              <a:extLst>
                <a:ext uri="{FF2B5EF4-FFF2-40B4-BE49-F238E27FC236}">
                  <a16:creationId xmlns:a16="http://schemas.microsoft.com/office/drawing/2014/main" id="{44C014BB-4057-CE6F-8488-5075607DFC5B}"/>
                </a:ext>
              </a:extLst>
            </p:cNvPr>
            <p:cNvSpPr txBox="1"/>
            <p:nvPr/>
          </p:nvSpPr>
          <p:spPr>
            <a:xfrm>
              <a:off x="23684874" y="6124920"/>
              <a:ext cx="312906" cy="369332"/>
            </a:xfrm>
            <a:prstGeom prst="rect">
              <a:avLst/>
            </a:prstGeom>
            <a:noFill/>
          </p:spPr>
          <p:txBody>
            <a:bodyPr wrap="none" rtlCol="0">
              <a:spAutoFit/>
            </a:bodyPr>
            <a:lstStyle/>
            <a:p>
              <a:r>
                <a:rPr lang="en-US" dirty="0"/>
                <a:t>2</a:t>
              </a:r>
            </a:p>
          </p:txBody>
        </p:sp>
        <p:sp>
          <p:nvSpPr>
            <p:cNvPr id="15578" name="TextBox 15577">
              <a:extLst>
                <a:ext uri="{FF2B5EF4-FFF2-40B4-BE49-F238E27FC236}">
                  <a16:creationId xmlns:a16="http://schemas.microsoft.com/office/drawing/2014/main" id="{7FC9F9D2-B5EE-482C-7F35-E7345B0CA197}"/>
                </a:ext>
              </a:extLst>
            </p:cNvPr>
            <p:cNvSpPr txBox="1"/>
            <p:nvPr/>
          </p:nvSpPr>
          <p:spPr>
            <a:xfrm>
              <a:off x="23666269" y="7699893"/>
              <a:ext cx="312906" cy="369332"/>
            </a:xfrm>
            <a:prstGeom prst="rect">
              <a:avLst/>
            </a:prstGeom>
            <a:noFill/>
          </p:spPr>
          <p:txBody>
            <a:bodyPr wrap="none" rtlCol="0">
              <a:spAutoFit/>
            </a:bodyPr>
            <a:lstStyle/>
            <a:p>
              <a:r>
                <a:rPr lang="en-US" dirty="0"/>
                <a:t>0</a:t>
              </a:r>
            </a:p>
          </p:txBody>
        </p:sp>
        <p:sp>
          <p:nvSpPr>
            <p:cNvPr id="15579" name="TextBox 15578">
              <a:extLst>
                <a:ext uri="{FF2B5EF4-FFF2-40B4-BE49-F238E27FC236}">
                  <a16:creationId xmlns:a16="http://schemas.microsoft.com/office/drawing/2014/main" id="{115532EB-4683-39F0-80DC-27E22F24AA20}"/>
                </a:ext>
              </a:extLst>
            </p:cNvPr>
            <p:cNvSpPr txBox="1"/>
            <p:nvPr/>
          </p:nvSpPr>
          <p:spPr>
            <a:xfrm>
              <a:off x="23984464" y="10392031"/>
              <a:ext cx="441146" cy="369332"/>
            </a:xfrm>
            <a:prstGeom prst="rect">
              <a:avLst/>
            </a:prstGeom>
            <a:noFill/>
          </p:spPr>
          <p:txBody>
            <a:bodyPr wrap="none" rtlCol="0">
              <a:spAutoFit/>
            </a:bodyPr>
            <a:lstStyle/>
            <a:p>
              <a:r>
                <a:rPr lang="en-US" dirty="0"/>
                <a:t>20</a:t>
              </a:r>
            </a:p>
          </p:txBody>
        </p:sp>
        <p:sp>
          <p:nvSpPr>
            <p:cNvPr id="15580" name="TextBox 15579">
              <a:extLst>
                <a:ext uri="{FF2B5EF4-FFF2-40B4-BE49-F238E27FC236}">
                  <a16:creationId xmlns:a16="http://schemas.microsoft.com/office/drawing/2014/main" id="{3A319DEB-B897-3E25-DF07-7B459ED170BF}"/>
                </a:ext>
              </a:extLst>
            </p:cNvPr>
            <p:cNvSpPr txBox="1"/>
            <p:nvPr/>
          </p:nvSpPr>
          <p:spPr>
            <a:xfrm>
              <a:off x="25529056" y="10429100"/>
              <a:ext cx="441146" cy="369332"/>
            </a:xfrm>
            <a:prstGeom prst="rect">
              <a:avLst/>
            </a:prstGeom>
            <a:noFill/>
          </p:spPr>
          <p:txBody>
            <a:bodyPr wrap="none" rtlCol="0">
              <a:spAutoFit/>
            </a:bodyPr>
            <a:lstStyle/>
            <a:p>
              <a:r>
                <a:rPr lang="en-US" dirty="0"/>
                <a:t>40</a:t>
              </a:r>
            </a:p>
          </p:txBody>
        </p:sp>
        <p:sp>
          <p:nvSpPr>
            <p:cNvPr id="15581" name="TextBox 15580">
              <a:extLst>
                <a:ext uri="{FF2B5EF4-FFF2-40B4-BE49-F238E27FC236}">
                  <a16:creationId xmlns:a16="http://schemas.microsoft.com/office/drawing/2014/main" id="{92207841-AB47-B838-56C4-7A8991CBC082}"/>
                </a:ext>
              </a:extLst>
            </p:cNvPr>
            <p:cNvSpPr txBox="1"/>
            <p:nvPr/>
          </p:nvSpPr>
          <p:spPr>
            <a:xfrm>
              <a:off x="27155348" y="10416605"/>
              <a:ext cx="441146" cy="369332"/>
            </a:xfrm>
            <a:prstGeom prst="rect">
              <a:avLst/>
            </a:prstGeom>
            <a:noFill/>
          </p:spPr>
          <p:txBody>
            <a:bodyPr wrap="none" rtlCol="0">
              <a:spAutoFit/>
            </a:bodyPr>
            <a:lstStyle/>
            <a:p>
              <a:r>
                <a:rPr lang="en-US" dirty="0"/>
                <a:t>60</a:t>
              </a:r>
            </a:p>
          </p:txBody>
        </p:sp>
        <p:sp>
          <p:nvSpPr>
            <p:cNvPr id="15582" name="TextBox 15581">
              <a:extLst>
                <a:ext uri="{FF2B5EF4-FFF2-40B4-BE49-F238E27FC236}">
                  <a16:creationId xmlns:a16="http://schemas.microsoft.com/office/drawing/2014/main" id="{3BD77EC1-C3D3-3CE1-B336-0F6F0DC0255C}"/>
                </a:ext>
              </a:extLst>
            </p:cNvPr>
            <p:cNvSpPr txBox="1"/>
            <p:nvPr/>
          </p:nvSpPr>
          <p:spPr>
            <a:xfrm>
              <a:off x="25933780" y="10760201"/>
              <a:ext cx="595035" cy="369332"/>
            </a:xfrm>
            <a:prstGeom prst="rect">
              <a:avLst/>
            </a:prstGeom>
            <a:noFill/>
          </p:spPr>
          <p:txBody>
            <a:bodyPr wrap="none" rtlCol="0">
              <a:spAutoFit/>
            </a:bodyPr>
            <a:lstStyle/>
            <a:p>
              <a:r>
                <a:rPr lang="en-US" dirty="0"/>
                <a:t>Age</a:t>
              </a:r>
            </a:p>
          </p:txBody>
        </p:sp>
      </p:grpSp>
      <p:sp>
        <p:nvSpPr>
          <p:cNvPr id="15595" name="TextBox 15594">
            <a:extLst>
              <a:ext uri="{FF2B5EF4-FFF2-40B4-BE49-F238E27FC236}">
                <a16:creationId xmlns:a16="http://schemas.microsoft.com/office/drawing/2014/main" id="{BD0DF8CA-4563-3ED7-8925-AC53B7E7547D}"/>
              </a:ext>
            </a:extLst>
          </p:cNvPr>
          <p:cNvSpPr txBox="1"/>
          <p:nvPr/>
        </p:nvSpPr>
        <p:spPr>
          <a:xfrm>
            <a:off x="18209595" y="31314065"/>
            <a:ext cx="9855262" cy="553998"/>
          </a:xfrm>
          <a:prstGeom prst="rect">
            <a:avLst/>
          </a:prstGeom>
          <a:noFill/>
        </p:spPr>
        <p:txBody>
          <a:bodyPr wrap="none" rtlCol="0">
            <a:spAutoFit/>
          </a:bodyPr>
          <a:lstStyle/>
          <a:p>
            <a:r>
              <a:rPr lang="en-US" sz="3000" dirty="0"/>
              <a:t>We found that activation in the VS was not related to age</a:t>
            </a:r>
          </a:p>
        </p:txBody>
      </p:sp>
      <p:sp>
        <p:nvSpPr>
          <p:cNvPr id="15649" name="TextBox 15648">
            <a:extLst>
              <a:ext uri="{FF2B5EF4-FFF2-40B4-BE49-F238E27FC236}">
                <a16:creationId xmlns:a16="http://schemas.microsoft.com/office/drawing/2014/main" id="{F08B8D4B-A0C5-8C43-1158-1979ABB766DD}"/>
              </a:ext>
            </a:extLst>
          </p:cNvPr>
          <p:cNvSpPr txBox="1"/>
          <p:nvPr/>
        </p:nvSpPr>
        <p:spPr>
          <a:xfrm>
            <a:off x="30959587" y="11196613"/>
            <a:ext cx="5874695" cy="1323439"/>
          </a:xfrm>
          <a:prstGeom prst="rect">
            <a:avLst/>
          </a:prstGeom>
          <a:noFill/>
        </p:spPr>
        <p:txBody>
          <a:bodyPr wrap="square" rtlCol="0">
            <a:spAutoFit/>
          </a:bodyPr>
          <a:lstStyle/>
          <a:p>
            <a:pPr algn="l"/>
            <a:r>
              <a:rPr lang="en-US" sz="4000" i="0" dirty="0">
                <a:effectLst/>
                <a:latin typeface="Helvetica" pitchFamily="2" charset="0"/>
              </a:rPr>
              <a:t>IOS(f&gt;c) and Age model </a:t>
            </a:r>
          </a:p>
          <a:p>
            <a:pPr algn="l"/>
            <a:r>
              <a:rPr lang="en-US" sz="4000" i="0" dirty="0">
                <a:effectLst/>
                <a:latin typeface="Helvetica" pitchFamily="2" charset="0"/>
              </a:rPr>
              <a:t>A</a:t>
            </a:r>
            <a:r>
              <a:rPr lang="en-US" sz="4000" b="0" i="0" dirty="0">
                <a:effectLst/>
                <a:latin typeface="Helvetica" pitchFamily="2" charset="0"/>
              </a:rPr>
              <a:t>ge Positive</a:t>
            </a:r>
          </a:p>
        </p:txBody>
      </p:sp>
      <p:pic>
        <p:nvPicPr>
          <p:cNvPr id="15650" name="Graphic 15649">
            <a:extLst>
              <a:ext uri="{FF2B5EF4-FFF2-40B4-BE49-F238E27FC236}">
                <a16:creationId xmlns:a16="http://schemas.microsoft.com/office/drawing/2014/main" id="{A066B4DE-396E-E58D-5D45-BFC7D72F81D7}"/>
              </a:ext>
            </a:extLst>
          </p:cNvPr>
          <p:cNvPicPr>
            <a:picLocks noChangeAspect="1"/>
          </p:cNvPicPr>
          <p:nvPr/>
        </p:nvPicPr>
        <p:blipFill rotWithShape="1">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rcRect l="10653" b="8997"/>
          <a:stretch/>
        </p:blipFill>
        <p:spPr>
          <a:xfrm>
            <a:off x="38145721" y="5920531"/>
            <a:ext cx="5558180" cy="5870860"/>
          </a:xfrm>
          <a:prstGeom prst="rect">
            <a:avLst/>
          </a:prstGeom>
        </p:spPr>
      </p:pic>
      <p:sp>
        <p:nvSpPr>
          <p:cNvPr id="15653" name="TextBox 15652">
            <a:extLst>
              <a:ext uri="{FF2B5EF4-FFF2-40B4-BE49-F238E27FC236}">
                <a16:creationId xmlns:a16="http://schemas.microsoft.com/office/drawing/2014/main" id="{9597D04E-EB1A-89FD-82CC-B188103B2A2D}"/>
              </a:ext>
            </a:extLst>
          </p:cNvPr>
          <p:cNvSpPr txBox="1"/>
          <p:nvPr/>
        </p:nvSpPr>
        <p:spPr>
          <a:xfrm>
            <a:off x="30959587" y="22061241"/>
            <a:ext cx="12062344" cy="1015663"/>
          </a:xfrm>
          <a:prstGeom prst="rect">
            <a:avLst/>
          </a:prstGeom>
          <a:noFill/>
        </p:spPr>
        <p:txBody>
          <a:bodyPr wrap="square" rtlCol="0">
            <a:spAutoFit/>
          </a:bodyPr>
          <a:lstStyle/>
          <a:p>
            <a:pPr algn="l"/>
            <a:r>
              <a:rPr lang="en-US" sz="3000" i="0" dirty="0">
                <a:effectLst/>
                <a:latin typeface="Helvetica" pitchFamily="2" charset="0"/>
              </a:rPr>
              <a:t>We found lower ACC activation in older adults than in younger adults when experiencing friend reciprocation.</a:t>
            </a:r>
          </a:p>
        </p:txBody>
      </p:sp>
      <p:sp>
        <p:nvSpPr>
          <p:cNvPr id="15656" name="TextBox 15655">
            <a:extLst>
              <a:ext uri="{FF2B5EF4-FFF2-40B4-BE49-F238E27FC236}">
                <a16:creationId xmlns:a16="http://schemas.microsoft.com/office/drawing/2014/main" id="{0129C3E6-E266-8160-0CF6-63893649E9BB}"/>
              </a:ext>
            </a:extLst>
          </p:cNvPr>
          <p:cNvSpPr txBox="1"/>
          <p:nvPr/>
        </p:nvSpPr>
        <p:spPr>
          <a:xfrm>
            <a:off x="414903" y="28659366"/>
            <a:ext cx="6193767" cy="1631216"/>
          </a:xfrm>
          <a:prstGeom prst="rect">
            <a:avLst/>
          </a:prstGeom>
          <a:noFill/>
        </p:spPr>
        <p:txBody>
          <a:bodyPr wrap="square" rtlCol="0">
            <a:spAutoFit/>
          </a:bodyPr>
          <a:lstStyle/>
          <a:p>
            <a:r>
              <a:rPr lang="en-US" sz="2500" dirty="0">
                <a:effectLst/>
                <a:latin typeface="Helvetica"/>
                <a:ea typeface="Times New Roman" panose="02020603050405020304" pitchFamily="18" charset="0"/>
                <a:cs typeface="Helvetica"/>
              </a:rPr>
              <a:t>N =</a:t>
            </a:r>
            <a:r>
              <a:rPr lang="en-US" sz="2500" dirty="0">
                <a:latin typeface="Helvetica"/>
                <a:ea typeface="Times New Roman" panose="02020603050405020304" pitchFamily="18" charset="0"/>
                <a:cs typeface="Helvetica"/>
              </a:rPr>
              <a:t> 62</a:t>
            </a:r>
            <a:r>
              <a:rPr lang="en-US" sz="2500" dirty="0">
                <a:effectLst/>
                <a:latin typeface="Helvetica"/>
                <a:ea typeface="Times New Roman" panose="02020603050405020304" pitchFamily="18" charset="0"/>
                <a:cs typeface="Helvetica"/>
              </a:rPr>
              <a:t> </a:t>
            </a:r>
            <a:r>
              <a:rPr lang="en-US" sz="2500" dirty="0">
                <a:latin typeface="Helvetica" pitchFamily="2" charset="0"/>
                <a:ea typeface="Times New Roman" panose="02020603050405020304" pitchFamily="18" charset="0"/>
                <a:cs typeface="Helvetica"/>
              </a:rPr>
              <a:t>C</a:t>
            </a:r>
            <a:r>
              <a:rPr lang="en-US" sz="2500" dirty="0">
                <a:effectLst/>
                <a:latin typeface="Helvetica" pitchFamily="2" charset="0"/>
                <a:ea typeface="Times New Roman" panose="02020603050405020304" pitchFamily="18" charset="0"/>
                <a:cs typeface="Helvetica"/>
              </a:rPr>
              <a:t>ompleted the </a:t>
            </a:r>
            <a:r>
              <a:rPr lang="en-US" sz="2500" b="0" i="0" dirty="0">
                <a:effectLst/>
                <a:latin typeface="Helvetica" pitchFamily="2" charset="0"/>
              </a:rPr>
              <a:t>Inclusion of Other in Self Scale and </a:t>
            </a:r>
            <a:r>
              <a:rPr lang="en-US" sz="2500" dirty="0">
                <a:effectLst/>
                <a:latin typeface="Helvetica" pitchFamily="2" charset="0"/>
                <a:ea typeface="Times New Roman" panose="02020603050405020304" pitchFamily="18" charset="0"/>
                <a:cs typeface="Helvetica"/>
              </a:rPr>
              <a:t>the </a:t>
            </a:r>
            <a:r>
              <a:rPr lang="en-US" sz="2500" b="0" i="0" dirty="0">
                <a:effectLst/>
                <a:latin typeface="Helvetica" pitchFamily="2" charset="0"/>
              </a:rPr>
              <a:t>Older Adults Financial Exploitation and Vulnerability Scale.</a:t>
            </a:r>
            <a:endParaRPr lang="en-US" sz="2500" dirty="0">
              <a:effectLst/>
              <a:latin typeface="Helvetica"/>
              <a:ea typeface="Times New Roman" panose="02020603050405020304" pitchFamily="18" charset="0"/>
              <a:cs typeface="Helvetica"/>
            </a:endParaRPr>
          </a:p>
          <a:p>
            <a:endParaRPr lang="en-US" sz="2500" dirty="0"/>
          </a:p>
        </p:txBody>
      </p:sp>
      <p:sp>
        <p:nvSpPr>
          <p:cNvPr id="15657" name="TextBox 15656">
            <a:extLst>
              <a:ext uri="{FF2B5EF4-FFF2-40B4-BE49-F238E27FC236}">
                <a16:creationId xmlns:a16="http://schemas.microsoft.com/office/drawing/2014/main" id="{180F090C-FBF8-9911-53C2-94323853C5F8}"/>
              </a:ext>
            </a:extLst>
          </p:cNvPr>
          <p:cNvSpPr txBox="1"/>
          <p:nvPr/>
        </p:nvSpPr>
        <p:spPr>
          <a:xfrm>
            <a:off x="6906322" y="28659366"/>
            <a:ext cx="7257621" cy="1631216"/>
          </a:xfrm>
          <a:prstGeom prst="rect">
            <a:avLst/>
          </a:prstGeom>
          <a:noFill/>
        </p:spPr>
        <p:txBody>
          <a:bodyPr wrap="square" rtlCol="0">
            <a:spAutoFit/>
          </a:bodyPr>
          <a:lstStyle/>
          <a:p>
            <a:r>
              <a:rPr lang="en-US" sz="2500" dirty="0">
                <a:latin typeface="Helvetica"/>
                <a:ea typeface="MS PGothic"/>
                <a:cs typeface="Helvetica"/>
              </a:rPr>
              <a:t>Whole brain results were </a:t>
            </a:r>
            <a:r>
              <a:rPr lang="en-US" sz="2500" dirty="0" err="1">
                <a:latin typeface="Helvetica"/>
                <a:ea typeface="MS PGothic"/>
                <a:cs typeface="Helvetica"/>
              </a:rPr>
              <a:t>thresholded</a:t>
            </a:r>
            <a:r>
              <a:rPr lang="en-US" sz="2500" dirty="0">
                <a:latin typeface="Helvetica"/>
                <a:ea typeface="MS PGothic"/>
                <a:cs typeface="Helvetica"/>
              </a:rPr>
              <a:t> at Z &gt; 3.1 and Family Wise Error corrected at p &gt; .05</a:t>
            </a:r>
          </a:p>
          <a:p>
            <a:r>
              <a:rPr lang="en-US" sz="2500" dirty="0">
                <a:latin typeface="Helvetica"/>
                <a:ea typeface="MS PGothic"/>
                <a:cs typeface="Helvetica"/>
              </a:rPr>
              <a:t>Masks were extracted from Harvard–Oxford and Mars atlases.</a:t>
            </a:r>
            <a:endParaRPr lang="en-US" sz="2500" dirty="0"/>
          </a:p>
        </p:txBody>
      </p:sp>
      <p:grpSp>
        <p:nvGrpSpPr>
          <p:cNvPr id="15666" name="Group 15665">
            <a:extLst>
              <a:ext uri="{FF2B5EF4-FFF2-40B4-BE49-F238E27FC236}">
                <a16:creationId xmlns:a16="http://schemas.microsoft.com/office/drawing/2014/main" id="{F4499BAD-2B87-B075-89D7-E684EC5B1F7C}"/>
              </a:ext>
            </a:extLst>
          </p:cNvPr>
          <p:cNvGrpSpPr/>
          <p:nvPr/>
        </p:nvGrpSpPr>
        <p:grpSpPr>
          <a:xfrm>
            <a:off x="16354965" y="5047450"/>
            <a:ext cx="5514207" cy="5891751"/>
            <a:chOff x="16270767" y="4773172"/>
            <a:chExt cx="4112536" cy="4273122"/>
          </a:xfrm>
        </p:grpSpPr>
        <p:pic>
          <p:nvPicPr>
            <p:cNvPr id="15659" name="Graphic 15658">
              <a:extLst>
                <a:ext uri="{FF2B5EF4-FFF2-40B4-BE49-F238E27FC236}">
                  <a16:creationId xmlns:a16="http://schemas.microsoft.com/office/drawing/2014/main" id="{6D9E2B1C-10CC-F9D6-3D33-17375F7BFB84}"/>
                </a:ext>
              </a:extLst>
            </p:cNvPr>
            <p:cNvPicPr>
              <a:picLocks noChangeAspect="1"/>
            </p:cNvPicPr>
            <p:nvPr/>
          </p:nvPicPr>
          <p:blipFill rotWithShape="1">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rcRect l="8667"/>
            <a:stretch/>
          </p:blipFill>
          <p:spPr>
            <a:xfrm>
              <a:off x="16619952" y="4773172"/>
              <a:ext cx="3763351" cy="4273122"/>
            </a:xfrm>
            <a:prstGeom prst="rect">
              <a:avLst/>
            </a:prstGeom>
          </p:spPr>
        </p:pic>
        <p:sp>
          <p:nvSpPr>
            <p:cNvPr id="15660" name="TextBox 15659">
              <a:extLst>
                <a:ext uri="{FF2B5EF4-FFF2-40B4-BE49-F238E27FC236}">
                  <a16:creationId xmlns:a16="http://schemas.microsoft.com/office/drawing/2014/main" id="{0766629E-BCF3-6556-AF99-A6859175E636}"/>
                </a:ext>
              </a:extLst>
            </p:cNvPr>
            <p:cNvSpPr txBox="1"/>
            <p:nvPr/>
          </p:nvSpPr>
          <p:spPr>
            <a:xfrm>
              <a:off x="16270767" y="8330236"/>
              <a:ext cx="312906" cy="369332"/>
            </a:xfrm>
            <a:prstGeom prst="rect">
              <a:avLst/>
            </a:prstGeom>
            <a:noFill/>
          </p:spPr>
          <p:txBody>
            <a:bodyPr wrap="none" rtlCol="0">
              <a:spAutoFit/>
            </a:bodyPr>
            <a:lstStyle/>
            <a:p>
              <a:r>
                <a:rPr lang="en-US" dirty="0"/>
                <a:t>0</a:t>
              </a:r>
            </a:p>
          </p:txBody>
        </p:sp>
        <p:sp>
          <p:nvSpPr>
            <p:cNvPr id="15661" name="TextBox 15660">
              <a:extLst>
                <a:ext uri="{FF2B5EF4-FFF2-40B4-BE49-F238E27FC236}">
                  <a16:creationId xmlns:a16="http://schemas.microsoft.com/office/drawing/2014/main" id="{617C1651-3CCF-B80A-1012-2C16CC7ED704}"/>
                </a:ext>
              </a:extLst>
            </p:cNvPr>
            <p:cNvSpPr txBox="1"/>
            <p:nvPr/>
          </p:nvSpPr>
          <p:spPr>
            <a:xfrm>
              <a:off x="16288042" y="7069297"/>
              <a:ext cx="312906" cy="369332"/>
            </a:xfrm>
            <a:prstGeom prst="rect">
              <a:avLst/>
            </a:prstGeom>
            <a:noFill/>
          </p:spPr>
          <p:txBody>
            <a:bodyPr wrap="none" rtlCol="0">
              <a:spAutoFit/>
            </a:bodyPr>
            <a:lstStyle/>
            <a:p>
              <a:r>
                <a:rPr lang="en-US" dirty="0"/>
                <a:t>2</a:t>
              </a:r>
            </a:p>
          </p:txBody>
        </p:sp>
        <p:sp>
          <p:nvSpPr>
            <p:cNvPr id="15662" name="TextBox 15661">
              <a:extLst>
                <a:ext uri="{FF2B5EF4-FFF2-40B4-BE49-F238E27FC236}">
                  <a16:creationId xmlns:a16="http://schemas.microsoft.com/office/drawing/2014/main" id="{4DC189FA-5EF4-8645-EFD2-F4AA0CF414D9}"/>
                </a:ext>
              </a:extLst>
            </p:cNvPr>
            <p:cNvSpPr txBox="1"/>
            <p:nvPr/>
          </p:nvSpPr>
          <p:spPr>
            <a:xfrm>
              <a:off x="16286106" y="5815933"/>
              <a:ext cx="312906" cy="369332"/>
            </a:xfrm>
            <a:prstGeom prst="rect">
              <a:avLst/>
            </a:prstGeom>
            <a:noFill/>
          </p:spPr>
          <p:txBody>
            <a:bodyPr wrap="none" rtlCol="0">
              <a:spAutoFit/>
            </a:bodyPr>
            <a:lstStyle/>
            <a:p>
              <a:r>
                <a:rPr lang="en-US" dirty="0"/>
                <a:t>4</a:t>
              </a:r>
            </a:p>
          </p:txBody>
        </p:sp>
        <p:sp>
          <p:nvSpPr>
            <p:cNvPr id="15663" name="TextBox 15662">
              <a:extLst>
                <a:ext uri="{FF2B5EF4-FFF2-40B4-BE49-F238E27FC236}">
                  <a16:creationId xmlns:a16="http://schemas.microsoft.com/office/drawing/2014/main" id="{FEBA7C19-438A-8BB9-F286-7161582091EA}"/>
                </a:ext>
              </a:extLst>
            </p:cNvPr>
            <p:cNvSpPr txBox="1"/>
            <p:nvPr/>
          </p:nvSpPr>
          <p:spPr>
            <a:xfrm>
              <a:off x="16838470" y="8664303"/>
              <a:ext cx="838691" cy="369332"/>
            </a:xfrm>
            <a:prstGeom prst="rect">
              <a:avLst/>
            </a:prstGeom>
            <a:noFill/>
          </p:spPr>
          <p:txBody>
            <a:bodyPr wrap="none" rtlCol="0">
              <a:spAutoFit/>
            </a:bodyPr>
            <a:lstStyle/>
            <a:p>
              <a:pPr algn="ctr"/>
              <a:r>
                <a:rPr lang="en-US" dirty="0"/>
                <a:t>Friend</a:t>
              </a:r>
            </a:p>
          </p:txBody>
        </p:sp>
        <p:sp>
          <p:nvSpPr>
            <p:cNvPr id="15664" name="TextBox 15663">
              <a:extLst>
                <a:ext uri="{FF2B5EF4-FFF2-40B4-BE49-F238E27FC236}">
                  <a16:creationId xmlns:a16="http://schemas.microsoft.com/office/drawing/2014/main" id="{D1FDC6B6-A877-379F-C9B2-8D6C71CA3AC6}"/>
                </a:ext>
              </a:extLst>
            </p:cNvPr>
            <p:cNvSpPr txBox="1"/>
            <p:nvPr/>
          </p:nvSpPr>
          <p:spPr>
            <a:xfrm>
              <a:off x="17903802" y="8664303"/>
              <a:ext cx="1069524" cy="369332"/>
            </a:xfrm>
            <a:prstGeom prst="rect">
              <a:avLst/>
            </a:prstGeom>
            <a:noFill/>
          </p:spPr>
          <p:txBody>
            <a:bodyPr wrap="none" rtlCol="0">
              <a:spAutoFit/>
            </a:bodyPr>
            <a:lstStyle/>
            <a:p>
              <a:r>
                <a:rPr lang="en-US" dirty="0"/>
                <a:t>Stranger</a:t>
              </a:r>
            </a:p>
          </p:txBody>
        </p:sp>
        <p:sp>
          <p:nvSpPr>
            <p:cNvPr id="15665" name="TextBox 15664">
              <a:extLst>
                <a:ext uri="{FF2B5EF4-FFF2-40B4-BE49-F238E27FC236}">
                  <a16:creationId xmlns:a16="http://schemas.microsoft.com/office/drawing/2014/main" id="{0D79EDF9-8FFC-03A5-0959-5F4339B2A174}"/>
                </a:ext>
              </a:extLst>
            </p:cNvPr>
            <p:cNvSpPr txBox="1"/>
            <p:nvPr/>
          </p:nvSpPr>
          <p:spPr>
            <a:xfrm>
              <a:off x="19079432" y="8666185"/>
              <a:ext cx="1197764" cy="369332"/>
            </a:xfrm>
            <a:prstGeom prst="rect">
              <a:avLst/>
            </a:prstGeom>
            <a:noFill/>
          </p:spPr>
          <p:txBody>
            <a:bodyPr wrap="none" rtlCol="0">
              <a:spAutoFit/>
            </a:bodyPr>
            <a:lstStyle/>
            <a:p>
              <a:pPr algn="ctr"/>
              <a:r>
                <a:rPr lang="en-US" dirty="0"/>
                <a:t>Computer</a:t>
              </a:r>
            </a:p>
          </p:txBody>
        </p:sp>
      </p:grpSp>
      <p:sp>
        <p:nvSpPr>
          <p:cNvPr id="15667" name="Rounded Rectangle 15666">
            <a:extLst>
              <a:ext uri="{FF2B5EF4-FFF2-40B4-BE49-F238E27FC236}">
                <a16:creationId xmlns:a16="http://schemas.microsoft.com/office/drawing/2014/main" id="{A04AF92B-DBCA-68B5-49E1-F021F79663D4}"/>
              </a:ext>
            </a:extLst>
          </p:cNvPr>
          <p:cNvSpPr/>
          <p:nvPr/>
        </p:nvSpPr>
        <p:spPr bwMode="auto">
          <a:xfrm>
            <a:off x="882727" y="23499130"/>
            <a:ext cx="3102910" cy="655177"/>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Outcome Phase</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668" name="Rectangle 15667">
            <a:extLst>
              <a:ext uri="{FF2B5EF4-FFF2-40B4-BE49-F238E27FC236}">
                <a16:creationId xmlns:a16="http://schemas.microsoft.com/office/drawing/2014/main" id="{313395CF-F0BD-08A4-741C-0E58C7C64F02}"/>
              </a:ext>
            </a:extLst>
          </p:cNvPr>
          <p:cNvSpPr/>
          <p:nvPr/>
        </p:nvSpPr>
        <p:spPr bwMode="auto">
          <a:xfrm>
            <a:off x="5259549" y="17607220"/>
            <a:ext cx="1984189" cy="552682"/>
          </a:xfrm>
          <a:prstGeom prst="rect">
            <a:avLst/>
          </a:prstGeom>
          <a:solidFill>
            <a:srgbClr val="848484"/>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bg1"/>
                </a:solidFill>
                <a:effectLst/>
                <a:latin typeface="Arial" charset="0"/>
                <a:cs typeface="Arial" charset="0"/>
              </a:rPr>
              <a:t>Computer</a:t>
            </a:r>
          </a:p>
        </p:txBody>
      </p:sp>
      <p:grpSp>
        <p:nvGrpSpPr>
          <p:cNvPr id="15710" name="Group 15709">
            <a:extLst>
              <a:ext uri="{FF2B5EF4-FFF2-40B4-BE49-F238E27FC236}">
                <a16:creationId xmlns:a16="http://schemas.microsoft.com/office/drawing/2014/main" id="{9AFA48F8-C584-C811-C9F5-EFCA333DD7C1}"/>
              </a:ext>
            </a:extLst>
          </p:cNvPr>
          <p:cNvGrpSpPr/>
          <p:nvPr/>
        </p:nvGrpSpPr>
        <p:grpSpPr>
          <a:xfrm>
            <a:off x="30977262" y="15791162"/>
            <a:ext cx="6023828" cy="5608210"/>
            <a:chOff x="30686058" y="13981673"/>
            <a:chExt cx="6377623" cy="5937595"/>
          </a:xfrm>
        </p:grpSpPr>
        <p:pic>
          <p:nvPicPr>
            <p:cNvPr id="15672" name="Picture 15671" descr="A close-up of a brain&#10;&#10;Description automatically generated">
              <a:extLst>
                <a:ext uri="{FF2B5EF4-FFF2-40B4-BE49-F238E27FC236}">
                  <a16:creationId xmlns:a16="http://schemas.microsoft.com/office/drawing/2014/main" id="{D3F7B839-9C15-BAE8-4B9F-D9E5FA41621C}"/>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0686058" y="14307843"/>
              <a:ext cx="6377623" cy="5333837"/>
            </a:xfrm>
            <a:prstGeom prst="rect">
              <a:avLst/>
            </a:prstGeom>
          </p:spPr>
        </p:pic>
        <p:sp>
          <p:nvSpPr>
            <p:cNvPr id="15673" name="TextBox 15672">
              <a:extLst>
                <a:ext uri="{FF2B5EF4-FFF2-40B4-BE49-F238E27FC236}">
                  <a16:creationId xmlns:a16="http://schemas.microsoft.com/office/drawing/2014/main" id="{B7572CC2-F582-E038-F57D-36186A2AD7CD}"/>
                </a:ext>
              </a:extLst>
            </p:cNvPr>
            <p:cNvSpPr txBox="1"/>
            <p:nvPr/>
          </p:nvSpPr>
          <p:spPr>
            <a:xfrm>
              <a:off x="30756135" y="13981673"/>
              <a:ext cx="1539204" cy="707886"/>
            </a:xfrm>
            <a:prstGeom prst="rect">
              <a:avLst/>
            </a:prstGeom>
            <a:noFill/>
          </p:spPr>
          <p:txBody>
            <a:bodyPr wrap="none" rtlCol="0">
              <a:spAutoFit/>
            </a:bodyPr>
            <a:lstStyle/>
            <a:p>
              <a:r>
                <a:rPr lang="en-US" sz="4000" dirty="0"/>
                <a:t>X= 83</a:t>
              </a:r>
            </a:p>
          </p:txBody>
        </p:sp>
        <p:sp>
          <p:nvSpPr>
            <p:cNvPr id="15679" name="TextBox 15678">
              <a:extLst>
                <a:ext uri="{FF2B5EF4-FFF2-40B4-BE49-F238E27FC236}">
                  <a16:creationId xmlns:a16="http://schemas.microsoft.com/office/drawing/2014/main" id="{C5CCA665-31CA-7E9E-5033-AF62B19B1AEF}"/>
                </a:ext>
              </a:extLst>
            </p:cNvPr>
            <p:cNvSpPr txBox="1"/>
            <p:nvPr/>
          </p:nvSpPr>
          <p:spPr>
            <a:xfrm>
              <a:off x="30741892" y="19334493"/>
              <a:ext cx="1253639" cy="584775"/>
            </a:xfrm>
            <a:prstGeom prst="rect">
              <a:avLst/>
            </a:prstGeom>
            <a:noFill/>
          </p:spPr>
          <p:txBody>
            <a:bodyPr wrap="square">
              <a:spAutoFit/>
            </a:bodyPr>
            <a:lstStyle/>
            <a:p>
              <a:r>
                <a:rPr lang="en-US" sz="3200" b="1" dirty="0">
                  <a:latin typeface="Helvetica"/>
                  <a:ea typeface="MS PGothic"/>
                </a:rPr>
                <a:t>ACC</a:t>
              </a:r>
              <a:endParaRPr lang="en-US" sz="3200" b="1" dirty="0">
                <a:latin typeface="Helvetica"/>
              </a:endParaRPr>
            </a:p>
          </p:txBody>
        </p:sp>
      </p:grpSp>
      <p:grpSp>
        <p:nvGrpSpPr>
          <p:cNvPr id="15708" name="Group 15707">
            <a:extLst>
              <a:ext uri="{FF2B5EF4-FFF2-40B4-BE49-F238E27FC236}">
                <a16:creationId xmlns:a16="http://schemas.microsoft.com/office/drawing/2014/main" id="{F3365FFA-9BF5-9EF3-928F-677A1E435CFE}"/>
              </a:ext>
            </a:extLst>
          </p:cNvPr>
          <p:cNvGrpSpPr/>
          <p:nvPr/>
        </p:nvGrpSpPr>
        <p:grpSpPr>
          <a:xfrm>
            <a:off x="31076145" y="5570652"/>
            <a:ext cx="5454928" cy="5439206"/>
            <a:chOff x="30818980" y="4685110"/>
            <a:chExt cx="6036885" cy="6019486"/>
          </a:xfrm>
        </p:grpSpPr>
        <p:pic>
          <p:nvPicPr>
            <p:cNvPr id="15670" name="Picture 15669" descr="A brain with a red spot&#10;&#10;Description automatically generated">
              <a:extLst>
                <a:ext uri="{FF2B5EF4-FFF2-40B4-BE49-F238E27FC236}">
                  <a16:creationId xmlns:a16="http://schemas.microsoft.com/office/drawing/2014/main" id="{BA2FE39D-46B1-0722-481F-CB4E6283E65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1172216" y="5328136"/>
              <a:ext cx="5683649" cy="4771937"/>
            </a:xfrm>
            <a:prstGeom prst="rect">
              <a:avLst/>
            </a:prstGeom>
          </p:spPr>
        </p:pic>
        <p:sp>
          <p:nvSpPr>
            <p:cNvPr id="15674" name="TextBox 15673">
              <a:extLst>
                <a:ext uri="{FF2B5EF4-FFF2-40B4-BE49-F238E27FC236}">
                  <a16:creationId xmlns:a16="http://schemas.microsoft.com/office/drawing/2014/main" id="{6D1FEF78-5231-7339-DB44-5A31EBAD6F9E}"/>
                </a:ext>
              </a:extLst>
            </p:cNvPr>
            <p:cNvSpPr txBox="1"/>
            <p:nvPr/>
          </p:nvSpPr>
          <p:spPr>
            <a:xfrm>
              <a:off x="30818980" y="4685110"/>
              <a:ext cx="1539203" cy="707886"/>
            </a:xfrm>
            <a:prstGeom prst="rect">
              <a:avLst/>
            </a:prstGeom>
            <a:noFill/>
          </p:spPr>
          <p:txBody>
            <a:bodyPr wrap="none" rtlCol="0">
              <a:spAutoFit/>
            </a:bodyPr>
            <a:lstStyle/>
            <a:p>
              <a:r>
                <a:rPr lang="en-US" sz="4000" dirty="0"/>
                <a:t>X= 52</a:t>
              </a:r>
            </a:p>
          </p:txBody>
        </p:sp>
        <p:sp>
          <p:nvSpPr>
            <p:cNvPr id="15680" name="TextBox 15679">
              <a:extLst>
                <a:ext uri="{FF2B5EF4-FFF2-40B4-BE49-F238E27FC236}">
                  <a16:creationId xmlns:a16="http://schemas.microsoft.com/office/drawing/2014/main" id="{0FE2F447-254E-923E-162C-DC99AACAFC55}"/>
                </a:ext>
              </a:extLst>
            </p:cNvPr>
            <p:cNvSpPr txBox="1"/>
            <p:nvPr/>
          </p:nvSpPr>
          <p:spPr>
            <a:xfrm>
              <a:off x="31039479" y="10119821"/>
              <a:ext cx="1253639" cy="584775"/>
            </a:xfrm>
            <a:prstGeom prst="rect">
              <a:avLst/>
            </a:prstGeom>
            <a:noFill/>
          </p:spPr>
          <p:txBody>
            <a:bodyPr wrap="square">
              <a:spAutoFit/>
            </a:bodyPr>
            <a:lstStyle/>
            <a:p>
              <a:r>
                <a:rPr lang="en-US" sz="3200" b="1" dirty="0">
                  <a:latin typeface="Helvetica"/>
                  <a:ea typeface="MS PGothic"/>
                </a:rPr>
                <a:t>MFG</a:t>
              </a:r>
              <a:endParaRPr lang="en-US" sz="3200" b="1" dirty="0">
                <a:latin typeface="Helvetica"/>
              </a:endParaRPr>
            </a:p>
          </p:txBody>
        </p:sp>
      </p:grpSp>
      <p:sp>
        <p:nvSpPr>
          <p:cNvPr id="15707" name="TextBox 15706">
            <a:extLst>
              <a:ext uri="{FF2B5EF4-FFF2-40B4-BE49-F238E27FC236}">
                <a16:creationId xmlns:a16="http://schemas.microsoft.com/office/drawing/2014/main" id="{0830B512-1237-C170-3104-978D2CC18E8D}"/>
              </a:ext>
            </a:extLst>
          </p:cNvPr>
          <p:cNvSpPr txBox="1"/>
          <p:nvPr/>
        </p:nvSpPr>
        <p:spPr>
          <a:xfrm>
            <a:off x="30987740" y="4742609"/>
            <a:ext cx="9097362" cy="1323439"/>
          </a:xfrm>
          <a:prstGeom prst="rect">
            <a:avLst/>
          </a:prstGeom>
          <a:noFill/>
        </p:spPr>
        <p:txBody>
          <a:bodyPr wrap="none" rtlCol="0">
            <a:spAutoFit/>
          </a:bodyPr>
          <a:lstStyle/>
          <a:p>
            <a:r>
              <a:rPr lang="en-US" sz="4000" b="0" i="0" dirty="0">
                <a:effectLst/>
                <a:latin typeface="Helvetica" pitchFamily="2" charset="0"/>
              </a:rPr>
              <a:t>Friend Defecting &gt;</a:t>
            </a:r>
            <a:r>
              <a:rPr lang="en-US" sz="4000" dirty="0">
                <a:latin typeface="Helvetica" pitchFamily="2" charset="0"/>
              </a:rPr>
              <a:t> Computer Defecting</a:t>
            </a:r>
            <a:endParaRPr lang="en-US" sz="4000" i="0" dirty="0">
              <a:effectLst/>
              <a:latin typeface="Helvetica" pitchFamily="2" charset="0"/>
            </a:endParaRPr>
          </a:p>
          <a:p>
            <a:endParaRPr lang="en-US" sz="4000" dirty="0"/>
          </a:p>
        </p:txBody>
      </p:sp>
      <p:sp>
        <p:nvSpPr>
          <p:cNvPr id="15709" name="TextBox 15708">
            <a:extLst>
              <a:ext uri="{FF2B5EF4-FFF2-40B4-BE49-F238E27FC236}">
                <a16:creationId xmlns:a16="http://schemas.microsoft.com/office/drawing/2014/main" id="{80412985-0DFC-4CC7-0908-955D07FD1104}"/>
              </a:ext>
            </a:extLst>
          </p:cNvPr>
          <p:cNvSpPr txBox="1"/>
          <p:nvPr/>
        </p:nvSpPr>
        <p:spPr>
          <a:xfrm>
            <a:off x="30990882" y="14863809"/>
            <a:ext cx="11036996" cy="707886"/>
          </a:xfrm>
          <a:prstGeom prst="rect">
            <a:avLst/>
          </a:prstGeom>
          <a:noFill/>
        </p:spPr>
        <p:txBody>
          <a:bodyPr wrap="none" rtlCol="0">
            <a:spAutoFit/>
          </a:bodyPr>
          <a:lstStyle/>
          <a:p>
            <a:r>
              <a:rPr lang="en-US" sz="4000" b="0" i="0" dirty="0">
                <a:effectLst/>
                <a:latin typeface="Helvetica" pitchFamily="2" charset="0"/>
              </a:rPr>
              <a:t>Friend Reciprocating &gt; Computer Reciprocating</a:t>
            </a:r>
            <a:endParaRPr lang="en-US" sz="4000" i="0" dirty="0">
              <a:effectLst/>
              <a:latin typeface="Helvetica" pitchFamily="2" charset="0"/>
            </a:endParaRPr>
          </a:p>
        </p:txBody>
      </p:sp>
      <p:sp>
        <p:nvSpPr>
          <p:cNvPr id="15711" name="TextBox 15710">
            <a:extLst>
              <a:ext uri="{FF2B5EF4-FFF2-40B4-BE49-F238E27FC236}">
                <a16:creationId xmlns:a16="http://schemas.microsoft.com/office/drawing/2014/main" id="{3F0968C1-C452-1885-6B38-F154CD473A3F}"/>
              </a:ext>
            </a:extLst>
          </p:cNvPr>
          <p:cNvSpPr txBox="1"/>
          <p:nvPr/>
        </p:nvSpPr>
        <p:spPr>
          <a:xfrm>
            <a:off x="37616989" y="6979043"/>
            <a:ext cx="569387" cy="369332"/>
          </a:xfrm>
          <a:prstGeom prst="rect">
            <a:avLst/>
          </a:prstGeom>
          <a:noFill/>
        </p:spPr>
        <p:txBody>
          <a:bodyPr wrap="none" rtlCol="0">
            <a:spAutoFit/>
          </a:bodyPr>
          <a:lstStyle/>
          <a:p>
            <a:r>
              <a:rPr lang="en-US" dirty="0"/>
              <a:t>200</a:t>
            </a:r>
          </a:p>
        </p:txBody>
      </p:sp>
      <p:sp>
        <p:nvSpPr>
          <p:cNvPr id="15713" name="TextBox 15712">
            <a:extLst>
              <a:ext uri="{FF2B5EF4-FFF2-40B4-BE49-F238E27FC236}">
                <a16:creationId xmlns:a16="http://schemas.microsoft.com/office/drawing/2014/main" id="{0538FBF6-7909-445F-ACD2-9599FE92C967}"/>
              </a:ext>
            </a:extLst>
          </p:cNvPr>
          <p:cNvSpPr txBox="1"/>
          <p:nvPr/>
        </p:nvSpPr>
        <p:spPr>
          <a:xfrm>
            <a:off x="37564868" y="11337187"/>
            <a:ext cx="646331" cy="369332"/>
          </a:xfrm>
          <a:prstGeom prst="rect">
            <a:avLst/>
          </a:prstGeom>
          <a:noFill/>
        </p:spPr>
        <p:txBody>
          <a:bodyPr wrap="none" rtlCol="0">
            <a:spAutoFit/>
          </a:bodyPr>
          <a:lstStyle/>
          <a:p>
            <a:r>
              <a:rPr lang="en-US" dirty="0"/>
              <a:t>-300</a:t>
            </a:r>
          </a:p>
        </p:txBody>
      </p:sp>
      <p:sp>
        <p:nvSpPr>
          <p:cNvPr id="15715" name="TextBox 15714">
            <a:extLst>
              <a:ext uri="{FF2B5EF4-FFF2-40B4-BE49-F238E27FC236}">
                <a16:creationId xmlns:a16="http://schemas.microsoft.com/office/drawing/2014/main" id="{6A186BD7-7E16-8AE4-2E56-FAD05BEC16F6}"/>
              </a:ext>
            </a:extLst>
          </p:cNvPr>
          <p:cNvSpPr txBox="1"/>
          <p:nvPr/>
        </p:nvSpPr>
        <p:spPr>
          <a:xfrm rot="16200000">
            <a:off x="36483567" y="8819300"/>
            <a:ext cx="2770310" cy="553998"/>
          </a:xfrm>
          <a:prstGeom prst="rect">
            <a:avLst/>
          </a:prstGeom>
          <a:noFill/>
        </p:spPr>
        <p:txBody>
          <a:bodyPr wrap="none" rtlCol="0">
            <a:spAutoFit/>
          </a:bodyPr>
          <a:lstStyle/>
          <a:p>
            <a:r>
              <a:rPr lang="en-US" sz="3000" dirty="0"/>
              <a:t>MFG activation</a:t>
            </a:r>
          </a:p>
        </p:txBody>
      </p:sp>
      <p:sp>
        <p:nvSpPr>
          <p:cNvPr id="15716" name="TextBox 15715">
            <a:extLst>
              <a:ext uri="{FF2B5EF4-FFF2-40B4-BE49-F238E27FC236}">
                <a16:creationId xmlns:a16="http://schemas.microsoft.com/office/drawing/2014/main" id="{A7B791E9-2592-EA60-AB27-F2DBE3421768}"/>
              </a:ext>
            </a:extLst>
          </p:cNvPr>
          <p:cNvSpPr txBox="1"/>
          <p:nvPr/>
        </p:nvSpPr>
        <p:spPr>
          <a:xfrm>
            <a:off x="38211199" y="11728946"/>
            <a:ext cx="441146" cy="369332"/>
          </a:xfrm>
          <a:prstGeom prst="rect">
            <a:avLst/>
          </a:prstGeom>
          <a:noFill/>
        </p:spPr>
        <p:txBody>
          <a:bodyPr wrap="none" rtlCol="0">
            <a:spAutoFit/>
          </a:bodyPr>
          <a:lstStyle/>
          <a:p>
            <a:r>
              <a:rPr lang="en-US" dirty="0"/>
              <a:t>20</a:t>
            </a:r>
          </a:p>
        </p:txBody>
      </p:sp>
      <p:sp>
        <p:nvSpPr>
          <p:cNvPr id="15717" name="TextBox 15716">
            <a:extLst>
              <a:ext uri="{FF2B5EF4-FFF2-40B4-BE49-F238E27FC236}">
                <a16:creationId xmlns:a16="http://schemas.microsoft.com/office/drawing/2014/main" id="{4288430D-B235-E5D2-0E3C-C928486D0544}"/>
              </a:ext>
            </a:extLst>
          </p:cNvPr>
          <p:cNvSpPr txBox="1"/>
          <p:nvPr/>
        </p:nvSpPr>
        <p:spPr>
          <a:xfrm>
            <a:off x="41883268" y="11791390"/>
            <a:ext cx="441146" cy="369332"/>
          </a:xfrm>
          <a:prstGeom prst="rect">
            <a:avLst/>
          </a:prstGeom>
          <a:noFill/>
        </p:spPr>
        <p:txBody>
          <a:bodyPr wrap="none" rtlCol="0">
            <a:spAutoFit/>
          </a:bodyPr>
          <a:lstStyle/>
          <a:p>
            <a:r>
              <a:rPr lang="en-US" dirty="0"/>
              <a:t>60</a:t>
            </a:r>
          </a:p>
        </p:txBody>
      </p:sp>
      <p:sp>
        <p:nvSpPr>
          <p:cNvPr id="15718" name="TextBox 15717">
            <a:extLst>
              <a:ext uri="{FF2B5EF4-FFF2-40B4-BE49-F238E27FC236}">
                <a16:creationId xmlns:a16="http://schemas.microsoft.com/office/drawing/2014/main" id="{C5EDCAEC-F972-A2CD-DE27-9E216B9AC130}"/>
              </a:ext>
            </a:extLst>
          </p:cNvPr>
          <p:cNvSpPr txBox="1"/>
          <p:nvPr/>
        </p:nvSpPr>
        <p:spPr>
          <a:xfrm>
            <a:off x="39886352" y="11652166"/>
            <a:ext cx="1096775" cy="707886"/>
          </a:xfrm>
          <a:prstGeom prst="rect">
            <a:avLst/>
          </a:prstGeom>
          <a:noFill/>
        </p:spPr>
        <p:txBody>
          <a:bodyPr wrap="none" rtlCol="0">
            <a:spAutoFit/>
          </a:bodyPr>
          <a:lstStyle/>
          <a:p>
            <a:r>
              <a:rPr lang="en-US" sz="4000" dirty="0"/>
              <a:t>Age</a:t>
            </a:r>
          </a:p>
        </p:txBody>
      </p:sp>
      <p:grpSp>
        <p:nvGrpSpPr>
          <p:cNvPr id="15726" name="Group 15725">
            <a:extLst>
              <a:ext uri="{FF2B5EF4-FFF2-40B4-BE49-F238E27FC236}">
                <a16:creationId xmlns:a16="http://schemas.microsoft.com/office/drawing/2014/main" id="{B3430D81-BB79-4C3F-9F94-3445BBB422F8}"/>
              </a:ext>
            </a:extLst>
          </p:cNvPr>
          <p:cNvGrpSpPr/>
          <p:nvPr/>
        </p:nvGrpSpPr>
        <p:grpSpPr>
          <a:xfrm>
            <a:off x="37324753" y="15097157"/>
            <a:ext cx="5956404" cy="6738219"/>
            <a:chOff x="37462544" y="15444990"/>
            <a:chExt cx="5956404" cy="6738219"/>
          </a:xfrm>
        </p:grpSpPr>
        <p:pic>
          <p:nvPicPr>
            <p:cNvPr id="15654" name="Graphic 15653">
              <a:extLst>
                <a:ext uri="{FF2B5EF4-FFF2-40B4-BE49-F238E27FC236}">
                  <a16:creationId xmlns:a16="http://schemas.microsoft.com/office/drawing/2014/main" id="{10803621-C472-7ABD-EBF3-5EE9AE8C4D09}"/>
                </a:ext>
              </a:extLst>
            </p:cNvPr>
            <p:cNvPicPr>
              <a:picLocks noChangeAspect="1"/>
            </p:cNvPicPr>
            <p:nvPr/>
          </p:nvPicPr>
          <p:blipFill rotWithShape="1">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rcRect l="12332" r="4359" b="8540"/>
            <a:stretch/>
          </p:blipFill>
          <p:spPr>
            <a:xfrm>
              <a:off x="38085758" y="15444990"/>
              <a:ext cx="5333190" cy="6071802"/>
            </a:xfrm>
            <a:prstGeom prst="rect">
              <a:avLst/>
            </a:prstGeom>
          </p:spPr>
        </p:pic>
        <p:sp>
          <p:nvSpPr>
            <p:cNvPr id="15719" name="TextBox 15718">
              <a:extLst>
                <a:ext uri="{FF2B5EF4-FFF2-40B4-BE49-F238E27FC236}">
                  <a16:creationId xmlns:a16="http://schemas.microsoft.com/office/drawing/2014/main" id="{F04F4CFA-B833-1DD9-86EC-A956DC37137A}"/>
                </a:ext>
              </a:extLst>
            </p:cNvPr>
            <p:cNvSpPr txBox="1"/>
            <p:nvPr/>
          </p:nvSpPr>
          <p:spPr>
            <a:xfrm>
              <a:off x="37516370" y="16909110"/>
              <a:ext cx="569387" cy="369332"/>
            </a:xfrm>
            <a:prstGeom prst="rect">
              <a:avLst/>
            </a:prstGeom>
            <a:noFill/>
          </p:spPr>
          <p:txBody>
            <a:bodyPr wrap="none" rtlCol="0">
              <a:spAutoFit/>
            </a:bodyPr>
            <a:lstStyle/>
            <a:p>
              <a:r>
                <a:rPr lang="en-US" dirty="0"/>
                <a:t>400</a:t>
              </a:r>
            </a:p>
          </p:txBody>
        </p:sp>
        <p:sp>
          <p:nvSpPr>
            <p:cNvPr id="15720" name="TextBox 15719">
              <a:extLst>
                <a:ext uri="{FF2B5EF4-FFF2-40B4-BE49-F238E27FC236}">
                  <a16:creationId xmlns:a16="http://schemas.microsoft.com/office/drawing/2014/main" id="{0D17E5B2-CB95-D5BD-E169-9C1854A0AD37}"/>
                </a:ext>
              </a:extLst>
            </p:cNvPr>
            <p:cNvSpPr txBox="1"/>
            <p:nvPr/>
          </p:nvSpPr>
          <p:spPr>
            <a:xfrm>
              <a:off x="37462544" y="20542022"/>
              <a:ext cx="646331" cy="369332"/>
            </a:xfrm>
            <a:prstGeom prst="rect">
              <a:avLst/>
            </a:prstGeom>
            <a:noFill/>
          </p:spPr>
          <p:txBody>
            <a:bodyPr wrap="none" rtlCol="0">
              <a:spAutoFit/>
            </a:bodyPr>
            <a:lstStyle/>
            <a:p>
              <a:r>
                <a:rPr lang="en-US" dirty="0"/>
                <a:t>-200</a:t>
              </a:r>
            </a:p>
          </p:txBody>
        </p:sp>
        <p:sp>
          <p:nvSpPr>
            <p:cNvPr id="15721" name="TextBox 15720">
              <a:extLst>
                <a:ext uri="{FF2B5EF4-FFF2-40B4-BE49-F238E27FC236}">
                  <a16:creationId xmlns:a16="http://schemas.microsoft.com/office/drawing/2014/main" id="{81E64089-644A-E436-A434-45AF685F62E1}"/>
                </a:ext>
              </a:extLst>
            </p:cNvPr>
            <p:cNvSpPr txBox="1"/>
            <p:nvPr/>
          </p:nvSpPr>
          <p:spPr>
            <a:xfrm rot="16200000">
              <a:off x="36381836" y="18642457"/>
              <a:ext cx="2770310" cy="553998"/>
            </a:xfrm>
            <a:prstGeom prst="rect">
              <a:avLst/>
            </a:prstGeom>
            <a:noFill/>
          </p:spPr>
          <p:txBody>
            <a:bodyPr wrap="none" rtlCol="0">
              <a:spAutoFit/>
            </a:bodyPr>
            <a:lstStyle/>
            <a:p>
              <a:r>
                <a:rPr lang="en-US" sz="3000" dirty="0"/>
                <a:t>MFG activation</a:t>
              </a:r>
            </a:p>
          </p:txBody>
        </p:sp>
        <p:sp>
          <p:nvSpPr>
            <p:cNvPr id="15722" name="TextBox 15721">
              <a:extLst>
                <a:ext uri="{FF2B5EF4-FFF2-40B4-BE49-F238E27FC236}">
                  <a16:creationId xmlns:a16="http://schemas.microsoft.com/office/drawing/2014/main" id="{D6E3B518-3825-F962-6455-6381AEA6B615}"/>
                </a:ext>
              </a:extLst>
            </p:cNvPr>
            <p:cNvSpPr txBox="1"/>
            <p:nvPr/>
          </p:nvSpPr>
          <p:spPr>
            <a:xfrm>
              <a:off x="38109468" y="21552103"/>
              <a:ext cx="441146" cy="369332"/>
            </a:xfrm>
            <a:prstGeom prst="rect">
              <a:avLst/>
            </a:prstGeom>
            <a:noFill/>
          </p:spPr>
          <p:txBody>
            <a:bodyPr wrap="none" rtlCol="0">
              <a:spAutoFit/>
            </a:bodyPr>
            <a:lstStyle/>
            <a:p>
              <a:r>
                <a:rPr lang="en-US" dirty="0"/>
                <a:t>20</a:t>
              </a:r>
            </a:p>
          </p:txBody>
        </p:sp>
        <p:sp>
          <p:nvSpPr>
            <p:cNvPr id="15723" name="TextBox 15722">
              <a:extLst>
                <a:ext uri="{FF2B5EF4-FFF2-40B4-BE49-F238E27FC236}">
                  <a16:creationId xmlns:a16="http://schemas.microsoft.com/office/drawing/2014/main" id="{8B001207-DE47-3A09-905A-EBCA2F9F5C56}"/>
                </a:ext>
              </a:extLst>
            </p:cNvPr>
            <p:cNvSpPr txBox="1"/>
            <p:nvPr/>
          </p:nvSpPr>
          <p:spPr>
            <a:xfrm>
              <a:off x="41781537" y="21614547"/>
              <a:ext cx="441146" cy="369332"/>
            </a:xfrm>
            <a:prstGeom prst="rect">
              <a:avLst/>
            </a:prstGeom>
            <a:noFill/>
          </p:spPr>
          <p:txBody>
            <a:bodyPr wrap="none" rtlCol="0">
              <a:spAutoFit/>
            </a:bodyPr>
            <a:lstStyle/>
            <a:p>
              <a:r>
                <a:rPr lang="en-US" dirty="0"/>
                <a:t>60</a:t>
              </a:r>
            </a:p>
          </p:txBody>
        </p:sp>
        <p:sp>
          <p:nvSpPr>
            <p:cNvPr id="15724" name="TextBox 15723">
              <a:extLst>
                <a:ext uri="{FF2B5EF4-FFF2-40B4-BE49-F238E27FC236}">
                  <a16:creationId xmlns:a16="http://schemas.microsoft.com/office/drawing/2014/main" id="{A7A779AE-265E-DD6C-9D50-6736DE453C86}"/>
                </a:ext>
              </a:extLst>
            </p:cNvPr>
            <p:cNvSpPr txBox="1"/>
            <p:nvPr/>
          </p:nvSpPr>
          <p:spPr>
            <a:xfrm>
              <a:off x="39784621" y="21475323"/>
              <a:ext cx="1096775" cy="707886"/>
            </a:xfrm>
            <a:prstGeom prst="rect">
              <a:avLst/>
            </a:prstGeom>
            <a:noFill/>
          </p:spPr>
          <p:txBody>
            <a:bodyPr wrap="none" rtlCol="0">
              <a:spAutoFit/>
            </a:bodyPr>
            <a:lstStyle/>
            <a:p>
              <a:r>
                <a:rPr lang="en-US" sz="4000" dirty="0"/>
                <a:t>Age</a:t>
              </a:r>
            </a:p>
          </p:txBody>
        </p:sp>
      </p:grpSp>
      <p:sp>
        <p:nvSpPr>
          <p:cNvPr id="15729" name="TextBox 15728">
            <a:extLst>
              <a:ext uri="{FF2B5EF4-FFF2-40B4-BE49-F238E27FC236}">
                <a16:creationId xmlns:a16="http://schemas.microsoft.com/office/drawing/2014/main" id="{9C4B6981-AC7F-0DBE-5162-C0039C526C7C}"/>
              </a:ext>
            </a:extLst>
          </p:cNvPr>
          <p:cNvSpPr txBox="1"/>
          <p:nvPr/>
        </p:nvSpPr>
        <p:spPr>
          <a:xfrm>
            <a:off x="30959587" y="12699725"/>
            <a:ext cx="12062344" cy="1015663"/>
          </a:xfrm>
          <a:prstGeom prst="rect">
            <a:avLst/>
          </a:prstGeom>
          <a:noFill/>
        </p:spPr>
        <p:txBody>
          <a:bodyPr wrap="square" rtlCol="0">
            <a:spAutoFit/>
          </a:bodyPr>
          <a:lstStyle/>
          <a:p>
            <a:pPr algn="l"/>
            <a:r>
              <a:rPr lang="en-US" sz="3000" i="0" dirty="0">
                <a:effectLst/>
                <a:latin typeface="Helvetica" pitchFamily="2" charset="0"/>
              </a:rPr>
              <a:t>We found greater MFG activation in older adults than in younger adults when experiencing friend defecting.</a:t>
            </a:r>
          </a:p>
        </p:txBody>
      </p:sp>
      <p:grpSp>
        <p:nvGrpSpPr>
          <p:cNvPr id="15731" name="Group 15730">
            <a:extLst>
              <a:ext uri="{FF2B5EF4-FFF2-40B4-BE49-F238E27FC236}">
                <a16:creationId xmlns:a16="http://schemas.microsoft.com/office/drawing/2014/main" id="{06155C43-338B-1F84-917E-F663403BFB29}"/>
              </a:ext>
            </a:extLst>
          </p:cNvPr>
          <p:cNvGrpSpPr/>
          <p:nvPr/>
        </p:nvGrpSpPr>
        <p:grpSpPr>
          <a:xfrm>
            <a:off x="23053763" y="15328939"/>
            <a:ext cx="6729801" cy="7219447"/>
            <a:chOff x="23053763" y="15328939"/>
            <a:chExt cx="6729801" cy="7219447"/>
          </a:xfrm>
        </p:grpSpPr>
        <p:grpSp>
          <p:nvGrpSpPr>
            <p:cNvPr id="15637" name="Group 15636">
              <a:extLst>
                <a:ext uri="{FF2B5EF4-FFF2-40B4-BE49-F238E27FC236}">
                  <a16:creationId xmlns:a16="http://schemas.microsoft.com/office/drawing/2014/main" id="{3A2B419D-DEB8-5DE4-6994-E09E435EDE6A}"/>
                </a:ext>
              </a:extLst>
            </p:cNvPr>
            <p:cNvGrpSpPr/>
            <p:nvPr/>
          </p:nvGrpSpPr>
          <p:grpSpPr>
            <a:xfrm>
              <a:off x="23053763" y="15328939"/>
              <a:ext cx="6729801" cy="7219447"/>
              <a:chOff x="23611670" y="15386915"/>
              <a:chExt cx="5877242" cy="6288526"/>
            </a:xfrm>
          </p:grpSpPr>
          <p:grpSp>
            <p:nvGrpSpPr>
              <p:cNvPr id="15627" name="Group 15626">
                <a:extLst>
                  <a:ext uri="{FF2B5EF4-FFF2-40B4-BE49-F238E27FC236}">
                    <a16:creationId xmlns:a16="http://schemas.microsoft.com/office/drawing/2014/main" id="{06AA4FCA-34DA-E471-770A-8C935B50E788}"/>
                  </a:ext>
                </a:extLst>
              </p:cNvPr>
              <p:cNvGrpSpPr/>
              <p:nvPr/>
            </p:nvGrpSpPr>
            <p:grpSpPr>
              <a:xfrm>
                <a:off x="23684560" y="15386915"/>
                <a:ext cx="5804352" cy="6288526"/>
                <a:chOff x="23684560" y="15386915"/>
                <a:chExt cx="5804352" cy="6288526"/>
              </a:xfrm>
            </p:grpSpPr>
            <p:pic>
              <p:nvPicPr>
                <p:cNvPr id="15623" name="Graphic 15622">
                  <a:extLst>
                    <a:ext uri="{FF2B5EF4-FFF2-40B4-BE49-F238E27FC236}">
                      <a16:creationId xmlns:a16="http://schemas.microsoft.com/office/drawing/2014/main" id="{D58E3C64-D70B-D4DC-2B91-07C64E19369D}"/>
                    </a:ext>
                  </a:extLst>
                </p:cNvPr>
                <p:cNvPicPr>
                  <a:picLocks noChangeAspect="1"/>
                </p:cNvPicPr>
                <p:nvPr/>
              </p:nvPicPr>
              <p:blipFill rotWithShape="1">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rcRect l="10234" b="7938"/>
                <a:stretch/>
              </p:blipFill>
              <p:spPr>
                <a:xfrm>
                  <a:off x="24165170" y="15386915"/>
                  <a:ext cx="5323742" cy="5662134"/>
                </a:xfrm>
                <a:prstGeom prst="rect">
                  <a:avLst/>
                </a:prstGeom>
              </p:spPr>
            </p:pic>
            <p:sp>
              <p:nvSpPr>
                <p:cNvPr id="15625" name="TextBox 15624">
                  <a:extLst>
                    <a:ext uri="{FF2B5EF4-FFF2-40B4-BE49-F238E27FC236}">
                      <a16:creationId xmlns:a16="http://schemas.microsoft.com/office/drawing/2014/main" id="{7328C975-6B3E-4A8B-7D28-2CBF3C3AA243}"/>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15626" name="TextBox 15625">
                  <a:extLst>
                    <a:ext uri="{FF2B5EF4-FFF2-40B4-BE49-F238E27FC236}">
                      <a16:creationId xmlns:a16="http://schemas.microsoft.com/office/drawing/2014/main" id="{0741CC01-E666-6FF6-4DCF-5C0AEA54A228}"/>
                    </a:ext>
                  </a:extLst>
                </p:cNvPr>
                <p:cNvSpPr txBox="1"/>
                <p:nvPr/>
              </p:nvSpPr>
              <p:spPr>
                <a:xfrm rot="16200000">
                  <a:off x="22278692" y="18345658"/>
                  <a:ext cx="3295551" cy="483815"/>
                </a:xfrm>
                <a:prstGeom prst="rect">
                  <a:avLst/>
                </a:prstGeom>
                <a:noFill/>
              </p:spPr>
              <p:txBody>
                <a:bodyPr wrap="none" rtlCol="0">
                  <a:spAutoFit/>
                </a:bodyPr>
                <a:lstStyle/>
                <a:p>
                  <a:r>
                    <a:rPr lang="en-US" sz="3000" dirty="0"/>
                    <a:t>Reciprocate &gt; Defect</a:t>
                  </a:r>
                </a:p>
              </p:txBody>
            </p:sp>
          </p:grpSp>
          <p:sp>
            <p:nvSpPr>
              <p:cNvPr id="15632" name="TextBox 15631">
                <a:extLst>
                  <a:ext uri="{FF2B5EF4-FFF2-40B4-BE49-F238E27FC236}">
                    <a16:creationId xmlns:a16="http://schemas.microsoft.com/office/drawing/2014/main" id="{DB5643A6-0963-1889-743A-BE329E7DFA26}"/>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15633" name="TextBox 15632">
                <a:extLst>
                  <a:ext uri="{FF2B5EF4-FFF2-40B4-BE49-F238E27FC236}">
                    <a16:creationId xmlns:a16="http://schemas.microsoft.com/office/drawing/2014/main" id="{F005320C-94E9-2CF4-6842-98DA1FA46221}"/>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15634" name="TextBox 15633">
                <a:extLst>
                  <a:ext uri="{FF2B5EF4-FFF2-40B4-BE49-F238E27FC236}">
                    <a16:creationId xmlns:a16="http://schemas.microsoft.com/office/drawing/2014/main" id="{E721D839-B7EC-B05A-38DA-D9704D0EBA2E}"/>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15635" name="TextBox 15634">
                <a:extLst>
                  <a:ext uri="{FF2B5EF4-FFF2-40B4-BE49-F238E27FC236}">
                    <a16:creationId xmlns:a16="http://schemas.microsoft.com/office/drawing/2014/main" id="{61C5ED5A-0A65-9C1A-0AC3-7712D59B3795}"/>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sp>
          <p:nvSpPr>
            <p:cNvPr id="15730" name="Rectangle 15729">
              <a:extLst>
                <a:ext uri="{FF2B5EF4-FFF2-40B4-BE49-F238E27FC236}">
                  <a16:creationId xmlns:a16="http://schemas.microsoft.com/office/drawing/2014/main" id="{FDF15931-1516-DE49-340B-5A133AA95A93}"/>
                </a:ext>
              </a:extLst>
            </p:cNvPr>
            <p:cNvSpPr/>
            <p:nvPr/>
          </p:nvSpPr>
          <p:spPr bwMode="auto">
            <a:xfrm>
              <a:off x="23923841" y="15957914"/>
              <a:ext cx="5627696" cy="5591284"/>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15735" name="Group 15734">
            <a:extLst>
              <a:ext uri="{FF2B5EF4-FFF2-40B4-BE49-F238E27FC236}">
                <a16:creationId xmlns:a16="http://schemas.microsoft.com/office/drawing/2014/main" id="{26911986-CCEA-2FCE-3DA3-E5B9ED9DE211}"/>
              </a:ext>
            </a:extLst>
          </p:cNvPr>
          <p:cNvGrpSpPr/>
          <p:nvPr/>
        </p:nvGrpSpPr>
        <p:grpSpPr>
          <a:xfrm>
            <a:off x="23087465" y="23975816"/>
            <a:ext cx="6524991" cy="6955685"/>
            <a:chOff x="23087465" y="23975816"/>
            <a:chExt cx="6524991" cy="6955685"/>
          </a:xfrm>
        </p:grpSpPr>
        <p:grpSp>
          <p:nvGrpSpPr>
            <p:cNvPr id="15706" name="Group 15705">
              <a:extLst>
                <a:ext uri="{FF2B5EF4-FFF2-40B4-BE49-F238E27FC236}">
                  <a16:creationId xmlns:a16="http://schemas.microsoft.com/office/drawing/2014/main" id="{63D4B78D-7F21-5B28-EC21-6939303B0C92}"/>
                </a:ext>
              </a:extLst>
            </p:cNvPr>
            <p:cNvGrpSpPr/>
            <p:nvPr/>
          </p:nvGrpSpPr>
          <p:grpSpPr>
            <a:xfrm>
              <a:off x="23087465" y="23975816"/>
              <a:ext cx="6524991" cy="6955685"/>
              <a:chOff x="23087465" y="23975816"/>
              <a:chExt cx="6524991" cy="6955685"/>
            </a:xfrm>
          </p:grpSpPr>
          <p:grpSp>
            <p:nvGrpSpPr>
              <p:cNvPr id="15703" name="Group 15702">
                <a:extLst>
                  <a:ext uri="{FF2B5EF4-FFF2-40B4-BE49-F238E27FC236}">
                    <a16:creationId xmlns:a16="http://schemas.microsoft.com/office/drawing/2014/main" id="{2795A3AF-A7CF-294E-F9B5-08AB686B1E17}"/>
                  </a:ext>
                </a:extLst>
              </p:cNvPr>
              <p:cNvGrpSpPr/>
              <p:nvPr/>
            </p:nvGrpSpPr>
            <p:grpSpPr>
              <a:xfrm>
                <a:off x="23087465" y="23975816"/>
                <a:ext cx="6524991" cy="6955685"/>
                <a:chOff x="23087465" y="23975816"/>
                <a:chExt cx="6524991" cy="6955685"/>
              </a:xfrm>
            </p:grpSpPr>
            <p:pic>
              <p:nvPicPr>
                <p:cNvPr id="15642" name="Graphic 15641">
                  <a:extLst>
                    <a:ext uri="{FF2B5EF4-FFF2-40B4-BE49-F238E27FC236}">
                      <a16:creationId xmlns:a16="http://schemas.microsoft.com/office/drawing/2014/main" id="{38CF2D33-CDB3-BF29-CD2F-1AA0F4A194EC}"/>
                    </a:ext>
                  </a:extLst>
                </p:cNvPr>
                <p:cNvPicPr>
                  <a:picLocks noChangeAspect="1"/>
                </p:cNvPicPr>
                <p:nvPr/>
              </p:nvPicPr>
              <p:blipFill rotWithShape="1">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rcRect l="10991" t="5046" r="3126" b="7756"/>
                <a:stretch/>
              </p:blipFill>
              <p:spPr>
                <a:xfrm>
                  <a:off x="23723984" y="23975816"/>
                  <a:ext cx="5888472" cy="6200049"/>
                </a:xfrm>
                <a:prstGeom prst="rect">
                  <a:avLst/>
                </a:prstGeom>
              </p:spPr>
            </p:pic>
            <p:sp>
              <p:nvSpPr>
                <p:cNvPr id="15697" name="TextBox 15696">
                  <a:extLst>
                    <a:ext uri="{FF2B5EF4-FFF2-40B4-BE49-F238E27FC236}">
                      <a16:creationId xmlns:a16="http://schemas.microsoft.com/office/drawing/2014/main" id="{7E37C853-4C65-27FE-3737-304A023FEAD6}"/>
                    </a:ext>
                  </a:extLst>
                </p:cNvPr>
                <p:cNvSpPr txBox="1"/>
                <p:nvPr/>
              </p:nvSpPr>
              <p:spPr>
                <a:xfrm>
                  <a:off x="25810594" y="30223615"/>
                  <a:ext cx="1096775" cy="707886"/>
                </a:xfrm>
                <a:prstGeom prst="rect">
                  <a:avLst/>
                </a:prstGeom>
                <a:noFill/>
              </p:spPr>
              <p:txBody>
                <a:bodyPr wrap="square" rtlCol="0">
                  <a:spAutoFit/>
                </a:bodyPr>
                <a:lstStyle/>
                <a:p>
                  <a:r>
                    <a:rPr lang="en-US" sz="4000" dirty="0"/>
                    <a:t>Age</a:t>
                  </a:r>
                </a:p>
              </p:txBody>
            </p:sp>
            <p:sp>
              <p:nvSpPr>
                <p:cNvPr id="15699" name="TextBox 15698">
                  <a:extLst>
                    <a:ext uri="{FF2B5EF4-FFF2-40B4-BE49-F238E27FC236}">
                      <a16:creationId xmlns:a16="http://schemas.microsoft.com/office/drawing/2014/main" id="{CFC48A4A-F5C7-919B-B216-050A47D2A73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5700" name="TextBox 15699">
                  <a:extLst>
                    <a:ext uri="{FF2B5EF4-FFF2-40B4-BE49-F238E27FC236}">
                      <a16:creationId xmlns:a16="http://schemas.microsoft.com/office/drawing/2014/main" id="{0479233A-F219-C4C1-0FAE-4E64BDC40251}"/>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5701" name="TextBox 15700">
                  <a:extLst>
                    <a:ext uri="{FF2B5EF4-FFF2-40B4-BE49-F238E27FC236}">
                      <a16:creationId xmlns:a16="http://schemas.microsoft.com/office/drawing/2014/main" id="{0037EC62-7BBF-974B-42EC-5B85E16EF20D}"/>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5702" name="TextBox 15701">
                  <a:extLst>
                    <a:ext uri="{FF2B5EF4-FFF2-40B4-BE49-F238E27FC236}">
                      <a16:creationId xmlns:a16="http://schemas.microsoft.com/office/drawing/2014/main" id="{E539492E-CCBD-AEE5-A537-2A1EEB1A9F5C}"/>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5705" name="TextBox 15704">
                <a:extLst>
                  <a:ext uri="{FF2B5EF4-FFF2-40B4-BE49-F238E27FC236}">
                    <a16:creationId xmlns:a16="http://schemas.microsoft.com/office/drawing/2014/main" id="{6960A0F0-CDFF-ED60-A579-49BA29A21318}"/>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
          <p:nvSpPr>
            <p:cNvPr id="15732" name="Rectangle 15731">
              <a:extLst>
                <a:ext uri="{FF2B5EF4-FFF2-40B4-BE49-F238E27FC236}">
                  <a16:creationId xmlns:a16="http://schemas.microsoft.com/office/drawing/2014/main" id="{DB9E91CB-EB75-75BF-4CD0-32893875A887}"/>
                </a:ext>
              </a:extLst>
            </p:cNvPr>
            <p:cNvSpPr/>
            <p:nvPr/>
          </p:nvSpPr>
          <p:spPr bwMode="auto">
            <a:xfrm>
              <a:off x="23891921" y="24154307"/>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nvGrpSpPr>
          <p:cNvPr id="15734" name="Group 15733">
            <a:extLst>
              <a:ext uri="{FF2B5EF4-FFF2-40B4-BE49-F238E27FC236}">
                <a16:creationId xmlns:a16="http://schemas.microsoft.com/office/drawing/2014/main" id="{D6329C71-02EA-73D7-8FA5-5799213EF5F4}"/>
              </a:ext>
            </a:extLst>
          </p:cNvPr>
          <p:cNvGrpSpPr/>
          <p:nvPr/>
        </p:nvGrpSpPr>
        <p:grpSpPr>
          <a:xfrm>
            <a:off x="16026704" y="24108846"/>
            <a:ext cx="6532972" cy="6817128"/>
            <a:chOff x="16026704" y="24108846"/>
            <a:chExt cx="6532972" cy="6817128"/>
          </a:xfrm>
        </p:grpSpPr>
        <p:grpSp>
          <p:nvGrpSpPr>
            <p:cNvPr id="15704" name="Group 15703">
              <a:extLst>
                <a:ext uri="{FF2B5EF4-FFF2-40B4-BE49-F238E27FC236}">
                  <a16:creationId xmlns:a16="http://schemas.microsoft.com/office/drawing/2014/main" id="{FCD1B93E-6226-3998-93E5-870A1491CB64}"/>
                </a:ext>
              </a:extLst>
            </p:cNvPr>
            <p:cNvGrpSpPr/>
            <p:nvPr/>
          </p:nvGrpSpPr>
          <p:grpSpPr>
            <a:xfrm>
              <a:off x="16026704" y="24108846"/>
              <a:ext cx="6532972" cy="6817128"/>
              <a:chOff x="16026704" y="24108846"/>
              <a:chExt cx="6532972" cy="6817128"/>
            </a:xfrm>
          </p:grpSpPr>
          <p:pic>
            <p:nvPicPr>
              <p:cNvPr id="15639" name="Graphic 15638">
                <a:extLst>
                  <a:ext uri="{FF2B5EF4-FFF2-40B4-BE49-F238E27FC236}">
                    <a16:creationId xmlns:a16="http://schemas.microsoft.com/office/drawing/2014/main" id="{D9CF084F-C433-567D-8719-A7C5D7D79D7D}"/>
                  </a:ext>
                </a:extLst>
              </p:cNvPr>
              <p:cNvPicPr>
                <a:picLocks noChangeAspect="1"/>
              </p:cNvPicPr>
              <p:nvPr/>
            </p:nvPicPr>
            <p:blipFill rotWithShape="1">
              <a:blip r:embed="rId27">
                <a:extLst>
                  <a:ext uri="{28A0092B-C50C-407E-A947-70E740481C1C}">
                    <a14:useLocalDpi xmlns:a14="http://schemas.microsoft.com/office/drawing/2010/main" val="0"/>
                  </a:ext>
                  <a:ext uri="{96DAC541-7B7A-43D3-8B79-37D633B846F1}">
                    <asvg:svgBlip xmlns:asvg="http://schemas.microsoft.com/office/drawing/2016/SVG/main" r:embed="rId28"/>
                  </a:ext>
                </a:extLst>
              </a:blip>
              <a:srcRect l="10756" t="6660" r="2865" b="7584"/>
              <a:stretch/>
            </p:blipFill>
            <p:spPr>
              <a:xfrm>
                <a:off x="16651056" y="24108846"/>
                <a:ext cx="5908620" cy="6083352"/>
              </a:xfrm>
              <a:prstGeom prst="rect">
                <a:avLst/>
              </a:prstGeom>
            </p:spPr>
          </p:pic>
          <p:sp>
            <p:nvSpPr>
              <p:cNvPr id="15687" name="TextBox 15686">
                <a:extLst>
                  <a:ext uri="{FF2B5EF4-FFF2-40B4-BE49-F238E27FC236}">
                    <a16:creationId xmlns:a16="http://schemas.microsoft.com/office/drawing/2014/main" id="{F662A648-B469-A9E0-776B-0B74000CC056}"/>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5688" name="TextBox 15687">
                <a:extLst>
                  <a:ext uri="{FF2B5EF4-FFF2-40B4-BE49-F238E27FC236}">
                    <a16:creationId xmlns:a16="http://schemas.microsoft.com/office/drawing/2014/main" id="{17B4D306-3BDE-F46A-B882-1F7E819C5A36}"/>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5689" name="TextBox 15688">
                <a:extLst>
                  <a:ext uri="{FF2B5EF4-FFF2-40B4-BE49-F238E27FC236}">
                    <a16:creationId xmlns:a16="http://schemas.microsoft.com/office/drawing/2014/main" id="{39181606-99D7-432F-DC98-862BFA6B35E8}"/>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5690" name="TextBox 15689">
                <a:extLst>
                  <a:ext uri="{FF2B5EF4-FFF2-40B4-BE49-F238E27FC236}">
                    <a16:creationId xmlns:a16="http://schemas.microsoft.com/office/drawing/2014/main" id="{BA9BD2BF-7849-7A5A-CF46-E64AAA2C3D8A}"/>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5691" name="TextBox 15690">
                <a:extLst>
                  <a:ext uri="{FF2B5EF4-FFF2-40B4-BE49-F238E27FC236}">
                    <a16:creationId xmlns:a16="http://schemas.microsoft.com/office/drawing/2014/main" id="{1BD0A2A2-41F8-B866-7A17-811920106FC6}"/>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5692" name="TextBox 15691">
                <a:extLst>
                  <a:ext uri="{FF2B5EF4-FFF2-40B4-BE49-F238E27FC236}">
                    <a16:creationId xmlns:a16="http://schemas.microsoft.com/office/drawing/2014/main" id="{8B1D7E5E-F4B9-60AA-0137-EE2E8ABD15F8}"/>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sp>
          <p:nvSpPr>
            <p:cNvPr id="15733" name="Rectangle 15732">
              <a:extLst>
                <a:ext uri="{FF2B5EF4-FFF2-40B4-BE49-F238E27FC236}">
                  <a16:creationId xmlns:a16="http://schemas.microsoft.com/office/drawing/2014/main" id="{16C66349-C6D5-5B03-6B55-2EB7D1D282E3}"/>
                </a:ext>
              </a:extLst>
            </p:cNvPr>
            <p:cNvSpPr/>
            <p:nvPr/>
          </p:nvSpPr>
          <p:spPr bwMode="auto">
            <a:xfrm>
              <a:off x="16871673" y="24149410"/>
              <a:ext cx="5627696" cy="5921353"/>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sp>
        <p:nvSpPr>
          <p:cNvPr id="15736" name="Rectangle 15735">
            <a:extLst>
              <a:ext uri="{FF2B5EF4-FFF2-40B4-BE49-F238E27FC236}">
                <a16:creationId xmlns:a16="http://schemas.microsoft.com/office/drawing/2014/main" id="{885157CA-2A93-73F2-A17C-8ACD95507E22}"/>
              </a:ext>
            </a:extLst>
          </p:cNvPr>
          <p:cNvSpPr/>
          <p:nvPr/>
        </p:nvSpPr>
        <p:spPr bwMode="auto">
          <a:xfrm>
            <a:off x="38024698" y="15618426"/>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737" name="Rectangle 15736">
            <a:extLst>
              <a:ext uri="{FF2B5EF4-FFF2-40B4-BE49-F238E27FC236}">
                <a16:creationId xmlns:a16="http://schemas.microsoft.com/office/drawing/2014/main" id="{EEA0696C-64C6-F5A4-E63B-F257E6A68B97}"/>
              </a:ext>
            </a:extLst>
          </p:cNvPr>
          <p:cNvSpPr/>
          <p:nvPr/>
        </p:nvSpPr>
        <p:spPr bwMode="auto">
          <a:xfrm>
            <a:off x="38192920" y="6275932"/>
            <a:ext cx="5330580" cy="5411310"/>
          </a:xfrm>
          <a:prstGeom prst="rect">
            <a:avLst/>
          </a:prstGeom>
          <a:noFill/>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4047943" y="1512177"/>
            <a:ext cx="7364964" cy="7636639"/>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33" name="Group 32">
            <a:extLst>
              <a:ext uri="{FF2B5EF4-FFF2-40B4-BE49-F238E27FC236}">
                <a16:creationId xmlns:a16="http://schemas.microsoft.com/office/drawing/2014/main" id="{3CB27CAF-4280-AD34-B210-5080F180D2C2}"/>
              </a:ext>
            </a:extLst>
          </p:cNvPr>
          <p:cNvGrpSpPr/>
          <p:nvPr/>
        </p:nvGrpSpPr>
        <p:grpSpPr>
          <a:xfrm>
            <a:off x="3302117" y="697747"/>
            <a:ext cx="7765387" cy="8857886"/>
            <a:chOff x="15752261" y="4761579"/>
            <a:chExt cx="6351768" cy="7245387"/>
          </a:xfrm>
        </p:grpSpPr>
        <p:grpSp>
          <p:nvGrpSpPr>
            <p:cNvPr id="34" name="Group 33">
              <a:extLst>
                <a:ext uri="{FF2B5EF4-FFF2-40B4-BE49-F238E27FC236}">
                  <a16:creationId xmlns:a16="http://schemas.microsoft.com/office/drawing/2014/main" id="{8C781F48-3237-34BE-792E-D00CC6F352EC}"/>
                </a:ext>
              </a:extLst>
            </p:cNvPr>
            <p:cNvGrpSpPr/>
            <p:nvPr/>
          </p:nvGrpSpPr>
          <p:grpSpPr>
            <a:xfrm>
              <a:off x="15752261" y="4761579"/>
              <a:ext cx="6351768" cy="7245387"/>
              <a:chOff x="15752261" y="4761579"/>
              <a:chExt cx="6351768" cy="7245387"/>
            </a:xfrm>
          </p:grpSpPr>
          <p:sp>
            <p:nvSpPr>
              <p:cNvPr id="42" name="Rectangle 41">
                <a:extLst>
                  <a:ext uri="{FF2B5EF4-FFF2-40B4-BE49-F238E27FC236}">
                    <a16:creationId xmlns:a16="http://schemas.microsoft.com/office/drawing/2014/main" id="{AFCDB739-B6CA-6A2F-4FF4-2D6158E62F41}"/>
                  </a:ext>
                </a:extLst>
              </p:cNvPr>
              <p:cNvSpPr/>
              <p:nvPr/>
            </p:nvSpPr>
            <p:spPr bwMode="auto">
              <a:xfrm>
                <a:off x="15752261" y="4761579"/>
                <a:ext cx="6351768"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3" name="TextBox 42">
                <a:extLst>
                  <a:ext uri="{FF2B5EF4-FFF2-40B4-BE49-F238E27FC236}">
                    <a16:creationId xmlns:a16="http://schemas.microsoft.com/office/drawing/2014/main" id="{D8CB1042-C763-7E92-8F91-E80C5111A56D}"/>
                  </a:ext>
                </a:extLst>
              </p:cNvPr>
              <p:cNvSpPr txBox="1"/>
              <p:nvPr/>
            </p:nvSpPr>
            <p:spPr>
              <a:xfrm>
                <a:off x="15906068" y="11363259"/>
                <a:ext cx="4965131" cy="579022"/>
              </a:xfrm>
              <a:prstGeom prst="rect">
                <a:avLst/>
              </a:prstGeom>
              <a:noFill/>
            </p:spPr>
            <p:txBody>
              <a:bodyPr wrap="square" lIns="91440" tIns="45720" rIns="91440" bIns="45720" anchor="t">
                <a:spAutoFit/>
              </a:bodyPr>
              <a:lstStyle/>
              <a:p>
                <a:r>
                  <a:rPr lang="en-US" altLang="en-US" sz="2000" dirty="0">
                    <a:latin typeface="Helvetica"/>
                    <a:ea typeface="MS PGothic"/>
                  </a:rPr>
                  <a:t>Kyle M. </a:t>
                </a:r>
                <a:r>
                  <a:rPr lang="en-US" altLang="en-US" sz="2000" dirty="0" err="1">
                    <a:latin typeface="Helvetica"/>
                    <a:ea typeface="MS PGothic"/>
                  </a:rPr>
                  <a:t>Woosnam</a:t>
                </a:r>
                <a:r>
                  <a:rPr lang="en-US" altLang="en-US" sz="2000" dirty="0">
                    <a:latin typeface="Helvetica"/>
                    <a:ea typeface="MS PGothic"/>
                  </a:rPr>
                  <a:t>,</a:t>
                </a:r>
              </a:p>
              <a:p>
                <a:r>
                  <a:rPr lang="en-US" altLang="en-US" sz="2000" dirty="0">
                    <a:latin typeface="Helvetica"/>
                    <a:ea typeface="MS PGothic"/>
                  </a:rPr>
                  <a:t>The inclusion of other in the self (</a:t>
                </a:r>
                <a:r>
                  <a:rPr lang="en-US" altLang="en-US" sz="2000" dirty="0" err="1">
                    <a:latin typeface="Helvetica"/>
                    <a:ea typeface="MS PGothic"/>
                  </a:rPr>
                  <a:t>ios</a:t>
                </a:r>
                <a:r>
                  <a:rPr lang="en-US" altLang="en-US" sz="2000" dirty="0">
                    <a:latin typeface="Helvetica"/>
                    <a:ea typeface="MS PGothic"/>
                  </a:rPr>
                  <a:t>) scale</a:t>
                </a:r>
              </a:p>
            </p:txBody>
          </p:sp>
        </p:grpSp>
        <p:grpSp>
          <p:nvGrpSpPr>
            <p:cNvPr id="35" name="Group 34">
              <a:extLst>
                <a:ext uri="{FF2B5EF4-FFF2-40B4-BE49-F238E27FC236}">
                  <a16:creationId xmlns:a16="http://schemas.microsoft.com/office/drawing/2014/main" id="{7D816D11-3FBA-D07E-6B9E-38A2F4EB099B}"/>
                </a:ext>
              </a:extLst>
            </p:cNvPr>
            <p:cNvGrpSpPr/>
            <p:nvPr/>
          </p:nvGrpSpPr>
          <p:grpSpPr>
            <a:xfrm>
              <a:off x="16266708" y="5102620"/>
              <a:ext cx="5346874" cy="6245250"/>
              <a:chOff x="24606262" y="5087612"/>
              <a:chExt cx="5346874" cy="6245250"/>
            </a:xfrm>
          </p:grpSpPr>
          <p:grpSp>
            <p:nvGrpSpPr>
              <p:cNvPr id="36" name="Group 35">
                <a:extLst>
                  <a:ext uri="{FF2B5EF4-FFF2-40B4-BE49-F238E27FC236}">
                    <a16:creationId xmlns:a16="http://schemas.microsoft.com/office/drawing/2014/main" id="{6775D2E0-EA68-224B-714D-E08D12FB0BC4}"/>
                  </a:ext>
                </a:extLst>
              </p:cNvPr>
              <p:cNvGrpSpPr/>
              <p:nvPr/>
            </p:nvGrpSpPr>
            <p:grpSpPr>
              <a:xfrm>
                <a:off x="24606262" y="5087612"/>
                <a:ext cx="5346874" cy="2981162"/>
                <a:chOff x="24230508" y="5420973"/>
                <a:chExt cx="5346874" cy="2981162"/>
              </a:xfrm>
            </p:grpSpPr>
            <p:sp>
              <p:nvSpPr>
                <p:cNvPr id="40" name="Oval 39">
                  <a:extLst>
                    <a:ext uri="{FF2B5EF4-FFF2-40B4-BE49-F238E27FC236}">
                      <a16:creationId xmlns:a16="http://schemas.microsoft.com/office/drawing/2014/main" id="{F210A4F8-95CD-6B0C-1156-2D603B9862CF}"/>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1" name="Oval 40">
                  <a:extLst>
                    <a:ext uri="{FF2B5EF4-FFF2-40B4-BE49-F238E27FC236}">
                      <a16:creationId xmlns:a16="http://schemas.microsoft.com/office/drawing/2014/main" id="{094E4F7B-794E-48AC-145A-00C8986E4091}"/>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37" name="Group 36">
                <a:extLst>
                  <a:ext uri="{FF2B5EF4-FFF2-40B4-BE49-F238E27FC236}">
                    <a16:creationId xmlns:a16="http://schemas.microsoft.com/office/drawing/2014/main" id="{9954FFDE-545B-AD1D-A25A-59FD7AEFC418}"/>
                  </a:ext>
                </a:extLst>
              </p:cNvPr>
              <p:cNvGrpSpPr/>
              <p:nvPr/>
            </p:nvGrpSpPr>
            <p:grpSpPr>
              <a:xfrm>
                <a:off x="25411939" y="8348344"/>
                <a:ext cx="3925091" cy="2984518"/>
                <a:chOff x="25130667" y="8968962"/>
                <a:chExt cx="3925091" cy="2984518"/>
              </a:xfrm>
            </p:grpSpPr>
            <p:sp>
              <p:nvSpPr>
                <p:cNvPr id="38" name="Oval 37">
                  <a:extLst>
                    <a:ext uri="{FF2B5EF4-FFF2-40B4-BE49-F238E27FC236}">
                      <a16:creationId xmlns:a16="http://schemas.microsoft.com/office/drawing/2014/main" id="{BFC73058-CB31-27B0-772A-3BDDA9B99C29}"/>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9" name="Oval 38">
                  <a:extLst>
                    <a:ext uri="{FF2B5EF4-FFF2-40B4-BE49-F238E27FC236}">
                      <a16:creationId xmlns:a16="http://schemas.microsoft.com/office/drawing/2014/main" id="{067D4BD0-69C1-6205-729F-359FD089EF50}"/>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pic>
        <p:nvPicPr>
          <p:cNvPr id="44" name="Picture 43" descr="A graph with a line and dots&#10;&#10;Description automatically generated">
            <a:extLst>
              <a:ext uri="{FF2B5EF4-FFF2-40B4-BE49-F238E27FC236}">
                <a16:creationId xmlns:a16="http://schemas.microsoft.com/office/drawing/2014/main" id="{5A9B45D2-69CE-45B6-E0FF-63E075F123C8}"/>
              </a:ext>
            </a:extLst>
          </p:cNvPr>
          <p:cNvPicPr>
            <a:picLocks noChangeAspect="1"/>
          </p:cNvPicPr>
          <p:nvPr/>
        </p:nvPicPr>
        <p:blipFill rotWithShape="1">
          <a:blip r:embed="rId2">
            <a:extLst>
              <a:ext uri="{28A0092B-C50C-407E-A947-70E740481C1C}">
                <a14:useLocalDpi xmlns:a14="http://schemas.microsoft.com/office/drawing/2010/main" val="0"/>
              </a:ext>
            </a:extLst>
          </a:blip>
          <a:srcRect r="6237"/>
          <a:stretch/>
        </p:blipFill>
        <p:spPr>
          <a:xfrm>
            <a:off x="17565458" y="20012822"/>
            <a:ext cx="5976934" cy="6256269"/>
          </a:xfrm>
          <a:prstGeom prst="rect">
            <a:avLst/>
          </a:prstGeom>
        </p:spPr>
      </p:pic>
      <p:sp>
        <p:nvSpPr>
          <p:cNvPr id="45" name="TextBox 44">
            <a:extLst>
              <a:ext uri="{FF2B5EF4-FFF2-40B4-BE49-F238E27FC236}">
                <a16:creationId xmlns:a16="http://schemas.microsoft.com/office/drawing/2014/main" id="{3101D678-0DF9-DFE7-5AB5-E5E73F160921}"/>
              </a:ext>
            </a:extLst>
          </p:cNvPr>
          <p:cNvSpPr txBox="1"/>
          <p:nvPr/>
        </p:nvSpPr>
        <p:spPr>
          <a:xfrm>
            <a:off x="25431750" y="21945601"/>
            <a:ext cx="3377848" cy="369332"/>
          </a:xfrm>
          <a:prstGeom prst="rect">
            <a:avLst/>
          </a:prstGeom>
          <a:noFill/>
        </p:spPr>
        <p:txBody>
          <a:bodyPr wrap="none" rtlCol="0">
            <a:spAutoFit/>
          </a:bodyPr>
          <a:lstStyle/>
          <a:p>
            <a:r>
              <a:rPr lang="en-US" dirty="0"/>
              <a:t>VS mask Cope 10, f-s behavior</a:t>
            </a:r>
          </a:p>
        </p:txBody>
      </p:sp>
      <p:grpSp>
        <p:nvGrpSpPr>
          <p:cNvPr id="55" name="Group 54">
            <a:extLst>
              <a:ext uri="{FF2B5EF4-FFF2-40B4-BE49-F238E27FC236}">
                <a16:creationId xmlns:a16="http://schemas.microsoft.com/office/drawing/2014/main" id="{85566B34-90A2-F860-BA56-C61310F4490F}"/>
              </a:ext>
            </a:extLst>
          </p:cNvPr>
          <p:cNvGrpSpPr/>
          <p:nvPr/>
        </p:nvGrpSpPr>
        <p:grpSpPr>
          <a:xfrm>
            <a:off x="23956247" y="1593935"/>
            <a:ext cx="8009593" cy="7451869"/>
            <a:chOff x="18887859" y="360968"/>
            <a:chExt cx="6543891" cy="6151778"/>
          </a:xfrm>
        </p:grpSpPr>
        <p:pic>
          <p:nvPicPr>
            <p:cNvPr id="46" name="Picture 45" descr="A green check mark on a grey background&#10;&#10;Description automatically generated">
              <a:extLst>
                <a:ext uri="{FF2B5EF4-FFF2-40B4-BE49-F238E27FC236}">
                  <a16:creationId xmlns:a16="http://schemas.microsoft.com/office/drawing/2014/main" id="{05D821C2-E885-CC67-E0E9-FCC0C910A129}"/>
                </a:ext>
              </a:extLst>
            </p:cNvPr>
            <p:cNvPicPr>
              <a:picLocks noChangeAspect="1"/>
            </p:cNvPicPr>
            <p:nvPr/>
          </p:nvPicPr>
          <p:blipFill rotWithShape="1">
            <a:blip r:embed="rId3"/>
            <a:srcRect l="14791" t="15087" r="12450" b="22936"/>
            <a:stretch/>
          </p:blipFill>
          <p:spPr>
            <a:xfrm>
              <a:off x="19244972" y="4622666"/>
              <a:ext cx="2991981"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7" name="Picture 46" descr="A computer screen shot&#10;&#10;Description automatically generated">
              <a:extLst>
                <a:ext uri="{FF2B5EF4-FFF2-40B4-BE49-F238E27FC236}">
                  <a16:creationId xmlns:a16="http://schemas.microsoft.com/office/drawing/2014/main" id="{25A164EB-4BEF-B4A5-B060-06D4C5267B2F}"/>
                </a:ext>
              </a:extLst>
            </p:cNvPr>
            <p:cNvPicPr>
              <a:picLocks noChangeAspect="1"/>
            </p:cNvPicPr>
            <p:nvPr/>
          </p:nvPicPr>
          <p:blipFill rotWithShape="1">
            <a:blip r:embed="rId4"/>
            <a:srcRect l="17658" t="18357" r="18046" b="25816"/>
            <a:stretch/>
          </p:blipFill>
          <p:spPr>
            <a:xfrm>
              <a:off x="22543408" y="4676154"/>
              <a:ext cx="2888342" cy="1819031"/>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8" name="Picture 47" descr="A white cross on a gray background&#10;&#10;Description automatically generated">
              <a:extLst>
                <a:ext uri="{FF2B5EF4-FFF2-40B4-BE49-F238E27FC236}">
                  <a16:creationId xmlns:a16="http://schemas.microsoft.com/office/drawing/2014/main" id="{2A82ECC0-02D2-399E-A379-0EF13FCC0D8B}"/>
                </a:ext>
              </a:extLst>
            </p:cNvPr>
            <p:cNvPicPr>
              <a:picLocks noChangeAspect="1"/>
            </p:cNvPicPr>
            <p:nvPr/>
          </p:nvPicPr>
          <p:blipFill rotWithShape="1">
            <a:blip r:embed="rId5"/>
            <a:srcRect l="2620" t="7420" r="2620" b="4981"/>
            <a:stretch/>
          </p:blipFill>
          <p:spPr>
            <a:xfrm>
              <a:off x="20965957" y="2971697"/>
              <a:ext cx="2848448" cy="189008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9" name="Picture 48" descr="A grey background with white text&#10;&#10;Description automatically generated">
              <a:extLst>
                <a:ext uri="{FF2B5EF4-FFF2-40B4-BE49-F238E27FC236}">
                  <a16:creationId xmlns:a16="http://schemas.microsoft.com/office/drawing/2014/main" id="{8319B2F5-A88D-8E16-A0DB-3B22400CECBB}"/>
                </a:ext>
              </a:extLst>
            </p:cNvPr>
            <p:cNvPicPr>
              <a:picLocks noChangeAspect="1"/>
            </p:cNvPicPr>
            <p:nvPr/>
          </p:nvPicPr>
          <p:blipFill>
            <a:blip r:embed="rId6"/>
            <a:stretch>
              <a:fillRect/>
            </a:stretch>
          </p:blipFill>
          <p:spPr>
            <a:xfrm>
              <a:off x="19926908" y="1639461"/>
              <a:ext cx="2848448" cy="194382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0" name="Picture 49" descr="A computer and a keyboard&#10;&#10;Description automatically generated with medium confidence">
              <a:extLst>
                <a:ext uri="{FF2B5EF4-FFF2-40B4-BE49-F238E27FC236}">
                  <a16:creationId xmlns:a16="http://schemas.microsoft.com/office/drawing/2014/main" id="{462EC6A9-8181-A755-C6DF-08487EECDC88}"/>
                </a:ext>
              </a:extLst>
            </p:cNvPr>
            <p:cNvPicPr>
              <a:picLocks noChangeAspect="1"/>
            </p:cNvPicPr>
            <p:nvPr/>
          </p:nvPicPr>
          <p:blipFill rotWithShape="1">
            <a:blip r:embed="rId7"/>
            <a:srcRect l="2378" t="5420" r="2378" b="9853"/>
            <a:stretch/>
          </p:blipFill>
          <p:spPr>
            <a:xfrm>
              <a:off x="18887859" y="360968"/>
              <a:ext cx="2848448" cy="1919430"/>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51" name="Group 50">
              <a:extLst>
                <a:ext uri="{FF2B5EF4-FFF2-40B4-BE49-F238E27FC236}">
                  <a16:creationId xmlns:a16="http://schemas.microsoft.com/office/drawing/2014/main" id="{D98D2AA0-6856-8BFC-A013-3D7002419DA0}"/>
                </a:ext>
              </a:extLst>
            </p:cNvPr>
            <p:cNvGrpSpPr/>
            <p:nvPr/>
          </p:nvGrpSpPr>
          <p:grpSpPr>
            <a:xfrm>
              <a:off x="22071524" y="360968"/>
              <a:ext cx="3360226" cy="995434"/>
              <a:chOff x="3514264" y="206684"/>
              <a:chExt cx="3360226" cy="995434"/>
            </a:xfrm>
          </p:grpSpPr>
          <p:pic>
            <p:nvPicPr>
              <p:cNvPr id="52" name="Picture 51">
                <a:extLst>
                  <a:ext uri="{FF2B5EF4-FFF2-40B4-BE49-F238E27FC236}">
                    <a16:creationId xmlns:a16="http://schemas.microsoft.com/office/drawing/2014/main" id="{8A58D4E4-38FC-FF26-3C92-D95E613FF24C}"/>
                  </a:ext>
                </a:extLst>
              </p:cNvPr>
              <p:cNvPicPr>
                <a:picLocks noChangeAspect="1"/>
              </p:cNvPicPr>
              <p:nvPr/>
            </p:nvPicPr>
            <p:blipFill>
              <a:blip r:embed="rId8"/>
              <a:stretch>
                <a:fillRect/>
              </a:stretch>
            </p:blipFill>
            <p:spPr>
              <a:xfrm>
                <a:off x="3514264" y="206684"/>
                <a:ext cx="1027916"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3" name="Picture 52" descr="A grey square with a person's head&#10;&#10;Description automatically generated">
                <a:extLst>
                  <a:ext uri="{FF2B5EF4-FFF2-40B4-BE49-F238E27FC236}">
                    <a16:creationId xmlns:a16="http://schemas.microsoft.com/office/drawing/2014/main" id="{DCD9D8FF-F003-604C-A09E-3B749D263137}"/>
                  </a:ext>
                </a:extLst>
              </p:cNvPr>
              <p:cNvPicPr>
                <a:picLocks noChangeAspect="1"/>
              </p:cNvPicPr>
              <p:nvPr/>
            </p:nvPicPr>
            <p:blipFill>
              <a:blip r:embed="rId9"/>
              <a:stretch>
                <a:fillRect/>
              </a:stretch>
            </p:blipFill>
            <p:spPr>
              <a:xfrm>
                <a:off x="4717835" y="206684"/>
                <a:ext cx="982991" cy="995434"/>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4" name="Picture 53" descr="A person with a smile on his face&#10;&#10;Description automatically generated">
                <a:extLst>
                  <a:ext uri="{FF2B5EF4-FFF2-40B4-BE49-F238E27FC236}">
                    <a16:creationId xmlns:a16="http://schemas.microsoft.com/office/drawing/2014/main" id="{AA177AC5-6357-26F0-BFC6-A1CAE04EB142}"/>
                  </a:ext>
                </a:extLst>
              </p:cNvPr>
              <p:cNvPicPr>
                <a:picLocks noChangeAspect="1"/>
              </p:cNvPicPr>
              <p:nvPr/>
            </p:nvPicPr>
            <p:blipFill>
              <a:blip r:embed="rId10"/>
              <a:stretch>
                <a:fillRect/>
              </a:stretch>
            </p:blipFill>
            <p:spPr>
              <a:xfrm>
                <a:off x="5883817" y="206684"/>
                <a:ext cx="990673" cy="990673"/>
              </a:xfrm>
              <a:prstGeom prst="rect">
                <a:avLst/>
              </a:prstGeom>
              <a:solidFill>
                <a:srgbClr val="FFFFFF">
                  <a:shade val="85000"/>
                </a:srgbClr>
              </a:solidFill>
              <a:ln w="88900" cap="sq">
                <a:solidFill>
                  <a:srgbClr val="C0000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grpSp>
    </p:spTree>
    <p:extLst>
      <p:ext uri="{BB962C8B-B14F-4D97-AF65-F5344CB8AC3E}">
        <p14:creationId xmlns:p14="http://schemas.microsoft.com/office/powerpoint/2010/main" val="2447354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837406F-5692-3E0A-6846-F0234F4B6443}"/>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6739"/>
          <a:stretch/>
        </p:blipFill>
        <p:spPr>
          <a:xfrm>
            <a:off x="256032" y="871751"/>
            <a:ext cx="11692074" cy="11308057"/>
          </a:xfrm>
          <a:prstGeom prst="rect">
            <a:avLst/>
          </a:prstGeom>
        </p:spPr>
      </p:pic>
      <p:pic>
        <p:nvPicPr>
          <p:cNvPr id="5" name="Graphic 4">
            <a:extLst>
              <a:ext uri="{FF2B5EF4-FFF2-40B4-BE49-F238E27FC236}">
                <a16:creationId xmlns:a16="http://schemas.microsoft.com/office/drawing/2014/main" id="{8BE36795-2270-B2A4-DE7D-9C6377C48B37}"/>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t="6956"/>
          <a:stretch/>
        </p:blipFill>
        <p:spPr>
          <a:xfrm>
            <a:off x="11948106" y="871751"/>
            <a:ext cx="11719381" cy="11308057"/>
          </a:xfrm>
          <a:prstGeom prst="rect">
            <a:avLst/>
          </a:prstGeom>
        </p:spPr>
      </p:pic>
    </p:spTree>
    <p:extLst>
      <p:ext uri="{BB962C8B-B14F-4D97-AF65-F5344CB8AC3E}">
        <p14:creationId xmlns:p14="http://schemas.microsoft.com/office/powerpoint/2010/main" val="2595018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angle 162">
            <a:extLst>
              <a:ext uri="{FF2B5EF4-FFF2-40B4-BE49-F238E27FC236}">
                <a16:creationId xmlns:a16="http://schemas.microsoft.com/office/drawing/2014/main" id="{F85C8D55-E7D1-1411-7315-1807B9914BF8}"/>
              </a:ext>
            </a:extLst>
          </p:cNvPr>
          <p:cNvSpPr>
            <a:spLocks noChangeArrowheads="1"/>
          </p:cNvSpPr>
          <p:nvPr/>
        </p:nvSpPr>
        <p:spPr bwMode="auto">
          <a:xfrm>
            <a:off x="15470883" y="14071787"/>
            <a:ext cx="14827930" cy="1861272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81" name="TextBox 86">
            <a:extLst>
              <a:ext uri="{FF2B5EF4-FFF2-40B4-BE49-F238E27FC236}">
                <a16:creationId xmlns:a16="http://schemas.microsoft.com/office/drawing/2014/main" id="{4AA4023A-FE9C-8A8F-DAD7-839D36EF1B05}"/>
              </a:ext>
            </a:extLst>
          </p:cNvPr>
          <p:cNvSpPr txBox="1">
            <a:spLocks noChangeArrowheads="1"/>
          </p:cNvSpPr>
          <p:nvPr/>
        </p:nvSpPr>
        <p:spPr bwMode="auto">
          <a:xfrm>
            <a:off x="17792340" y="13743817"/>
            <a:ext cx="10223153"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Ventral Striatal Activation Is not Associated with Age </a:t>
            </a:r>
            <a:endParaRPr lang="en-US" altLang="en-US" sz="4267" b="1" dirty="0">
              <a:solidFill>
                <a:srgbClr val="C00000"/>
              </a:solidFill>
              <a:latin typeface="Trebuchet MS" panose="020B0603020202020204" pitchFamily="34" charset="0"/>
            </a:endParaRPr>
          </a:p>
        </p:txBody>
      </p:sp>
      <p:sp>
        <p:nvSpPr>
          <p:cNvPr id="82" name="Rectangle 81">
            <a:extLst>
              <a:ext uri="{FF2B5EF4-FFF2-40B4-BE49-F238E27FC236}">
                <a16:creationId xmlns:a16="http://schemas.microsoft.com/office/drawing/2014/main" id="{F2374AF7-01C1-54D1-AF5E-5E845D42E41B}"/>
              </a:ext>
            </a:extLst>
          </p:cNvPr>
          <p:cNvSpPr/>
          <p:nvPr/>
        </p:nvSpPr>
        <p:spPr>
          <a:xfrm>
            <a:off x="15753891" y="15011657"/>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83" name="TextBox 82">
            <a:extLst>
              <a:ext uri="{FF2B5EF4-FFF2-40B4-BE49-F238E27FC236}">
                <a16:creationId xmlns:a16="http://schemas.microsoft.com/office/drawing/2014/main" id="{E2B87F1C-C65B-2365-C691-F84E272B2128}"/>
              </a:ext>
            </a:extLst>
          </p:cNvPr>
          <p:cNvSpPr txBox="1"/>
          <p:nvPr/>
        </p:nvSpPr>
        <p:spPr>
          <a:xfrm>
            <a:off x="15470883" y="23756535"/>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activation in the VS when participants were presented with a reciprocate outcome as opposed to a defect outcome.</a:t>
            </a:r>
          </a:p>
        </p:txBody>
      </p:sp>
      <p:grpSp>
        <p:nvGrpSpPr>
          <p:cNvPr id="84" name="Group 83">
            <a:extLst>
              <a:ext uri="{FF2B5EF4-FFF2-40B4-BE49-F238E27FC236}">
                <a16:creationId xmlns:a16="http://schemas.microsoft.com/office/drawing/2014/main" id="{6DE505BC-359F-2B64-7BF5-86249E8BC13F}"/>
              </a:ext>
            </a:extLst>
          </p:cNvPr>
          <p:cNvGrpSpPr/>
          <p:nvPr/>
        </p:nvGrpSpPr>
        <p:grpSpPr>
          <a:xfrm>
            <a:off x="16413362" y="16845193"/>
            <a:ext cx="6012596" cy="5359483"/>
            <a:chOff x="14976740" y="15406812"/>
            <a:chExt cx="6810930" cy="6071098"/>
          </a:xfrm>
        </p:grpSpPr>
        <p:pic>
          <p:nvPicPr>
            <p:cNvPr id="85" name="Picture 84">
              <a:extLst>
                <a:ext uri="{FF2B5EF4-FFF2-40B4-BE49-F238E27FC236}">
                  <a16:creationId xmlns:a16="http://schemas.microsoft.com/office/drawing/2014/main" id="{8CF128A2-7337-58D4-4F0F-518CE4ACA301}"/>
                </a:ext>
              </a:extLst>
            </p:cNvPr>
            <p:cNvPicPr>
              <a:picLocks noChangeAspect="1"/>
            </p:cNvPicPr>
            <p:nvPr/>
          </p:nvPicPr>
          <p:blipFill>
            <a:blip r:embed="rId2"/>
            <a:stretch>
              <a:fillRect/>
            </a:stretch>
          </p:blipFill>
          <p:spPr>
            <a:xfrm>
              <a:off x="15705594" y="15406812"/>
              <a:ext cx="6082076" cy="6071098"/>
            </a:xfrm>
            <a:prstGeom prst="rect">
              <a:avLst/>
            </a:prstGeom>
          </p:spPr>
        </p:pic>
        <p:sp>
          <p:nvSpPr>
            <p:cNvPr id="86" name="TextBox 85">
              <a:extLst>
                <a:ext uri="{FF2B5EF4-FFF2-40B4-BE49-F238E27FC236}">
                  <a16:creationId xmlns:a16="http://schemas.microsoft.com/office/drawing/2014/main" id="{C8F892C7-F6CA-BE50-D63E-C9CEF7BBEA28}"/>
                </a:ext>
              </a:extLst>
            </p:cNvPr>
            <p:cNvSpPr txBox="1"/>
            <p:nvPr/>
          </p:nvSpPr>
          <p:spPr>
            <a:xfrm>
              <a:off x="14986107" y="20885189"/>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87" name="TextBox 86">
              <a:extLst>
                <a:ext uri="{FF2B5EF4-FFF2-40B4-BE49-F238E27FC236}">
                  <a16:creationId xmlns:a16="http://schemas.microsoft.com/office/drawing/2014/main" id="{6BCFA7F6-6616-FD53-A415-FA1DC4F386A1}"/>
                </a:ext>
              </a:extLst>
            </p:cNvPr>
            <p:cNvSpPr txBox="1"/>
            <p:nvPr/>
          </p:nvSpPr>
          <p:spPr>
            <a:xfrm>
              <a:off x="14976740" y="15690149"/>
              <a:ext cx="1400615" cy="1289976"/>
            </a:xfrm>
            <a:prstGeom prst="rect">
              <a:avLst/>
            </a:prstGeom>
            <a:noFill/>
          </p:spPr>
          <p:txBody>
            <a:bodyPr wrap="square" lIns="91440" tIns="45720" rIns="91440" bIns="45720" anchor="t">
              <a:spAutoFit/>
            </a:bodyPr>
            <a:lstStyle/>
            <a:p>
              <a:pPr algn="ctr"/>
              <a:r>
                <a:rPr lang="en-US" sz="4000" dirty="0">
                  <a:latin typeface="Helvetica"/>
                  <a:ea typeface="MS PGothic"/>
                </a:rPr>
                <a:t>Y=9</a:t>
              </a:r>
            </a:p>
            <a:p>
              <a:pPr algn="ctr"/>
              <a:endParaRPr lang="en-US" sz="2800" dirty="0">
                <a:latin typeface="Helvetica"/>
              </a:endParaRPr>
            </a:p>
          </p:txBody>
        </p:sp>
      </p:grpSp>
      <p:sp>
        <p:nvSpPr>
          <p:cNvPr id="88" name="TextBox 87">
            <a:extLst>
              <a:ext uri="{FF2B5EF4-FFF2-40B4-BE49-F238E27FC236}">
                <a16:creationId xmlns:a16="http://schemas.microsoft.com/office/drawing/2014/main" id="{A569D325-14D6-3FBA-46F9-0533E45EEBA2}"/>
              </a:ext>
            </a:extLst>
          </p:cNvPr>
          <p:cNvSpPr txBox="1"/>
          <p:nvPr/>
        </p:nvSpPr>
        <p:spPr>
          <a:xfrm>
            <a:off x="18209595" y="31314065"/>
            <a:ext cx="9855262" cy="553998"/>
          </a:xfrm>
          <a:prstGeom prst="rect">
            <a:avLst/>
          </a:prstGeom>
          <a:noFill/>
        </p:spPr>
        <p:txBody>
          <a:bodyPr wrap="none" rtlCol="0">
            <a:spAutoFit/>
          </a:bodyPr>
          <a:lstStyle/>
          <a:p>
            <a:r>
              <a:rPr lang="en-US" sz="3000" dirty="0"/>
              <a:t>We found that activation in the VS was not related to age</a:t>
            </a:r>
          </a:p>
        </p:txBody>
      </p:sp>
      <p:grpSp>
        <p:nvGrpSpPr>
          <p:cNvPr id="89" name="Group 88">
            <a:extLst>
              <a:ext uri="{FF2B5EF4-FFF2-40B4-BE49-F238E27FC236}">
                <a16:creationId xmlns:a16="http://schemas.microsoft.com/office/drawing/2014/main" id="{B30A3D42-2685-DD83-F550-6D419DE0CEA4}"/>
              </a:ext>
            </a:extLst>
          </p:cNvPr>
          <p:cNvGrpSpPr/>
          <p:nvPr/>
        </p:nvGrpSpPr>
        <p:grpSpPr>
          <a:xfrm>
            <a:off x="25203363" y="25624464"/>
            <a:ext cx="4662175" cy="5381809"/>
            <a:chOff x="23611670" y="15386915"/>
            <a:chExt cx="5877242" cy="6288526"/>
          </a:xfrm>
        </p:grpSpPr>
        <p:grpSp>
          <p:nvGrpSpPr>
            <p:cNvPr id="90" name="Group 89">
              <a:extLst>
                <a:ext uri="{FF2B5EF4-FFF2-40B4-BE49-F238E27FC236}">
                  <a16:creationId xmlns:a16="http://schemas.microsoft.com/office/drawing/2014/main" id="{6B07F237-2D1D-AA5C-4846-56948C9E0ECF}"/>
                </a:ext>
              </a:extLst>
            </p:cNvPr>
            <p:cNvGrpSpPr/>
            <p:nvPr/>
          </p:nvGrpSpPr>
          <p:grpSpPr>
            <a:xfrm>
              <a:off x="23722773" y="15386915"/>
              <a:ext cx="5766139" cy="6288526"/>
              <a:chOff x="23722773" y="15386915"/>
              <a:chExt cx="5766139" cy="6288526"/>
            </a:xfrm>
          </p:grpSpPr>
          <p:sp>
            <p:nvSpPr>
              <p:cNvPr id="95" name="Rectangle 94">
                <a:extLst>
                  <a:ext uri="{FF2B5EF4-FFF2-40B4-BE49-F238E27FC236}">
                    <a16:creationId xmlns:a16="http://schemas.microsoft.com/office/drawing/2014/main" id="{566B512C-6DEA-DDC7-23FB-35CCDB864537}"/>
                  </a:ext>
                </a:extLst>
              </p:cNvPr>
              <p:cNvSpPr/>
              <p:nvPr/>
            </p:nvSpPr>
            <p:spPr bwMode="auto">
              <a:xfrm>
                <a:off x="24280009" y="15747147"/>
                <a:ext cx="5109967" cy="521382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96" name="Group 95">
                <a:extLst>
                  <a:ext uri="{FF2B5EF4-FFF2-40B4-BE49-F238E27FC236}">
                    <a16:creationId xmlns:a16="http://schemas.microsoft.com/office/drawing/2014/main" id="{F6ECB501-C792-BAA1-2CC5-9DE81B55F030}"/>
                  </a:ext>
                </a:extLst>
              </p:cNvPr>
              <p:cNvGrpSpPr/>
              <p:nvPr/>
            </p:nvGrpSpPr>
            <p:grpSpPr>
              <a:xfrm>
                <a:off x="23722773" y="15386915"/>
                <a:ext cx="5766139" cy="6288526"/>
                <a:chOff x="23722773" y="15386915"/>
                <a:chExt cx="5766139" cy="6288526"/>
              </a:xfrm>
            </p:grpSpPr>
            <p:pic>
              <p:nvPicPr>
                <p:cNvPr id="97" name="Graphic 96">
                  <a:extLst>
                    <a:ext uri="{FF2B5EF4-FFF2-40B4-BE49-F238E27FC236}">
                      <a16:creationId xmlns:a16="http://schemas.microsoft.com/office/drawing/2014/main" id="{43C9306F-2C03-A2C8-4848-B619109DAA62}"/>
                    </a:ext>
                  </a:extLst>
                </p:cNvPr>
                <p:cNvPicPr>
                  <a:picLocks noChangeAspect="1"/>
                </p:cNvPicPr>
                <p:nvPr/>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0234" b="7938"/>
                <a:stretch/>
              </p:blipFill>
              <p:spPr>
                <a:xfrm>
                  <a:off x="24165170" y="15386915"/>
                  <a:ext cx="5323742" cy="5662134"/>
                </a:xfrm>
                <a:prstGeom prst="rect">
                  <a:avLst/>
                </a:prstGeom>
              </p:spPr>
            </p:pic>
            <p:sp>
              <p:nvSpPr>
                <p:cNvPr id="98" name="TextBox 97">
                  <a:extLst>
                    <a:ext uri="{FF2B5EF4-FFF2-40B4-BE49-F238E27FC236}">
                      <a16:creationId xmlns:a16="http://schemas.microsoft.com/office/drawing/2014/main" id="{DF1AC5B5-014D-8A7A-6881-70B646DCADDF}"/>
                    </a:ext>
                  </a:extLst>
                </p:cNvPr>
                <p:cNvSpPr txBox="1"/>
                <p:nvPr/>
              </p:nvSpPr>
              <p:spPr>
                <a:xfrm>
                  <a:off x="25887039" y="21058834"/>
                  <a:ext cx="957831" cy="616607"/>
                </a:xfrm>
                <a:prstGeom prst="rect">
                  <a:avLst/>
                </a:prstGeom>
                <a:noFill/>
              </p:spPr>
              <p:txBody>
                <a:bodyPr wrap="none" rtlCol="0">
                  <a:spAutoFit/>
                </a:bodyPr>
                <a:lstStyle/>
                <a:p>
                  <a:r>
                    <a:rPr lang="en-US" sz="4000" dirty="0"/>
                    <a:t>Age</a:t>
                  </a:r>
                </a:p>
              </p:txBody>
            </p:sp>
            <p:sp>
              <p:nvSpPr>
                <p:cNvPr id="99" name="TextBox 98">
                  <a:extLst>
                    <a:ext uri="{FF2B5EF4-FFF2-40B4-BE49-F238E27FC236}">
                      <a16:creationId xmlns:a16="http://schemas.microsoft.com/office/drawing/2014/main" id="{E01277E7-C84C-A41A-2386-24226DEDA212}"/>
                    </a:ext>
                  </a:extLst>
                </p:cNvPr>
                <p:cNvSpPr txBox="1"/>
                <p:nvPr/>
              </p:nvSpPr>
              <p:spPr>
                <a:xfrm rot="16200000">
                  <a:off x="22764974" y="18383871"/>
                  <a:ext cx="2322987" cy="407389"/>
                </a:xfrm>
                <a:prstGeom prst="rect">
                  <a:avLst/>
                </a:prstGeom>
                <a:noFill/>
              </p:spPr>
              <p:txBody>
                <a:bodyPr wrap="none" rtlCol="0">
                  <a:spAutoFit/>
                </a:bodyPr>
                <a:lstStyle/>
                <a:p>
                  <a:r>
                    <a:rPr lang="en-US" sz="1500" dirty="0"/>
                    <a:t>Reciprocate &gt; Defect</a:t>
                  </a:r>
                </a:p>
              </p:txBody>
            </p:sp>
          </p:grpSp>
        </p:grpSp>
        <p:sp>
          <p:nvSpPr>
            <p:cNvPr id="91" name="TextBox 90">
              <a:extLst>
                <a:ext uri="{FF2B5EF4-FFF2-40B4-BE49-F238E27FC236}">
                  <a16:creationId xmlns:a16="http://schemas.microsoft.com/office/drawing/2014/main" id="{72297617-5CA2-19EC-AC1C-E6A5EBEB3DA3}"/>
                </a:ext>
              </a:extLst>
            </p:cNvPr>
            <p:cNvSpPr txBox="1"/>
            <p:nvPr/>
          </p:nvSpPr>
          <p:spPr>
            <a:xfrm>
              <a:off x="23666606" y="16454726"/>
              <a:ext cx="569387" cy="369332"/>
            </a:xfrm>
            <a:prstGeom prst="rect">
              <a:avLst/>
            </a:prstGeom>
            <a:noFill/>
          </p:spPr>
          <p:txBody>
            <a:bodyPr wrap="none" rtlCol="0">
              <a:spAutoFit/>
            </a:bodyPr>
            <a:lstStyle/>
            <a:p>
              <a:r>
                <a:rPr lang="en-US" dirty="0"/>
                <a:t>400</a:t>
              </a:r>
            </a:p>
          </p:txBody>
        </p:sp>
        <p:sp>
          <p:nvSpPr>
            <p:cNvPr id="92" name="TextBox 91">
              <a:extLst>
                <a:ext uri="{FF2B5EF4-FFF2-40B4-BE49-F238E27FC236}">
                  <a16:creationId xmlns:a16="http://schemas.microsoft.com/office/drawing/2014/main" id="{76A708FA-10E2-460A-AE78-BE3AAF25F2B4}"/>
                </a:ext>
              </a:extLst>
            </p:cNvPr>
            <p:cNvSpPr txBox="1"/>
            <p:nvPr/>
          </p:nvSpPr>
          <p:spPr>
            <a:xfrm>
              <a:off x="23611670" y="20489922"/>
              <a:ext cx="646331" cy="369332"/>
            </a:xfrm>
            <a:prstGeom prst="rect">
              <a:avLst/>
            </a:prstGeom>
            <a:noFill/>
          </p:spPr>
          <p:txBody>
            <a:bodyPr wrap="none" rtlCol="0">
              <a:spAutoFit/>
            </a:bodyPr>
            <a:lstStyle/>
            <a:p>
              <a:r>
                <a:rPr lang="en-US" dirty="0"/>
                <a:t>-200</a:t>
              </a:r>
            </a:p>
          </p:txBody>
        </p:sp>
        <p:sp>
          <p:nvSpPr>
            <p:cNvPr id="93" name="TextBox 92">
              <a:extLst>
                <a:ext uri="{FF2B5EF4-FFF2-40B4-BE49-F238E27FC236}">
                  <a16:creationId xmlns:a16="http://schemas.microsoft.com/office/drawing/2014/main" id="{3D91668E-A7C9-DBD7-3DF8-EF6C30111537}"/>
                </a:ext>
              </a:extLst>
            </p:cNvPr>
            <p:cNvSpPr txBox="1"/>
            <p:nvPr/>
          </p:nvSpPr>
          <p:spPr>
            <a:xfrm>
              <a:off x="24150950" y="21022056"/>
              <a:ext cx="441146" cy="369332"/>
            </a:xfrm>
            <a:prstGeom prst="rect">
              <a:avLst/>
            </a:prstGeom>
            <a:noFill/>
          </p:spPr>
          <p:txBody>
            <a:bodyPr wrap="none" rtlCol="0">
              <a:spAutoFit/>
            </a:bodyPr>
            <a:lstStyle/>
            <a:p>
              <a:r>
                <a:rPr lang="en-US" dirty="0"/>
                <a:t>20</a:t>
              </a:r>
            </a:p>
          </p:txBody>
        </p:sp>
        <p:sp>
          <p:nvSpPr>
            <p:cNvPr id="94" name="TextBox 93">
              <a:extLst>
                <a:ext uri="{FF2B5EF4-FFF2-40B4-BE49-F238E27FC236}">
                  <a16:creationId xmlns:a16="http://schemas.microsoft.com/office/drawing/2014/main" id="{EC03A6CC-92ED-1BA3-D06A-54B62448CA2B}"/>
                </a:ext>
              </a:extLst>
            </p:cNvPr>
            <p:cNvSpPr txBox="1"/>
            <p:nvPr/>
          </p:nvSpPr>
          <p:spPr>
            <a:xfrm>
              <a:off x="27777018" y="21022056"/>
              <a:ext cx="441146" cy="369332"/>
            </a:xfrm>
            <a:prstGeom prst="rect">
              <a:avLst/>
            </a:prstGeom>
            <a:noFill/>
          </p:spPr>
          <p:txBody>
            <a:bodyPr wrap="none" rtlCol="0">
              <a:spAutoFit/>
            </a:bodyPr>
            <a:lstStyle/>
            <a:p>
              <a:r>
                <a:rPr lang="en-US" dirty="0"/>
                <a:t>60</a:t>
              </a:r>
            </a:p>
          </p:txBody>
        </p:sp>
      </p:grpSp>
      <p:grpSp>
        <p:nvGrpSpPr>
          <p:cNvPr id="100" name="Group 99">
            <a:extLst>
              <a:ext uri="{FF2B5EF4-FFF2-40B4-BE49-F238E27FC236}">
                <a16:creationId xmlns:a16="http://schemas.microsoft.com/office/drawing/2014/main" id="{1C529997-E613-6FA5-A7DF-DF57A82C0094}"/>
              </a:ext>
            </a:extLst>
          </p:cNvPr>
          <p:cNvGrpSpPr/>
          <p:nvPr/>
        </p:nvGrpSpPr>
        <p:grpSpPr>
          <a:xfrm>
            <a:off x="15648945" y="26169771"/>
            <a:ext cx="4327314" cy="4753042"/>
            <a:chOff x="16026704" y="24076052"/>
            <a:chExt cx="6621599" cy="6849922"/>
          </a:xfrm>
        </p:grpSpPr>
        <p:grpSp>
          <p:nvGrpSpPr>
            <p:cNvPr id="101" name="Group 100">
              <a:extLst>
                <a:ext uri="{FF2B5EF4-FFF2-40B4-BE49-F238E27FC236}">
                  <a16:creationId xmlns:a16="http://schemas.microsoft.com/office/drawing/2014/main" id="{C0CE68F0-AF14-6656-57CF-FFBB06F2924C}"/>
                </a:ext>
              </a:extLst>
            </p:cNvPr>
            <p:cNvGrpSpPr/>
            <p:nvPr/>
          </p:nvGrpSpPr>
          <p:grpSpPr>
            <a:xfrm>
              <a:off x="16651056" y="24076052"/>
              <a:ext cx="5997247" cy="6116146"/>
              <a:chOff x="16298215" y="23901746"/>
              <a:chExt cx="5444618" cy="5552561"/>
            </a:xfrm>
          </p:grpSpPr>
          <p:sp>
            <p:nvSpPr>
              <p:cNvPr id="108" name="Rectangle 107">
                <a:extLst>
                  <a:ext uri="{FF2B5EF4-FFF2-40B4-BE49-F238E27FC236}">
                    <a16:creationId xmlns:a16="http://schemas.microsoft.com/office/drawing/2014/main" id="{E765E8AC-BEF2-0C10-2C08-A7AA533B4CC4}"/>
                  </a:ext>
                </a:extLst>
              </p:cNvPr>
              <p:cNvSpPr/>
              <p:nvPr/>
            </p:nvSpPr>
            <p:spPr bwMode="auto">
              <a:xfrm>
                <a:off x="16404332" y="23901746"/>
                <a:ext cx="5338501" cy="5461150"/>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09" name="Graphic 108">
                <a:extLst>
                  <a:ext uri="{FF2B5EF4-FFF2-40B4-BE49-F238E27FC236}">
                    <a16:creationId xmlns:a16="http://schemas.microsoft.com/office/drawing/2014/main" id="{F3F0E9D3-8D47-FE8D-3B18-3A8FE90E5C5F}"/>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l="10756" t="6660" r="2865" b="7584"/>
              <a:stretch/>
            </p:blipFill>
            <p:spPr>
              <a:xfrm>
                <a:off x="16298215" y="23931518"/>
                <a:ext cx="5364158" cy="5522789"/>
              </a:xfrm>
              <a:prstGeom prst="rect">
                <a:avLst/>
              </a:prstGeom>
            </p:spPr>
          </p:pic>
        </p:grpSp>
        <p:sp>
          <p:nvSpPr>
            <p:cNvPr id="102" name="TextBox 101">
              <a:extLst>
                <a:ext uri="{FF2B5EF4-FFF2-40B4-BE49-F238E27FC236}">
                  <a16:creationId xmlns:a16="http://schemas.microsoft.com/office/drawing/2014/main" id="{7D665922-354B-5F7B-52DE-B5A9E06AF3C3}"/>
                </a:ext>
              </a:extLst>
            </p:cNvPr>
            <p:cNvSpPr txBox="1"/>
            <p:nvPr/>
          </p:nvSpPr>
          <p:spPr>
            <a:xfrm>
              <a:off x="18654011" y="30218088"/>
              <a:ext cx="1096775" cy="707886"/>
            </a:xfrm>
            <a:prstGeom prst="rect">
              <a:avLst/>
            </a:prstGeom>
            <a:noFill/>
          </p:spPr>
          <p:txBody>
            <a:bodyPr wrap="none" rtlCol="0">
              <a:spAutoFit/>
            </a:bodyPr>
            <a:lstStyle/>
            <a:p>
              <a:r>
                <a:rPr lang="en-US" sz="4000" dirty="0"/>
                <a:t>Age</a:t>
              </a:r>
            </a:p>
          </p:txBody>
        </p:sp>
        <p:sp>
          <p:nvSpPr>
            <p:cNvPr id="103" name="TextBox 102">
              <a:extLst>
                <a:ext uri="{FF2B5EF4-FFF2-40B4-BE49-F238E27FC236}">
                  <a16:creationId xmlns:a16="http://schemas.microsoft.com/office/drawing/2014/main" id="{8E4CE376-1456-3558-63EF-76F2B29FCC9C}"/>
                </a:ext>
              </a:extLst>
            </p:cNvPr>
            <p:cNvSpPr txBox="1"/>
            <p:nvPr/>
          </p:nvSpPr>
          <p:spPr>
            <a:xfrm rot="16200000">
              <a:off x="14608848" y="26568394"/>
              <a:ext cx="3420629" cy="553998"/>
            </a:xfrm>
            <a:prstGeom prst="rect">
              <a:avLst/>
            </a:prstGeom>
            <a:noFill/>
          </p:spPr>
          <p:txBody>
            <a:bodyPr wrap="square" rtlCol="0">
              <a:spAutoFit/>
            </a:bodyPr>
            <a:lstStyle/>
            <a:p>
              <a:pPr algn="ctr"/>
              <a:r>
                <a:rPr lang="en-US" sz="1500" dirty="0"/>
                <a:t>Friend (Reciprocate &gt; Defect) &gt; Stranger (Reciprocate &gt; Defect)</a:t>
              </a:r>
            </a:p>
          </p:txBody>
        </p:sp>
        <p:sp>
          <p:nvSpPr>
            <p:cNvPr id="104" name="TextBox 103">
              <a:extLst>
                <a:ext uri="{FF2B5EF4-FFF2-40B4-BE49-F238E27FC236}">
                  <a16:creationId xmlns:a16="http://schemas.microsoft.com/office/drawing/2014/main" id="{AE3A315D-C5AE-B382-C760-332506165832}"/>
                </a:ext>
              </a:extLst>
            </p:cNvPr>
            <p:cNvSpPr txBox="1"/>
            <p:nvPr/>
          </p:nvSpPr>
          <p:spPr>
            <a:xfrm>
              <a:off x="16115961" y="24411311"/>
              <a:ext cx="651983" cy="424006"/>
            </a:xfrm>
            <a:prstGeom prst="rect">
              <a:avLst/>
            </a:prstGeom>
            <a:noFill/>
          </p:spPr>
          <p:txBody>
            <a:bodyPr wrap="none" rtlCol="0">
              <a:spAutoFit/>
            </a:bodyPr>
            <a:lstStyle/>
            <a:p>
              <a:r>
                <a:rPr lang="en-US" dirty="0"/>
                <a:t>400</a:t>
              </a:r>
            </a:p>
          </p:txBody>
        </p:sp>
        <p:sp>
          <p:nvSpPr>
            <p:cNvPr id="105" name="TextBox 104">
              <a:extLst>
                <a:ext uri="{FF2B5EF4-FFF2-40B4-BE49-F238E27FC236}">
                  <a16:creationId xmlns:a16="http://schemas.microsoft.com/office/drawing/2014/main" id="{73A14E67-238A-82CF-0752-574EAE3C7987}"/>
                </a:ext>
              </a:extLst>
            </p:cNvPr>
            <p:cNvSpPr txBox="1"/>
            <p:nvPr/>
          </p:nvSpPr>
          <p:spPr>
            <a:xfrm>
              <a:off x="16026704" y="28875791"/>
              <a:ext cx="740088" cy="424006"/>
            </a:xfrm>
            <a:prstGeom prst="rect">
              <a:avLst/>
            </a:prstGeom>
            <a:noFill/>
          </p:spPr>
          <p:txBody>
            <a:bodyPr wrap="none" rtlCol="0">
              <a:spAutoFit/>
            </a:bodyPr>
            <a:lstStyle/>
            <a:p>
              <a:r>
                <a:rPr lang="en-US" dirty="0"/>
                <a:t>-200</a:t>
              </a:r>
            </a:p>
          </p:txBody>
        </p:sp>
        <p:sp>
          <p:nvSpPr>
            <p:cNvPr id="106" name="TextBox 105">
              <a:extLst>
                <a:ext uri="{FF2B5EF4-FFF2-40B4-BE49-F238E27FC236}">
                  <a16:creationId xmlns:a16="http://schemas.microsoft.com/office/drawing/2014/main" id="{E6A6E8B3-1BEE-12B6-2F1C-7AF1856CBDE9}"/>
                </a:ext>
              </a:extLst>
            </p:cNvPr>
            <p:cNvSpPr txBox="1"/>
            <p:nvPr/>
          </p:nvSpPr>
          <p:spPr>
            <a:xfrm>
              <a:off x="16666083" y="30175865"/>
              <a:ext cx="505139" cy="424006"/>
            </a:xfrm>
            <a:prstGeom prst="rect">
              <a:avLst/>
            </a:prstGeom>
            <a:noFill/>
          </p:spPr>
          <p:txBody>
            <a:bodyPr wrap="none" rtlCol="0">
              <a:spAutoFit/>
            </a:bodyPr>
            <a:lstStyle/>
            <a:p>
              <a:r>
                <a:rPr lang="en-US" dirty="0"/>
                <a:t>20</a:t>
              </a:r>
            </a:p>
          </p:txBody>
        </p:sp>
        <p:sp>
          <p:nvSpPr>
            <p:cNvPr id="107" name="TextBox 106">
              <a:extLst>
                <a:ext uri="{FF2B5EF4-FFF2-40B4-BE49-F238E27FC236}">
                  <a16:creationId xmlns:a16="http://schemas.microsoft.com/office/drawing/2014/main" id="{132BEBEC-04E3-AC3D-CE24-FB42999CD2B3}"/>
                </a:ext>
              </a:extLst>
            </p:cNvPr>
            <p:cNvSpPr txBox="1"/>
            <p:nvPr/>
          </p:nvSpPr>
          <p:spPr>
            <a:xfrm>
              <a:off x="20818152" y="30175865"/>
              <a:ext cx="505139" cy="424006"/>
            </a:xfrm>
            <a:prstGeom prst="rect">
              <a:avLst/>
            </a:prstGeom>
            <a:noFill/>
          </p:spPr>
          <p:txBody>
            <a:bodyPr wrap="none" rtlCol="0">
              <a:spAutoFit/>
            </a:bodyPr>
            <a:lstStyle/>
            <a:p>
              <a:r>
                <a:rPr lang="en-US" dirty="0"/>
                <a:t>60</a:t>
              </a:r>
            </a:p>
          </p:txBody>
        </p:sp>
      </p:grpSp>
      <p:grpSp>
        <p:nvGrpSpPr>
          <p:cNvPr id="110" name="Group 109">
            <a:extLst>
              <a:ext uri="{FF2B5EF4-FFF2-40B4-BE49-F238E27FC236}">
                <a16:creationId xmlns:a16="http://schemas.microsoft.com/office/drawing/2014/main" id="{2AD1EF36-AA4E-A44B-D919-824BBFDA4A0C}"/>
              </a:ext>
            </a:extLst>
          </p:cNvPr>
          <p:cNvGrpSpPr/>
          <p:nvPr/>
        </p:nvGrpSpPr>
        <p:grpSpPr>
          <a:xfrm>
            <a:off x="20253272" y="25944605"/>
            <a:ext cx="4649725" cy="5094016"/>
            <a:chOff x="23087465" y="23975816"/>
            <a:chExt cx="6623276" cy="7256145"/>
          </a:xfrm>
        </p:grpSpPr>
        <p:grpSp>
          <p:nvGrpSpPr>
            <p:cNvPr id="111" name="Group 110">
              <a:extLst>
                <a:ext uri="{FF2B5EF4-FFF2-40B4-BE49-F238E27FC236}">
                  <a16:creationId xmlns:a16="http://schemas.microsoft.com/office/drawing/2014/main" id="{1DEAB958-C111-9F02-623D-071183F50D19}"/>
                </a:ext>
              </a:extLst>
            </p:cNvPr>
            <p:cNvGrpSpPr/>
            <p:nvPr/>
          </p:nvGrpSpPr>
          <p:grpSpPr>
            <a:xfrm>
              <a:off x="23087465" y="23975816"/>
              <a:ext cx="6623276" cy="7256145"/>
              <a:chOff x="23087465" y="23975816"/>
              <a:chExt cx="6623276" cy="7256145"/>
            </a:xfrm>
          </p:grpSpPr>
          <p:grpSp>
            <p:nvGrpSpPr>
              <p:cNvPr id="113" name="Group 112">
                <a:extLst>
                  <a:ext uri="{FF2B5EF4-FFF2-40B4-BE49-F238E27FC236}">
                    <a16:creationId xmlns:a16="http://schemas.microsoft.com/office/drawing/2014/main" id="{8534103F-0EA0-62CC-7520-621D0FE2C856}"/>
                  </a:ext>
                </a:extLst>
              </p:cNvPr>
              <p:cNvGrpSpPr/>
              <p:nvPr/>
            </p:nvGrpSpPr>
            <p:grpSpPr>
              <a:xfrm>
                <a:off x="23723984" y="23975816"/>
                <a:ext cx="5986757" cy="6200049"/>
                <a:chOff x="22850799" y="23722813"/>
                <a:chExt cx="6404865" cy="6633053"/>
              </a:xfrm>
            </p:grpSpPr>
            <p:sp>
              <p:nvSpPr>
                <p:cNvPr id="119" name="Rectangle 118">
                  <a:extLst>
                    <a:ext uri="{FF2B5EF4-FFF2-40B4-BE49-F238E27FC236}">
                      <a16:creationId xmlns:a16="http://schemas.microsoft.com/office/drawing/2014/main" id="{08F19C4F-7188-5689-67D2-5A26E5430A88}"/>
                    </a:ext>
                  </a:extLst>
                </p:cNvPr>
                <p:cNvSpPr/>
                <p:nvPr/>
              </p:nvSpPr>
              <p:spPr bwMode="auto">
                <a:xfrm>
                  <a:off x="22910829" y="23794038"/>
                  <a:ext cx="6344835" cy="6490605"/>
                </a:xfrm>
                <a:prstGeom prst="rect">
                  <a:avLst/>
                </a:prstGeom>
                <a:solidFill>
                  <a:schemeClr val="accent6">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pic>
              <p:nvPicPr>
                <p:cNvPr id="120" name="Graphic 119">
                  <a:extLst>
                    <a:ext uri="{FF2B5EF4-FFF2-40B4-BE49-F238E27FC236}">
                      <a16:creationId xmlns:a16="http://schemas.microsoft.com/office/drawing/2014/main" id="{939A497A-8EAF-4E1B-2E8E-15CA0621CBD2}"/>
                    </a:ext>
                  </a:extLst>
                </p:cNvPr>
                <p:cNvPicPr>
                  <a:picLocks noChangeAspect="1"/>
                </p:cNvPicPr>
                <p:nvPr/>
              </p:nvPicPr>
              <p:blipFill rotWithShape="1">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10991" t="5046" r="3126" b="7756"/>
                <a:stretch/>
              </p:blipFill>
              <p:spPr>
                <a:xfrm>
                  <a:off x="22850799" y="23722813"/>
                  <a:ext cx="6299716" cy="6633053"/>
                </a:xfrm>
                <a:prstGeom prst="rect">
                  <a:avLst/>
                </a:prstGeom>
              </p:spPr>
            </p:pic>
          </p:grpSp>
          <p:sp>
            <p:nvSpPr>
              <p:cNvPr id="114" name="TextBox 113">
                <a:extLst>
                  <a:ext uri="{FF2B5EF4-FFF2-40B4-BE49-F238E27FC236}">
                    <a16:creationId xmlns:a16="http://schemas.microsoft.com/office/drawing/2014/main" id="{3D1524EC-D92B-8FA3-D8A6-098201DDCA0F}"/>
                  </a:ext>
                </a:extLst>
              </p:cNvPr>
              <p:cNvSpPr txBox="1"/>
              <p:nvPr/>
            </p:nvSpPr>
            <p:spPr>
              <a:xfrm>
                <a:off x="25810593" y="30223616"/>
                <a:ext cx="2418355" cy="1008345"/>
              </a:xfrm>
              <a:prstGeom prst="rect">
                <a:avLst/>
              </a:prstGeom>
              <a:noFill/>
            </p:spPr>
            <p:txBody>
              <a:bodyPr wrap="square" rtlCol="0">
                <a:spAutoFit/>
              </a:bodyPr>
              <a:lstStyle/>
              <a:p>
                <a:r>
                  <a:rPr lang="en-US" sz="4000" dirty="0"/>
                  <a:t>Age</a:t>
                </a:r>
              </a:p>
            </p:txBody>
          </p:sp>
          <p:sp>
            <p:nvSpPr>
              <p:cNvPr id="115" name="TextBox 114">
                <a:extLst>
                  <a:ext uri="{FF2B5EF4-FFF2-40B4-BE49-F238E27FC236}">
                    <a16:creationId xmlns:a16="http://schemas.microsoft.com/office/drawing/2014/main" id="{0DC9BEAD-E103-68DA-5790-185983E037AD}"/>
                  </a:ext>
                </a:extLst>
              </p:cNvPr>
              <p:cNvSpPr txBox="1"/>
              <p:nvPr/>
            </p:nvSpPr>
            <p:spPr>
              <a:xfrm>
                <a:off x="23166754" y="24615337"/>
                <a:ext cx="651983" cy="369332"/>
              </a:xfrm>
              <a:prstGeom prst="rect">
                <a:avLst/>
              </a:prstGeom>
              <a:noFill/>
            </p:spPr>
            <p:txBody>
              <a:bodyPr wrap="square" rtlCol="0">
                <a:spAutoFit/>
              </a:bodyPr>
              <a:lstStyle/>
              <a:p>
                <a:r>
                  <a:rPr lang="en-US" dirty="0"/>
                  <a:t>400</a:t>
                </a:r>
              </a:p>
            </p:txBody>
          </p:sp>
          <p:sp>
            <p:nvSpPr>
              <p:cNvPr id="116" name="TextBox 115">
                <a:extLst>
                  <a:ext uri="{FF2B5EF4-FFF2-40B4-BE49-F238E27FC236}">
                    <a16:creationId xmlns:a16="http://schemas.microsoft.com/office/drawing/2014/main" id="{4EB83C2D-A0BE-8C30-A945-0F86106E2CDC}"/>
                  </a:ext>
                </a:extLst>
              </p:cNvPr>
              <p:cNvSpPr txBox="1"/>
              <p:nvPr/>
            </p:nvSpPr>
            <p:spPr>
              <a:xfrm>
                <a:off x="23087465" y="28711327"/>
                <a:ext cx="740088" cy="369332"/>
              </a:xfrm>
              <a:prstGeom prst="rect">
                <a:avLst/>
              </a:prstGeom>
              <a:noFill/>
            </p:spPr>
            <p:txBody>
              <a:bodyPr wrap="square" rtlCol="0">
                <a:spAutoFit/>
              </a:bodyPr>
              <a:lstStyle/>
              <a:p>
                <a:r>
                  <a:rPr lang="en-US" dirty="0"/>
                  <a:t>-200</a:t>
                </a:r>
              </a:p>
            </p:txBody>
          </p:sp>
          <p:sp>
            <p:nvSpPr>
              <p:cNvPr id="117" name="TextBox 116">
                <a:extLst>
                  <a:ext uri="{FF2B5EF4-FFF2-40B4-BE49-F238E27FC236}">
                    <a16:creationId xmlns:a16="http://schemas.microsoft.com/office/drawing/2014/main" id="{218FC39E-578D-0D68-C88D-76EE001D6E18}"/>
                  </a:ext>
                </a:extLst>
              </p:cNvPr>
              <p:cNvSpPr txBox="1"/>
              <p:nvPr/>
            </p:nvSpPr>
            <p:spPr>
              <a:xfrm>
                <a:off x="23822666" y="30181392"/>
                <a:ext cx="505139" cy="369332"/>
              </a:xfrm>
              <a:prstGeom prst="rect">
                <a:avLst/>
              </a:prstGeom>
              <a:noFill/>
            </p:spPr>
            <p:txBody>
              <a:bodyPr wrap="square" rtlCol="0">
                <a:spAutoFit/>
              </a:bodyPr>
              <a:lstStyle/>
              <a:p>
                <a:r>
                  <a:rPr lang="en-US" dirty="0"/>
                  <a:t>20</a:t>
                </a:r>
              </a:p>
            </p:txBody>
          </p:sp>
          <p:sp>
            <p:nvSpPr>
              <p:cNvPr id="118" name="TextBox 117">
                <a:extLst>
                  <a:ext uri="{FF2B5EF4-FFF2-40B4-BE49-F238E27FC236}">
                    <a16:creationId xmlns:a16="http://schemas.microsoft.com/office/drawing/2014/main" id="{DE6319DE-0316-C93F-9818-3984FE3B0383}"/>
                  </a:ext>
                </a:extLst>
              </p:cNvPr>
              <p:cNvSpPr txBox="1"/>
              <p:nvPr/>
            </p:nvSpPr>
            <p:spPr>
              <a:xfrm>
                <a:off x="27974735" y="30181392"/>
                <a:ext cx="505139" cy="369332"/>
              </a:xfrm>
              <a:prstGeom prst="rect">
                <a:avLst/>
              </a:prstGeom>
              <a:noFill/>
            </p:spPr>
            <p:txBody>
              <a:bodyPr wrap="square" rtlCol="0">
                <a:spAutoFit/>
              </a:bodyPr>
              <a:lstStyle/>
              <a:p>
                <a:r>
                  <a:rPr lang="en-US" dirty="0"/>
                  <a:t>60</a:t>
                </a:r>
              </a:p>
            </p:txBody>
          </p:sp>
        </p:grpSp>
        <p:sp>
          <p:nvSpPr>
            <p:cNvPr id="112" name="TextBox 111">
              <a:extLst>
                <a:ext uri="{FF2B5EF4-FFF2-40B4-BE49-F238E27FC236}">
                  <a16:creationId xmlns:a16="http://schemas.microsoft.com/office/drawing/2014/main" id="{C9F44120-45BB-E9BC-5BC4-EAAC98EBCF93}"/>
                </a:ext>
              </a:extLst>
            </p:cNvPr>
            <p:cNvSpPr txBox="1"/>
            <p:nvPr/>
          </p:nvSpPr>
          <p:spPr>
            <a:xfrm rot="16200000">
              <a:off x="21699109" y="26614219"/>
              <a:ext cx="3420629" cy="553998"/>
            </a:xfrm>
            <a:prstGeom prst="rect">
              <a:avLst/>
            </a:prstGeom>
            <a:noFill/>
          </p:spPr>
          <p:txBody>
            <a:bodyPr wrap="square" rtlCol="0">
              <a:spAutoFit/>
            </a:bodyPr>
            <a:lstStyle/>
            <a:p>
              <a:pPr algn="ctr"/>
              <a:r>
                <a:rPr lang="en-US" sz="1500" dirty="0"/>
                <a:t>Friend (Reciprocate &gt; Defect) &gt; Computer (Reciprocate &gt; Defect)</a:t>
              </a:r>
            </a:p>
          </p:txBody>
        </p:sp>
      </p:grpSp>
    </p:spTree>
    <p:extLst>
      <p:ext uri="{BB962C8B-B14F-4D97-AF65-F5344CB8AC3E}">
        <p14:creationId xmlns:p14="http://schemas.microsoft.com/office/powerpoint/2010/main" val="4037075217"/>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15700</TotalTime>
  <Words>789</Words>
  <Application>Microsoft Macintosh PowerPoint</Application>
  <PresentationFormat>Custom</PresentationFormat>
  <Paragraphs>131</Paragraphs>
  <Slides>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Helvetica</vt:lpstr>
      <vt:lpstr>Slack-Lato</vt:lpstr>
      <vt:lpstr>Trebuchet MS</vt:lpstr>
      <vt:lpstr>Default Design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25</cp:revision>
  <cp:lastPrinted>2018-05-07T13:24:31Z</cp:lastPrinted>
  <dcterms:created xsi:type="dcterms:W3CDTF">2007-10-30T17:33:32Z</dcterms:created>
  <dcterms:modified xsi:type="dcterms:W3CDTF">2023-11-09T20:11:43Z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