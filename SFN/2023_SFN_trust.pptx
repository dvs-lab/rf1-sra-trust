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6"/>
  </p:notesMasterIdLst>
  <p:handoutMasterIdLst>
    <p:handoutMasterId r:id="rId7"/>
  </p:handoutMasterIdLst>
  <p:sldIdLst>
    <p:sldId id="256" r:id="rId4"/>
    <p:sldId id="257" r:id="rId5"/>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DE4CB"/>
    <a:srgbClr val="FAF86D"/>
    <a:srgbClr val="F2DD71"/>
    <a:srgbClr val="E6D7AF"/>
    <a:srgbClr val="E4E0BA"/>
    <a:srgbClr val="D8E3C1"/>
    <a:srgbClr val="1D4647"/>
    <a:srgbClr val="BB423A"/>
    <a:srgbClr val="EF544A"/>
    <a:srgbClr val="A73B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33"/>
    <p:restoredTop sz="94650"/>
  </p:normalViewPr>
  <p:slideViewPr>
    <p:cSldViewPr snapToGrid="0">
      <p:cViewPr>
        <p:scale>
          <a:sx n="58" d="100"/>
          <a:sy n="58" d="100"/>
        </p:scale>
        <p:origin x="-2960" y="-1112"/>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3" Type="http://schemas.openxmlformats.org/officeDocument/2006/relationships/slideMaster" Target="slideMasters/slideMaster1.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2.xml"/><Relationship Id="rId10"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24" name="Picture 15423" descr="A close-up of a brain&#10;&#10;Description automatically generated">
            <a:extLst>
              <a:ext uri="{FF2B5EF4-FFF2-40B4-BE49-F238E27FC236}">
                <a16:creationId xmlns:a16="http://schemas.microsoft.com/office/drawing/2014/main" id="{CC6419D2-DC29-B910-B6FA-A6DAC7775A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57979" y="25006432"/>
            <a:ext cx="6457795" cy="5596080"/>
          </a:xfrm>
          <a:prstGeom prst="rect">
            <a:avLst/>
          </a:prstGeom>
        </p:spPr>
      </p:pic>
      <p:sp>
        <p:nvSpPr>
          <p:cNvPr id="15399" name="Rectangle 15398">
            <a:extLst>
              <a:ext uri="{FF2B5EF4-FFF2-40B4-BE49-F238E27FC236}">
                <a16:creationId xmlns:a16="http://schemas.microsoft.com/office/drawing/2014/main" id="{3F2A222B-AB92-97CD-B2BC-B9C12D404AB1}"/>
              </a:ext>
            </a:extLst>
          </p:cNvPr>
          <p:cNvSpPr/>
          <p:nvPr/>
        </p:nvSpPr>
        <p:spPr bwMode="auto">
          <a:xfrm>
            <a:off x="15752261" y="4761579"/>
            <a:ext cx="6497345" cy="7245387"/>
          </a:xfrm>
          <a:prstGeom prst="rect">
            <a:avLst/>
          </a:prstGeom>
          <a:solidFill>
            <a:srgbClr val="FAF86D">
              <a:alpha val="54118"/>
            </a:srgb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5" name="Rectangle 162"/>
          <p:cNvSpPr>
            <a:spLocks noChangeArrowheads="1"/>
          </p:cNvSpPr>
          <p:nvPr/>
        </p:nvSpPr>
        <p:spPr bwMode="auto">
          <a:xfrm>
            <a:off x="338498" y="12420397"/>
            <a:ext cx="14710114" cy="202450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9" name="Rectangle 162"/>
          <p:cNvSpPr>
            <a:spLocks noChangeArrowheads="1"/>
          </p:cNvSpPr>
          <p:nvPr/>
        </p:nvSpPr>
        <p:spPr bwMode="auto">
          <a:xfrm>
            <a:off x="338497" y="4246055"/>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9586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imes New Roman" panose="02020603050405020304" pitchFamily="18" charset="0"/>
              </a:rPr>
              <a:t>Abraham Dachs</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Cooper J. Sharp</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Enes Yanilmaz</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James B. </a:t>
            </a:r>
            <a:r>
              <a:rPr lang="en-US" sz="4000" i="0" dirty="0" err="1">
                <a:solidFill>
                  <a:srgbClr val="000000"/>
                </a:solidFill>
                <a:effectLst/>
                <a:latin typeface="Times New Roman" panose="02020603050405020304" pitchFamily="18" charset="0"/>
              </a:rPr>
              <a:t>Wyngaarden</a:t>
            </a:r>
            <a:r>
              <a:rPr lang="en-US" sz="4000" i="0" dirty="0">
                <a:solidFill>
                  <a:srgbClr val="000000"/>
                </a:solidFill>
                <a:effectLst/>
                <a:latin typeface="Times New Roman" panose="02020603050405020304" pitchFamily="18" charset="0"/>
              </a:rPr>
              <a:t> III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Ori Zaff</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Tia Tropea</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Daniel Sazhin</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Rita Ludwig</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Tania Giovannetti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Dominic S. Fareri</a:t>
            </a:r>
            <a:r>
              <a:rPr lang="en-US" sz="4000" baseline="30000" dirty="0">
                <a:solidFill>
                  <a:srgbClr val="000000"/>
                </a:solidFill>
                <a:latin typeface="Times New Roman" panose="02020603050405020304" pitchFamily="18" charset="0"/>
              </a:rPr>
              <a:t>3</a:t>
            </a:r>
            <a:r>
              <a:rPr lang="en-US" sz="4000" i="0" dirty="0">
                <a:solidFill>
                  <a:srgbClr val="000000"/>
                </a:solidFill>
                <a:effectLst/>
                <a:latin typeface="Times New Roman" panose="02020603050405020304" pitchFamily="18" charset="0"/>
              </a:rPr>
              <a:t>, David V. Smith</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a:t>
            </a:r>
            <a:br>
              <a:rPr lang="en-US" sz="4000" dirty="0">
                <a:cs typeface="Helvetica" panose="020B0604020202020204" pitchFamily="34" charset="0"/>
              </a:rPr>
            </a:br>
            <a:endParaRPr lang="en-US" altLang="en-US" sz="4000" dirty="0">
              <a:cs typeface="Helvetica" panose="020B0604020202020204" pitchFamily="34" charset="0"/>
            </a:endParaRPr>
          </a:p>
        </p:txBody>
      </p:sp>
      <p:sp>
        <p:nvSpPr>
          <p:cNvPr id="15371" name="TextBox 15370"/>
          <p:cNvSpPr txBox="1"/>
          <p:nvPr/>
        </p:nvSpPr>
        <p:spPr>
          <a:xfrm>
            <a:off x="4838490" y="925150"/>
            <a:ext cx="33151930" cy="1353960"/>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8000" b="1" i="0" dirty="0">
                <a:solidFill>
                  <a:srgbClr val="000000"/>
                </a:solidFill>
                <a:effectLst/>
                <a:latin typeface="Times New Roman" panose="02020603050405020304" pitchFamily="18" charset="0"/>
              </a:rPr>
              <a:t>Examining Age-Related Differences in Neural Responses to Trust</a:t>
            </a:r>
            <a:endParaRPr lang="en-US" sz="8000" dirty="0">
              <a:effectLst/>
              <a:latin typeface="Helvetica"/>
              <a:ea typeface="Calibri" panose="020F0502020204030204" pitchFamily="34" charset="0"/>
              <a:cs typeface="Helvetica"/>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a:solidFill>
                  <a:srgbClr val="C00000"/>
                </a:solidFill>
                <a:latin typeface="Trebuchet MS" panose="020B0603020202020204" pitchFamily="34" charset="0"/>
              </a:rPr>
              <a:t>1. Introduction</a:t>
            </a: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Subjects Are Closer With Friends than With Strangers</a:t>
            </a:r>
          </a:p>
        </p:txBody>
      </p:sp>
      <p:sp>
        <p:nvSpPr>
          <p:cNvPr id="83" name="Rectangle 82">
            <a:extLst>
              <a:ext uri="{FF2B5EF4-FFF2-40B4-BE49-F238E27FC236}">
                <a16:creationId xmlns:a16="http://schemas.microsoft.com/office/drawing/2014/main" id="{AF629186-1EF0-4042-8881-0E3C5287458A}"/>
              </a:ext>
            </a:extLst>
          </p:cNvPr>
          <p:cNvSpPr/>
          <p:nvPr/>
        </p:nvSpPr>
        <p:spPr>
          <a:xfrm>
            <a:off x="15599737" y="31508836"/>
            <a:ext cx="14699076" cy="584775"/>
          </a:xfrm>
          <a:prstGeom prst="rect">
            <a:avLst/>
          </a:prstGeom>
        </p:spPr>
        <p:txBody>
          <a:bodyPr wrap="square" lIns="91440" tIns="45720" rIns="91440" bIns="45720" anchor="t">
            <a:spAutoFit/>
          </a:bodyPr>
          <a:lstStyle/>
          <a:p>
            <a:pPr algn="ctr"/>
            <a:r>
              <a:rPr lang="en-US" sz="3200" spc="15" dirty="0">
                <a:latin typeface="Helvetica"/>
                <a:ea typeface="MS PGothic"/>
                <a:cs typeface="Helvetica"/>
              </a:rPr>
              <a:t>…</a:t>
            </a:r>
            <a:endParaRPr lang="en-US" sz="3200" dirty="0">
              <a:ea typeface="MS PGothic"/>
              <a:cs typeface="Helvetica"/>
            </a:endParaRPr>
          </a:p>
        </p:txBody>
      </p:sp>
      <p:sp>
        <p:nvSpPr>
          <p:cNvPr id="59" name="Rectangle 162"/>
          <p:cNvSpPr>
            <a:spLocks noChangeArrowheads="1"/>
          </p:cNvSpPr>
          <p:nvPr/>
        </p:nvSpPr>
        <p:spPr bwMode="auto">
          <a:xfrm>
            <a:off x="15470884" y="23615697"/>
            <a:ext cx="14827930" cy="908159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u="sng">
              <a:latin typeface="Trebuchet MS" panose="020B0603020202020204" pitchFamily="34" charset="0"/>
            </a:endParaRPr>
          </a:p>
        </p:txBody>
      </p:sp>
      <p:sp>
        <p:nvSpPr>
          <p:cNvPr id="69" name="TextBox 86">
            <a:extLst>
              <a:ext uri="{FF2B5EF4-FFF2-40B4-BE49-F238E27FC236}">
                <a16:creationId xmlns:a16="http://schemas.microsoft.com/office/drawing/2014/main" id="{339DA1BB-33FF-4114-BF82-410123DBAF36}"/>
              </a:ext>
            </a:extLst>
          </p:cNvPr>
          <p:cNvSpPr txBox="1">
            <a:spLocks noChangeArrowheads="1"/>
          </p:cNvSpPr>
          <p:nvPr/>
        </p:nvSpPr>
        <p:spPr bwMode="auto">
          <a:xfrm>
            <a:off x="16115146" y="23250026"/>
            <a:ext cx="13562675"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5. Neural Activation in the ACC is Associated with IOS Scores</a:t>
            </a:r>
          </a:p>
        </p:txBody>
      </p:sp>
      <p:sp>
        <p:nvSpPr>
          <p:cNvPr id="13" name="TextBox 12">
            <a:extLst>
              <a:ext uri="{FF2B5EF4-FFF2-40B4-BE49-F238E27FC236}">
                <a16:creationId xmlns:a16="http://schemas.microsoft.com/office/drawing/2014/main" id="{52042A99-5FFC-0E4E-8C20-72304DDA44FF}"/>
              </a:ext>
            </a:extLst>
          </p:cNvPr>
          <p:cNvSpPr txBox="1"/>
          <p:nvPr/>
        </p:nvSpPr>
        <p:spPr>
          <a:xfrm>
            <a:off x="631650" y="13229302"/>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0032177"/>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1681341" y="3949848"/>
            <a:ext cx="10791668"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6. Age Related Increase in Precuneus Activation </a:t>
            </a:r>
            <a:endParaRPr lang="en-US" altLang="en-US" sz="4250" b="1" dirty="0">
              <a:solidFill>
                <a:srgbClr val="C00000"/>
              </a:solidFill>
              <a:latin typeface="Trebuchet MS"/>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912603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842418" y="13831228"/>
            <a:ext cx="10223153"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Activation during Outcome Phase</a:t>
            </a:r>
            <a:endParaRPr lang="en-US" altLang="en-US" sz="4267" b="1" dirty="0">
              <a:solidFill>
                <a:srgbClr val="C00000"/>
              </a:solidFill>
              <a:latin typeface="Trebuchet MS" panose="020B0603020202020204" pitchFamily="34" charset="0"/>
            </a:endParaRPr>
          </a:p>
        </p:txBody>
      </p:sp>
      <p:sp>
        <p:nvSpPr>
          <p:cNvPr id="25" name="Rectangle 24">
            <a:extLst>
              <a:ext uri="{FF2B5EF4-FFF2-40B4-BE49-F238E27FC236}">
                <a16:creationId xmlns:a16="http://schemas.microsoft.com/office/drawing/2014/main" id="{5AEA1BD0-929B-B248-91B7-4A1AD3CCB35E}"/>
              </a:ext>
            </a:extLst>
          </p:cNvPr>
          <p:cNvSpPr/>
          <p:nvPr/>
        </p:nvSpPr>
        <p:spPr>
          <a:xfrm>
            <a:off x="15426443" y="24805358"/>
            <a:ext cx="14625853" cy="584775"/>
          </a:xfrm>
          <a:prstGeom prst="rect">
            <a:avLst/>
          </a:prstGeom>
        </p:spPr>
        <p:txBody>
          <a:bodyPr wrap="square" lIns="91440" tIns="45720" rIns="91440" bIns="45720" anchor="t">
            <a:spAutoFit/>
          </a:bodyPr>
          <a:lstStyle/>
          <a:p>
            <a:pPr algn="ctr"/>
            <a:r>
              <a:rPr lang="en-US" sz="3200" i="1" dirty="0">
                <a:latin typeface="Helvetica"/>
                <a:ea typeface="MS PGothic"/>
                <a:cs typeface="Helvetica"/>
              </a:rPr>
              <a:t>…</a:t>
            </a:r>
            <a:endParaRPr lang="en-US" sz="3200" i="1" dirty="0">
              <a:latin typeface="Helvetica"/>
              <a:cs typeface="Helvetica"/>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24394" y="14746184"/>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VS activation for Reciprocate &gt; Defect outcomes</a:t>
            </a:r>
            <a:endParaRPr lang="en-US" sz="3200" i="1" dirty="0">
              <a:cs typeface="Helvetica" panose="020B0604020202020204" pitchFamily="34" charset="0"/>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599737" y="21846431"/>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increasing activation in the Ventral Stratum (VS) when participants were presented with a reciprocate outcome as opposed to a defect outcome.</a:t>
            </a:r>
          </a:p>
        </p:txBody>
      </p:sp>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sp>
        <p:nvSpPr>
          <p:cNvPr id="35" name="TextBox 34">
            <a:extLst>
              <a:ext uri="{FF2B5EF4-FFF2-40B4-BE49-F238E27FC236}">
                <a16:creationId xmlns:a16="http://schemas.microsoft.com/office/drawing/2014/main" id="{D37958DE-5E24-D58C-4A7D-3AB8A936FE13}"/>
              </a:ext>
            </a:extLst>
          </p:cNvPr>
          <p:cNvSpPr txBox="1"/>
          <p:nvPr/>
        </p:nvSpPr>
        <p:spPr>
          <a:xfrm>
            <a:off x="21821456" y="15519657"/>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21094087" y="20438064"/>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Y=9</a:t>
            </a:r>
          </a:p>
          <a:p>
            <a:pPr algn="ctr"/>
            <a:endParaRPr lang="en-US" sz="2800" dirty="0">
              <a:latin typeface="Helvetica"/>
            </a:endParaRPr>
          </a:p>
        </p:txBody>
      </p:sp>
      <p:sp>
        <p:nvSpPr>
          <p:cNvPr id="50" name="TextBox 49">
            <a:extLst>
              <a:ext uri="{FF2B5EF4-FFF2-40B4-BE49-F238E27FC236}">
                <a16:creationId xmlns:a16="http://schemas.microsoft.com/office/drawing/2014/main" id="{3E5D8420-A794-E6A2-1628-ED1203DBAD11}"/>
              </a:ext>
            </a:extLst>
          </p:cNvPr>
          <p:cNvSpPr txBox="1"/>
          <p:nvPr/>
        </p:nvSpPr>
        <p:spPr>
          <a:xfrm>
            <a:off x="16257885" y="24711152"/>
            <a:ext cx="1046440" cy="6220601"/>
          </a:xfrm>
          <a:prstGeom prst="rect">
            <a:avLst/>
          </a:prstGeom>
          <a:noFill/>
        </p:spPr>
        <p:txBody>
          <a:bodyPr vert="vert270" wrap="square">
            <a:spAutoFit/>
          </a:bodyPr>
          <a:lstStyle/>
          <a:p>
            <a:pPr algn="ctr"/>
            <a:r>
              <a:rPr lang="en-US" sz="2800" dirty="0">
                <a:latin typeface="Helvetica"/>
                <a:ea typeface="MS PGothic"/>
              </a:rPr>
              <a:t>VS-</a:t>
            </a:r>
            <a:r>
              <a:rPr lang="en-US" sz="2800" dirty="0" err="1">
                <a:latin typeface="Helvetica"/>
                <a:ea typeface="MS PGothic"/>
              </a:rPr>
              <a:t>pTPJ</a:t>
            </a:r>
            <a:r>
              <a:rPr lang="en-US" sz="2800" dirty="0">
                <a:latin typeface="Helvetica"/>
                <a:ea typeface="MS PGothic"/>
              </a:rPr>
              <a:t>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80" name="TextBox 79">
            <a:extLst>
              <a:ext uri="{FF2B5EF4-FFF2-40B4-BE49-F238E27FC236}">
                <a16:creationId xmlns:a16="http://schemas.microsoft.com/office/drawing/2014/main" id="{FD72DC14-1E2D-4557-BD08-7DD34FFE9083}"/>
              </a:ext>
            </a:extLst>
          </p:cNvPr>
          <p:cNvSpPr txBox="1"/>
          <p:nvPr/>
        </p:nvSpPr>
        <p:spPr>
          <a:xfrm>
            <a:off x="26561482" y="29968178"/>
            <a:ext cx="2664868" cy="954107"/>
          </a:xfrm>
          <a:prstGeom prst="rect">
            <a:avLst/>
          </a:prstGeom>
          <a:noFill/>
        </p:spPr>
        <p:txBody>
          <a:bodyPr wrap="square" lIns="91440" tIns="45720" rIns="91440" bIns="45720" anchor="t">
            <a:spAutoFit/>
          </a:bodyPr>
          <a:lstStyle/>
          <a:p>
            <a:pPr algn="ctr"/>
            <a:r>
              <a:rPr lang="en-US" sz="2800" dirty="0">
                <a:latin typeface="Helvetica"/>
                <a:ea typeface="MS PGothic"/>
              </a:rPr>
              <a:t>X=5</a:t>
            </a:r>
          </a:p>
          <a:p>
            <a:pPr algn="ctr"/>
            <a:endParaRPr lang="en-US" sz="2800" dirty="0">
              <a:latin typeface="Helvetica"/>
            </a:endParaRPr>
          </a:p>
        </p:txBody>
      </p:sp>
      <p:grpSp>
        <p:nvGrpSpPr>
          <p:cNvPr id="15402" name="Group 15401">
            <a:extLst>
              <a:ext uri="{FF2B5EF4-FFF2-40B4-BE49-F238E27FC236}">
                <a16:creationId xmlns:a16="http://schemas.microsoft.com/office/drawing/2014/main" id="{4E348B4E-8C13-0FE0-DCD0-FB762FA1FDBA}"/>
              </a:ext>
            </a:extLst>
          </p:cNvPr>
          <p:cNvGrpSpPr/>
          <p:nvPr/>
        </p:nvGrpSpPr>
        <p:grpSpPr>
          <a:xfrm>
            <a:off x="724818" y="29192296"/>
            <a:ext cx="6854956" cy="2277700"/>
            <a:chOff x="569101" y="26252269"/>
            <a:chExt cx="6854956" cy="2277700"/>
          </a:xfrm>
        </p:grpSpPr>
        <p:sp>
          <p:nvSpPr>
            <p:cNvPr id="2" name="Rectangle 1">
              <a:extLst>
                <a:ext uri="{FF2B5EF4-FFF2-40B4-BE49-F238E27FC236}">
                  <a16:creationId xmlns:a16="http://schemas.microsoft.com/office/drawing/2014/main" id="{7DF677AF-CCA7-3603-6675-25A047C2E384}"/>
                </a:ext>
              </a:extLst>
            </p:cNvPr>
            <p:cNvSpPr/>
            <p:nvPr/>
          </p:nvSpPr>
          <p:spPr bwMode="auto">
            <a:xfrm>
              <a:off x="569101" y="26252269"/>
              <a:ext cx="6854956" cy="2277700"/>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387" name="TextBox 15386">
              <a:extLst>
                <a:ext uri="{FF2B5EF4-FFF2-40B4-BE49-F238E27FC236}">
                  <a16:creationId xmlns:a16="http://schemas.microsoft.com/office/drawing/2014/main" id="{05E5766B-3559-5152-42B4-205546A1ED5E}"/>
                </a:ext>
              </a:extLst>
            </p:cNvPr>
            <p:cNvSpPr txBox="1"/>
            <p:nvPr/>
          </p:nvSpPr>
          <p:spPr>
            <a:xfrm>
              <a:off x="1097130" y="26573709"/>
              <a:ext cx="6326927" cy="1569660"/>
            </a:xfrm>
            <a:prstGeom prst="rect">
              <a:avLst/>
            </a:prstGeom>
            <a:noFill/>
          </p:spPr>
          <p:txBody>
            <a:bodyPr wrap="square" lIns="91440" tIns="45720" rIns="91440" bIns="45720" anchor="t">
              <a:spAutoFit/>
            </a:bodyPr>
            <a:lstStyle/>
            <a:p>
              <a:r>
                <a:rPr lang="en-US" sz="3200" dirty="0">
                  <a:effectLst/>
                  <a:latin typeface="Helvetica"/>
                  <a:ea typeface="Times New Roman" panose="02020603050405020304" pitchFamily="18" charset="0"/>
                  <a:cs typeface="Helvetica"/>
                </a:rPr>
                <a:t>N =</a:t>
              </a:r>
              <a:r>
                <a:rPr lang="en-US" sz="3200" dirty="0">
                  <a:latin typeface="Helvetica"/>
                  <a:ea typeface="Times New Roman" panose="02020603050405020304" pitchFamily="18" charset="0"/>
                  <a:cs typeface="Helvetica"/>
                </a:rPr>
                <a:t> 62</a:t>
              </a:r>
              <a:r>
                <a:rPr lang="en-US" sz="3200" dirty="0">
                  <a:effectLst/>
                  <a:latin typeface="Helvetica"/>
                  <a:ea typeface="Times New Roman" panose="02020603050405020304" pitchFamily="18" charset="0"/>
                  <a:cs typeface="Helvetica"/>
                </a:rPr>
                <a:t> </a:t>
              </a:r>
              <a:r>
                <a:rPr lang="en-US" sz="3200" dirty="0">
                  <a:effectLst/>
                  <a:latin typeface="Helvetica" pitchFamily="2" charset="0"/>
                  <a:ea typeface="Times New Roman" panose="02020603050405020304" pitchFamily="18" charset="0"/>
                  <a:cs typeface="Helvetica"/>
                </a:rPr>
                <a:t>completed the </a:t>
              </a:r>
              <a:r>
                <a:rPr lang="en-US" sz="3200" b="0" i="0" dirty="0">
                  <a:effectLst/>
                  <a:latin typeface="Helvetica" pitchFamily="2" charset="0"/>
                </a:rPr>
                <a:t>Financial Exploitation Vulnerability Scale</a:t>
              </a:r>
              <a:r>
                <a:rPr lang="en-US" sz="3200" dirty="0">
                  <a:latin typeface="Calibri" panose="020F0502020204030204" pitchFamily="34" charset="0"/>
                </a:rPr>
                <a:t> </a:t>
              </a:r>
              <a:r>
                <a:rPr lang="en-US" sz="3200" dirty="0">
                  <a:latin typeface="Helvetica"/>
                  <a:ea typeface="Times New Roman" panose="02020603050405020304" pitchFamily="18" charset="0"/>
                  <a:cs typeface="Helvetica"/>
                </a:rPr>
                <a:t>(Lichtenberg et al., 2020a)</a:t>
              </a:r>
              <a:endParaRPr lang="en-US" sz="3200" dirty="0">
                <a:effectLst/>
                <a:latin typeface="Helvetica"/>
                <a:ea typeface="Times New Roman" panose="02020603050405020304" pitchFamily="18" charset="0"/>
                <a:cs typeface="Helvetica"/>
              </a:endParaRPr>
            </a:p>
          </p:txBody>
        </p:sp>
      </p:grpSp>
      <p:sp>
        <p:nvSpPr>
          <p:cNvPr id="15434" name="TextBox 15433">
            <a:extLst>
              <a:ext uri="{FF2B5EF4-FFF2-40B4-BE49-F238E27FC236}">
                <a16:creationId xmlns:a16="http://schemas.microsoft.com/office/drawing/2014/main" id="{F42DD616-45E9-33CA-3CBB-04AC7B550D62}"/>
              </a:ext>
            </a:extLst>
          </p:cNvPr>
          <p:cNvSpPr txBox="1"/>
          <p:nvPr/>
        </p:nvSpPr>
        <p:spPr>
          <a:xfrm>
            <a:off x="37051877" y="6753009"/>
            <a:ext cx="615553" cy="4368929"/>
          </a:xfrm>
          <a:prstGeom prst="rect">
            <a:avLst/>
          </a:prstGeom>
          <a:noFill/>
        </p:spPr>
        <p:txBody>
          <a:bodyPr vert="vert270" wrap="square">
            <a:spAutoFit/>
          </a:bodyPr>
          <a:lstStyle/>
          <a:p>
            <a:pPr algn="ctr"/>
            <a:r>
              <a:rPr lang="en-US" sz="2800" dirty="0">
                <a:latin typeface="Helvetica"/>
                <a:ea typeface="MS PGothic"/>
              </a:rPr>
              <a:t>Precuneus Activation</a:t>
            </a:r>
          </a:p>
        </p:txBody>
      </p:sp>
      <p:grpSp>
        <p:nvGrpSpPr>
          <p:cNvPr id="15426" name="Group 15425">
            <a:extLst>
              <a:ext uri="{FF2B5EF4-FFF2-40B4-BE49-F238E27FC236}">
                <a16:creationId xmlns:a16="http://schemas.microsoft.com/office/drawing/2014/main" id="{7261B70B-11A8-74A1-AA73-CF4BB2AED55A}"/>
              </a:ext>
            </a:extLst>
          </p:cNvPr>
          <p:cNvGrpSpPr/>
          <p:nvPr/>
        </p:nvGrpSpPr>
        <p:grpSpPr>
          <a:xfrm>
            <a:off x="8164021" y="29079185"/>
            <a:ext cx="6812529" cy="2732092"/>
            <a:chOff x="8015298" y="29141496"/>
            <a:chExt cx="6812529" cy="2732092"/>
          </a:xfrm>
        </p:grpSpPr>
        <p:sp>
          <p:nvSpPr>
            <p:cNvPr id="15385" name="Rectangle 15384">
              <a:extLst>
                <a:ext uri="{FF2B5EF4-FFF2-40B4-BE49-F238E27FC236}">
                  <a16:creationId xmlns:a16="http://schemas.microsoft.com/office/drawing/2014/main" id="{3285C709-B618-5904-7A31-44E8D825CD5B}"/>
                </a:ext>
              </a:extLst>
            </p:cNvPr>
            <p:cNvSpPr/>
            <p:nvPr/>
          </p:nvSpPr>
          <p:spPr bwMode="auto">
            <a:xfrm>
              <a:off x="8015298" y="29141496"/>
              <a:ext cx="6652707" cy="2732092"/>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3" name="TextBox 2">
              <a:extLst>
                <a:ext uri="{FF2B5EF4-FFF2-40B4-BE49-F238E27FC236}">
                  <a16:creationId xmlns:a16="http://schemas.microsoft.com/office/drawing/2014/main" id="{D0B0B240-43AB-5B1F-C75F-FEA7463EE9F3}"/>
                </a:ext>
              </a:extLst>
            </p:cNvPr>
            <p:cNvSpPr txBox="1"/>
            <p:nvPr/>
          </p:nvSpPr>
          <p:spPr>
            <a:xfrm>
              <a:off x="8051909" y="29301311"/>
              <a:ext cx="6775918" cy="2554545"/>
            </a:xfrm>
            <a:prstGeom prst="rect">
              <a:avLst/>
            </a:prstGeom>
            <a:noFill/>
          </p:spPr>
          <p:txBody>
            <a:bodyPr wrap="square" lIns="91440" tIns="45720" rIns="91440" bIns="45720" anchor="t">
              <a:spAutoFit/>
            </a:bodyPr>
            <a:lstStyle/>
            <a:p>
              <a:r>
                <a:rPr lang="en-US" sz="3200" dirty="0">
                  <a:latin typeface="Helvetica"/>
                  <a:ea typeface="MS PGothic"/>
                  <a:cs typeface="Helvetica"/>
                </a:rPr>
                <a:t>Whole brain results were </a:t>
              </a:r>
              <a:r>
                <a:rPr lang="en-US" sz="3200" dirty="0" err="1">
                  <a:latin typeface="Helvetica"/>
                  <a:ea typeface="MS PGothic"/>
                  <a:cs typeface="Helvetica"/>
                </a:rPr>
                <a:t>thresholded</a:t>
              </a:r>
              <a:r>
                <a:rPr lang="en-US" sz="3200" dirty="0">
                  <a:latin typeface="Helvetica"/>
                  <a:ea typeface="MS PGothic"/>
                  <a:cs typeface="Helvetica"/>
                </a:rPr>
                <a:t> at Z &gt; 3.1 and Family Wise Error corrected at p &gt; .05</a:t>
              </a:r>
            </a:p>
            <a:p>
              <a:r>
                <a:rPr lang="en-US" sz="3200" dirty="0">
                  <a:latin typeface="Helvetica"/>
                  <a:ea typeface="MS PGothic"/>
                  <a:cs typeface="Helvetica"/>
                </a:rPr>
                <a:t>Masks were extracted from Harvard–Oxford and Mars atlases. </a:t>
              </a:r>
              <a:endParaRPr lang="en-US" sz="3200" dirty="0">
                <a:ea typeface="MS PGothic"/>
                <a:cs typeface="Helvetica"/>
              </a:endParaRPr>
            </a:p>
          </p:txBody>
        </p:sp>
      </p:grpSp>
      <p:pic>
        <p:nvPicPr>
          <p:cNvPr id="17" name="Picture 16">
            <a:extLst>
              <a:ext uri="{FF2B5EF4-FFF2-40B4-BE49-F238E27FC236}">
                <a16:creationId xmlns:a16="http://schemas.microsoft.com/office/drawing/2014/main" id="{428FE8E4-EF11-44C2-C242-0D3749E5303B}"/>
              </a:ext>
            </a:extLst>
          </p:cNvPr>
          <p:cNvPicPr>
            <a:picLocks noChangeAspect="1"/>
          </p:cNvPicPr>
          <p:nvPr/>
        </p:nvPicPr>
        <p:blipFill>
          <a:blip r:embed="rId4"/>
          <a:stretch>
            <a:fillRect/>
          </a:stretch>
        </p:blipFill>
        <p:spPr>
          <a:xfrm>
            <a:off x="15705595" y="15406813"/>
            <a:ext cx="6082076" cy="6071098"/>
          </a:xfrm>
          <a:prstGeom prst="rect">
            <a:avLst/>
          </a:prstGeom>
        </p:spPr>
      </p:pic>
      <p:grpSp>
        <p:nvGrpSpPr>
          <p:cNvPr id="84" name="Group 83">
            <a:extLst>
              <a:ext uri="{FF2B5EF4-FFF2-40B4-BE49-F238E27FC236}">
                <a16:creationId xmlns:a16="http://schemas.microsoft.com/office/drawing/2014/main" id="{F6598829-9A56-37ED-DD15-373A4F64219F}"/>
              </a:ext>
            </a:extLst>
          </p:cNvPr>
          <p:cNvGrpSpPr/>
          <p:nvPr/>
        </p:nvGrpSpPr>
        <p:grpSpPr>
          <a:xfrm>
            <a:off x="16266708" y="5102620"/>
            <a:ext cx="5346874" cy="6245250"/>
            <a:chOff x="24606262" y="5087612"/>
            <a:chExt cx="5346874" cy="6245250"/>
          </a:xfrm>
        </p:grpSpPr>
        <p:grpSp>
          <p:nvGrpSpPr>
            <p:cNvPr id="73" name="Group 72">
              <a:extLst>
                <a:ext uri="{FF2B5EF4-FFF2-40B4-BE49-F238E27FC236}">
                  <a16:creationId xmlns:a16="http://schemas.microsoft.com/office/drawing/2014/main" id="{9D0AD672-5D1A-CAD6-160C-701B0E0AC49D}"/>
                </a:ext>
              </a:extLst>
            </p:cNvPr>
            <p:cNvGrpSpPr/>
            <p:nvPr/>
          </p:nvGrpSpPr>
          <p:grpSpPr>
            <a:xfrm>
              <a:off x="24606262" y="5087612"/>
              <a:ext cx="5346874" cy="2981162"/>
              <a:chOff x="24230508" y="5420973"/>
              <a:chExt cx="5346874" cy="2981162"/>
            </a:xfrm>
          </p:grpSpPr>
          <p:sp>
            <p:nvSpPr>
              <p:cNvPr id="38" name="Oval 37">
                <a:extLst>
                  <a:ext uri="{FF2B5EF4-FFF2-40B4-BE49-F238E27FC236}">
                    <a16:creationId xmlns:a16="http://schemas.microsoft.com/office/drawing/2014/main" id="{9AB3227B-605C-47B6-D499-E01120A27BC6}"/>
                  </a:ext>
                </a:extLst>
              </p:cNvPr>
              <p:cNvSpPr/>
              <p:nvPr/>
            </p:nvSpPr>
            <p:spPr bwMode="auto">
              <a:xfrm>
                <a:off x="24230508" y="5440590"/>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lang="en-US" sz="3000" dirty="0">
                    <a:latin typeface="Arial" charset="0"/>
                    <a:cs typeface="Arial" charset="0"/>
                  </a:rPr>
                  <a:t>Other</a:t>
                </a:r>
                <a:endParaRPr kumimoji="0" lang="en-US" sz="3000" b="0" i="0" u="none" strike="noStrike" cap="none" normalizeH="0" baseline="0" dirty="0">
                  <a:ln>
                    <a:noFill/>
                  </a:ln>
                  <a:solidFill>
                    <a:schemeClr val="tx1"/>
                  </a:solidFill>
                  <a:effectLst/>
                  <a:latin typeface="Arial" charset="0"/>
                  <a:cs typeface="Arial" charset="0"/>
                </a:endParaRPr>
              </a:p>
            </p:txBody>
          </p:sp>
          <p:sp>
            <p:nvSpPr>
              <p:cNvPr id="44" name="Oval 43">
                <a:extLst>
                  <a:ext uri="{FF2B5EF4-FFF2-40B4-BE49-F238E27FC236}">
                    <a16:creationId xmlns:a16="http://schemas.microsoft.com/office/drawing/2014/main" id="{38C7AA76-A69B-6790-2AF3-21F88F089433}"/>
                  </a:ext>
                </a:extLst>
              </p:cNvPr>
              <p:cNvSpPr/>
              <p:nvPr/>
            </p:nvSpPr>
            <p:spPr bwMode="auto">
              <a:xfrm>
                <a:off x="26615837" y="5420973"/>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tx1"/>
                    </a:solidFill>
                    <a:effectLst/>
                    <a:latin typeface="Arial" charset="0"/>
                    <a:cs typeface="Arial" charset="0"/>
                  </a:rPr>
                  <a:t>Self</a:t>
                </a:r>
              </a:p>
            </p:txBody>
          </p:sp>
        </p:grpSp>
        <p:grpSp>
          <p:nvGrpSpPr>
            <p:cNvPr id="81" name="Group 80">
              <a:extLst>
                <a:ext uri="{FF2B5EF4-FFF2-40B4-BE49-F238E27FC236}">
                  <a16:creationId xmlns:a16="http://schemas.microsoft.com/office/drawing/2014/main" id="{A502EBA9-4A64-B731-4721-E93BC2C0B38E}"/>
                </a:ext>
              </a:extLst>
            </p:cNvPr>
            <p:cNvGrpSpPr/>
            <p:nvPr/>
          </p:nvGrpSpPr>
          <p:grpSpPr>
            <a:xfrm>
              <a:off x="25411939" y="8348344"/>
              <a:ext cx="3925091" cy="2984518"/>
              <a:chOff x="25130667" y="8968962"/>
              <a:chExt cx="3925091" cy="2984518"/>
            </a:xfrm>
          </p:grpSpPr>
          <p:sp>
            <p:nvSpPr>
              <p:cNvPr id="46" name="Oval 45">
                <a:extLst>
                  <a:ext uri="{FF2B5EF4-FFF2-40B4-BE49-F238E27FC236}">
                    <a16:creationId xmlns:a16="http://schemas.microsoft.com/office/drawing/2014/main" id="{73E66EF6-812F-CEC2-83FA-171A41C69916}"/>
                  </a:ext>
                </a:extLst>
              </p:cNvPr>
              <p:cNvSpPr/>
              <p:nvPr/>
            </p:nvSpPr>
            <p:spPr bwMode="auto">
              <a:xfrm>
                <a:off x="25130667" y="8968962"/>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3" name="Oval 52">
                <a:extLst>
                  <a:ext uri="{FF2B5EF4-FFF2-40B4-BE49-F238E27FC236}">
                    <a16:creationId xmlns:a16="http://schemas.microsoft.com/office/drawing/2014/main" id="{B9FF4C20-98BA-72A9-FBA3-ADE2BE7AB857}"/>
                  </a:ext>
                </a:extLst>
              </p:cNvPr>
              <p:cNvSpPr/>
              <p:nvPr/>
            </p:nvSpPr>
            <p:spPr bwMode="auto">
              <a:xfrm>
                <a:off x="26094213" y="8991935"/>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grpSp>
        <p:nvGrpSpPr>
          <p:cNvPr id="15363" name="Group 15362">
            <a:extLst>
              <a:ext uri="{FF2B5EF4-FFF2-40B4-BE49-F238E27FC236}">
                <a16:creationId xmlns:a16="http://schemas.microsoft.com/office/drawing/2014/main" id="{5342AA36-A614-FA38-AAEB-B01CE5DEE554}"/>
              </a:ext>
            </a:extLst>
          </p:cNvPr>
          <p:cNvGrpSpPr/>
          <p:nvPr/>
        </p:nvGrpSpPr>
        <p:grpSpPr>
          <a:xfrm>
            <a:off x="22892672" y="5355290"/>
            <a:ext cx="6622052" cy="6167135"/>
            <a:chOff x="17267302" y="5300010"/>
            <a:chExt cx="15233772" cy="14187253"/>
          </a:xfrm>
        </p:grpSpPr>
        <p:grpSp>
          <p:nvGrpSpPr>
            <p:cNvPr id="15368" name="Group 15367">
              <a:extLst>
                <a:ext uri="{FF2B5EF4-FFF2-40B4-BE49-F238E27FC236}">
                  <a16:creationId xmlns:a16="http://schemas.microsoft.com/office/drawing/2014/main" id="{EF61B636-3DAB-BD36-5E77-AF660B90CB6D}"/>
                </a:ext>
              </a:extLst>
            </p:cNvPr>
            <p:cNvGrpSpPr/>
            <p:nvPr/>
          </p:nvGrpSpPr>
          <p:grpSpPr>
            <a:xfrm>
              <a:off x="17267302" y="5300010"/>
              <a:ext cx="15233772" cy="14187253"/>
              <a:chOff x="17267302" y="5300010"/>
              <a:chExt cx="15233772" cy="14187253"/>
            </a:xfrm>
          </p:grpSpPr>
          <p:grpSp>
            <p:nvGrpSpPr>
              <p:cNvPr id="15374" name="Group 15373">
                <a:extLst>
                  <a:ext uri="{FF2B5EF4-FFF2-40B4-BE49-F238E27FC236}">
                    <a16:creationId xmlns:a16="http://schemas.microsoft.com/office/drawing/2014/main" id="{9D074445-318C-EC5C-B299-FABC718AB741}"/>
                  </a:ext>
                </a:extLst>
              </p:cNvPr>
              <p:cNvGrpSpPr/>
              <p:nvPr/>
            </p:nvGrpSpPr>
            <p:grpSpPr>
              <a:xfrm>
                <a:off x="17267302" y="5300010"/>
                <a:ext cx="15233772" cy="12987990"/>
                <a:chOff x="17267302" y="5300010"/>
                <a:chExt cx="15233772" cy="12987990"/>
              </a:xfrm>
            </p:grpSpPr>
            <p:sp>
              <p:nvSpPr>
                <p:cNvPr id="15378" name="Rectangle 15377">
                  <a:extLst>
                    <a:ext uri="{FF2B5EF4-FFF2-40B4-BE49-F238E27FC236}">
                      <a16:creationId xmlns:a16="http://schemas.microsoft.com/office/drawing/2014/main" id="{D3C6FA6C-63E2-D9C7-11C3-F549FAE89481}"/>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9" name="Rectangle 15378">
                  <a:extLst>
                    <a:ext uri="{FF2B5EF4-FFF2-40B4-BE49-F238E27FC236}">
                      <a16:creationId xmlns:a16="http://schemas.microsoft.com/office/drawing/2014/main" id="{82DBA69E-FE31-66D5-1ACE-25BF6D5A8306}"/>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80" name="Rectangle 15379">
                  <a:extLst>
                    <a:ext uri="{FF2B5EF4-FFF2-40B4-BE49-F238E27FC236}">
                      <a16:creationId xmlns:a16="http://schemas.microsoft.com/office/drawing/2014/main" id="{738FF911-E63F-5D21-C096-62EDAFDCF6D9}"/>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381" name="Straight Connector 15380">
                  <a:extLst>
                    <a:ext uri="{FF2B5EF4-FFF2-40B4-BE49-F238E27FC236}">
                      <a16:creationId xmlns:a16="http://schemas.microsoft.com/office/drawing/2014/main" id="{A5C14B6B-74F8-907A-F38C-9B44E05A9296}"/>
                    </a:ext>
                  </a:extLst>
                </p:cNvPr>
                <p:cNvCxnSpPr>
                  <a:cxnSpLocks/>
                  <a:stCxn id="15378"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2" name="Straight Connector 15381">
                  <a:extLst>
                    <a:ext uri="{FF2B5EF4-FFF2-40B4-BE49-F238E27FC236}">
                      <a16:creationId xmlns:a16="http://schemas.microsoft.com/office/drawing/2014/main" id="{D38EEA3F-AEFD-B37D-71DF-A268776436C2}"/>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3" name="Straight Connector 15382">
                  <a:extLst>
                    <a:ext uri="{FF2B5EF4-FFF2-40B4-BE49-F238E27FC236}">
                      <a16:creationId xmlns:a16="http://schemas.microsoft.com/office/drawing/2014/main" id="{EED90813-D59C-3A49-5E0A-AA6B93E3E5AB}"/>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4" name="Straight Connector 15383">
                  <a:extLst>
                    <a:ext uri="{FF2B5EF4-FFF2-40B4-BE49-F238E27FC236}">
                      <a16:creationId xmlns:a16="http://schemas.microsoft.com/office/drawing/2014/main" id="{6AE61E0A-E4D7-DF87-9189-E92187D744F5}"/>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386" name="Straight Connector 15385">
                  <a:extLst>
                    <a:ext uri="{FF2B5EF4-FFF2-40B4-BE49-F238E27FC236}">
                      <a16:creationId xmlns:a16="http://schemas.microsoft.com/office/drawing/2014/main" id="{CDBA45C3-8908-8CA9-EDF5-DAFDAC1E273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390" name="Straight Connector 15389">
                  <a:extLst>
                    <a:ext uri="{FF2B5EF4-FFF2-40B4-BE49-F238E27FC236}">
                      <a16:creationId xmlns:a16="http://schemas.microsoft.com/office/drawing/2014/main" id="{0300AC7D-06E5-5E4F-0700-D6A7930474C3}"/>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5391" name="Multiply 15390">
                  <a:extLst>
                    <a:ext uri="{FF2B5EF4-FFF2-40B4-BE49-F238E27FC236}">
                      <a16:creationId xmlns:a16="http://schemas.microsoft.com/office/drawing/2014/main" id="{7958EA54-9A29-7CA7-7975-8A83FD94016A}"/>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394" name="Straight Connector 15393">
                  <a:extLst>
                    <a:ext uri="{FF2B5EF4-FFF2-40B4-BE49-F238E27FC236}">
                      <a16:creationId xmlns:a16="http://schemas.microsoft.com/office/drawing/2014/main" id="{54674706-B3BE-AE0E-67F6-02AC5532DCFC}"/>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15395" name="Straight Connector 15394">
                  <a:extLst>
                    <a:ext uri="{FF2B5EF4-FFF2-40B4-BE49-F238E27FC236}">
                      <a16:creationId xmlns:a16="http://schemas.microsoft.com/office/drawing/2014/main" id="{E7D53ED5-EB1B-BF5F-67A1-A644E9215197}"/>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15396" name="Straight Connector 15395">
                  <a:extLst>
                    <a:ext uri="{FF2B5EF4-FFF2-40B4-BE49-F238E27FC236}">
                      <a16:creationId xmlns:a16="http://schemas.microsoft.com/office/drawing/2014/main" id="{2E4D4A52-9D38-12EB-42B4-266D1CB829F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15375" name="TextBox 15374">
                <a:extLst>
                  <a:ext uri="{FF2B5EF4-FFF2-40B4-BE49-F238E27FC236}">
                    <a16:creationId xmlns:a16="http://schemas.microsoft.com/office/drawing/2014/main" id="{0BC64C63-F78A-F04C-FE4C-A4D80531BC92}"/>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15376" name="TextBox 15375">
                <a:extLst>
                  <a:ext uri="{FF2B5EF4-FFF2-40B4-BE49-F238E27FC236}">
                    <a16:creationId xmlns:a16="http://schemas.microsoft.com/office/drawing/2014/main" id="{FBEF236D-522B-2628-F975-CA94AF1884DB}"/>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15377" name="TextBox 15376">
                <a:extLst>
                  <a:ext uri="{FF2B5EF4-FFF2-40B4-BE49-F238E27FC236}">
                    <a16:creationId xmlns:a16="http://schemas.microsoft.com/office/drawing/2014/main" id="{CF3C8066-596C-D6E7-00D6-81439E767F8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15370" name="Multiply 15369">
              <a:extLst>
                <a:ext uri="{FF2B5EF4-FFF2-40B4-BE49-F238E27FC236}">
                  <a16:creationId xmlns:a16="http://schemas.microsoft.com/office/drawing/2014/main" id="{DA358199-D1DD-7679-4B19-9342C8CB9A71}"/>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2" name="Multiply 15371">
              <a:extLst>
                <a:ext uri="{FF2B5EF4-FFF2-40B4-BE49-F238E27FC236}">
                  <a16:creationId xmlns:a16="http://schemas.microsoft.com/office/drawing/2014/main" id="{4E9EE586-5835-F885-83DF-014FFC51F3BA}"/>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3" name="Multiply 15372">
              <a:extLst>
                <a:ext uri="{FF2B5EF4-FFF2-40B4-BE49-F238E27FC236}">
                  <a16:creationId xmlns:a16="http://schemas.microsoft.com/office/drawing/2014/main" id="{9592DB17-062F-9AC2-E17E-BCFBD00FD8EC}"/>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sp>
        <p:nvSpPr>
          <p:cNvPr id="15398" name="TextBox 15397">
            <a:extLst>
              <a:ext uri="{FF2B5EF4-FFF2-40B4-BE49-F238E27FC236}">
                <a16:creationId xmlns:a16="http://schemas.microsoft.com/office/drawing/2014/main" id="{525D5E19-4B3C-AFF6-A95E-21518D8D505D}"/>
              </a:ext>
            </a:extLst>
          </p:cNvPr>
          <p:cNvSpPr txBox="1"/>
          <p:nvPr/>
        </p:nvSpPr>
        <p:spPr>
          <a:xfrm>
            <a:off x="16332717" y="12097669"/>
            <a:ext cx="12598832"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Participants were asked to rate their closeness with the three partners on a 7-point Leichardt scale of overlapping circles </a:t>
            </a:r>
          </a:p>
        </p:txBody>
      </p:sp>
      <p:sp>
        <p:nvSpPr>
          <p:cNvPr id="15404" name="TextBox 15403">
            <a:extLst>
              <a:ext uri="{FF2B5EF4-FFF2-40B4-BE49-F238E27FC236}">
                <a16:creationId xmlns:a16="http://schemas.microsoft.com/office/drawing/2014/main" id="{BD337C5F-52FF-AD9F-5D33-EBF01D6419CF}"/>
              </a:ext>
            </a:extLst>
          </p:cNvPr>
          <p:cNvSpPr txBox="1"/>
          <p:nvPr/>
        </p:nvSpPr>
        <p:spPr>
          <a:xfrm>
            <a:off x="15906068" y="11363259"/>
            <a:ext cx="4965130" cy="553998"/>
          </a:xfrm>
          <a:prstGeom prst="rect">
            <a:avLst/>
          </a:prstGeom>
          <a:noFill/>
        </p:spPr>
        <p:txBody>
          <a:bodyPr wrap="square" lIns="91440" tIns="45720" rIns="91440" bIns="45720" anchor="t">
            <a:spAutoFit/>
          </a:bodyPr>
          <a:lstStyle/>
          <a:p>
            <a:r>
              <a:rPr lang="en-US" altLang="en-US" sz="1500" dirty="0">
                <a:latin typeface="Helvetica"/>
                <a:ea typeface="MS PGothic"/>
              </a:rPr>
              <a:t>Kyle M. </a:t>
            </a:r>
            <a:r>
              <a:rPr lang="en-US" altLang="en-US" sz="1500" dirty="0" err="1">
                <a:latin typeface="Helvetica"/>
                <a:ea typeface="MS PGothic"/>
              </a:rPr>
              <a:t>Woosnam</a:t>
            </a:r>
            <a:r>
              <a:rPr lang="en-US" altLang="en-US" sz="1500" dirty="0">
                <a:latin typeface="Helvetica"/>
                <a:ea typeface="MS PGothic"/>
              </a:rPr>
              <a:t>,</a:t>
            </a:r>
          </a:p>
          <a:p>
            <a:r>
              <a:rPr lang="en-US" altLang="en-US" sz="1500" dirty="0">
                <a:latin typeface="Helvetica"/>
                <a:ea typeface="MS PGothic"/>
              </a:rPr>
              <a:t>The inclusion of other in the self (</a:t>
            </a:r>
            <a:r>
              <a:rPr lang="en-US" altLang="en-US" sz="1500" dirty="0" err="1">
                <a:latin typeface="Helvetica"/>
                <a:ea typeface="MS PGothic"/>
              </a:rPr>
              <a:t>ios</a:t>
            </a:r>
            <a:r>
              <a:rPr lang="en-US" altLang="en-US" sz="1500" dirty="0">
                <a:latin typeface="Helvetica"/>
                <a:ea typeface="MS PGothic"/>
              </a:rPr>
              <a:t>) scale,</a:t>
            </a:r>
          </a:p>
        </p:txBody>
      </p:sp>
      <p:pic>
        <p:nvPicPr>
          <p:cNvPr id="15406" name="Picture 15405" descr="A brain with red and green arrows&#10;&#10;Description automatically generated">
            <a:extLst>
              <a:ext uri="{FF2B5EF4-FFF2-40B4-BE49-F238E27FC236}">
                <a16:creationId xmlns:a16="http://schemas.microsoft.com/office/drawing/2014/main" id="{E3B38FA0-F543-267E-327B-2987860A8B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495021" y="5969483"/>
            <a:ext cx="4495800" cy="5003800"/>
          </a:xfrm>
          <a:prstGeom prst="rect">
            <a:avLst/>
          </a:prstGeom>
        </p:spPr>
      </p:pic>
      <p:pic>
        <p:nvPicPr>
          <p:cNvPr id="15418" name="Picture 15417" descr="A graph with red dots&#10;&#10;Description automatically generated">
            <a:extLst>
              <a:ext uri="{FF2B5EF4-FFF2-40B4-BE49-F238E27FC236}">
                <a16:creationId xmlns:a16="http://schemas.microsoft.com/office/drawing/2014/main" id="{7AE9EF6F-6375-47A1-D536-FAF3F473B789}"/>
              </a:ext>
            </a:extLst>
          </p:cNvPr>
          <p:cNvPicPr>
            <a:picLocks noChangeAspect="1"/>
          </p:cNvPicPr>
          <p:nvPr/>
        </p:nvPicPr>
        <p:blipFill rotWithShape="1">
          <a:blip r:embed="rId6">
            <a:extLst>
              <a:ext uri="{28A0092B-C50C-407E-A947-70E740481C1C}">
                <a14:useLocalDpi xmlns:a14="http://schemas.microsoft.com/office/drawing/2010/main" val="0"/>
              </a:ext>
            </a:extLst>
          </a:blip>
          <a:srcRect l="3131"/>
          <a:stretch/>
        </p:blipFill>
        <p:spPr>
          <a:xfrm>
            <a:off x="37850303" y="6924524"/>
            <a:ext cx="5314627" cy="4025900"/>
          </a:xfrm>
          <a:prstGeom prst="rect">
            <a:avLst/>
          </a:prstGeom>
        </p:spPr>
      </p:pic>
      <p:sp>
        <p:nvSpPr>
          <p:cNvPr id="15420" name="TextBox 15419">
            <a:extLst>
              <a:ext uri="{FF2B5EF4-FFF2-40B4-BE49-F238E27FC236}">
                <a16:creationId xmlns:a16="http://schemas.microsoft.com/office/drawing/2014/main" id="{069F462D-BFA5-DA6C-F8A4-6704B438B9AA}"/>
              </a:ext>
            </a:extLst>
          </p:cNvPr>
          <p:cNvSpPr txBox="1"/>
          <p:nvPr/>
        </p:nvSpPr>
        <p:spPr>
          <a:xfrm>
            <a:off x="40013832" y="11300491"/>
            <a:ext cx="867545" cy="553998"/>
          </a:xfrm>
          <a:prstGeom prst="rect">
            <a:avLst/>
          </a:prstGeom>
          <a:noFill/>
        </p:spPr>
        <p:txBody>
          <a:bodyPr wrap="none" rtlCol="0">
            <a:spAutoFit/>
          </a:bodyPr>
          <a:lstStyle/>
          <a:p>
            <a:r>
              <a:rPr lang="en-US" sz="3000" dirty="0"/>
              <a:t>Age</a:t>
            </a:r>
          </a:p>
        </p:txBody>
      </p:sp>
      <p:pic>
        <p:nvPicPr>
          <p:cNvPr id="15389" name="Picture 10060"/>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494755" y="252918"/>
            <a:ext cx="3037143" cy="339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00" name="Rectangle 54"/>
          <p:cNvSpPr>
            <a:spLocks noChangeArrowheads="1"/>
          </p:cNvSpPr>
          <p:nvPr/>
        </p:nvSpPr>
        <p:spPr bwMode="auto">
          <a:xfrm>
            <a:off x="30676645" y="24531321"/>
            <a:ext cx="12928282" cy="699436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8.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1374735"/>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000" dirty="0">
                <a:latin typeface="Helvetica"/>
                <a:ea typeface="MS PGothic"/>
                <a:cs typeface="Helvetica"/>
              </a:rPr>
              <a:t> .</a:t>
            </a:r>
          </a:p>
          <a:p>
            <a:pPr>
              <a:spcBef>
                <a:spcPts val="360"/>
              </a:spcBef>
              <a:spcAft>
                <a:spcPts val="0"/>
              </a:spcAft>
            </a:pPr>
            <a:endParaRPr lang="en-US" sz="4000" b="1" dirty="0">
              <a:latin typeface="Helvetica"/>
              <a:ea typeface="MS PGothic"/>
              <a:cs typeface="Helvetica"/>
            </a:endParaRPr>
          </a:p>
        </p:txBody>
      </p:sp>
      <p:pic>
        <p:nvPicPr>
          <p:cNvPr id="82" name="Picture 2" descr="Image result for adelphi university">
            <a:extLst>
              <a:ext uri="{FF2B5EF4-FFF2-40B4-BE49-F238E27FC236}">
                <a16:creationId xmlns:a16="http://schemas.microsoft.com/office/drawing/2014/main" id="{28154B0C-9082-4664-BE4E-292BAAFD349C}"/>
              </a:ext>
            </a:extLst>
          </p:cNvPr>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41331346" y="1633353"/>
            <a:ext cx="1986759" cy="1986759"/>
          </a:xfrm>
          <a:prstGeom prst="rect">
            <a:avLst/>
          </a:prstGeom>
          <a:noFill/>
          <a:extLst>
            <a:ext uri="{909E8E84-426E-40DD-AFC4-6F175D3DCCD1}">
              <a14:hiddenFill xmlns:a14="http://schemas.microsoft.com/office/drawing/2010/main">
                <a:solidFill>
                  <a:srgbClr val="FFFFFF"/>
                </a:solidFill>
              </a14:hiddenFill>
            </a:ext>
          </a:extLst>
        </p:spPr>
      </p:pic>
      <p:sp>
        <p:nvSpPr>
          <p:cNvPr id="127" name="Rectangle 54">
            <a:extLst>
              <a:ext uri="{FF2B5EF4-FFF2-40B4-BE49-F238E27FC236}">
                <a16:creationId xmlns:a16="http://schemas.microsoft.com/office/drawing/2014/main" id="{CCC8C574-2C37-4FF8-83CC-02DE2FB92E37}"/>
              </a:ext>
            </a:extLst>
          </p:cNvPr>
          <p:cNvSpPr>
            <a:spLocks noChangeArrowheads="1"/>
          </p:cNvSpPr>
          <p:nvPr/>
        </p:nvSpPr>
        <p:spPr bwMode="auto">
          <a:xfrm>
            <a:off x="30667546" y="31846944"/>
            <a:ext cx="12923262" cy="81338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6" name="TextBox 5">
            <a:extLst>
              <a:ext uri="{FF2B5EF4-FFF2-40B4-BE49-F238E27FC236}">
                <a16:creationId xmlns:a16="http://schemas.microsoft.com/office/drawing/2014/main" id="{70FD3937-717B-30F1-EF0F-1BE3A44A9629}"/>
              </a:ext>
            </a:extLst>
          </p:cNvPr>
          <p:cNvSpPr txBox="1"/>
          <p:nvPr/>
        </p:nvSpPr>
        <p:spPr>
          <a:xfrm>
            <a:off x="30912367" y="29293095"/>
            <a:ext cx="12442911" cy="2146231"/>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Our findings help to characterize the role of </a:t>
            </a:r>
            <a:r>
              <a:rPr lang="en-US" sz="4200" b="1" dirty="0" err="1">
                <a:latin typeface="Helvetica"/>
                <a:ea typeface="MS PGothic"/>
                <a:cs typeface="Helvetica"/>
              </a:rPr>
              <a:t>corticostriatal</a:t>
            </a:r>
            <a:r>
              <a:rPr lang="en-US" sz="4200" b="1" dirty="0">
                <a:latin typeface="Helvetica"/>
                <a:ea typeface="MS PGothic"/>
                <a:cs typeface="Helvetica"/>
              </a:rPr>
              <a:t> connectivity in </a:t>
            </a:r>
            <a:endParaRPr lang="en-US" sz="4200" dirty="0">
              <a:cs typeface="Arial"/>
            </a:endParaRPr>
          </a:p>
          <a:p>
            <a:pPr algn="ctr">
              <a:spcBef>
                <a:spcPts val="360"/>
              </a:spcBef>
              <a:spcAft>
                <a:spcPts val="0"/>
              </a:spcAft>
            </a:pPr>
            <a:r>
              <a:rPr lang="en-US" sz="4200" b="1" dirty="0">
                <a:latin typeface="Helvetica"/>
                <a:ea typeface="MS PGothic"/>
                <a:cs typeface="Helvetica"/>
              </a:rPr>
              <a:t>social decision making.</a:t>
            </a:r>
            <a:endParaRPr lang="en-US" sz="4200" dirty="0"/>
          </a:p>
        </p:txBody>
      </p:sp>
      <p:pic>
        <p:nvPicPr>
          <p:cNvPr id="14" name="Picture 13" descr="A logo of a university&#10;&#10;Description automatically generated">
            <a:extLst>
              <a:ext uri="{FF2B5EF4-FFF2-40B4-BE49-F238E27FC236}">
                <a16:creationId xmlns:a16="http://schemas.microsoft.com/office/drawing/2014/main" id="{9F423328-9A02-A5CE-6F48-CAD10A8AF80B}"/>
              </a:ext>
            </a:extLst>
          </p:cNvPr>
          <p:cNvPicPr>
            <a:picLocks noChangeAspect="1"/>
          </p:cNvPicPr>
          <p:nvPr/>
        </p:nvPicPr>
        <p:blipFill>
          <a:blip>
            <a:extLst>
              <a:ext uri="{28A0092B-C50C-407E-A947-70E740481C1C}">
                <a14:useLocalDpi xmlns:a14="http://schemas.microsoft.com/office/drawing/2010/main" val="0"/>
              </a:ext>
            </a:extLst>
          </a:blip>
          <a:stretch>
            <a:fillRect/>
          </a:stretch>
        </p:blipFill>
        <p:spPr>
          <a:xfrm>
            <a:off x="39148879" y="321878"/>
            <a:ext cx="1819284" cy="2067919"/>
          </a:xfrm>
          <a:prstGeom prst="rect">
            <a:avLst/>
          </a:prstGeom>
        </p:spPr>
      </p:pic>
      <p:sp>
        <p:nvSpPr>
          <p:cNvPr id="15415" name="TextBox 86">
            <a:extLst>
              <a:ext uri="{FF2B5EF4-FFF2-40B4-BE49-F238E27FC236}">
                <a16:creationId xmlns:a16="http://schemas.microsoft.com/office/drawing/2014/main" id="{B1E3A897-53DA-649F-39B9-6F4056C35336}"/>
              </a:ext>
            </a:extLst>
          </p:cNvPr>
          <p:cNvSpPr txBox="1">
            <a:spLocks noChangeArrowheads="1"/>
          </p:cNvSpPr>
          <p:nvPr/>
        </p:nvSpPr>
        <p:spPr bwMode="auto">
          <a:xfrm>
            <a:off x="31057107" y="14623506"/>
            <a:ext cx="12355359" cy="749436"/>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70" b="1" dirty="0">
                <a:solidFill>
                  <a:srgbClr val="C00000"/>
                </a:solidFill>
                <a:latin typeface="Trebuchet MS"/>
                <a:ea typeface="MS PGothic"/>
              </a:rPr>
              <a:t>7. </a:t>
            </a:r>
            <a:endParaRPr lang="en-US" altLang="en-US" sz="4270" b="1" dirty="0">
              <a:solidFill>
                <a:srgbClr val="C00000"/>
              </a:solidFill>
              <a:latin typeface="Trebuchet MS" panose="020B0603020202020204" pitchFamily="34" charset="0"/>
            </a:endParaRPr>
          </a:p>
        </p:txBody>
      </p:sp>
      <p:sp>
        <p:nvSpPr>
          <p:cNvPr id="15417" name="TextBox 15416">
            <a:extLst>
              <a:ext uri="{FF2B5EF4-FFF2-40B4-BE49-F238E27FC236}">
                <a16:creationId xmlns:a16="http://schemas.microsoft.com/office/drawing/2014/main" id="{67AF8949-755A-E964-685E-DF2A5F35BDE8}"/>
              </a:ext>
            </a:extLst>
          </p:cNvPr>
          <p:cNvSpPr txBox="1"/>
          <p:nvPr/>
        </p:nvSpPr>
        <p:spPr>
          <a:xfrm>
            <a:off x="30805042" y="31928090"/>
            <a:ext cx="12648270" cy="646331"/>
          </a:xfrm>
          <a:prstGeom prst="rect">
            <a:avLst/>
          </a:prstGeom>
          <a:noFill/>
        </p:spPr>
        <p:txBody>
          <a:bodyPr wrap="square">
            <a:spAutoFit/>
          </a:bodyPr>
          <a:lstStyle/>
          <a:p>
            <a:r>
              <a:rPr lang="en-US" sz="1800" i="1"/>
              <a:t>This study was supported by a grant from the National Institutes of Health (R03-DA046733 (DVS). Contact information for Daniel Sazhin: daniel.sazhin@temple.edu.</a:t>
            </a:r>
            <a:r>
              <a:rPr lang="en-US" sz="1800" b="0" i="0">
                <a:solidFill>
                  <a:srgbClr val="000000"/>
                </a:solidFill>
                <a:effectLst/>
                <a:latin typeface="Times New Roman" panose="02020603050405020304" pitchFamily="18" charset="0"/>
              </a:rPr>
              <a:t> </a:t>
            </a:r>
            <a:endParaRPr lang="en-US" sz="1800" i="1"/>
          </a:p>
        </p:txBody>
      </p:sp>
      <p:sp>
        <p:nvSpPr>
          <p:cNvPr id="15453" name="TextBox 15452">
            <a:extLst>
              <a:ext uri="{FF2B5EF4-FFF2-40B4-BE49-F238E27FC236}">
                <a16:creationId xmlns:a16="http://schemas.microsoft.com/office/drawing/2014/main" id="{54253D06-A27E-D304-5A43-9CE683DD93BC}"/>
              </a:ext>
            </a:extLst>
          </p:cNvPr>
          <p:cNvSpPr txBox="1"/>
          <p:nvPr/>
        </p:nvSpPr>
        <p:spPr>
          <a:xfrm>
            <a:off x="38658757" y="16524759"/>
            <a:ext cx="1046440" cy="6220601"/>
          </a:xfrm>
          <a:prstGeom prst="rect">
            <a:avLst/>
          </a:prstGeom>
          <a:noFill/>
        </p:spPr>
        <p:txBody>
          <a:bodyPr vert="vert270" wrap="square">
            <a:spAutoFit/>
          </a:bodyPr>
          <a:lstStyle/>
          <a:p>
            <a:pPr algn="ctr"/>
            <a:r>
              <a:rPr lang="en-US" sz="2800" dirty="0">
                <a:latin typeface="Helvetica"/>
                <a:ea typeface="MS PGothic"/>
              </a:rPr>
              <a:t>VS-ACC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15454" name="TextBox 15453">
            <a:extLst>
              <a:ext uri="{FF2B5EF4-FFF2-40B4-BE49-F238E27FC236}">
                <a16:creationId xmlns:a16="http://schemas.microsoft.com/office/drawing/2014/main" id="{13B2FFDE-8D7C-898B-769D-CAF01351FCBA}"/>
              </a:ext>
            </a:extLst>
          </p:cNvPr>
          <p:cNvSpPr txBox="1"/>
          <p:nvPr/>
        </p:nvSpPr>
        <p:spPr>
          <a:xfrm>
            <a:off x="40013181" y="21477911"/>
            <a:ext cx="3784646" cy="523220"/>
          </a:xfrm>
          <a:prstGeom prst="rect">
            <a:avLst/>
          </a:prstGeom>
          <a:noFill/>
        </p:spPr>
        <p:txBody>
          <a:bodyPr wrap="square">
            <a:spAutoFit/>
          </a:bodyPr>
          <a:lstStyle/>
          <a:p>
            <a:pPr algn="ctr"/>
            <a:r>
              <a:rPr lang="en-US" sz="2800" dirty="0">
                <a:latin typeface="Helvetica"/>
                <a:ea typeface="MS PGothic"/>
              </a:rPr>
              <a:t>Composite Reward</a:t>
            </a:r>
            <a:endParaRPr lang="en-US" sz="2800" dirty="0">
              <a:latin typeface="Helvetica"/>
            </a:endParaRPr>
          </a:p>
        </p:txBody>
      </p:sp>
      <p:sp>
        <p:nvSpPr>
          <p:cNvPr id="15414" name="Rectangle 162">
            <a:extLst>
              <a:ext uri="{FF2B5EF4-FFF2-40B4-BE49-F238E27FC236}">
                <a16:creationId xmlns:a16="http://schemas.microsoft.com/office/drawing/2014/main" id="{25A230EB-5F32-4224-56A1-756BF91CCD15}"/>
              </a:ext>
            </a:extLst>
          </p:cNvPr>
          <p:cNvSpPr>
            <a:spLocks noChangeArrowheads="1"/>
          </p:cNvSpPr>
          <p:nvPr/>
        </p:nvSpPr>
        <p:spPr bwMode="auto">
          <a:xfrm>
            <a:off x="30683073" y="14695105"/>
            <a:ext cx="12967320" cy="936971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429" name="Rounded Rectangle 15428">
            <a:extLst>
              <a:ext uri="{FF2B5EF4-FFF2-40B4-BE49-F238E27FC236}">
                <a16:creationId xmlns:a16="http://schemas.microsoft.com/office/drawing/2014/main" id="{4B7D9A17-B83C-E5E9-1709-3AF83FDD5AD6}"/>
              </a:ext>
            </a:extLst>
          </p:cNvPr>
          <p:cNvSpPr/>
          <p:nvPr/>
        </p:nvSpPr>
        <p:spPr bwMode="auto">
          <a:xfrm>
            <a:off x="631650" y="15031860"/>
            <a:ext cx="6233543" cy="61241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are given $8 for the trial. </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435" name="Group 15434">
            <a:extLst>
              <a:ext uri="{FF2B5EF4-FFF2-40B4-BE49-F238E27FC236}">
                <a16:creationId xmlns:a16="http://schemas.microsoft.com/office/drawing/2014/main" id="{91D64F50-CCC5-FF57-B24F-9D18D2A12681}"/>
              </a:ext>
            </a:extLst>
          </p:cNvPr>
          <p:cNvGrpSpPr/>
          <p:nvPr/>
        </p:nvGrpSpPr>
        <p:grpSpPr>
          <a:xfrm>
            <a:off x="2079425" y="21133835"/>
            <a:ext cx="3898887" cy="1569660"/>
            <a:chOff x="2150236" y="20985676"/>
            <a:chExt cx="3898887" cy="1569660"/>
          </a:xfrm>
        </p:grpSpPr>
        <p:sp>
          <p:nvSpPr>
            <p:cNvPr id="52" name="TextBox 51">
              <a:extLst>
                <a:ext uri="{FF2B5EF4-FFF2-40B4-BE49-F238E27FC236}">
                  <a16:creationId xmlns:a16="http://schemas.microsoft.com/office/drawing/2014/main" id="{4707B45F-027B-576B-4808-66F0A5D95489}"/>
                </a:ext>
              </a:extLst>
            </p:cNvPr>
            <p:cNvSpPr txBox="1"/>
            <p:nvPr/>
          </p:nvSpPr>
          <p:spPr>
            <a:xfrm>
              <a:off x="4609305" y="21151595"/>
              <a:ext cx="1439818" cy="1323439"/>
            </a:xfrm>
            <a:prstGeom prst="rect">
              <a:avLst/>
            </a:prstGeom>
            <a:noFill/>
          </p:spPr>
          <p:txBody>
            <a:bodyPr wrap="none" rtlCol="0">
              <a:spAutoFit/>
            </a:bodyPr>
            <a:lstStyle/>
            <a:p>
              <a:r>
                <a:rPr lang="en-US" sz="8000" b="1" dirty="0">
                  <a:solidFill>
                    <a:srgbClr val="03DF04"/>
                  </a:solidFill>
                </a:rPr>
                <a:t>X3</a:t>
              </a:r>
            </a:p>
          </p:txBody>
        </p:sp>
        <p:sp>
          <p:nvSpPr>
            <p:cNvPr id="15433" name="Rounded Rectangle 15432">
              <a:extLst>
                <a:ext uri="{FF2B5EF4-FFF2-40B4-BE49-F238E27FC236}">
                  <a16:creationId xmlns:a16="http://schemas.microsoft.com/office/drawing/2014/main" id="{9D770554-0135-2E8B-9BC3-8228F9631C8A}"/>
                </a:ext>
              </a:extLst>
            </p:cNvPr>
            <p:cNvSpPr/>
            <p:nvPr/>
          </p:nvSpPr>
          <p:spPr bwMode="auto">
            <a:xfrm>
              <a:off x="2150236" y="20985676"/>
              <a:ext cx="2382793" cy="156966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The money you  sent is tripled</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15490" name="Group 15489">
            <a:extLst>
              <a:ext uri="{FF2B5EF4-FFF2-40B4-BE49-F238E27FC236}">
                <a16:creationId xmlns:a16="http://schemas.microsoft.com/office/drawing/2014/main" id="{26CF14B9-FE18-01D5-1A0A-E19BE8376A0A}"/>
              </a:ext>
            </a:extLst>
          </p:cNvPr>
          <p:cNvGrpSpPr/>
          <p:nvPr/>
        </p:nvGrpSpPr>
        <p:grpSpPr>
          <a:xfrm>
            <a:off x="631650" y="18495767"/>
            <a:ext cx="3370254" cy="2302479"/>
            <a:chOff x="631650" y="18495767"/>
            <a:chExt cx="3370254" cy="2302479"/>
          </a:xfrm>
        </p:grpSpPr>
        <p:sp>
          <p:nvSpPr>
            <p:cNvPr id="15432" name="Rounded Rectangle 15431">
              <a:extLst>
                <a:ext uri="{FF2B5EF4-FFF2-40B4-BE49-F238E27FC236}">
                  <a16:creationId xmlns:a16="http://schemas.microsoft.com/office/drawing/2014/main" id="{29E5F4B4-9ECB-A12A-6B3F-C0855A0CDE34}"/>
                </a:ext>
              </a:extLst>
            </p:cNvPr>
            <p:cNvSpPr/>
            <p:nvPr/>
          </p:nvSpPr>
          <p:spPr bwMode="auto">
            <a:xfrm>
              <a:off x="631650" y="19228586"/>
              <a:ext cx="3370254" cy="156966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choose an amount to share with your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442" name="Elbow Connector 15441">
              <a:extLst>
                <a:ext uri="{FF2B5EF4-FFF2-40B4-BE49-F238E27FC236}">
                  <a16:creationId xmlns:a16="http://schemas.microsoft.com/office/drawing/2014/main" id="{FD357802-D2BB-A2AC-2582-D36E431D92F1}"/>
                </a:ext>
              </a:extLst>
            </p:cNvPr>
            <p:cNvCxnSpPr>
              <a:cxnSpLocks/>
            </p:cNvCxnSpPr>
            <p:nvPr/>
          </p:nvCxnSpPr>
          <p:spPr bwMode="auto">
            <a:xfrm flipV="1">
              <a:off x="1252845" y="18495767"/>
              <a:ext cx="1111214" cy="732821"/>
            </a:xfrm>
            <a:prstGeom prst="bentConnector3">
              <a:avLst>
                <a:gd name="adj1" fmla="val 1831"/>
              </a:avLst>
            </a:prstGeom>
            <a:solidFill>
              <a:schemeClr val="accent1"/>
            </a:solidFill>
            <a:ln w="50800" cap="flat" cmpd="sng" algn="ctr">
              <a:solidFill>
                <a:schemeClr val="tx1"/>
              </a:solidFill>
              <a:prstDash val="solid"/>
              <a:round/>
              <a:headEnd type="none" w="med" len="med"/>
              <a:tailEnd type="triangle"/>
            </a:ln>
            <a:effectLst/>
          </p:spPr>
        </p:cxnSp>
      </p:grpSp>
      <p:grpSp>
        <p:nvGrpSpPr>
          <p:cNvPr id="15489" name="Group 15488">
            <a:extLst>
              <a:ext uri="{FF2B5EF4-FFF2-40B4-BE49-F238E27FC236}">
                <a16:creationId xmlns:a16="http://schemas.microsoft.com/office/drawing/2014/main" id="{2951BED7-5D33-D9B9-A2B4-2D6D3E26469E}"/>
              </a:ext>
            </a:extLst>
          </p:cNvPr>
          <p:cNvGrpSpPr/>
          <p:nvPr/>
        </p:nvGrpSpPr>
        <p:grpSpPr>
          <a:xfrm>
            <a:off x="741529" y="15748222"/>
            <a:ext cx="14307083" cy="10069546"/>
            <a:chOff x="741529" y="15748222"/>
            <a:chExt cx="14307083" cy="10069546"/>
          </a:xfrm>
        </p:grpSpPr>
        <p:grpSp>
          <p:nvGrpSpPr>
            <p:cNvPr id="15428" name="Group 15427">
              <a:extLst>
                <a:ext uri="{FF2B5EF4-FFF2-40B4-BE49-F238E27FC236}">
                  <a16:creationId xmlns:a16="http://schemas.microsoft.com/office/drawing/2014/main" id="{788D9291-9D84-C5C9-22EF-259D72BF4C72}"/>
                </a:ext>
              </a:extLst>
            </p:cNvPr>
            <p:cNvGrpSpPr/>
            <p:nvPr/>
          </p:nvGrpSpPr>
          <p:grpSpPr>
            <a:xfrm>
              <a:off x="2652237" y="15748222"/>
              <a:ext cx="12396375" cy="10069546"/>
              <a:chOff x="2781091" y="15729662"/>
              <a:chExt cx="12396375" cy="10069546"/>
            </a:xfrm>
          </p:grpSpPr>
          <p:pic>
            <p:nvPicPr>
              <p:cNvPr id="16" name="Picture 15" descr="A screenshot of a computer&#10;&#10;Description automatically generated">
                <a:extLst>
                  <a:ext uri="{FF2B5EF4-FFF2-40B4-BE49-F238E27FC236}">
                    <a16:creationId xmlns:a16="http://schemas.microsoft.com/office/drawing/2014/main" id="{B07BD813-AE34-D73D-AC53-EFCB279F97D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81091" y="15729662"/>
                <a:ext cx="12396375" cy="10069546"/>
              </a:xfrm>
              <a:prstGeom prst="rect">
                <a:avLst/>
              </a:prstGeom>
            </p:spPr>
          </p:pic>
          <p:grpSp>
            <p:nvGrpSpPr>
              <p:cNvPr id="71" name="Group 70">
                <a:extLst>
                  <a:ext uri="{FF2B5EF4-FFF2-40B4-BE49-F238E27FC236}">
                    <a16:creationId xmlns:a16="http://schemas.microsoft.com/office/drawing/2014/main" id="{814CA469-7657-DBE5-12BC-BAA454599468}"/>
                  </a:ext>
                </a:extLst>
              </p:cNvPr>
              <p:cNvGrpSpPr/>
              <p:nvPr/>
            </p:nvGrpSpPr>
            <p:grpSpPr>
              <a:xfrm>
                <a:off x="9652951" y="17772995"/>
                <a:ext cx="4137746" cy="1716829"/>
                <a:chOff x="9671298" y="17666601"/>
                <a:chExt cx="4137746" cy="1716829"/>
              </a:xfrm>
            </p:grpSpPr>
            <p:cxnSp>
              <p:nvCxnSpPr>
                <p:cNvPr id="20" name="Connector: Elbow 19">
                  <a:extLst>
                    <a:ext uri="{FF2B5EF4-FFF2-40B4-BE49-F238E27FC236}">
                      <a16:creationId xmlns:a16="http://schemas.microsoft.com/office/drawing/2014/main" id="{4C9C54D6-8639-996D-7EDB-4A5B70577FDF}"/>
                    </a:ext>
                  </a:extLst>
                </p:cNvPr>
                <p:cNvCxnSpPr>
                  <a:cxnSpLocks/>
                </p:cNvCxnSpPr>
                <p:nvPr/>
              </p:nvCxnSpPr>
              <p:spPr bwMode="auto">
                <a:xfrm rot="16200000" flipH="1">
                  <a:off x="13057930" y="18587512"/>
                  <a:ext cx="785486" cy="716743"/>
                </a:xfrm>
                <a:prstGeom prst="bentConnector3">
                  <a:avLst>
                    <a:gd name="adj1" fmla="val -5434"/>
                  </a:avLst>
                </a:prstGeom>
                <a:solidFill>
                  <a:schemeClr val="accent1"/>
                </a:solidFill>
                <a:ln w="76200" cap="flat" cmpd="sng" algn="ctr">
                  <a:solidFill>
                    <a:schemeClr val="tx1"/>
                  </a:solidFill>
                  <a:prstDash val="dash"/>
                  <a:round/>
                  <a:headEnd type="none" w="med" len="med"/>
                  <a:tailEnd type="triangle"/>
                </a:ln>
                <a:effectLst/>
              </p:spPr>
            </p:cxnSp>
            <p:grpSp>
              <p:nvGrpSpPr>
                <p:cNvPr id="65" name="Group 64">
                  <a:extLst>
                    <a:ext uri="{FF2B5EF4-FFF2-40B4-BE49-F238E27FC236}">
                      <a16:creationId xmlns:a16="http://schemas.microsoft.com/office/drawing/2014/main" id="{89055108-BE18-C2C5-0FF5-A55BEBB4A05F}"/>
                    </a:ext>
                  </a:extLst>
                </p:cNvPr>
                <p:cNvGrpSpPr/>
                <p:nvPr/>
              </p:nvGrpSpPr>
              <p:grpSpPr>
                <a:xfrm>
                  <a:off x="9671298" y="17666601"/>
                  <a:ext cx="3434963" cy="1716829"/>
                  <a:chOff x="9671298" y="17666601"/>
                  <a:chExt cx="3434963" cy="1716829"/>
                </a:xfrm>
              </p:grpSpPr>
              <p:sp>
                <p:nvSpPr>
                  <p:cNvPr id="8" name="TextBox 7">
                    <a:extLst>
                      <a:ext uri="{FF2B5EF4-FFF2-40B4-BE49-F238E27FC236}">
                        <a16:creationId xmlns:a16="http://schemas.microsoft.com/office/drawing/2014/main" id="{8F94C34F-C114-09E7-7592-2C68A047774A}"/>
                      </a:ext>
                    </a:extLst>
                  </p:cNvPr>
                  <p:cNvSpPr txBox="1"/>
                  <p:nvPr/>
                </p:nvSpPr>
                <p:spPr>
                  <a:xfrm>
                    <a:off x="9671298" y="17740837"/>
                    <a:ext cx="3434963"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sp>
                <p:nvSpPr>
                  <p:cNvPr id="15" name="Rectangle 14">
                    <a:extLst>
                      <a:ext uri="{FF2B5EF4-FFF2-40B4-BE49-F238E27FC236}">
                        <a16:creationId xmlns:a16="http://schemas.microsoft.com/office/drawing/2014/main" id="{353421B0-7681-A37B-CA3F-986E07C1DB77}"/>
                      </a:ext>
                    </a:extLst>
                  </p:cNvPr>
                  <p:cNvSpPr/>
                  <p:nvPr/>
                </p:nvSpPr>
                <p:spPr bwMode="auto">
                  <a:xfrm>
                    <a:off x="9719468" y="17666601"/>
                    <a:ext cx="3375557" cy="1716829"/>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8"/>
              <a:stretch>
                <a:fillRect/>
              </a:stretch>
            </p:blipFill>
            <p:spPr>
              <a:xfrm>
                <a:off x="12485319" y="19632612"/>
                <a:ext cx="2419305" cy="2411132"/>
              </a:xfrm>
              <a:prstGeom prst="rect">
                <a:avLst/>
              </a:prstGeom>
            </p:spPr>
          </p:pic>
        </p:grpSp>
        <p:sp>
          <p:nvSpPr>
            <p:cNvPr id="15479" name="Rounded Rectangle 15478">
              <a:extLst>
                <a:ext uri="{FF2B5EF4-FFF2-40B4-BE49-F238E27FC236}">
                  <a16:creationId xmlns:a16="http://schemas.microsoft.com/office/drawing/2014/main" id="{07C0CAA6-BAA5-C192-15EA-35D34F993B8C}"/>
                </a:ext>
              </a:extLst>
            </p:cNvPr>
            <p:cNvSpPr/>
            <p:nvPr/>
          </p:nvSpPr>
          <p:spPr bwMode="auto">
            <a:xfrm>
              <a:off x="741529" y="24366169"/>
              <a:ext cx="3638652" cy="1191968"/>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see your partner’s response.</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482" name="Elbow Connector 15481">
              <a:extLst>
                <a:ext uri="{FF2B5EF4-FFF2-40B4-BE49-F238E27FC236}">
                  <a16:creationId xmlns:a16="http://schemas.microsoft.com/office/drawing/2014/main" id="{34530FBC-4A4D-E431-FA44-6FAEC08B2B30}"/>
                </a:ext>
              </a:extLst>
            </p:cNvPr>
            <p:cNvCxnSpPr>
              <a:cxnSpLocks/>
            </p:cNvCxnSpPr>
            <p:nvPr/>
          </p:nvCxnSpPr>
          <p:spPr bwMode="auto">
            <a:xfrm flipV="1">
              <a:off x="3531898" y="23865396"/>
              <a:ext cx="848283" cy="500773"/>
            </a:xfrm>
            <a:prstGeom prst="bentConnector3">
              <a:avLst>
                <a:gd name="adj1" fmla="val -7841"/>
              </a:avLst>
            </a:prstGeom>
            <a:solidFill>
              <a:schemeClr val="accent1"/>
            </a:solidFill>
            <a:ln w="50800" cap="flat" cmpd="sng" algn="ctr">
              <a:solidFill>
                <a:schemeClr val="tx1"/>
              </a:solidFill>
              <a:prstDash val="solid"/>
              <a:round/>
              <a:headEnd type="none" w="med" len="med"/>
              <a:tailEnd type="triangle"/>
            </a:ln>
            <a:effectLst/>
          </p:spPr>
        </p:cxn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EBE959C-E76F-26F5-3977-7B65ACC54BDB}"/>
              </a:ext>
            </a:extLst>
          </p:cNvPr>
          <p:cNvGrpSpPr/>
          <p:nvPr/>
        </p:nvGrpSpPr>
        <p:grpSpPr>
          <a:xfrm>
            <a:off x="17267302" y="5300010"/>
            <a:ext cx="15233772" cy="14187253"/>
            <a:chOff x="17267302" y="5300010"/>
            <a:chExt cx="15233772" cy="14187253"/>
          </a:xfrm>
        </p:grpSpPr>
        <p:grpSp>
          <p:nvGrpSpPr>
            <p:cNvPr id="28" name="Group 27">
              <a:extLst>
                <a:ext uri="{FF2B5EF4-FFF2-40B4-BE49-F238E27FC236}">
                  <a16:creationId xmlns:a16="http://schemas.microsoft.com/office/drawing/2014/main" id="{ACEBC02A-D17E-C673-FF14-B2A7299CD29C}"/>
                </a:ext>
              </a:extLst>
            </p:cNvPr>
            <p:cNvGrpSpPr/>
            <p:nvPr/>
          </p:nvGrpSpPr>
          <p:grpSpPr>
            <a:xfrm>
              <a:off x="17267302" y="5300010"/>
              <a:ext cx="15233772" cy="14187253"/>
              <a:chOff x="17267302" y="5300010"/>
              <a:chExt cx="15233772" cy="14187253"/>
            </a:xfrm>
          </p:grpSpPr>
          <p:grpSp>
            <p:nvGrpSpPr>
              <p:cNvPr id="24" name="Group 23">
                <a:extLst>
                  <a:ext uri="{FF2B5EF4-FFF2-40B4-BE49-F238E27FC236}">
                    <a16:creationId xmlns:a16="http://schemas.microsoft.com/office/drawing/2014/main" id="{E7764D22-FEE2-29D5-77DA-B49907121EA6}"/>
                  </a:ext>
                </a:extLst>
              </p:cNvPr>
              <p:cNvGrpSpPr/>
              <p:nvPr/>
            </p:nvGrpSpPr>
            <p:grpSpPr>
              <a:xfrm>
                <a:off x="17267302" y="5300010"/>
                <a:ext cx="15233772" cy="12987990"/>
                <a:chOff x="17267302" y="5300010"/>
                <a:chExt cx="15233772" cy="12987990"/>
              </a:xfrm>
            </p:grpSpPr>
            <p:sp>
              <p:nvSpPr>
                <p:cNvPr id="3" name="Rectangle 2">
                  <a:extLst>
                    <a:ext uri="{FF2B5EF4-FFF2-40B4-BE49-F238E27FC236}">
                      <a16:creationId xmlns:a16="http://schemas.microsoft.com/office/drawing/2014/main" id="{34AFE783-B325-8261-217E-BB4718A01EFE}"/>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 name="Rectangle 3">
                  <a:extLst>
                    <a:ext uri="{FF2B5EF4-FFF2-40B4-BE49-F238E27FC236}">
                      <a16:creationId xmlns:a16="http://schemas.microsoft.com/office/drawing/2014/main" id="{D50A6255-10BD-F4E5-2627-B4138E01A997}"/>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 name="Rectangle 4">
                  <a:extLst>
                    <a:ext uri="{FF2B5EF4-FFF2-40B4-BE49-F238E27FC236}">
                      <a16:creationId xmlns:a16="http://schemas.microsoft.com/office/drawing/2014/main" id="{D5E1BAF2-0B1B-D6EB-D2FA-146E5C5CA6F3}"/>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7" name="Straight Connector 6">
                  <a:extLst>
                    <a:ext uri="{FF2B5EF4-FFF2-40B4-BE49-F238E27FC236}">
                      <a16:creationId xmlns:a16="http://schemas.microsoft.com/office/drawing/2014/main" id="{BC5D78FB-3804-D93A-C859-BB3859DEF4C8}"/>
                    </a:ext>
                  </a:extLst>
                </p:cNvPr>
                <p:cNvCxnSpPr>
                  <a:cxnSpLocks/>
                  <a:stCxn id="3"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9" name="Straight Connector 8">
                  <a:extLst>
                    <a:ext uri="{FF2B5EF4-FFF2-40B4-BE49-F238E27FC236}">
                      <a16:creationId xmlns:a16="http://schemas.microsoft.com/office/drawing/2014/main" id="{3323A30F-EB0B-0BC4-120E-17A180965A1E}"/>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1" name="Straight Connector 10">
                  <a:extLst>
                    <a:ext uri="{FF2B5EF4-FFF2-40B4-BE49-F238E27FC236}">
                      <a16:creationId xmlns:a16="http://schemas.microsoft.com/office/drawing/2014/main" id="{094A9A13-7EB7-FB0C-327F-5A30EB7CA157}"/>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3" name="Straight Connector 12">
                  <a:extLst>
                    <a:ext uri="{FF2B5EF4-FFF2-40B4-BE49-F238E27FC236}">
                      <a16:creationId xmlns:a16="http://schemas.microsoft.com/office/drawing/2014/main" id="{E6E28200-C2D5-D487-234B-026AA92A5BE8}"/>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4" name="Straight Connector 13">
                  <a:extLst>
                    <a:ext uri="{FF2B5EF4-FFF2-40B4-BE49-F238E27FC236}">
                      <a16:creationId xmlns:a16="http://schemas.microsoft.com/office/drawing/2014/main" id="{F1CF9C76-ADBF-601C-5AB7-771E0AFB631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 name="Straight Connector 14">
                  <a:extLst>
                    <a:ext uri="{FF2B5EF4-FFF2-40B4-BE49-F238E27FC236}">
                      <a16:creationId xmlns:a16="http://schemas.microsoft.com/office/drawing/2014/main" id="{00D94689-F8BC-3D65-2CD3-9F5CE68EF435}"/>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8" name="Multiply 17">
                  <a:extLst>
                    <a:ext uri="{FF2B5EF4-FFF2-40B4-BE49-F238E27FC236}">
                      <a16:creationId xmlns:a16="http://schemas.microsoft.com/office/drawing/2014/main" id="{B86E0230-0B5B-2336-900D-8F8ED1CB2692}"/>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21" name="Straight Connector 20">
                  <a:extLst>
                    <a:ext uri="{FF2B5EF4-FFF2-40B4-BE49-F238E27FC236}">
                      <a16:creationId xmlns:a16="http://schemas.microsoft.com/office/drawing/2014/main" id="{3DC4BE0B-55CC-21CC-228D-4D58C6F81768}"/>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A1CE6A5D-1BCC-6244-27A6-2E6271A4DF81}"/>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ABE1D573-BA3F-6844-0338-2311984CF2C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25" name="TextBox 24">
                <a:extLst>
                  <a:ext uri="{FF2B5EF4-FFF2-40B4-BE49-F238E27FC236}">
                    <a16:creationId xmlns:a16="http://schemas.microsoft.com/office/drawing/2014/main" id="{E82CD6FC-4197-B0F5-EB5E-7B8778E1D9B9}"/>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26" name="TextBox 25">
                <a:extLst>
                  <a:ext uri="{FF2B5EF4-FFF2-40B4-BE49-F238E27FC236}">
                    <a16:creationId xmlns:a16="http://schemas.microsoft.com/office/drawing/2014/main" id="{5FEAD576-740F-E665-EA00-7C83C68CAF0A}"/>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27" name="TextBox 26">
                <a:extLst>
                  <a:ext uri="{FF2B5EF4-FFF2-40B4-BE49-F238E27FC236}">
                    <a16:creationId xmlns:a16="http://schemas.microsoft.com/office/drawing/2014/main" id="{484B7075-BCE9-5433-D5D4-988B3A796C1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29" name="Multiply 28">
              <a:extLst>
                <a:ext uri="{FF2B5EF4-FFF2-40B4-BE49-F238E27FC236}">
                  <a16:creationId xmlns:a16="http://schemas.microsoft.com/office/drawing/2014/main" id="{E2544558-A55A-31AE-362C-DC229ED9A5F8}"/>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0" name="Multiply 29">
              <a:extLst>
                <a:ext uri="{FF2B5EF4-FFF2-40B4-BE49-F238E27FC236}">
                  <a16:creationId xmlns:a16="http://schemas.microsoft.com/office/drawing/2014/main" id="{49EFB42A-BDC5-EDFE-30E2-3E0854186CEB}"/>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1" name="Multiply 30">
              <a:extLst>
                <a:ext uri="{FF2B5EF4-FFF2-40B4-BE49-F238E27FC236}">
                  <a16:creationId xmlns:a16="http://schemas.microsoft.com/office/drawing/2014/main" id="{1F137DB2-67E6-E506-A500-26336390C594}"/>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spTree>
    <p:extLst>
      <p:ext uri="{BB962C8B-B14F-4D97-AF65-F5344CB8AC3E}">
        <p14:creationId xmlns:p14="http://schemas.microsoft.com/office/powerpoint/2010/main" val="2447354785"/>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5CAE7E8-1A3A-4A91-86FB-BA9E176234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12524</TotalTime>
  <Words>506</Words>
  <Application>Microsoft Macintosh PowerPoint</Application>
  <PresentationFormat>Custom</PresentationFormat>
  <Paragraphs>57</Paragraphs>
  <Slides>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Arial</vt:lpstr>
      <vt:lpstr>Calibri</vt:lpstr>
      <vt:lpstr>Helvetica</vt:lpstr>
      <vt:lpstr>Times New Roman</vt:lpstr>
      <vt:lpstr>Trebuchet MS</vt:lpstr>
      <vt:lpstr>Default Design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19</cp:revision>
  <cp:lastPrinted>2018-05-07T13:24:31Z</cp:lastPrinted>
  <dcterms:created xsi:type="dcterms:W3CDTF">2007-10-30T17:33:32Z</dcterms:created>
  <dcterms:modified xsi:type="dcterms:W3CDTF">2023-11-07T15:15:59Z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