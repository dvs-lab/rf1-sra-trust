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notesMasterIdLst>
    <p:notesMasterId r:id="rId8"/>
  </p:notesMasterIdLst>
  <p:handoutMasterIdLst>
    <p:handoutMasterId r:id="rId9"/>
  </p:handoutMasterIdLst>
  <p:sldIdLst>
    <p:sldId id="256" r:id="rId4"/>
    <p:sldId id="257" r:id="rId5"/>
    <p:sldId id="260" r:id="rId6"/>
    <p:sldId id="261" r:id="rId7"/>
  </p:sldIdLst>
  <p:sldSz cx="43891200" cy="32918400"/>
  <p:notesSz cx="7023100" cy="93091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1pPr>
    <a:lvl2pPr marL="453154" indent="-62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2pPr>
    <a:lvl3pPr marL="912229" indent="-12735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3pPr>
    <a:lvl4pPr marL="1368346" indent="-192519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4pPr>
    <a:lvl5pPr marL="1824462" indent="-25767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5pPr>
    <a:lvl6pPr marL="4264975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6pPr>
    <a:lvl7pPr marL="511796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7pPr>
    <a:lvl8pPr marL="5970966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8pPr>
    <a:lvl9pPr marL="682395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 userDrawn="1">
          <p15:clr>
            <a:srgbClr val="A4A3A4"/>
          </p15:clr>
        </p15:guide>
        <p15:guide id="2" pos="1382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5E78F60-8CE4-956A-0128-6E549761F19F}" name="Avi Dachs" initials="AD" userId="S::tur74001@temple.edu::87fc8e61-7f3a-4332-ab39-1fb75fe6e6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helle Chiu" initials="MC" lastIdx="2" clrIdx="0">
    <p:extLst>
      <p:ext uri="{19B8F6BF-5375-455C-9EA6-DF929625EA0E}">
        <p15:presenceInfo xmlns:p15="http://schemas.microsoft.com/office/powerpoint/2012/main" userId="S-1-5-21-3496871491-3148157022-986074665-411994" providerId="AD"/>
      </p:ext>
    </p:extLst>
  </p:cmAuthor>
  <p:cmAuthor id="2" name="Dominic Fareri" initials="DF" lastIdx="7" clrIdx="1">
    <p:extLst>
      <p:ext uri="{19B8F6BF-5375-455C-9EA6-DF929625EA0E}">
        <p15:presenceInfo xmlns:p15="http://schemas.microsoft.com/office/powerpoint/2012/main" userId="Dominic Fareri" providerId="None"/>
      </p:ext>
    </p:extLst>
  </p:cmAuthor>
  <p:cmAuthor id="3" name="David V. Smith" initials="DVS" lastIdx="4" clrIdx="2">
    <p:extLst>
      <p:ext uri="{19B8F6BF-5375-455C-9EA6-DF929625EA0E}">
        <p15:presenceInfo xmlns:p15="http://schemas.microsoft.com/office/powerpoint/2012/main" userId="David V. Smith" providerId="None"/>
      </p:ext>
    </p:extLst>
  </p:cmAuthor>
  <p:cmAuthor id="4" name="Katherine Hackett" initials="KH" lastIdx="3" clrIdx="3">
    <p:extLst>
      <p:ext uri="{19B8F6BF-5375-455C-9EA6-DF929625EA0E}">
        <p15:presenceInfo xmlns:p15="http://schemas.microsoft.com/office/powerpoint/2012/main" userId="S::tug90253@temple.edu::140e704c-c617-467c-a834-32d4bb446dd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3CB9F"/>
    <a:srgbClr val="95CB8F"/>
    <a:srgbClr val="79CB7A"/>
    <a:srgbClr val="FAF86D"/>
    <a:srgbClr val="848484"/>
    <a:srgbClr val="E4E0BA"/>
    <a:srgbClr val="D8E3C1"/>
    <a:srgbClr val="EF544A"/>
    <a:srgbClr val="BDE4CB"/>
    <a:srgbClr val="F2DD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852"/>
    <p:restoredTop sz="94650"/>
  </p:normalViewPr>
  <p:slideViewPr>
    <p:cSldViewPr snapToGrid="0">
      <p:cViewPr>
        <p:scale>
          <a:sx n="55" d="100"/>
          <a:sy n="55" d="100"/>
        </p:scale>
        <p:origin x="-5856" y="-112"/>
      </p:cViewPr>
      <p:guideLst>
        <p:guide orient="horz" pos="10368"/>
        <p:guide pos="138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microsoft.com/office/2018/10/relationships/authors" Target="authors.xml"/><Relationship Id="rId10" Type="http://schemas.openxmlformats.org/officeDocument/2006/relationships/commentAuthors" Target="commentAuthors.xml"/><Relationship Id="rId4" Type="http://schemas.openxmlformats.org/officeDocument/2006/relationships/slide" Target="slides/slide1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DDBB1-044E-9D49-A06F-A3C869B026F2}" authorId="{65E78F60-8CE4-956A-0128-6E549761F19F}" created="2023-11-09T16:08:01.580">
    <pc:sldMkLst xmlns:pc="http://schemas.microsoft.com/office/powerpoint/2013/main/command">
      <pc:docMk/>
      <pc:sldMk cId="0" sldId="256"/>
    </pc:sldMkLst>
    <p188:replyLst>
      <p188:reply id="{3B9890BE-EE1D-3A49-92EB-1992130D2BCD}" authorId="{65E78F60-8CE4-956A-0128-6E549761F19F}" created="2023-11-09T16:08:57.249">
        <p188:txBody>
          <a:bodyPr/>
          <a:lstStyle/>
          <a:p>
            <a:r>
              <a:rPr lang="en-US"/>
              <a:t>IOS x age</a:t>
            </a:r>
          </a:p>
        </p188:txBody>
      </p188:reply>
    </p188:replyLst>
    <p188:txBody>
      <a:bodyPr/>
      <a:lstStyle/>
      <a:p>
        <a:r>
          <a:rPr lang="en-US"/>
          <a:t>Computer Stranger order 3.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753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A12439DB-88A9-47CB-8306-24653602898A}" type="datetimeFigureOut">
              <a:rPr lang="en-US" altLang="en-US"/>
              <a:pPr/>
              <a:t>11/9/23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753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BE2D3955-F8C1-45A6-BC0E-23ADC1AD9BD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753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4275" y="698500"/>
            <a:ext cx="4654550" cy="34909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2946" y="4422459"/>
            <a:ext cx="5617208" cy="4188778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753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3F6F6737-73D4-41EA-8E23-BF979942D6DD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MS PGothic" panose="020B0600070205080204" pitchFamily="34" charset="-128"/>
        <a:cs typeface="Arial" charset="0"/>
      </a:defRPr>
    </a:lvl1pPr>
    <a:lvl2pPr marL="453154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2pPr>
    <a:lvl3pPr marL="912229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3pPr>
    <a:lvl4pPr marL="1368346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4pPr>
    <a:lvl5pPr marL="1824462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5pPr>
    <a:lvl6pPr marL="2284261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115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7968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4816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4064" indent="-286179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4715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2600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60486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8372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6258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34144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92029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E4736F1-11A1-4F15-821F-373E647BE191}" type="slidenum">
              <a:rPr lang="en-US" altLang="en-US" sz="1200">
                <a:latin typeface="Arial" panose="020B0604020202020204" pitchFamily="34" charset="0"/>
              </a:rPr>
              <a:pPr/>
              <a:t>1</a:t>
            </a:fld>
            <a:endParaRPr lang="en-US" altLang="en-US" sz="1200">
              <a:latin typeface="Arial" panose="020B0604020202020204" pitchFamily="34" charset="0"/>
            </a:endParaRPr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4275" y="698500"/>
            <a:ext cx="4654550" cy="3490913"/>
          </a:xfrm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 eaLnBrk="1" hangingPunct="1">
              <a:buFontTx/>
              <a:buChar char="-"/>
            </a:pPr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2482" y="10226677"/>
            <a:ext cx="37306249" cy="705485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3365" y="18653127"/>
            <a:ext cx="30724474" cy="8413750"/>
          </a:xfrm>
        </p:spPr>
        <p:txBody>
          <a:bodyPr/>
          <a:lstStyle>
            <a:lvl1pPr marL="0" indent="0" algn="ctr">
              <a:buNone/>
              <a:defRPr/>
            </a:lvl1pPr>
            <a:lvl2pPr marL="406356" indent="0" algn="ctr">
              <a:buNone/>
              <a:defRPr/>
            </a:lvl2pPr>
            <a:lvl3pPr marL="812714" indent="0" algn="ctr">
              <a:buNone/>
              <a:defRPr/>
            </a:lvl3pPr>
            <a:lvl4pPr marL="1219072" indent="0" algn="ctr">
              <a:buNone/>
              <a:defRPr/>
            </a:lvl4pPr>
            <a:lvl5pPr marL="1625431" indent="0" algn="ctr">
              <a:buNone/>
              <a:defRPr/>
            </a:lvl5pPr>
            <a:lvl6pPr marL="2031789" indent="0" algn="ctr">
              <a:buNone/>
              <a:defRPr/>
            </a:lvl6pPr>
            <a:lvl7pPr marL="2438145" indent="0" algn="ctr">
              <a:buNone/>
              <a:defRPr/>
            </a:lvl7pPr>
            <a:lvl8pPr marL="2844503" indent="0" algn="ctr">
              <a:buNone/>
              <a:defRPr/>
            </a:lvl8pPr>
            <a:lvl9pPr marL="3250859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045733-9CD5-4A39-AF19-1576EAAC582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0065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5AEFD10-DBAF-4AE2-89A0-5AF92A9DB40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84105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6" y="21153440"/>
            <a:ext cx="37307838" cy="6537324"/>
          </a:xfrm>
        </p:spPr>
        <p:txBody>
          <a:bodyPr anchor="t"/>
          <a:lstStyle>
            <a:lvl1pPr algn="l">
              <a:defRPr sz="358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6" y="13952538"/>
            <a:ext cx="37307838" cy="7200900"/>
          </a:xfrm>
        </p:spPr>
        <p:txBody>
          <a:bodyPr anchor="b"/>
          <a:lstStyle>
            <a:lvl1pPr marL="0" indent="0">
              <a:buNone/>
              <a:defRPr sz="1753"/>
            </a:lvl1pPr>
            <a:lvl2pPr marL="406356" indent="0">
              <a:buNone/>
              <a:defRPr sz="1600"/>
            </a:lvl2pPr>
            <a:lvl3pPr marL="812714" indent="0">
              <a:buNone/>
              <a:defRPr sz="1447"/>
            </a:lvl3pPr>
            <a:lvl4pPr marL="1219072" indent="0">
              <a:buNone/>
              <a:defRPr sz="1220"/>
            </a:lvl4pPr>
            <a:lvl5pPr marL="1625431" indent="0">
              <a:buNone/>
              <a:defRPr sz="1220"/>
            </a:lvl5pPr>
            <a:lvl6pPr marL="2031789" indent="0">
              <a:buNone/>
              <a:defRPr sz="1220"/>
            </a:lvl6pPr>
            <a:lvl7pPr marL="2438145" indent="0">
              <a:buNone/>
              <a:defRPr sz="1220"/>
            </a:lvl7pPr>
            <a:lvl8pPr marL="2844503" indent="0">
              <a:buNone/>
              <a:defRPr sz="1220"/>
            </a:lvl8pPr>
            <a:lvl9pPr marL="3250859" indent="0">
              <a:buNone/>
              <a:defRPr sz="12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DC3906F-68E1-40D4-92B5-7E5E62F9182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3903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93931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21806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6F8588-11AB-46DB-B65B-0DA5B032DFB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40729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3926" y="7369176"/>
            <a:ext cx="19392899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3926" y="10439407"/>
            <a:ext cx="19392899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6440" y="7369176"/>
            <a:ext cx="19400837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6440" y="10439407"/>
            <a:ext cx="19400837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8F70D44-9EE5-494F-B24D-9088C4F630A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5950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B282EB0-6A1C-42AA-BBF4-30A498DC98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78102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58D00DC-00D9-48A8-8591-ED180EF32D4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9963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3925" y="1311276"/>
            <a:ext cx="14439901" cy="5576888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875" y="1311276"/>
            <a:ext cx="24536400" cy="28093988"/>
          </a:xfrm>
        </p:spPr>
        <p:txBody>
          <a:bodyPr/>
          <a:lstStyle>
            <a:lvl1pPr>
              <a:defRPr sz="2820"/>
            </a:lvl1pPr>
            <a:lvl2pPr>
              <a:defRPr sz="2514"/>
            </a:lvl2pPr>
            <a:lvl3pPr>
              <a:defRPr sz="2133"/>
            </a:lvl3pPr>
            <a:lvl4pPr>
              <a:defRPr sz="1753"/>
            </a:lvl4pPr>
            <a:lvl5pPr>
              <a:defRPr sz="1753"/>
            </a:lvl5pPr>
            <a:lvl6pPr>
              <a:defRPr sz="1753"/>
            </a:lvl6pPr>
            <a:lvl7pPr>
              <a:defRPr sz="1753"/>
            </a:lvl7pPr>
            <a:lvl8pPr>
              <a:defRPr sz="1753"/>
            </a:lvl8pPr>
            <a:lvl9pPr>
              <a:defRPr sz="175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3925" y="6888162"/>
            <a:ext cx="14439901" cy="22517100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0D8C0C4-CE81-4EEF-9770-5470521DE37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3836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2665" y="23042564"/>
            <a:ext cx="26335036" cy="2720976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2665" y="2941645"/>
            <a:ext cx="26335036" cy="19750086"/>
          </a:xfrm>
        </p:spPr>
        <p:txBody>
          <a:bodyPr/>
          <a:lstStyle>
            <a:lvl1pPr marL="0" indent="0">
              <a:buNone/>
              <a:defRPr sz="2820"/>
            </a:lvl1pPr>
            <a:lvl2pPr marL="406356" indent="0">
              <a:buNone/>
              <a:defRPr sz="2514"/>
            </a:lvl2pPr>
            <a:lvl3pPr marL="812714" indent="0">
              <a:buNone/>
              <a:defRPr sz="2133"/>
            </a:lvl3pPr>
            <a:lvl4pPr marL="1219072" indent="0">
              <a:buNone/>
              <a:defRPr sz="1753"/>
            </a:lvl4pPr>
            <a:lvl5pPr marL="1625431" indent="0">
              <a:buNone/>
              <a:defRPr sz="1753"/>
            </a:lvl5pPr>
            <a:lvl6pPr marL="2031789" indent="0">
              <a:buNone/>
              <a:defRPr sz="1753"/>
            </a:lvl6pPr>
            <a:lvl7pPr marL="2438145" indent="0">
              <a:buNone/>
              <a:defRPr sz="1753"/>
            </a:lvl7pPr>
            <a:lvl8pPr marL="2844503" indent="0">
              <a:buNone/>
              <a:defRPr sz="1753"/>
            </a:lvl8pPr>
            <a:lvl9pPr marL="3250859" indent="0">
              <a:buNone/>
              <a:defRPr sz="175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2665" y="25763545"/>
            <a:ext cx="26335036" cy="3862386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EF393D9-CF7B-4330-B265-DED19A74F3D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5251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46C7718-C7BA-4E2F-9613-1867C7C3438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27206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821440" y="1317631"/>
            <a:ext cx="9875836" cy="280876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3926" y="1317631"/>
            <a:ext cx="29475113" cy="280876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32C855F-A866-40A9-8FAF-89579C6C043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38186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92873" y="1317626"/>
            <a:ext cx="39505467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92873" y="7680331"/>
            <a:ext cx="39505467" cy="21723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1928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994473" y="29975176"/>
            <a:ext cx="139022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14536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5867">
                <a:latin typeface="Arial" panose="020B0604020202020204" pitchFamily="34" charset="0"/>
              </a:defRPr>
            </a:lvl1pPr>
          </a:lstStyle>
          <a:p>
            <a:fld id="{0BDB88F5-6D3C-44D6-BE49-529E82C2D525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+mj-lt"/>
          <a:ea typeface="MS PGothic" panose="020B0600070205080204" pitchFamily="34" charset="-128"/>
          <a:cs typeface="+mj-cs"/>
        </a:defRPr>
      </a:lvl1pPr>
      <a:lvl2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2pPr>
      <a:lvl3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3pPr>
      <a:lvl4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4pPr>
      <a:lvl5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5pPr>
      <a:lvl6pPr marL="406356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6pPr>
      <a:lvl7pPr marL="812714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7pPr>
      <a:lvl8pPr marL="1219072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8pPr>
      <a:lvl9pPr marL="1625431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1461745" indent="-1461745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3689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1pPr>
      <a:lvl2pPr marL="3166173" indent="-1216240" algn="l" defTabSz="3899866" rtl="0" eaLnBrk="0" fontAlgn="base" hangingPunct="0">
        <a:spcBef>
          <a:spcPct val="20000"/>
        </a:spcBef>
        <a:spcAft>
          <a:spcPct val="0"/>
        </a:spcAft>
        <a:buChar char="–"/>
        <a:defRPr sz="11731">
          <a:solidFill>
            <a:schemeClr val="tx1"/>
          </a:solidFill>
          <a:latin typeface="+mn-lt"/>
          <a:ea typeface="Arial" charset="0"/>
          <a:cs typeface="+mn-cs"/>
        </a:defRPr>
      </a:lvl2pPr>
      <a:lvl3pPr marL="4873424" indent="-973557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0131">
          <a:solidFill>
            <a:schemeClr val="tx1"/>
          </a:solidFill>
          <a:latin typeface="+mn-lt"/>
          <a:ea typeface="Arial" charset="0"/>
          <a:cs typeface="+mn-cs"/>
        </a:defRPr>
      </a:lvl3pPr>
      <a:lvl4pPr marL="6826179" indent="-973557" algn="l" defTabSz="3899866" rtl="0" eaLnBrk="0" fontAlgn="base" hangingPunct="0">
        <a:spcBef>
          <a:spcPct val="20000"/>
        </a:spcBef>
        <a:spcAft>
          <a:spcPct val="0"/>
        </a:spcAft>
        <a:buChar char="–"/>
        <a:defRPr sz="8533">
          <a:solidFill>
            <a:schemeClr val="tx1"/>
          </a:solidFill>
          <a:latin typeface="+mn-lt"/>
          <a:ea typeface="Arial" charset="0"/>
          <a:cs typeface="+mn-cs"/>
        </a:defRPr>
      </a:lvl4pPr>
      <a:lvl5pPr marL="8776112" indent="-973557" algn="l" defTabSz="3899866" rtl="0" eaLnBrk="0" fontAlgn="base" hangingPunct="0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ea typeface="Arial" charset="0"/>
          <a:cs typeface="+mn-cs"/>
        </a:defRPr>
      </a:lvl5pPr>
      <a:lvl6pPr marL="918396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6pPr>
      <a:lvl7pPr marL="959032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7pPr>
      <a:lvl8pPr marL="9996680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8pPr>
      <a:lvl9pPr marL="10403038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356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714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9072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431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178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8145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4503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085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svg"/><Relationship Id="rId3" Type="http://schemas.microsoft.com/office/2018/10/relationships/comments" Target="../comments/modernComment_100_0.xml"/><Relationship Id="rId21" Type="http://schemas.openxmlformats.org/officeDocument/2006/relationships/image" Target="../media/image18.pn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29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24" Type="http://schemas.openxmlformats.org/officeDocument/2006/relationships/image" Target="../media/image21.svg"/><Relationship Id="rId32" Type="http://schemas.openxmlformats.org/officeDocument/2006/relationships/image" Target="../media/image29.sv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23" Type="http://schemas.openxmlformats.org/officeDocument/2006/relationships/image" Target="../media/image20.png"/><Relationship Id="rId28" Type="http://schemas.openxmlformats.org/officeDocument/2006/relationships/image" Target="../media/image25.sv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31" Type="http://schemas.openxmlformats.org/officeDocument/2006/relationships/image" Target="../media/image28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9.svg"/><Relationship Id="rId27" Type="http://schemas.openxmlformats.org/officeDocument/2006/relationships/image" Target="../media/image24.png"/><Relationship Id="rId30" Type="http://schemas.openxmlformats.org/officeDocument/2006/relationships/image" Target="../media/image27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svg"/><Relationship Id="rId7" Type="http://schemas.openxmlformats.org/officeDocument/2006/relationships/image" Target="../media/image36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svg"/><Relationship Id="rId4" Type="http://schemas.openxmlformats.org/officeDocument/2006/relationships/image" Target="../media/image33.png"/><Relationship Id="rId9" Type="http://schemas.openxmlformats.org/officeDocument/2006/relationships/image" Target="../media/image3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9.png"/><Relationship Id="rId7" Type="http://schemas.openxmlformats.org/officeDocument/2006/relationships/image" Target="../media/image3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4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BD86F45B-B6EA-D11B-FE87-C7FDF14080C8}"/>
              </a:ext>
            </a:extLst>
          </p:cNvPr>
          <p:cNvGrpSpPr/>
          <p:nvPr/>
        </p:nvGrpSpPr>
        <p:grpSpPr>
          <a:xfrm>
            <a:off x="10912317" y="28607914"/>
            <a:ext cx="3543576" cy="1716829"/>
            <a:chOff x="11083249" y="26380930"/>
            <a:chExt cx="3543576" cy="171682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53421B0-7681-A37B-CA3F-986E07C1DB77}"/>
                </a:ext>
              </a:extLst>
            </p:cNvPr>
            <p:cNvSpPr/>
            <p:nvPr/>
          </p:nvSpPr>
          <p:spPr bwMode="auto">
            <a:xfrm>
              <a:off x="11083249" y="26380930"/>
              <a:ext cx="3543576" cy="1716829"/>
            </a:xfrm>
            <a:prstGeom prst="rect">
              <a:avLst/>
            </a:prstGeom>
            <a:solidFill>
              <a:srgbClr val="FAF86D">
                <a:alpha val="82294"/>
              </a:srgbClr>
            </a:solidFill>
            <a:ln w="571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94C34F-C114-09E7-7592-2C68A047774A}"/>
                </a:ext>
              </a:extLst>
            </p:cNvPr>
            <p:cNvSpPr txBox="1"/>
            <p:nvPr/>
          </p:nvSpPr>
          <p:spPr>
            <a:xfrm>
              <a:off x="11186208" y="26454514"/>
              <a:ext cx="3386365" cy="15696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3200" b="1" dirty="0">
                  <a:latin typeface="Helvetica"/>
                  <a:ea typeface="MS PGothic"/>
                </a:rPr>
                <a:t>Scan the QR code to see the</a:t>
              </a:r>
              <a:endParaRPr lang="en-US" sz="3200" b="1" dirty="0"/>
            </a:p>
            <a:p>
              <a:pPr algn="ctr"/>
              <a:r>
                <a:rPr lang="en-US" sz="3200" b="1" u="sng" dirty="0">
                  <a:latin typeface="Helvetica"/>
                  <a:ea typeface="MS PGothic"/>
                </a:rPr>
                <a:t>Pre-registration!</a:t>
              </a:r>
              <a:endParaRPr lang="en-US" sz="3200" b="1" u="sng" dirty="0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E5B61256-0745-91A9-AD49-FA138651C2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07902" y="26012680"/>
            <a:ext cx="2340933" cy="2333025"/>
          </a:xfrm>
          <a:prstGeom prst="rect">
            <a:avLst/>
          </a:prstGeom>
        </p:spPr>
      </p:pic>
      <p:sp>
        <p:nvSpPr>
          <p:cNvPr id="15365" name="Rectangle 162"/>
          <p:cNvSpPr>
            <a:spLocks noChangeArrowheads="1"/>
          </p:cNvSpPr>
          <p:nvPr/>
        </p:nvSpPr>
        <p:spPr bwMode="auto">
          <a:xfrm>
            <a:off x="162957" y="13516081"/>
            <a:ext cx="14710114" cy="1728411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67" name="Rectangle 162"/>
          <p:cNvSpPr>
            <a:spLocks noChangeArrowheads="1"/>
          </p:cNvSpPr>
          <p:nvPr/>
        </p:nvSpPr>
        <p:spPr bwMode="auto">
          <a:xfrm>
            <a:off x="15456311" y="4238464"/>
            <a:ext cx="14842502" cy="1748794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88" name="TextBox 2"/>
          <p:cNvSpPr txBox="1">
            <a:spLocks noChangeArrowheads="1"/>
          </p:cNvSpPr>
          <p:nvPr/>
        </p:nvSpPr>
        <p:spPr bwMode="auto">
          <a:xfrm>
            <a:off x="4842671" y="1755462"/>
            <a:ext cx="33932768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Abraham Dachs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Cooper J. Sharp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Enes Yanilmaz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James B. </a:t>
            </a:r>
            <a:r>
              <a:rPr lang="en-US" sz="4000" i="0" dirty="0" err="1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Wyngaarden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III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Ori Zaff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Tia Tropea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Daniel Sazhin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Rita Ludwig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Tania Giovannetti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Dominic S. Fareri</a:t>
            </a:r>
            <a:r>
              <a:rPr lang="en-US" sz="4000" baseline="30000" dirty="0">
                <a:solidFill>
                  <a:srgbClr val="000000"/>
                </a:solidFill>
                <a:latin typeface="Trebuchet MS" panose="020B0703020202090204" pitchFamily="34" charset="0"/>
              </a:rPr>
              <a:t>3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David V. Smith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 </a:t>
            </a:r>
            <a:br>
              <a:rPr lang="en-US" sz="4000" dirty="0">
                <a:latin typeface="Trebuchet MS" panose="020B0703020202090204" pitchFamily="34" charset="0"/>
                <a:cs typeface="Helvetica" panose="020B0604020202020204" pitchFamily="34" charset="0"/>
              </a:rPr>
            </a:br>
            <a:endParaRPr lang="en-US" altLang="en-US" sz="4000" dirty="0">
              <a:latin typeface="Trebuchet MS" panose="020B0703020202090204" pitchFamily="34" charset="0"/>
              <a:cs typeface="Helvetica" panose="020B0604020202020204" pitchFamily="34" charset="0"/>
            </a:endParaRPr>
          </a:p>
        </p:txBody>
      </p:sp>
      <p:sp>
        <p:nvSpPr>
          <p:cNvPr id="15371" name="TextBox 15370"/>
          <p:cNvSpPr txBox="1"/>
          <p:nvPr/>
        </p:nvSpPr>
        <p:spPr>
          <a:xfrm>
            <a:off x="1612263" y="216407"/>
            <a:ext cx="40393584" cy="1468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9000" b="1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Examining Age-Related Differences in Neural Responses to Trust</a:t>
            </a:r>
            <a:endParaRPr lang="en-US" sz="9000" dirty="0">
              <a:effectLst/>
              <a:latin typeface="Trebuchet MS" panose="020B0703020202090204" pitchFamily="34" charset="0"/>
              <a:ea typeface="Calibri" panose="020F0502020204030204" pitchFamily="34" charset="0"/>
              <a:cs typeface="Helvetica"/>
            </a:endParaRPr>
          </a:p>
        </p:txBody>
      </p:sp>
      <p:sp>
        <p:nvSpPr>
          <p:cNvPr id="15364" name="TextBox 4"/>
          <p:cNvSpPr txBox="1">
            <a:spLocks noChangeArrowheads="1"/>
          </p:cNvSpPr>
          <p:nvPr/>
        </p:nvSpPr>
        <p:spPr bwMode="auto">
          <a:xfrm>
            <a:off x="5450339" y="13204012"/>
            <a:ext cx="409568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2. Methods</a:t>
            </a:r>
          </a:p>
        </p:txBody>
      </p:sp>
      <p:sp>
        <p:nvSpPr>
          <p:cNvPr id="15366" name="TextBox 86"/>
          <p:cNvSpPr txBox="1">
            <a:spLocks noChangeArrowheads="1"/>
          </p:cNvSpPr>
          <p:nvPr/>
        </p:nvSpPr>
        <p:spPr bwMode="auto">
          <a:xfrm>
            <a:off x="18499855" y="3920818"/>
            <a:ext cx="933697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3. Age Related Behavioral Effects</a:t>
            </a:r>
          </a:p>
        </p:txBody>
      </p:sp>
      <p:sp>
        <p:nvSpPr>
          <p:cNvPr id="45" name="Rectangle 162">
            <a:extLst>
              <a:ext uri="{FF2B5EF4-FFF2-40B4-BE49-F238E27FC236}">
                <a16:creationId xmlns:a16="http://schemas.microsoft.com/office/drawing/2014/main" id="{FA585F15-03D7-754B-AA26-E340A32F9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53599" y="4250489"/>
            <a:ext cx="12957755" cy="19868614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5" name="TextBox 86">
            <a:extLst>
              <a:ext uri="{FF2B5EF4-FFF2-40B4-BE49-F238E27FC236}">
                <a16:creationId xmlns:a16="http://schemas.microsoft.com/office/drawing/2014/main" id="{1CF89B97-C9DF-F948-91B0-4A8F54D0C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3648" y="3872154"/>
            <a:ext cx="12337509" cy="7463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5. Age Related Differences in Partner Response </a:t>
            </a:r>
            <a:endParaRPr lang="en-US" altLang="en-US" sz="4250" b="1" dirty="0">
              <a:solidFill>
                <a:srgbClr val="C00000"/>
              </a:solidFill>
              <a:latin typeface="Trebuchet MS"/>
            </a:endParaRPr>
          </a:p>
        </p:txBody>
      </p:sp>
      <p:sp>
        <p:nvSpPr>
          <p:cNvPr id="68" name="Rectangle 162">
            <a:extLst>
              <a:ext uri="{FF2B5EF4-FFF2-40B4-BE49-F238E27FC236}">
                <a16:creationId xmlns:a16="http://schemas.microsoft.com/office/drawing/2014/main" id="{CA8DA663-8989-0040-A19E-2D41018BB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22267959"/>
            <a:ext cx="14827930" cy="10416548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0" name="TextBox 86">
            <a:extLst>
              <a:ext uri="{FF2B5EF4-FFF2-40B4-BE49-F238E27FC236}">
                <a16:creationId xmlns:a16="http://schemas.microsoft.com/office/drawing/2014/main" id="{ED758D76-DD2F-7D44-83F3-6BA6250C1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9573" y="21922063"/>
            <a:ext cx="1286868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4. Age-Related Differences in Striatal Response? 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FFF830-B4D0-45F1-9D03-A4780549AB6A}"/>
              </a:ext>
            </a:extLst>
          </p:cNvPr>
          <p:cNvSpPr txBox="1"/>
          <p:nvPr/>
        </p:nvSpPr>
        <p:spPr>
          <a:xfrm>
            <a:off x="15606227" y="30861297"/>
            <a:ext cx="14650695" cy="156966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outcome, however, there was no significant interaction with age. 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0D1788F-40E9-4B4B-8F80-BF8EDB08248D}"/>
              </a:ext>
            </a:extLst>
          </p:cNvPr>
          <p:cNvSpPr txBox="1"/>
          <p:nvPr/>
        </p:nvSpPr>
        <p:spPr>
          <a:xfrm>
            <a:off x="10972800" y="3193375"/>
            <a:ext cx="2194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0" i="0" u="none" strike="noStrike" dirty="0">
                <a:solidFill>
                  <a:srgbClr val="000000"/>
                </a:solidFill>
                <a:effectLst/>
                <a:cs typeface="Helvetica" panose="020B0604020202020204" pitchFamily="34" charset="0"/>
              </a:rPr>
              <a:t>1. Temple University, Philadelphia, PA; 2. University of Pennsylvania, Philadelphia, PA; 3. Adelphi University, Garden City, NY</a:t>
            </a:r>
            <a:endParaRPr lang="en-US" sz="2800" dirty="0">
              <a:cs typeface="Helvetica" panose="020B0604020202020204" pitchFamily="34" charset="0"/>
            </a:endParaRPr>
          </a:p>
        </p:txBody>
      </p:sp>
      <p:grpSp>
        <p:nvGrpSpPr>
          <p:cNvPr id="15525" name="Group 15524">
            <a:extLst>
              <a:ext uri="{FF2B5EF4-FFF2-40B4-BE49-F238E27FC236}">
                <a16:creationId xmlns:a16="http://schemas.microsoft.com/office/drawing/2014/main" id="{495044C5-5185-1E74-1C51-F36E8CA64CBA}"/>
              </a:ext>
            </a:extLst>
          </p:cNvPr>
          <p:cNvGrpSpPr/>
          <p:nvPr/>
        </p:nvGrpSpPr>
        <p:grpSpPr>
          <a:xfrm>
            <a:off x="169367" y="3967558"/>
            <a:ext cx="14831195" cy="9230365"/>
            <a:chOff x="211346" y="3968278"/>
            <a:chExt cx="14831195" cy="8123743"/>
          </a:xfrm>
        </p:grpSpPr>
        <p:sp>
          <p:nvSpPr>
            <p:cNvPr id="15362" name="TextBox 189"/>
            <p:cNvSpPr txBox="1">
              <a:spLocks noChangeArrowheads="1"/>
            </p:cNvSpPr>
            <p:nvPr/>
          </p:nvSpPr>
          <p:spPr bwMode="auto">
            <a:xfrm>
              <a:off x="515553" y="4761579"/>
              <a:ext cx="14526988" cy="50167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 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Social relationships influence our behaviors and may modulate our neural responses to reward.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2015)</a:t>
              </a: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 </a:t>
              </a:r>
              <a:r>
                <a:rPr lang="en-US" sz="4000" dirty="0">
                  <a:solidFill>
                    <a:srgbClr val="000000"/>
                  </a:solidFill>
                  <a:latin typeface="Helvetica" pitchFamily="2" charset="0"/>
                  <a:ea typeface="MS PGothic"/>
                  <a:cs typeface="Helvetica"/>
                </a:rPr>
                <a:t>Th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e effect of relationships on behavior and reward activation may change as we age.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2022)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b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It remains unclear whether age-related differences in responses to trust are associated with maladaptive outcomes such as financial exploitation.</a:t>
              </a: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</a:pP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</p:txBody>
        </p:sp>
        <p:sp>
          <p:nvSpPr>
            <p:cNvPr id="15369" name="Rectangle 162"/>
            <p:cNvSpPr>
              <a:spLocks noChangeArrowheads="1"/>
            </p:cNvSpPr>
            <p:nvPr/>
          </p:nvSpPr>
          <p:spPr bwMode="auto">
            <a:xfrm>
              <a:off x="211346" y="4331110"/>
              <a:ext cx="14720168" cy="7760911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 dirty="0">
                <a:latin typeface="Trebuchet MS" panose="020B0603020202020204" pitchFamily="34" charset="0"/>
              </a:endParaRPr>
            </a:p>
          </p:txBody>
        </p:sp>
        <p:sp>
          <p:nvSpPr>
            <p:cNvPr id="15361" name="Rectangle 200"/>
            <p:cNvSpPr>
              <a:spLocks noChangeArrowheads="1"/>
            </p:cNvSpPr>
            <p:nvPr/>
          </p:nvSpPr>
          <p:spPr bwMode="auto">
            <a:xfrm>
              <a:off x="4858205" y="3968278"/>
              <a:ext cx="4805795" cy="7387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lIns="81274" tIns="40638" rIns="81274" bIns="40638">
              <a:spAutoFit/>
            </a:bodyPr>
            <a:lstStyle>
              <a:lvl1pPr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algn="ctr">
                <a:spcBef>
                  <a:spcPct val="50000"/>
                </a:spcBef>
              </a:pPr>
              <a:r>
                <a:rPr lang="en-US" altLang="en-US" sz="4267" b="1" dirty="0">
                  <a:solidFill>
                    <a:srgbClr val="C00000"/>
                  </a:solidFill>
                  <a:latin typeface="Trebuchet MS" panose="020B0603020202020204" pitchFamily="34" charset="0"/>
                </a:rPr>
                <a:t>1. Introduction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28EF0BF-392F-46C6-BF23-BF99B2CEA917}"/>
                </a:ext>
              </a:extLst>
            </p:cNvPr>
            <p:cNvSpPr txBox="1"/>
            <p:nvPr/>
          </p:nvSpPr>
          <p:spPr>
            <a:xfrm>
              <a:off x="251798" y="9507352"/>
              <a:ext cx="14639262" cy="2031325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>
                <a:spcBef>
                  <a:spcPts val="360"/>
                </a:spcBef>
                <a:spcAft>
                  <a:spcPts val="0"/>
                </a:spcAft>
              </a:pPr>
              <a:r>
                <a:rPr lang="en-US" sz="4200" b="1" dirty="0">
                  <a:latin typeface="Helvetica"/>
                  <a:ea typeface="MS PGothic"/>
                  <a:cs typeface="Helvetica"/>
                </a:rPr>
                <a:t>We</a:t>
              </a:r>
              <a:r>
                <a:rPr lang="en-US" sz="4200" b="1" i="0" u="none" strike="noStrike" dirty="0">
                  <a:effectLst/>
                  <a:latin typeface="Helvetica"/>
                  <a:ea typeface="MS PGothic"/>
                  <a:cs typeface="Helvetica"/>
                </a:rPr>
                <a:t> investigated </a:t>
              </a:r>
              <a:r>
                <a:rPr lang="en-US" sz="4200" b="1" dirty="0">
                  <a:latin typeface="Helvetica"/>
                  <a:ea typeface="MS PGothic"/>
                  <a:cs typeface="Helvetica"/>
                </a:rPr>
                <a:t>whether social trust decisions change as we age, and how those changes could be related to financial exploitation.</a:t>
              </a:r>
              <a:endParaRPr lang="en-US" sz="4200" b="1" dirty="0">
                <a:cs typeface="Helvetica"/>
              </a:endParaRPr>
            </a:p>
          </p:txBody>
        </p:sp>
      </p:grpSp>
      <p:grpSp>
        <p:nvGrpSpPr>
          <p:cNvPr id="15508" name="Group 15507">
            <a:extLst>
              <a:ext uri="{FF2B5EF4-FFF2-40B4-BE49-F238E27FC236}">
                <a16:creationId xmlns:a16="http://schemas.microsoft.com/office/drawing/2014/main" id="{ACE08C75-5E52-BA85-3BBA-E0BBC55E5D24}"/>
              </a:ext>
            </a:extLst>
          </p:cNvPr>
          <p:cNvGrpSpPr/>
          <p:nvPr/>
        </p:nvGrpSpPr>
        <p:grpSpPr>
          <a:xfrm>
            <a:off x="15915060" y="24296198"/>
            <a:ext cx="6020086" cy="6220157"/>
            <a:chOff x="14968255" y="15406812"/>
            <a:chExt cx="6819415" cy="704749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8FE8E4-EF11-44C2-C242-0D3749E5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7958DE-5E24-D58C-4A7D-3AB8A936FE13}"/>
                </a:ext>
              </a:extLst>
            </p:cNvPr>
            <p:cNvSpPr txBox="1"/>
            <p:nvPr/>
          </p:nvSpPr>
          <p:spPr>
            <a:xfrm>
              <a:off x="14968255" y="21477908"/>
              <a:ext cx="2635746" cy="9763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Helvetica"/>
                  <a:ea typeface="MS PGothic"/>
                </a:rPr>
                <a:t>Ventral Striatum</a:t>
              </a:r>
            </a:p>
            <a:p>
              <a:r>
                <a:rPr lang="en-US" sz="3200" b="1" dirty="0">
                  <a:latin typeface="Helvetica"/>
                  <a:ea typeface="MS PGothic"/>
                </a:rPr>
                <a:t>(VS)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99AB7A3-EC66-2E69-D984-AA56725B49BC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15400" name="Rectangle 54"/>
          <p:cNvSpPr>
            <a:spLocks noChangeArrowheads="1"/>
          </p:cNvSpPr>
          <p:nvPr/>
        </p:nvSpPr>
        <p:spPr bwMode="auto">
          <a:xfrm>
            <a:off x="30676645" y="24531321"/>
            <a:ext cx="12928282" cy="8153186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2" name="TextBox 86">
            <a:extLst>
              <a:ext uri="{FF2B5EF4-FFF2-40B4-BE49-F238E27FC236}">
                <a16:creationId xmlns:a16="http://schemas.microsoft.com/office/drawing/2014/main" id="{7876542B-4364-4FD7-BCA2-651EBF34C3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30620" y="24261609"/>
            <a:ext cx="979725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6. Conclusions and Future Directions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7FB003-669C-6748-AC0B-0C13B0734BA6}"/>
              </a:ext>
            </a:extLst>
          </p:cNvPr>
          <p:cNvSpPr/>
          <p:nvPr/>
        </p:nvSpPr>
        <p:spPr>
          <a:xfrm>
            <a:off x="30912368" y="25095850"/>
            <a:ext cx="12496564" cy="6401753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Our preliminary results indicate that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reciprocation elicited activation in the ventral striatum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</a:t>
            </a: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Additionally, we find that the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and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activation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differs between older and younger adults relative to social context. 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b="1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1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Future analyses will further examine age-related differences in neural responses to monetary outcomes relative to social context and risk of financial exploitation. </a:t>
            </a:r>
            <a:endParaRPr lang="en-US" sz="4000" b="1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15524" name="Group 15523">
            <a:extLst>
              <a:ext uri="{FF2B5EF4-FFF2-40B4-BE49-F238E27FC236}">
                <a16:creationId xmlns:a16="http://schemas.microsoft.com/office/drawing/2014/main" id="{2BE13E56-51BA-1AA5-3DFC-DFF18406D067}"/>
              </a:ext>
            </a:extLst>
          </p:cNvPr>
          <p:cNvGrpSpPr/>
          <p:nvPr/>
        </p:nvGrpSpPr>
        <p:grpSpPr>
          <a:xfrm>
            <a:off x="65312" y="31162938"/>
            <a:ext cx="14865736" cy="1521569"/>
            <a:chOff x="238017" y="31162937"/>
            <a:chExt cx="14865736" cy="1521569"/>
          </a:xfrm>
        </p:grpSpPr>
        <p:sp>
          <p:nvSpPr>
            <p:cNvPr id="15522" name="Rectangle 162">
              <a:extLst>
                <a:ext uri="{FF2B5EF4-FFF2-40B4-BE49-F238E27FC236}">
                  <a16:creationId xmlns:a16="http://schemas.microsoft.com/office/drawing/2014/main" id="{FE02C6A3-84E3-8711-744E-4E036833F4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8551" y="31162937"/>
              <a:ext cx="14710114" cy="1521569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>
                <a:latin typeface="Trebuchet MS" panose="020B0603020202020204" pitchFamily="34" charset="0"/>
              </a:endParaRPr>
            </a:p>
          </p:txBody>
        </p:sp>
        <p:sp>
          <p:nvSpPr>
            <p:cNvPr id="15523" name="TextBox 15522">
              <a:extLst>
                <a:ext uri="{FF2B5EF4-FFF2-40B4-BE49-F238E27FC236}">
                  <a16:creationId xmlns:a16="http://schemas.microsoft.com/office/drawing/2014/main" id="{D58D20F7-A26B-E2DB-0B9B-4184ACFBEF53}"/>
                </a:ext>
              </a:extLst>
            </p:cNvPr>
            <p:cNvSpPr txBox="1"/>
            <p:nvPr/>
          </p:nvSpPr>
          <p:spPr>
            <a:xfrm>
              <a:off x="238017" y="31376129"/>
              <a:ext cx="14865736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0" i="0" dirty="0">
                  <a:effectLst/>
                  <a:latin typeface="Helvetica" pitchFamily="2" charset="0"/>
                </a:rPr>
                <a:t>This study was supported by NIH grant RF1-AG67011 (David V. Smith).</a:t>
              </a:r>
              <a:br>
                <a:rPr lang="en-US" sz="3200" dirty="0">
                  <a:latin typeface="Helvetica" pitchFamily="2" charset="0"/>
                </a:rPr>
              </a:br>
              <a:r>
                <a:rPr lang="en-US" sz="3200" b="0" i="0" dirty="0">
                  <a:effectLst/>
                  <a:latin typeface="Helvetica" pitchFamily="2" charset="0"/>
                </a:rPr>
                <a:t>Contact information: </a:t>
              </a:r>
              <a:r>
                <a:rPr lang="en-US" sz="3200" b="0" i="0" dirty="0" err="1">
                  <a:effectLst/>
                  <a:latin typeface="Helvetica" pitchFamily="2" charset="0"/>
                </a:rPr>
                <a:t>Avi.Dachs@temple.edu</a:t>
              </a:r>
              <a:r>
                <a:rPr lang="en-US" sz="3200" b="0" i="0" dirty="0">
                  <a:effectLst/>
                  <a:latin typeface="Helvetica" pitchFamily="2" charset="0"/>
                </a:rPr>
                <a:t>, </a:t>
              </a:r>
              <a:r>
                <a:rPr lang="en-US" sz="3200" b="0" i="0" dirty="0" err="1">
                  <a:effectLst/>
                  <a:latin typeface="Helvetica" pitchFamily="2" charset="0"/>
                </a:rPr>
                <a:t>Cooper.Sharp@temple.edu</a:t>
              </a:r>
              <a:endParaRPr lang="en-US" sz="3200" dirty="0">
                <a:latin typeface="Helvetica" pitchFamily="2" charset="0"/>
              </a:endParaRPr>
            </a:p>
          </p:txBody>
        </p:sp>
      </p:grpSp>
      <p:sp>
        <p:nvSpPr>
          <p:cNvPr id="15656" name="TextBox 15655">
            <a:extLst>
              <a:ext uri="{FF2B5EF4-FFF2-40B4-BE49-F238E27FC236}">
                <a16:creationId xmlns:a16="http://schemas.microsoft.com/office/drawing/2014/main" id="{0129C3E6-E266-8160-0CF6-63893649E9BB}"/>
              </a:ext>
            </a:extLst>
          </p:cNvPr>
          <p:cNvSpPr txBox="1"/>
          <p:nvPr/>
        </p:nvSpPr>
        <p:spPr>
          <a:xfrm>
            <a:off x="423843" y="26895455"/>
            <a:ext cx="10236647" cy="3062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N =</a:t>
            </a:r>
            <a:r>
              <a:rPr lang="en-US" sz="2800" dirty="0">
                <a:latin typeface="Helvetica"/>
                <a:ea typeface="Times New Roman" panose="02020603050405020304" pitchFamily="18" charset="0"/>
                <a:cs typeface="Helvetica"/>
              </a:rPr>
              <a:t> 62</a:t>
            </a:r>
            <a:r>
              <a:rPr lang="en-US" sz="28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 </a:t>
            </a:r>
            <a:r>
              <a:rPr lang="en-US" sz="2800" dirty="0">
                <a:latin typeface="Helvetica" pitchFamily="2" charset="0"/>
                <a:ea typeface="Times New Roman" panose="02020603050405020304" pitchFamily="18" charset="0"/>
                <a:cs typeface="Helvetica"/>
              </a:rPr>
              <a:t>C</a:t>
            </a:r>
            <a:r>
              <a:rPr lang="en-US" sz="28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ompleted the </a:t>
            </a:r>
            <a:r>
              <a:rPr lang="en-US" sz="2800" b="0" i="0" dirty="0">
                <a:effectLst/>
                <a:latin typeface="Helvetica" pitchFamily="2" charset="0"/>
              </a:rPr>
              <a:t>Inclusion of Other in Self Scale (IOS) and </a:t>
            </a:r>
            <a:r>
              <a:rPr lang="en-US" sz="28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the </a:t>
            </a:r>
            <a:r>
              <a:rPr lang="en-US" sz="2800" b="0" i="0" dirty="0">
                <a:effectLst/>
                <a:latin typeface="Helvetica" pitchFamily="2" charset="0"/>
              </a:rPr>
              <a:t>Older Adults Financial Exploitation Measure (OAFEM).</a:t>
            </a:r>
          </a:p>
          <a:p>
            <a:pPr algn="ctr"/>
            <a:endParaRPr lang="en-US" sz="2800" dirty="0">
              <a:latin typeface="Helvetica" pitchFamily="2" charset="0"/>
              <a:ea typeface="Times New Roman" panose="02020603050405020304" pitchFamily="18" charset="0"/>
              <a:cs typeface="Helvetica"/>
            </a:endParaRPr>
          </a:p>
          <a:p>
            <a:pPr algn="ctr"/>
            <a:endParaRPr lang="en-US" sz="2800" dirty="0">
              <a:latin typeface="Helvetica" pitchFamily="2" charset="0"/>
              <a:ea typeface="Times New Roman" panose="02020603050405020304" pitchFamily="18" charset="0"/>
              <a:cs typeface="Helvetica"/>
            </a:endParaRPr>
          </a:p>
          <a:p>
            <a:pPr algn="ctr"/>
            <a:r>
              <a:rPr lang="en-US" sz="2800" dirty="0">
                <a:latin typeface="Helvetica"/>
                <a:ea typeface="MS PGothic"/>
                <a:cs typeface="Helvetica"/>
              </a:rPr>
              <a:t>Whole brain results were </a:t>
            </a:r>
            <a:r>
              <a:rPr lang="en-US" sz="2800" dirty="0" err="1">
                <a:latin typeface="Helvetica"/>
                <a:ea typeface="MS PGothic"/>
                <a:cs typeface="Helvetica"/>
              </a:rPr>
              <a:t>thresholded</a:t>
            </a:r>
            <a:r>
              <a:rPr lang="en-US" sz="2800" dirty="0">
                <a:latin typeface="Helvetica"/>
                <a:ea typeface="MS PGothic"/>
                <a:cs typeface="Helvetica"/>
              </a:rPr>
              <a:t> at Z &gt; 3.1 and Family Wise Error corrected at p &gt; .05</a:t>
            </a:r>
            <a:endParaRPr lang="en-US" sz="2500" dirty="0">
              <a:effectLst/>
              <a:latin typeface="Helvetica"/>
              <a:ea typeface="Times New Roman" panose="02020603050405020304" pitchFamily="18" charset="0"/>
              <a:cs typeface="Helvetica"/>
            </a:endParaRPr>
          </a:p>
          <a:p>
            <a:endParaRPr lang="en-US" sz="2500" dirty="0"/>
          </a:p>
        </p:txBody>
      </p:sp>
      <p:grpSp>
        <p:nvGrpSpPr>
          <p:cNvPr id="15666" name="Group 15665">
            <a:extLst>
              <a:ext uri="{FF2B5EF4-FFF2-40B4-BE49-F238E27FC236}">
                <a16:creationId xmlns:a16="http://schemas.microsoft.com/office/drawing/2014/main" id="{F4499BAD-2B87-B075-89D7-E684EC5B1F7C}"/>
              </a:ext>
            </a:extLst>
          </p:cNvPr>
          <p:cNvGrpSpPr/>
          <p:nvPr/>
        </p:nvGrpSpPr>
        <p:grpSpPr>
          <a:xfrm>
            <a:off x="16034879" y="4731272"/>
            <a:ext cx="6499677" cy="7043851"/>
            <a:chOff x="16270767" y="4773172"/>
            <a:chExt cx="4112536" cy="4273122"/>
          </a:xfrm>
        </p:grpSpPr>
        <p:pic>
          <p:nvPicPr>
            <p:cNvPr id="15659" name="Graphic 15658">
              <a:extLst>
                <a:ext uri="{FF2B5EF4-FFF2-40B4-BE49-F238E27FC236}">
                  <a16:creationId xmlns:a16="http://schemas.microsoft.com/office/drawing/2014/main" id="{6D9E2B1C-10CC-F9D6-3D33-17375F7BFB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8667"/>
            <a:stretch/>
          </p:blipFill>
          <p:spPr>
            <a:xfrm>
              <a:off x="16619952" y="4773172"/>
              <a:ext cx="3763351" cy="4273122"/>
            </a:xfrm>
            <a:prstGeom prst="rect">
              <a:avLst/>
            </a:prstGeom>
          </p:spPr>
        </p:pic>
        <p:sp>
          <p:nvSpPr>
            <p:cNvPr id="15660" name="TextBox 15659">
              <a:extLst>
                <a:ext uri="{FF2B5EF4-FFF2-40B4-BE49-F238E27FC236}">
                  <a16:creationId xmlns:a16="http://schemas.microsoft.com/office/drawing/2014/main" id="{0766629E-BCF3-6556-AF99-A6859175E636}"/>
                </a:ext>
              </a:extLst>
            </p:cNvPr>
            <p:cNvSpPr txBox="1"/>
            <p:nvPr/>
          </p:nvSpPr>
          <p:spPr>
            <a:xfrm>
              <a:off x="16270767" y="8330236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0</a:t>
              </a:r>
            </a:p>
          </p:txBody>
        </p:sp>
        <p:sp>
          <p:nvSpPr>
            <p:cNvPr id="15662" name="TextBox 15661">
              <a:extLst>
                <a:ext uri="{FF2B5EF4-FFF2-40B4-BE49-F238E27FC236}">
                  <a16:creationId xmlns:a16="http://schemas.microsoft.com/office/drawing/2014/main" id="{4DC189FA-5EF4-8645-EFD2-F4AA0CF414D9}"/>
                </a:ext>
              </a:extLst>
            </p:cNvPr>
            <p:cNvSpPr txBox="1"/>
            <p:nvPr/>
          </p:nvSpPr>
          <p:spPr>
            <a:xfrm>
              <a:off x="16286106" y="5815933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5663" name="TextBox 15662">
              <a:extLst>
                <a:ext uri="{FF2B5EF4-FFF2-40B4-BE49-F238E27FC236}">
                  <a16:creationId xmlns:a16="http://schemas.microsoft.com/office/drawing/2014/main" id="{FEBA7C19-438A-8BB9-F286-7161582091EA}"/>
                </a:ext>
              </a:extLst>
            </p:cNvPr>
            <p:cNvSpPr txBox="1"/>
            <p:nvPr/>
          </p:nvSpPr>
          <p:spPr>
            <a:xfrm>
              <a:off x="16838470" y="8664303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Friend</a:t>
              </a:r>
            </a:p>
          </p:txBody>
        </p:sp>
        <p:sp>
          <p:nvSpPr>
            <p:cNvPr id="15664" name="TextBox 15663">
              <a:extLst>
                <a:ext uri="{FF2B5EF4-FFF2-40B4-BE49-F238E27FC236}">
                  <a16:creationId xmlns:a16="http://schemas.microsoft.com/office/drawing/2014/main" id="{D1FDC6B6-A877-379F-C9B2-8D6C71CA3AC6}"/>
                </a:ext>
              </a:extLst>
            </p:cNvPr>
            <p:cNvSpPr txBox="1"/>
            <p:nvPr/>
          </p:nvSpPr>
          <p:spPr>
            <a:xfrm>
              <a:off x="18105047" y="8664303"/>
              <a:ext cx="1069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Stranger</a:t>
              </a:r>
            </a:p>
          </p:txBody>
        </p:sp>
        <p:sp>
          <p:nvSpPr>
            <p:cNvPr id="15665" name="TextBox 15664">
              <a:extLst>
                <a:ext uri="{FF2B5EF4-FFF2-40B4-BE49-F238E27FC236}">
                  <a16:creationId xmlns:a16="http://schemas.microsoft.com/office/drawing/2014/main" id="{0D79EDF9-8FFC-03A5-0959-5F4339B2A174}"/>
                </a:ext>
              </a:extLst>
            </p:cNvPr>
            <p:cNvSpPr txBox="1"/>
            <p:nvPr/>
          </p:nvSpPr>
          <p:spPr>
            <a:xfrm>
              <a:off x="19079432" y="866618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Computer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E925EB6-326B-8343-87E7-5F037676B4C3}"/>
              </a:ext>
            </a:extLst>
          </p:cNvPr>
          <p:cNvGrpSpPr/>
          <p:nvPr/>
        </p:nvGrpSpPr>
        <p:grpSpPr>
          <a:xfrm>
            <a:off x="574224" y="14845624"/>
            <a:ext cx="13946934" cy="10995653"/>
            <a:chOff x="530502" y="15050793"/>
            <a:chExt cx="13946934" cy="10995653"/>
          </a:xfrm>
        </p:grpSpPr>
        <p:grpSp>
          <p:nvGrpSpPr>
            <p:cNvPr id="15621" name="Group 15620">
              <a:extLst>
                <a:ext uri="{FF2B5EF4-FFF2-40B4-BE49-F238E27FC236}">
                  <a16:creationId xmlns:a16="http://schemas.microsoft.com/office/drawing/2014/main" id="{5C45E275-5A15-8C98-B9C5-16C75C23860A}"/>
                </a:ext>
              </a:extLst>
            </p:cNvPr>
            <p:cNvGrpSpPr/>
            <p:nvPr/>
          </p:nvGrpSpPr>
          <p:grpSpPr>
            <a:xfrm>
              <a:off x="3779671" y="15989696"/>
              <a:ext cx="10697765" cy="10056750"/>
              <a:chOff x="3779671" y="16218296"/>
              <a:chExt cx="10697765" cy="10056750"/>
            </a:xfrm>
          </p:grpSpPr>
          <p:grpSp>
            <p:nvGrpSpPr>
              <p:cNvPr id="15606" name="Group 15605">
                <a:extLst>
                  <a:ext uri="{FF2B5EF4-FFF2-40B4-BE49-F238E27FC236}">
                    <a16:creationId xmlns:a16="http://schemas.microsoft.com/office/drawing/2014/main" id="{B0CC5957-EC01-CDC2-ADAF-5A0141831C57}"/>
                  </a:ext>
                </a:extLst>
              </p:cNvPr>
              <p:cNvGrpSpPr/>
              <p:nvPr/>
            </p:nvGrpSpPr>
            <p:grpSpPr>
              <a:xfrm>
                <a:off x="3779671" y="16218296"/>
                <a:ext cx="10697765" cy="10056750"/>
                <a:chOff x="18887859" y="360968"/>
                <a:chExt cx="6543891" cy="6151778"/>
              </a:xfrm>
            </p:grpSpPr>
            <p:pic>
              <p:nvPicPr>
                <p:cNvPr id="15607" name="Picture 15606" descr="A green check mark on a grey background&#10;&#10;Description automatically generated">
                  <a:extLst>
                    <a:ext uri="{FF2B5EF4-FFF2-40B4-BE49-F238E27FC236}">
                      <a16:creationId xmlns:a16="http://schemas.microsoft.com/office/drawing/2014/main" id="{BFD42068-273C-19B5-B61E-D2752FACB1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8"/>
                <a:srcRect l="14791" t="15087" r="12450" b="22936"/>
                <a:stretch/>
              </p:blipFill>
              <p:spPr>
                <a:xfrm>
                  <a:off x="19244972" y="4622666"/>
                  <a:ext cx="2991981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8" name="Picture 15607" descr="A computer screen shot&#10;&#10;Description automatically generated">
                  <a:extLst>
                    <a:ext uri="{FF2B5EF4-FFF2-40B4-BE49-F238E27FC236}">
                      <a16:creationId xmlns:a16="http://schemas.microsoft.com/office/drawing/2014/main" id="{7AF89E18-68CC-9284-01FB-59B8ECC6A7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9"/>
                <a:srcRect l="17658" t="18357" r="18046" b="25816"/>
                <a:stretch/>
              </p:blipFill>
              <p:spPr>
                <a:xfrm>
                  <a:off x="22543408" y="4676154"/>
                  <a:ext cx="2888342" cy="1819031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9" name="Picture 15608" descr="A white cross on a gray background&#10;&#10;Description automatically generated">
                  <a:extLst>
                    <a:ext uri="{FF2B5EF4-FFF2-40B4-BE49-F238E27FC236}">
                      <a16:creationId xmlns:a16="http://schemas.microsoft.com/office/drawing/2014/main" id="{A316990F-59C7-631E-47E9-456D559048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0"/>
                <a:srcRect l="2620" t="7420" r="2620" b="4981"/>
                <a:stretch/>
              </p:blipFill>
              <p:spPr>
                <a:xfrm>
                  <a:off x="20965957" y="2971697"/>
                  <a:ext cx="2848448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0" name="Picture 15609" descr="A grey background with white text&#10;&#10;Description automatically generated">
                  <a:extLst>
                    <a:ext uri="{FF2B5EF4-FFF2-40B4-BE49-F238E27FC236}">
                      <a16:creationId xmlns:a16="http://schemas.microsoft.com/office/drawing/2014/main" id="{E95A9EFF-122D-C651-FDF5-564B82E90B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926908" y="1639461"/>
                  <a:ext cx="2848448" cy="1943823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1" name="Picture 15610" descr="A computer and a keyboard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BD10086D-C152-9AEB-CD34-13177C8F6D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2"/>
                <a:srcRect l="2378" t="5420" r="2378" b="9853"/>
                <a:stretch/>
              </p:blipFill>
              <p:spPr>
                <a:xfrm>
                  <a:off x="18887859" y="360968"/>
                  <a:ext cx="2848448" cy="191943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grpSp>
              <p:nvGrpSpPr>
                <p:cNvPr id="15612" name="Group 15611">
                  <a:extLst>
                    <a:ext uri="{FF2B5EF4-FFF2-40B4-BE49-F238E27FC236}">
                      <a16:creationId xmlns:a16="http://schemas.microsoft.com/office/drawing/2014/main" id="{60B2107B-4199-FD0C-4076-CA2B2F109B20}"/>
                    </a:ext>
                  </a:extLst>
                </p:cNvPr>
                <p:cNvGrpSpPr/>
                <p:nvPr/>
              </p:nvGrpSpPr>
              <p:grpSpPr>
                <a:xfrm>
                  <a:off x="22071524" y="360968"/>
                  <a:ext cx="3360226" cy="995434"/>
                  <a:chOff x="3514264" y="206684"/>
                  <a:chExt cx="3360226" cy="995434"/>
                </a:xfrm>
              </p:grpSpPr>
              <p:pic>
                <p:nvPicPr>
                  <p:cNvPr id="15613" name="Picture 15612">
                    <a:extLst>
                      <a:ext uri="{FF2B5EF4-FFF2-40B4-BE49-F238E27FC236}">
                        <a16:creationId xmlns:a16="http://schemas.microsoft.com/office/drawing/2014/main" id="{8F1F804F-2F4C-1C69-0ED4-456A517A34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3514264" y="206684"/>
                    <a:ext cx="1027916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4" name="Picture 15613" descr="A grey square with a person's head&#10;&#10;Description automatically generated">
                    <a:extLst>
                      <a:ext uri="{FF2B5EF4-FFF2-40B4-BE49-F238E27FC236}">
                        <a16:creationId xmlns:a16="http://schemas.microsoft.com/office/drawing/2014/main" id="{2172C1AD-5BEC-2CFE-FCB3-472B60E2C22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4717835" y="206684"/>
                    <a:ext cx="982991" cy="995434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5" name="Picture 15614" descr="A person with a smile on his face&#10;&#10;Description automatically generated">
                    <a:extLst>
                      <a:ext uri="{FF2B5EF4-FFF2-40B4-BE49-F238E27FC236}">
                        <a16:creationId xmlns:a16="http://schemas.microsoft.com/office/drawing/2014/main" id="{7957BC4D-151A-EB1E-5CAE-777FF2B16B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5883817" y="206684"/>
                    <a:ext cx="990673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</p:grpSp>
          </p:grpSp>
          <p:sp>
            <p:nvSpPr>
              <p:cNvPr id="15616" name="Rectangle 15615">
                <a:extLst>
                  <a:ext uri="{FF2B5EF4-FFF2-40B4-BE49-F238E27FC236}">
                    <a16:creationId xmlns:a16="http://schemas.microsoft.com/office/drawing/2014/main" id="{946783DC-D597-2C29-6191-5B3893CFCF5D}"/>
                  </a:ext>
                </a:extLst>
              </p:cNvPr>
              <p:cNvSpPr/>
              <p:nvPr/>
            </p:nvSpPr>
            <p:spPr bwMode="auto">
              <a:xfrm>
                <a:off x="4019981" y="18563950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$8</a:t>
                </a:r>
              </a:p>
            </p:txBody>
          </p:sp>
          <p:sp>
            <p:nvSpPr>
              <p:cNvPr id="15618" name="Rectangle 15617">
                <a:extLst>
                  <a:ext uri="{FF2B5EF4-FFF2-40B4-BE49-F238E27FC236}">
                    <a16:creationId xmlns:a16="http://schemas.microsoft.com/office/drawing/2014/main" id="{C6024063-9D2C-50D8-70B5-FC3D7C6F49F8}"/>
                  </a:ext>
                </a:extLst>
              </p:cNvPr>
              <p:cNvSpPr/>
              <p:nvPr/>
            </p:nvSpPr>
            <p:spPr bwMode="auto">
              <a:xfrm>
                <a:off x="6502102" y="18568097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$2</a:t>
                </a:r>
              </a:p>
            </p:txBody>
          </p:sp>
          <p:sp>
            <p:nvSpPr>
              <p:cNvPr id="15619" name="Rectangle 15618">
                <a:extLst>
                  <a:ext uri="{FF2B5EF4-FFF2-40B4-BE49-F238E27FC236}">
                    <a16:creationId xmlns:a16="http://schemas.microsoft.com/office/drawing/2014/main" id="{8EBB5886-1680-B3C7-DEC7-CD388B0CA60C}"/>
                  </a:ext>
                </a:extLst>
              </p:cNvPr>
              <p:cNvSpPr/>
              <p:nvPr/>
            </p:nvSpPr>
            <p:spPr bwMode="auto">
              <a:xfrm>
                <a:off x="7005674" y="19674283"/>
                <a:ext cx="1978245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Loading…</a:t>
                </a:r>
              </a:p>
            </p:txBody>
          </p:sp>
          <p:sp>
            <p:nvSpPr>
              <p:cNvPr id="15620" name="Rectangle 15619">
                <a:extLst>
                  <a:ext uri="{FF2B5EF4-FFF2-40B4-BE49-F238E27FC236}">
                    <a16:creationId xmlns:a16="http://schemas.microsoft.com/office/drawing/2014/main" id="{98A52E85-D70D-5398-4E75-D523A6EBBF49}"/>
                  </a:ext>
                </a:extLst>
              </p:cNvPr>
              <p:cNvSpPr/>
              <p:nvPr/>
            </p:nvSpPr>
            <p:spPr bwMode="auto">
              <a:xfrm>
                <a:off x="9139048" y="21549198"/>
                <a:ext cx="704737" cy="718761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5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+</a:t>
                </a:r>
              </a:p>
            </p:txBody>
          </p:sp>
        </p:grpSp>
        <p:sp>
          <p:nvSpPr>
            <p:cNvPr id="15429" name="Rounded Rectangle 15428">
              <a:extLst>
                <a:ext uri="{FF2B5EF4-FFF2-40B4-BE49-F238E27FC236}">
                  <a16:creationId xmlns:a16="http://schemas.microsoft.com/office/drawing/2014/main" id="{4B7D9A17-B83C-E5E9-1709-3AF83FDD5AD6}"/>
                </a:ext>
              </a:extLst>
            </p:cNvPr>
            <p:cNvSpPr/>
            <p:nvPr/>
          </p:nvSpPr>
          <p:spPr bwMode="auto">
            <a:xfrm>
              <a:off x="530502" y="15050793"/>
              <a:ext cx="6101659" cy="707229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500" u="sng" dirty="0"/>
                <a:t>You are given </a:t>
              </a:r>
              <a:r>
                <a:rPr lang="en-US" sz="3500" b="1" u="sng" dirty="0"/>
                <a:t>$8</a:t>
              </a:r>
              <a:r>
                <a:rPr lang="en-US" sz="3500" u="sng" dirty="0"/>
                <a:t> for the trial. 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grpSp>
          <p:nvGrpSpPr>
            <p:cNvPr id="15592" name="Group 15591">
              <a:extLst>
                <a:ext uri="{FF2B5EF4-FFF2-40B4-BE49-F238E27FC236}">
                  <a16:creationId xmlns:a16="http://schemas.microsoft.com/office/drawing/2014/main" id="{415B0EBC-8379-F485-6113-E5DF57F87E19}"/>
                </a:ext>
              </a:extLst>
            </p:cNvPr>
            <p:cNvGrpSpPr/>
            <p:nvPr/>
          </p:nvGrpSpPr>
          <p:grpSpPr>
            <a:xfrm>
              <a:off x="1977783" y="21512239"/>
              <a:ext cx="4758168" cy="1323439"/>
              <a:chOff x="1599411" y="21740839"/>
              <a:chExt cx="4758168" cy="1323439"/>
            </a:xfrm>
          </p:grpSpPr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707B45F-027B-576B-4808-66F0A5D95489}"/>
                  </a:ext>
                </a:extLst>
              </p:cNvPr>
              <p:cNvSpPr txBox="1"/>
              <p:nvPr/>
            </p:nvSpPr>
            <p:spPr>
              <a:xfrm>
                <a:off x="5031575" y="21740839"/>
                <a:ext cx="1326004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0" b="1" dirty="0">
                    <a:solidFill>
                      <a:srgbClr val="03DF04"/>
                    </a:solidFill>
                  </a:rPr>
                  <a:t>x3</a:t>
                </a:r>
              </a:p>
            </p:txBody>
          </p:sp>
          <p:sp>
            <p:nvSpPr>
              <p:cNvPr id="15433" name="Rounded Rectangle 15432">
                <a:extLst>
                  <a:ext uri="{FF2B5EF4-FFF2-40B4-BE49-F238E27FC236}">
                    <a16:creationId xmlns:a16="http://schemas.microsoft.com/office/drawing/2014/main" id="{9D770554-0135-2E8B-9BC3-8228F9631C8A}"/>
                  </a:ext>
                </a:extLst>
              </p:cNvPr>
              <p:cNvSpPr/>
              <p:nvPr/>
            </p:nvSpPr>
            <p:spPr bwMode="auto">
              <a:xfrm>
                <a:off x="1599411" y="21817902"/>
                <a:ext cx="2967279" cy="1168944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The money you  sent is tripled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</p:grpSp>
        <p:grpSp>
          <p:nvGrpSpPr>
            <p:cNvPr id="15490" name="Group 15489">
              <a:extLst>
                <a:ext uri="{FF2B5EF4-FFF2-40B4-BE49-F238E27FC236}">
                  <a16:creationId xmlns:a16="http://schemas.microsoft.com/office/drawing/2014/main" id="{26CF14B9-FE18-01D5-1A0A-E19BE8376A0A}"/>
                </a:ext>
              </a:extLst>
            </p:cNvPr>
            <p:cNvGrpSpPr/>
            <p:nvPr/>
          </p:nvGrpSpPr>
          <p:grpSpPr>
            <a:xfrm>
              <a:off x="530502" y="18979791"/>
              <a:ext cx="4534151" cy="2464546"/>
              <a:chOff x="533974" y="18532980"/>
              <a:chExt cx="4534151" cy="2464546"/>
            </a:xfrm>
          </p:grpSpPr>
          <p:sp>
            <p:nvSpPr>
              <p:cNvPr id="15432" name="Rounded Rectangle 15431">
                <a:extLst>
                  <a:ext uri="{FF2B5EF4-FFF2-40B4-BE49-F238E27FC236}">
                    <a16:creationId xmlns:a16="http://schemas.microsoft.com/office/drawing/2014/main" id="{29E5F4B4-9ECB-A12A-6B3F-C0855A0CDE34}"/>
                  </a:ext>
                </a:extLst>
              </p:cNvPr>
              <p:cNvSpPr/>
              <p:nvPr/>
            </p:nvSpPr>
            <p:spPr bwMode="auto">
              <a:xfrm>
                <a:off x="533974" y="19334093"/>
                <a:ext cx="4534151" cy="1663433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choose a higher or lower amount to share with your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442" name="Elbow Connector 15441">
                <a:extLst>
                  <a:ext uri="{FF2B5EF4-FFF2-40B4-BE49-F238E27FC236}">
                    <a16:creationId xmlns:a16="http://schemas.microsoft.com/office/drawing/2014/main" id="{FD357802-D2BB-A2AC-2582-D36E431D92F1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2361558" y="18532980"/>
                <a:ext cx="953880" cy="801113"/>
              </a:xfrm>
              <a:prstGeom prst="bentConnector3">
                <a:avLst>
                  <a:gd name="adj1" fmla="val -3922"/>
                </a:avLst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grpSp>
          <p:nvGrpSpPr>
            <p:cNvPr id="15538" name="Group 15537">
              <a:extLst>
                <a:ext uri="{FF2B5EF4-FFF2-40B4-BE49-F238E27FC236}">
                  <a16:creationId xmlns:a16="http://schemas.microsoft.com/office/drawing/2014/main" id="{4ABA81B2-5B67-77D2-5517-08033E19241B}"/>
                </a:ext>
              </a:extLst>
            </p:cNvPr>
            <p:cNvGrpSpPr/>
            <p:nvPr/>
          </p:nvGrpSpPr>
          <p:grpSpPr>
            <a:xfrm>
              <a:off x="1364527" y="16818784"/>
              <a:ext cx="3578072" cy="1569660"/>
              <a:chOff x="1398495" y="16644992"/>
              <a:chExt cx="3578072" cy="1569660"/>
            </a:xfrm>
          </p:grpSpPr>
          <p:sp>
            <p:nvSpPr>
              <p:cNvPr id="15528" name="Rounded Rectangle 15527">
                <a:extLst>
                  <a:ext uri="{FF2B5EF4-FFF2-40B4-BE49-F238E27FC236}">
                    <a16:creationId xmlns:a16="http://schemas.microsoft.com/office/drawing/2014/main" id="{AD2DBFD4-1DD0-D27D-7CB0-35408A9E32E4}"/>
                  </a:ext>
                </a:extLst>
              </p:cNvPr>
              <p:cNvSpPr/>
              <p:nvPr/>
            </p:nvSpPr>
            <p:spPr bwMode="auto">
              <a:xfrm>
                <a:off x="1398495" y="16644992"/>
                <a:ext cx="1947439" cy="1569660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are assigned a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537" name="Straight Arrow Connector 15536">
                <a:extLst>
                  <a:ext uri="{FF2B5EF4-FFF2-40B4-BE49-F238E27FC236}">
                    <a16:creationId xmlns:a16="http://schemas.microsoft.com/office/drawing/2014/main" id="{7A1CFB10-A83A-AA5A-7CB9-EC39B260985E}"/>
                  </a:ext>
                </a:extLst>
              </p:cNvPr>
              <p:cNvCxnSpPr>
                <a:cxnSpLocks/>
                <a:stCxn id="15528" idx="3"/>
              </p:cNvCxnSpPr>
              <p:nvPr/>
            </p:nvCxnSpPr>
            <p:spPr bwMode="auto">
              <a:xfrm>
                <a:off x="3345934" y="17429822"/>
                <a:ext cx="1630633" cy="0"/>
              </a:xfrm>
              <a:prstGeom prst="straightConnector1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sp>
          <p:nvSpPr>
            <p:cNvPr id="15542" name="Rounded Rectangle 15541">
              <a:extLst>
                <a:ext uri="{FF2B5EF4-FFF2-40B4-BE49-F238E27FC236}">
                  <a16:creationId xmlns:a16="http://schemas.microsoft.com/office/drawing/2014/main" id="{F919F17A-D127-CAD0-86F8-9896BB472FB5}"/>
                </a:ext>
              </a:extLst>
            </p:cNvPr>
            <p:cNvSpPr/>
            <p:nvPr/>
          </p:nvSpPr>
          <p:spPr bwMode="auto">
            <a:xfrm>
              <a:off x="1019445" y="25077499"/>
              <a:ext cx="2843041" cy="764088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4000" u="sng" dirty="0"/>
                <a:t>End of trial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15667" name="Rounded Rectangle 15666">
              <a:extLst>
                <a:ext uri="{FF2B5EF4-FFF2-40B4-BE49-F238E27FC236}">
                  <a16:creationId xmlns:a16="http://schemas.microsoft.com/office/drawing/2014/main" id="{A04AF92B-DBCA-68B5-49E1-F021F79663D4}"/>
                </a:ext>
              </a:extLst>
            </p:cNvPr>
            <p:cNvSpPr/>
            <p:nvPr/>
          </p:nvSpPr>
          <p:spPr bwMode="auto">
            <a:xfrm>
              <a:off x="882727" y="23270530"/>
              <a:ext cx="3102910" cy="655177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000" dirty="0"/>
                <a:t>Outcome Phase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sp>
        <p:nvSpPr>
          <p:cNvPr id="15668" name="Rectangle 15667">
            <a:extLst>
              <a:ext uri="{FF2B5EF4-FFF2-40B4-BE49-F238E27FC236}">
                <a16:creationId xmlns:a16="http://schemas.microsoft.com/office/drawing/2014/main" id="{313395CF-F0BD-08A4-741C-0E58C7C64F02}"/>
              </a:ext>
            </a:extLst>
          </p:cNvPr>
          <p:cNvSpPr/>
          <p:nvPr/>
        </p:nvSpPr>
        <p:spPr bwMode="auto">
          <a:xfrm>
            <a:off x="5250937" y="17041236"/>
            <a:ext cx="1984189" cy="552682"/>
          </a:xfrm>
          <a:prstGeom prst="rect">
            <a:avLst/>
          </a:prstGeom>
          <a:solidFill>
            <a:srgbClr val="848484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38943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cs typeface="Arial" charset="0"/>
              </a:rPr>
              <a:t>Computer</a:t>
            </a:r>
          </a:p>
        </p:txBody>
      </p:sp>
      <p:grpSp>
        <p:nvGrpSpPr>
          <p:cNvPr id="15710" name="Group 15709">
            <a:extLst>
              <a:ext uri="{FF2B5EF4-FFF2-40B4-BE49-F238E27FC236}">
                <a16:creationId xmlns:a16="http://schemas.microsoft.com/office/drawing/2014/main" id="{9AFA48F8-C584-C811-C9F5-EFCA333DD7C1}"/>
              </a:ext>
            </a:extLst>
          </p:cNvPr>
          <p:cNvGrpSpPr/>
          <p:nvPr/>
        </p:nvGrpSpPr>
        <p:grpSpPr>
          <a:xfrm>
            <a:off x="30912367" y="15288687"/>
            <a:ext cx="4003957" cy="4215896"/>
            <a:chOff x="30175830" y="13427301"/>
            <a:chExt cx="6887851" cy="7836533"/>
          </a:xfrm>
        </p:grpSpPr>
        <p:pic>
          <p:nvPicPr>
            <p:cNvPr id="15672" name="Picture 15671" descr="A close-up of a brain&#10;&#10;Description automatically generated">
              <a:extLst>
                <a:ext uri="{FF2B5EF4-FFF2-40B4-BE49-F238E27FC236}">
                  <a16:creationId xmlns:a16="http://schemas.microsoft.com/office/drawing/2014/main" id="{D3F7B839-9C15-BAE8-4B9F-D9E5FA416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686058" y="14307843"/>
              <a:ext cx="6377623" cy="5333837"/>
            </a:xfrm>
            <a:prstGeom prst="rect">
              <a:avLst/>
            </a:prstGeom>
          </p:spPr>
        </p:pic>
        <p:sp>
          <p:nvSpPr>
            <p:cNvPr id="15673" name="TextBox 15672">
              <a:extLst>
                <a:ext uri="{FF2B5EF4-FFF2-40B4-BE49-F238E27FC236}">
                  <a16:creationId xmlns:a16="http://schemas.microsoft.com/office/drawing/2014/main" id="{B7572CC2-F582-E038-F57D-36186A2AD7CD}"/>
                </a:ext>
              </a:extLst>
            </p:cNvPr>
            <p:cNvSpPr txBox="1"/>
            <p:nvPr/>
          </p:nvSpPr>
          <p:spPr>
            <a:xfrm>
              <a:off x="30175830" y="13427301"/>
              <a:ext cx="1827438" cy="9879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X= -8</a:t>
              </a:r>
            </a:p>
          </p:txBody>
        </p:sp>
        <p:sp>
          <p:nvSpPr>
            <p:cNvPr id="15679" name="TextBox 15678">
              <a:extLst>
                <a:ext uri="{FF2B5EF4-FFF2-40B4-BE49-F238E27FC236}">
                  <a16:creationId xmlns:a16="http://schemas.microsoft.com/office/drawing/2014/main" id="{C5CCA665-31CA-7E9E-5033-AF62B19B1AEF}"/>
                </a:ext>
              </a:extLst>
            </p:cNvPr>
            <p:cNvSpPr txBox="1"/>
            <p:nvPr/>
          </p:nvSpPr>
          <p:spPr>
            <a:xfrm>
              <a:off x="30483851" y="19661963"/>
              <a:ext cx="5622818" cy="160187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Helvetica"/>
                </a:rPr>
                <a:t>Medial Prefrontal Cortex</a:t>
              </a:r>
            </a:p>
            <a:p>
              <a:r>
                <a:rPr lang="en-US" sz="3200" b="1" dirty="0">
                  <a:latin typeface="Helvetica"/>
                </a:rPr>
                <a:t>(</a:t>
              </a:r>
              <a:r>
                <a:rPr lang="en-US" sz="3200" b="1" dirty="0" err="1">
                  <a:latin typeface="Helvetica"/>
                </a:rPr>
                <a:t>mPFC</a:t>
              </a:r>
              <a:r>
                <a:rPr lang="en-US" sz="3200" b="1" dirty="0">
                  <a:latin typeface="Helvetica"/>
                </a:rPr>
                <a:t>)</a:t>
              </a:r>
            </a:p>
          </p:txBody>
        </p:sp>
      </p:grpSp>
      <p:grpSp>
        <p:nvGrpSpPr>
          <p:cNvPr id="15708" name="Group 15707">
            <a:extLst>
              <a:ext uri="{FF2B5EF4-FFF2-40B4-BE49-F238E27FC236}">
                <a16:creationId xmlns:a16="http://schemas.microsoft.com/office/drawing/2014/main" id="{F3365FFA-9BF5-9EF3-928F-677A1E435CFE}"/>
              </a:ext>
            </a:extLst>
          </p:cNvPr>
          <p:cNvGrpSpPr/>
          <p:nvPr/>
        </p:nvGrpSpPr>
        <p:grpSpPr>
          <a:xfrm>
            <a:off x="30903522" y="7424174"/>
            <a:ext cx="4158601" cy="4608107"/>
            <a:chOff x="30952728" y="4266720"/>
            <a:chExt cx="6212381" cy="7672821"/>
          </a:xfrm>
        </p:grpSpPr>
        <p:pic>
          <p:nvPicPr>
            <p:cNvPr id="15670" name="Picture 15669" descr="A brain with a red spot&#10;&#10;Description automatically generated">
              <a:extLst>
                <a:ext uri="{FF2B5EF4-FFF2-40B4-BE49-F238E27FC236}">
                  <a16:creationId xmlns:a16="http://schemas.microsoft.com/office/drawing/2014/main" id="{BA2FE39D-46B1-0722-481F-CB4E6283E6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72216" y="5328136"/>
              <a:ext cx="5683649" cy="4771937"/>
            </a:xfrm>
            <a:prstGeom prst="rect">
              <a:avLst/>
            </a:prstGeom>
          </p:spPr>
        </p:pic>
        <p:sp>
          <p:nvSpPr>
            <p:cNvPr id="15674" name="TextBox 15673">
              <a:extLst>
                <a:ext uri="{FF2B5EF4-FFF2-40B4-BE49-F238E27FC236}">
                  <a16:creationId xmlns:a16="http://schemas.microsoft.com/office/drawing/2014/main" id="{6D1FEF78-5231-7339-DB44-5A31EBAD6F9E}"/>
                </a:ext>
              </a:extLst>
            </p:cNvPr>
            <p:cNvSpPr txBox="1"/>
            <p:nvPr/>
          </p:nvSpPr>
          <p:spPr>
            <a:xfrm>
              <a:off x="30952728" y="4266720"/>
              <a:ext cx="153920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X= 52</a:t>
              </a:r>
            </a:p>
          </p:txBody>
        </p:sp>
        <p:sp>
          <p:nvSpPr>
            <p:cNvPr id="15680" name="TextBox 15679">
              <a:extLst>
                <a:ext uri="{FF2B5EF4-FFF2-40B4-BE49-F238E27FC236}">
                  <a16:creationId xmlns:a16="http://schemas.microsoft.com/office/drawing/2014/main" id="{0FE2F447-254E-923E-162C-DC99AACAFC55}"/>
                </a:ext>
              </a:extLst>
            </p:cNvPr>
            <p:cNvSpPr txBox="1"/>
            <p:nvPr/>
          </p:nvSpPr>
          <p:spPr>
            <a:xfrm>
              <a:off x="31154497" y="10453379"/>
              <a:ext cx="6010612" cy="148616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Helvetica"/>
                </a:rPr>
                <a:t>Dorsolateral Prefrontal Cortex</a:t>
              </a:r>
            </a:p>
            <a:p>
              <a:r>
                <a:rPr lang="en-US" sz="3200" b="1" dirty="0">
                  <a:latin typeface="Helvetica"/>
                </a:rPr>
                <a:t>(</a:t>
              </a:r>
              <a:r>
                <a:rPr lang="en-US" sz="3200" b="1" dirty="0" err="1">
                  <a:latin typeface="Helvetica"/>
                </a:rPr>
                <a:t>dlPFC</a:t>
              </a:r>
              <a:r>
                <a:rPr lang="en-US" sz="3200" b="1" dirty="0">
                  <a:latin typeface="Helvetica"/>
                </a:rPr>
                <a:t>)</a:t>
              </a:r>
            </a:p>
          </p:txBody>
        </p:sp>
      </p:grpSp>
      <p:sp>
        <p:nvSpPr>
          <p:cNvPr id="15707" name="TextBox 15706">
            <a:extLst>
              <a:ext uri="{FF2B5EF4-FFF2-40B4-BE49-F238E27FC236}">
                <a16:creationId xmlns:a16="http://schemas.microsoft.com/office/drawing/2014/main" id="{0830B512-1237-C170-3104-978D2CC18E8D}"/>
              </a:ext>
            </a:extLst>
          </p:cNvPr>
          <p:cNvSpPr txBox="1"/>
          <p:nvPr/>
        </p:nvSpPr>
        <p:spPr>
          <a:xfrm>
            <a:off x="31126040" y="5975181"/>
            <a:ext cx="427214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0" i="0" dirty="0">
                <a:effectLst/>
                <a:latin typeface="Helvetica" pitchFamily="2" charset="0"/>
              </a:rPr>
              <a:t>Friend Defecting &gt;</a:t>
            </a:r>
            <a:r>
              <a:rPr lang="en-US" sz="3200" dirty="0">
                <a:latin typeface="Helvetica" pitchFamily="2" charset="0"/>
              </a:rPr>
              <a:t> Computer Defecting</a:t>
            </a:r>
            <a:endParaRPr lang="en-US" sz="3200" i="0" dirty="0">
              <a:effectLst/>
              <a:latin typeface="Helvetica" pitchFamily="2" charset="0"/>
            </a:endParaRPr>
          </a:p>
        </p:txBody>
      </p:sp>
      <p:sp>
        <p:nvSpPr>
          <p:cNvPr id="15709" name="TextBox 15708">
            <a:extLst>
              <a:ext uri="{FF2B5EF4-FFF2-40B4-BE49-F238E27FC236}">
                <a16:creationId xmlns:a16="http://schemas.microsoft.com/office/drawing/2014/main" id="{80412985-0DFC-4CC7-0908-955D07FD1104}"/>
              </a:ext>
            </a:extLst>
          </p:cNvPr>
          <p:cNvSpPr txBox="1"/>
          <p:nvPr/>
        </p:nvSpPr>
        <p:spPr>
          <a:xfrm>
            <a:off x="31089809" y="13842164"/>
            <a:ext cx="48011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0" i="0" dirty="0">
                <a:effectLst/>
                <a:latin typeface="Helvetica" pitchFamily="2" charset="0"/>
              </a:rPr>
              <a:t>Friend Reciprocate &gt; Computer Reciprocate</a:t>
            </a:r>
            <a:endParaRPr lang="en-US" sz="3200" i="0" dirty="0">
              <a:effectLst/>
              <a:latin typeface="Helvetica" pitchFamily="2" charset="0"/>
            </a:endParaRPr>
          </a:p>
        </p:txBody>
      </p:sp>
      <p:grpSp>
        <p:nvGrpSpPr>
          <p:cNvPr id="15637" name="Group 15636">
            <a:extLst>
              <a:ext uri="{FF2B5EF4-FFF2-40B4-BE49-F238E27FC236}">
                <a16:creationId xmlns:a16="http://schemas.microsoft.com/office/drawing/2014/main" id="{3A2B419D-DEB8-5DE4-6994-E09E435EDE6A}"/>
              </a:ext>
            </a:extLst>
          </p:cNvPr>
          <p:cNvGrpSpPr/>
          <p:nvPr/>
        </p:nvGrpSpPr>
        <p:grpSpPr>
          <a:xfrm>
            <a:off x="22124221" y="23761217"/>
            <a:ext cx="6126173" cy="7108285"/>
            <a:chOff x="23532472" y="16411504"/>
            <a:chExt cx="4693010" cy="5263937"/>
          </a:xfrm>
        </p:grpSpPr>
        <p:grpSp>
          <p:nvGrpSpPr>
            <p:cNvPr id="15627" name="Group 15626">
              <a:extLst>
                <a:ext uri="{FF2B5EF4-FFF2-40B4-BE49-F238E27FC236}">
                  <a16:creationId xmlns:a16="http://schemas.microsoft.com/office/drawing/2014/main" id="{06AA4FCA-34DA-E471-770A-8C935B50E788}"/>
                </a:ext>
              </a:extLst>
            </p:cNvPr>
            <p:cNvGrpSpPr/>
            <p:nvPr/>
          </p:nvGrpSpPr>
          <p:grpSpPr>
            <a:xfrm>
              <a:off x="23697980" y="17116394"/>
              <a:ext cx="3146890" cy="4559047"/>
              <a:chOff x="23697980" y="17116394"/>
              <a:chExt cx="3146890" cy="4559047"/>
            </a:xfrm>
          </p:grpSpPr>
          <p:sp>
            <p:nvSpPr>
              <p:cNvPr id="15625" name="TextBox 15624">
                <a:extLst>
                  <a:ext uri="{FF2B5EF4-FFF2-40B4-BE49-F238E27FC236}">
                    <a16:creationId xmlns:a16="http://schemas.microsoft.com/office/drawing/2014/main" id="{7328C975-6B3E-4A8B-7D28-2CBF3C3AA243}"/>
                  </a:ext>
                </a:extLst>
              </p:cNvPr>
              <p:cNvSpPr txBox="1"/>
              <p:nvPr/>
            </p:nvSpPr>
            <p:spPr>
              <a:xfrm>
                <a:off x="25887039" y="21058834"/>
                <a:ext cx="957831" cy="6166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5626" name="TextBox 15625">
                <a:extLst>
                  <a:ext uri="{FF2B5EF4-FFF2-40B4-BE49-F238E27FC236}">
                    <a16:creationId xmlns:a16="http://schemas.microsoft.com/office/drawing/2014/main" id="{0741CC01-E666-6FF6-4DCF-5C0AEA54A228}"/>
                  </a:ext>
                </a:extLst>
              </p:cNvPr>
              <p:cNvSpPr txBox="1"/>
              <p:nvPr/>
            </p:nvSpPr>
            <p:spPr>
              <a:xfrm rot="16200000">
                <a:off x="22492430" y="18321944"/>
                <a:ext cx="2835495" cy="4243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000" dirty="0"/>
                  <a:t>Reciprocate &gt; Defect</a:t>
                </a:r>
              </a:p>
            </p:txBody>
          </p:sp>
        </p:grpSp>
        <p:sp>
          <p:nvSpPr>
            <p:cNvPr id="15632" name="TextBox 15631">
              <a:extLst>
                <a:ext uri="{FF2B5EF4-FFF2-40B4-BE49-F238E27FC236}">
                  <a16:creationId xmlns:a16="http://schemas.microsoft.com/office/drawing/2014/main" id="{DB5643A6-0963-1889-743A-BE329E7DFA26}"/>
                </a:ext>
              </a:extLst>
            </p:cNvPr>
            <p:cNvSpPr txBox="1"/>
            <p:nvPr/>
          </p:nvSpPr>
          <p:spPr>
            <a:xfrm>
              <a:off x="23532472" y="16411504"/>
              <a:ext cx="6019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400</a:t>
              </a:r>
            </a:p>
          </p:txBody>
        </p:sp>
        <p:sp>
          <p:nvSpPr>
            <p:cNvPr id="15633" name="TextBox 15632">
              <a:extLst>
                <a:ext uri="{FF2B5EF4-FFF2-40B4-BE49-F238E27FC236}">
                  <a16:creationId xmlns:a16="http://schemas.microsoft.com/office/drawing/2014/main" id="{F005320C-94E9-2CF4-6842-98DA1FA46221}"/>
                </a:ext>
              </a:extLst>
            </p:cNvPr>
            <p:cNvSpPr txBox="1"/>
            <p:nvPr/>
          </p:nvSpPr>
          <p:spPr>
            <a:xfrm>
              <a:off x="23611670" y="20489922"/>
              <a:ext cx="694062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-200</a:t>
              </a:r>
            </a:p>
          </p:txBody>
        </p:sp>
        <p:sp>
          <p:nvSpPr>
            <p:cNvPr id="15634" name="TextBox 15633">
              <a:extLst>
                <a:ext uri="{FF2B5EF4-FFF2-40B4-BE49-F238E27FC236}">
                  <a16:creationId xmlns:a16="http://schemas.microsoft.com/office/drawing/2014/main" id="{E721D839-B7EC-B05A-38DA-D9704D0EBA2E}"/>
                </a:ext>
              </a:extLst>
            </p:cNvPr>
            <p:cNvSpPr txBox="1"/>
            <p:nvPr/>
          </p:nvSpPr>
          <p:spPr>
            <a:xfrm>
              <a:off x="24150950" y="2102205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635" name="TextBox 15634">
              <a:extLst>
                <a:ext uri="{FF2B5EF4-FFF2-40B4-BE49-F238E27FC236}">
                  <a16:creationId xmlns:a16="http://schemas.microsoft.com/office/drawing/2014/main" id="{61C5ED5A-0A65-9C1A-0AC3-7712D59B3795}"/>
                </a:ext>
              </a:extLst>
            </p:cNvPr>
            <p:cNvSpPr txBox="1"/>
            <p:nvPr/>
          </p:nvSpPr>
          <p:spPr>
            <a:xfrm>
              <a:off x="27777018" y="2102205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60</a:t>
              </a:r>
            </a:p>
          </p:txBody>
        </p:sp>
      </p:grpSp>
      <p:grpSp>
        <p:nvGrpSpPr>
          <p:cNvPr id="15726" name="Group 15725">
            <a:extLst>
              <a:ext uri="{FF2B5EF4-FFF2-40B4-BE49-F238E27FC236}">
                <a16:creationId xmlns:a16="http://schemas.microsoft.com/office/drawing/2014/main" id="{B3430D81-BB79-4C3F-9F94-3445BBB422F8}"/>
              </a:ext>
            </a:extLst>
          </p:cNvPr>
          <p:cNvGrpSpPr/>
          <p:nvPr/>
        </p:nvGrpSpPr>
        <p:grpSpPr>
          <a:xfrm>
            <a:off x="35263511" y="13754984"/>
            <a:ext cx="6764367" cy="6581465"/>
            <a:chOff x="37462544" y="16909110"/>
            <a:chExt cx="5148037" cy="5179793"/>
          </a:xfrm>
        </p:grpSpPr>
        <p:sp>
          <p:nvSpPr>
            <p:cNvPr id="15719" name="TextBox 15718">
              <a:extLst>
                <a:ext uri="{FF2B5EF4-FFF2-40B4-BE49-F238E27FC236}">
                  <a16:creationId xmlns:a16="http://schemas.microsoft.com/office/drawing/2014/main" id="{F04F4CFA-B833-1DD9-86EC-A956DC37137A}"/>
                </a:ext>
              </a:extLst>
            </p:cNvPr>
            <p:cNvSpPr txBox="1"/>
            <p:nvPr/>
          </p:nvSpPr>
          <p:spPr>
            <a:xfrm>
              <a:off x="37516370" y="16909110"/>
              <a:ext cx="598030" cy="4117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400</a:t>
              </a:r>
            </a:p>
          </p:txBody>
        </p:sp>
        <p:sp>
          <p:nvSpPr>
            <p:cNvPr id="15720" name="TextBox 15719">
              <a:extLst>
                <a:ext uri="{FF2B5EF4-FFF2-40B4-BE49-F238E27FC236}">
                  <a16:creationId xmlns:a16="http://schemas.microsoft.com/office/drawing/2014/main" id="{0D17E5B2-CB95-D5BD-E169-9C1854A0AD37}"/>
                </a:ext>
              </a:extLst>
            </p:cNvPr>
            <p:cNvSpPr txBox="1"/>
            <p:nvPr/>
          </p:nvSpPr>
          <p:spPr>
            <a:xfrm>
              <a:off x="37462544" y="20542022"/>
              <a:ext cx="689526" cy="4117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-200</a:t>
              </a:r>
            </a:p>
          </p:txBody>
        </p:sp>
        <p:sp>
          <p:nvSpPr>
            <p:cNvPr id="15721" name="TextBox 15720">
              <a:extLst>
                <a:ext uri="{FF2B5EF4-FFF2-40B4-BE49-F238E27FC236}">
                  <a16:creationId xmlns:a16="http://schemas.microsoft.com/office/drawing/2014/main" id="{81E64089-644A-E436-A434-45AF685F62E1}"/>
                </a:ext>
              </a:extLst>
            </p:cNvPr>
            <p:cNvSpPr txBox="1"/>
            <p:nvPr/>
          </p:nvSpPr>
          <p:spPr>
            <a:xfrm rot="16200000">
              <a:off x="36531370" y="18699129"/>
              <a:ext cx="2471242" cy="4406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 err="1"/>
                <a:t>mPFC</a:t>
              </a:r>
              <a:r>
                <a:rPr lang="en-US" sz="3000" dirty="0"/>
                <a:t> activation</a:t>
              </a:r>
            </a:p>
          </p:txBody>
        </p:sp>
        <p:sp>
          <p:nvSpPr>
            <p:cNvPr id="15722" name="TextBox 15721">
              <a:extLst>
                <a:ext uri="{FF2B5EF4-FFF2-40B4-BE49-F238E27FC236}">
                  <a16:creationId xmlns:a16="http://schemas.microsoft.com/office/drawing/2014/main" id="{D6E3B518-3825-F962-6455-6381AEA6B615}"/>
                </a:ext>
              </a:extLst>
            </p:cNvPr>
            <p:cNvSpPr txBox="1"/>
            <p:nvPr/>
          </p:nvSpPr>
          <p:spPr>
            <a:xfrm>
              <a:off x="38109468" y="21552103"/>
              <a:ext cx="445533" cy="4117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723" name="TextBox 15722">
              <a:extLst>
                <a:ext uri="{FF2B5EF4-FFF2-40B4-BE49-F238E27FC236}">
                  <a16:creationId xmlns:a16="http://schemas.microsoft.com/office/drawing/2014/main" id="{8B001207-DE47-3A09-905A-EBCA2F9F5C56}"/>
                </a:ext>
              </a:extLst>
            </p:cNvPr>
            <p:cNvSpPr txBox="1"/>
            <p:nvPr/>
          </p:nvSpPr>
          <p:spPr>
            <a:xfrm>
              <a:off x="42165048" y="21461542"/>
              <a:ext cx="445533" cy="4117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  <p:sp>
          <p:nvSpPr>
            <p:cNvPr id="15724" name="TextBox 15723">
              <a:extLst>
                <a:ext uri="{FF2B5EF4-FFF2-40B4-BE49-F238E27FC236}">
                  <a16:creationId xmlns:a16="http://schemas.microsoft.com/office/drawing/2014/main" id="{A7A779AE-265E-DD6C-9D50-6736DE453C86}"/>
                </a:ext>
              </a:extLst>
            </p:cNvPr>
            <p:cNvSpPr txBox="1"/>
            <p:nvPr/>
          </p:nvSpPr>
          <p:spPr>
            <a:xfrm>
              <a:off x="39987911" y="21381017"/>
              <a:ext cx="109677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Age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1655AFED-3947-A740-B235-4AE33711962C}"/>
              </a:ext>
            </a:extLst>
          </p:cNvPr>
          <p:cNvGrpSpPr/>
          <p:nvPr/>
        </p:nvGrpSpPr>
        <p:grpSpPr>
          <a:xfrm>
            <a:off x="35398192" y="5817533"/>
            <a:ext cx="6887588" cy="6463045"/>
            <a:chOff x="37564868" y="6979043"/>
            <a:chExt cx="5268875" cy="5249812"/>
          </a:xfrm>
        </p:grpSpPr>
        <p:sp>
          <p:nvSpPr>
            <p:cNvPr id="15711" name="TextBox 15710">
              <a:extLst>
                <a:ext uri="{FF2B5EF4-FFF2-40B4-BE49-F238E27FC236}">
                  <a16:creationId xmlns:a16="http://schemas.microsoft.com/office/drawing/2014/main" id="{3F0968C1-C452-1885-6B38-F154CD473A3F}"/>
                </a:ext>
              </a:extLst>
            </p:cNvPr>
            <p:cNvSpPr txBox="1"/>
            <p:nvPr/>
          </p:nvSpPr>
          <p:spPr>
            <a:xfrm>
              <a:off x="37616989" y="6979043"/>
              <a:ext cx="601117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200</a:t>
              </a:r>
            </a:p>
          </p:txBody>
        </p:sp>
        <p:sp>
          <p:nvSpPr>
            <p:cNvPr id="15713" name="TextBox 15712">
              <a:extLst>
                <a:ext uri="{FF2B5EF4-FFF2-40B4-BE49-F238E27FC236}">
                  <a16:creationId xmlns:a16="http://schemas.microsoft.com/office/drawing/2014/main" id="{0538FBF6-7909-445F-ACD2-9599FE92C967}"/>
                </a:ext>
              </a:extLst>
            </p:cNvPr>
            <p:cNvSpPr txBox="1"/>
            <p:nvPr/>
          </p:nvSpPr>
          <p:spPr>
            <a:xfrm>
              <a:off x="37564868" y="11337187"/>
              <a:ext cx="693086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-300</a:t>
              </a:r>
            </a:p>
          </p:txBody>
        </p:sp>
        <p:sp>
          <p:nvSpPr>
            <p:cNvPr id="15716" name="TextBox 15715">
              <a:extLst>
                <a:ext uri="{FF2B5EF4-FFF2-40B4-BE49-F238E27FC236}">
                  <a16:creationId xmlns:a16="http://schemas.microsoft.com/office/drawing/2014/main" id="{A7B791E9-2592-EA60-AB27-F2DBE3421768}"/>
                </a:ext>
              </a:extLst>
            </p:cNvPr>
            <p:cNvSpPr txBox="1"/>
            <p:nvPr/>
          </p:nvSpPr>
          <p:spPr>
            <a:xfrm>
              <a:off x="38211199" y="11728946"/>
              <a:ext cx="447833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717" name="TextBox 15716">
              <a:extLst>
                <a:ext uri="{FF2B5EF4-FFF2-40B4-BE49-F238E27FC236}">
                  <a16:creationId xmlns:a16="http://schemas.microsoft.com/office/drawing/2014/main" id="{4288430D-B235-E5D2-0E3C-C928486D0544}"/>
                </a:ext>
              </a:extLst>
            </p:cNvPr>
            <p:cNvSpPr txBox="1"/>
            <p:nvPr/>
          </p:nvSpPr>
          <p:spPr>
            <a:xfrm>
              <a:off x="42385910" y="11803853"/>
              <a:ext cx="447833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  <p:sp>
          <p:nvSpPr>
            <p:cNvPr id="15718" name="TextBox 15717">
              <a:extLst>
                <a:ext uri="{FF2B5EF4-FFF2-40B4-BE49-F238E27FC236}">
                  <a16:creationId xmlns:a16="http://schemas.microsoft.com/office/drawing/2014/main" id="{C5EDCAEC-F972-A2CD-DE27-9E216B9AC130}"/>
                </a:ext>
              </a:extLst>
            </p:cNvPr>
            <p:cNvSpPr txBox="1"/>
            <p:nvPr/>
          </p:nvSpPr>
          <p:spPr>
            <a:xfrm>
              <a:off x="39886352" y="11652166"/>
              <a:ext cx="141316" cy="5750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4000" dirty="0"/>
            </a:p>
          </p:txBody>
        </p:sp>
        <p:sp>
          <p:nvSpPr>
            <p:cNvPr id="15715" name="TextBox 15714">
              <a:extLst>
                <a:ext uri="{FF2B5EF4-FFF2-40B4-BE49-F238E27FC236}">
                  <a16:creationId xmlns:a16="http://schemas.microsoft.com/office/drawing/2014/main" id="{6A186BD7-7E16-8AE4-2E56-FAD05BEC16F6}"/>
                </a:ext>
              </a:extLst>
            </p:cNvPr>
            <p:cNvSpPr txBox="1"/>
            <p:nvPr/>
          </p:nvSpPr>
          <p:spPr>
            <a:xfrm rot="16200000">
              <a:off x="36657648" y="8884400"/>
              <a:ext cx="2422148" cy="4237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 err="1"/>
                <a:t>dlPFC</a:t>
              </a:r>
              <a:r>
                <a:rPr lang="en-US" sz="3000" dirty="0"/>
                <a:t> activation</a:t>
              </a:r>
            </a:p>
          </p:txBody>
        </p:sp>
      </p:grpSp>
      <p:pic>
        <p:nvPicPr>
          <p:cNvPr id="1025" name="Picture 1" descr="page1image36299968">
            <a:extLst>
              <a:ext uri="{FF2B5EF4-FFF2-40B4-BE49-F238E27FC236}">
                <a16:creationId xmlns:a16="http://schemas.microsoft.com/office/drawing/2014/main" id="{60035D50-8936-684B-B250-A56C0072C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214" y="487329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age1image36299968">
            <a:extLst>
              <a:ext uri="{FF2B5EF4-FFF2-40B4-BE49-F238E27FC236}">
                <a16:creationId xmlns:a16="http://schemas.microsoft.com/office/drawing/2014/main" id="{EA3B4680-C131-E644-9965-35912127BB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page1image36299744">
            <a:extLst>
              <a:ext uri="{FF2B5EF4-FFF2-40B4-BE49-F238E27FC236}">
                <a16:creationId xmlns:a16="http://schemas.microsoft.com/office/drawing/2014/main" id="{C5462043-3FBA-174F-8046-F6A09633C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25086" y="643380"/>
            <a:ext cx="32385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age1image52530848">
            <a:extLst>
              <a:ext uri="{FF2B5EF4-FFF2-40B4-BE49-F238E27FC236}">
                <a16:creationId xmlns:a16="http://schemas.microsoft.com/office/drawing/2014/main" id="{B03A8A5E-93A8-8D4C-8490-C8A39AE1B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0238700" cy="101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5" name="Rectangle 154">
            <a:extLst>
              <a:ext uri="{FF2B5EF4-FFF2-40B4-BE49-F238E27FC236}">
                <a16:creationId xmlns:a16="http://schemas.microsoft.com/office/drawing/2014/main" id="{8F908185-E22F-CB44-8E95-78E9235C0525}"/>
              </a:ext>
            </a:extLst>
          </p:cNvPr>
          <p:cNvSpPr/>
          <p:nvPr/>
        </p:nvSpPr>
        <p:spPr>
          <a:xfrm>
            <a:off x="30813844" y="20893442"/>
            <a:ext cx="12914399" cy="3200876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marL="457200" indent="-457200"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found that friend defecting resulted in increased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 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marL="457200" indent="-457200"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also found that friend reciprocating resulted in reduced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EB1F679-B03D-7ABA-4916-B7FDEEB0D1A4}"/>
              </a:ext>
            </a:extLst>
          </p:cNvPr>
          <p:cNvGrpSpPr/>
          <p:nvPr/>
        </p:nvGrpSpPr>
        <p:grpSpPr>
          <a:xfrm>
            <a:off x="23148115" y="5669169"/>
            <a:ext cx="6689848" cy="6035275"/>
            <a:chOff x="23148115" y="5669169"/>
            <a:chExt cx="6689848" cy="603527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5E4488D-320E-3C93-EC8D-7C3BAA78FA30}"/>
                </a:ext>
              </a:extLst>
            </p:cNvPr>
            <p:cNvSpPr txBox="1"/>
            <p:nvPr/>
          </p:nvSpPr>
          <p:spPr>
            <a:xfrm rot="16200000">
              <a:off x="21388338" y="7970314"/>
              <a:ext cx="4073551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IOS Friend - Computer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8B9CE20-98EC-DB3B-E27B-D3E16039CA7B}"/>
                </a:ext>
              </a:extLst>
            </p:cNvPr>
            <p:cNvSpPr txBox="1"/>
            <p:nvPr/>
          </p:nvSpPr>
          <p:spPr>
            <a:xfrm>
              <a:off x="26458500" y="11124695"/>
              <a:ext cx="867545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Age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2F055F7-F4AD-16D6-0DC4-090889B5AC94}"/>
                </a:ext>
              </a:extLst>
            </p:cNvPr>
            <p:cNvSpPr txBox="1"/>
            <p:nvPr/>
          </p:nvSpPr>
          <p:spPr>
            <a:xfrm>
              <a:off x="23168341" y="10761280"/>
              <a:ext cx="5052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9F335FD-74A6-0034-2C62-5E101F9EF9FA}"/>
                </a:ext>
              </a:extLst>
            </p:cNvPr>
            <p:cNvSpPr txBox="1"/>
            <p:nvPr/>
          </p:nvSpPr>
          <p:spPr>
            <a:xfrm>
              <a:off x="23382493" y="5669169"/>
              <a:ext cx="38504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6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2A872D9-BAA2-926E-8BF6-557B36359A89}"/>
                </a:ext>
              </a:extLst>
            </p:cNvPr>
            <p:cNvSpPr txBox="1"/>
            <p:nvPr/>
          </p:nvSpPr>
          <p:spPr>
            <a:xfrm>
              <a:off x="23473332" y="11181224"/>
              <a:ext cx="58541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B7890C1-56FC-BC07-26D2-E3906F91A2E1}"/>
                </a:ext>
              </a:extLst>
            </p:cNvPr>
            <p:cNvSpPr txBox="1"/>
            <p:nvPr/>
          </p:nvSpPr>
          <p:spPr>
            <a:xfrm>
              <a:off x="29252546" y="11147974"/>
              <a:ext cx="58541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</p:grpSp>
      <p:pic>
        <p:nvPicPr>
          <p:cNvPr id="10" name="Graphic 9">
            <a:extLst>
              <a:ext uri="{FF2B5EF4-FFF2-40B4-BE49-F238E27FC236}">
                <a16:creationId xmlns:a16="http://schemas.microsoft.com/office/drawing/2014/main" id="{12C2420C-269D-5FD9-9793-4E8BAE4F2032}"/>
              </a:ext>
            </a:extLst>
          </p:cNvPr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rcRect l="14834" t="11264" r="3835" b="16585"/>
          <a:stretch/>
        </p:blipFill>
        <p:spPr>
          <a:xfrm>
            <a:off x="23673037" y="5663992"/>
            <a:ext cx="6460448" cy="5523032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4A3383C0-EB4E-3413-FBA5-F6CDEFBB9A01}"/>
              </a:ext>
            </a:extLst>
          </p:cNvPr>
          <p:cNvGrpSpPr/>
          <p:nvPr/>
        </p:nvGrpSpPr>
        <p:grpSpPr>
          <a:xfrm>
            <a:off x="15661773" y="13603786"/>
            <a:ext cx="6786687" cy="5929306"/>
            <a:chOff x="15661774" y="13558986"/>
            <a:chExt cx="6773997" cy="606920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F1414F7-3E57-76CD-1C5A-70BE29BA366D}"/>
                </a:ext>
              </a:extLst>
            </p:cNvPr>
            <p:cNvGrpSpPr/>
            <p:nvPr/>
          </p:nvGrpSpPr>
          <p:grpSpPr>
            <a:xfrm>
              <a:off x="15661774" y="13571887"/>
              <a:ext cx="6773997" cy="6056304"/>
              <a:chOff x="15911046" y="13518455"/>
              <a:chExt cx="6773997" cy="6056304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9D692A7-4FAE-7F86-3669-63E5EB7B73B4}"/>
                  </a:ext>
                </a:extLst>
              </p:cNvPr>
              <p:cNvSpPr txBox="1"/>
              <p:nvPr/>
            </p:nvSpPr>
            <p:spPr>
              <a:xfrm>
                <a:off x="15959557" y="13518455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35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6D13B2-263D-82AD-D27A-9146F541402C}"/>
                  </a:ext>
                </a:extLst>
              </p:cNvPr>
              <p:cNvSpPr txBox="1"/>
              <p:nvPr/>
            </p:nvSpPr>
            <p:spPr>
              <a:xfrm>
                <a:off x="16163859" y="18593433"/>
                <a:ext cx="3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B573673-D070-01BC-38C0-015CC202624E}"/>
                  </a:ext>
                </a:extLst>
              </p:cNvPr>
              <p:cNvSpPr txBox="1"/>
              <p:nvPr/>
            </p:nvSpPr>
            <p:spPr>
              <a:xfrm rot="16200000">
                <a:off x="15411230" y="15931050"/>
                <a:ext cx="155363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OAFEM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A56891-1EA7-63D6-781A-F4B314CA5404}"/>
                  </a:ext>
                </a:extLst>
              </p:cNvPr>
              <p:cNvSpPr txBox="1"/>
              <p:nvPr/>
            </p:nvSpPr>
            <p:spPr>
              <a:xfrm>
                <a:off x="19201039" y="19020761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1D0DA85-42B5-2604-1257-444398E49E78}"/>
                  </a:ext>
                </a:extLst>
              </p:cNvPr>
              <p:cNvSpPr txBox="1"/>
              <p:nvPr/>
            </p:nvSpPr>
            <p:spPr>
              <a:xfrm>
                <a:off x="16382370" y="19025256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809160B-2F6C-BA84-02F1-D80F287E78AE}"/>
                  </a:ext>
                </a:extLst>
              </p:cNvPr>
              <p:cNvSpPr txBox="1"/>
              <p:nvPr/>
            </p:nvSpPr>
            <p:spPr>
              <a:xfrm>
                <a:off x="22100721" y="19026172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1A809AB7-5523-3F9D-6316-37B2E64951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rcRect l="15526" t="13111" r="4415" b="16123"/>
            <a:stretch/>
          </p:blipFill>
          <p:spPr>
            <a:xfrm>
              <a:off x="16334560" y="13558986"/>
              <a:ext cx="6010236" cy="5570606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558AD3-6D79-9D59-B5C7-87060424114B}"/>
              </a:ext>
            </a:extLst>
          </p:cNvPr>
          <p:cNvGrpSpPr/>
          <p:nvPr/>
        </p:nvGrpSpPr>
        <p:grpSpPr>
          <a:xfrm>
            <a:off x="22990137" y="13459226"/>
            <a:ext cx="6912332" cy="6118831"/>
            <a:chOff x="22987347" y="13324694"/>
            <a:chExt cx="7202664" cy="624617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BDD7E15-33CB-E293-2CA9-95B8CCDF48ED}"/>
                </a:ext>
              </a:extLst>
            </p:cNvPr>
            <p:cNvGrpSpPr/>
            <p:nvPr/>
          </p:nvGrpSpPr>
          <p:grpSpPr>
            <a:xfrm>
              <a:off x="22987347" y="13324694"/>
              <a:ext cx="7043889" cy="6246177"/>
              <a:chOff x="22987347" y="13324694"/>
              <a:chExt cx="7043889" cy="6246177"/>
            </a:xfrm>
          </p:grpSpPr>
          <p:grpSp>
            <p:nvGrpSpPr>
              <p:cNvPr id="15583" name="Group 15582">
                <a:extLst>
                  <a:ext uri="{FF2B5EF4-FFF2-40B4-BE49-F238E27FC236}">
                    <a16:creationId xmlns:a16="http://schemas.microsoft.com/office/drawing/2014/main" id="{81424957-973F-2BA6-23A6-71C1377BD2AF}"/>
                  </a:ext>
                </a:extLst>
              </p:cNvPr>
              <p:cNvGrpSpPr/>
              <p:nvPr/>
            </p:nvGrpSpPr>
            <p:grpSpPr>
              <a:xfrm>
                <a:off x="22987347" y="13324694"/>
                <a:ext cx="1390631" cy="6163871"/>
                <a:chOff x="23198455" y="5142184"/>
                <a:chExt cx="1086711" cy="5298947"/>
              </a:xfrm>
            </p:grpSpPr>
            <p:sp>
              <p:nvSpPr>
                <p:cNvPr id="15575" name="TextBox 15574">
                  <a:extLst>
                    <a:ext uri="{FF2B5EF4-FFF2-40B4-BE49-F238E27FC236}">
                      <a16:creationId xmlns:a16="http://schemas.microsoft.com/office/drawing/2014/main" id="{136D78E5-71EA-17ED-91C9-F9CCADA262FF}"/>
                    </a:ext>
                  </a:extLst>
                </p:cNvPr>
                <p:cNvSpPr txBox="1"/>
                <p:nvPr/>
              </p:nvSpPr>
              <p:spPr>
                <a:xfrm rot="16200000">
                  <a:off x="20765443" y="7575196"/>
                  <a:ext cx="5298947" cy="43292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000" dirty="0"/>
                    <a:t>Sharing with Friend –With Stranger</a:t>
                  </a:r>
                </a:p>
              </p:txBody>
            </p:sp>
            <p:sp>
              <p:nvSpPr>
                <p:cNvPr id="15576" name="TextBox 15575">
                  <a:extLst>
                    <a:ext uri="{FF2B5EF4-FFF2-40B4-BE49-F238E27FC236}">
                      <a16:creationId xmlns:a16="http://schemas.microsoft.com/office/drawing/2014/main" id="{7E602785-88A0-0942-659B-9A750B46996F}"/>
                    </a:ext>
                  </a:extLst>
                </p:cNvPr>
                <p:cNvSpPr txBox="1"/>
                <p:nvPr/>
              </p:nvSpPr>
              <p:spPr>
                <a:xfrm>
                  <a:off x="23603500" y="9027547"/>
                  <a:ext cx="411426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-2</a:t>
                  </a:r>
                </a:p>
              </p:txBody>
            </p:sp>
            <p:sp>
              <p:nvSpPr>
                <p:cNvPr id="15577" name="TextBox 15576">
                  <a:extLst>
                    <a:ext uri="{FF2B5EF4-FFF2-40B4-BE49-F238E27FC236}">
                      <a16:creationId xmlns:a16="http://schemas.microsoft.com/office/drawing/2014/main" id="{44C014BB-4057-CE6F-8488-5075607DFC5B}"/>
                    </a:ext>
                  </a:extLst>
                </p:cNvPr>
                <p:cNvSpPr txBox="1"/>
                <p:nvPr/>
              </p:nvSpPr>
              <p:spPr>
                <a:xfrm>
                  <a:off x="23684874" y="6227047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</a:t>
                  </a:r>
                </a:p>
              </p:txBody>
            </p:sp>
            <p:sp>
              <p:nvSpPr>
                <p:cNvPr id="15578" name="TextBox 15577">
                  <a:extLst>
                    <a:ext uri="{FF2B5EF4-FFF2-40B4-BE49-F238E27FC236}">
                      <a16:creationId xmlns:a16="http://schemas.microsoft.com/office/drawing/2014/main" id="{7FC9F9D2-B5EE-482C-7F35-E7345B0CA197}"/>
                    </a:ext>
                  </a:extLst>
                </p:cNvPr>
                <p:cNvSpPr txBox="1"/>
                <p:nvPr/>
              </p:nvSpPr>
              <p:spPr>
                <a:xfrm>
                  <a:off x="23666269" y="7641535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0</a:t>
                  </a:r>
                </a:p>
              </p:txBody>
            </p:sp>
            <p:sp>
              <p:nvSpPr>
                <p:cNvPr id="15579" name="TextBox 15578">
                  <a:extLst>
                    <a:ext uri="{FF2B5EF4-FFF2-40B4-BE49-F238E27FC236}">
                      <a16:creationId xmlns:a16="http://schemas.microsoft.com/office/drawing/2014/main" id="{115532EB-4683-39F0-80DC-27E22F24AA20}"/>
                    </a:ext>
                  </a:extLst>
                </p:cNvPr>
                <p:cNvSpPr txBox="1"/>
                <p:nvPr/>
              </p:nvSpPr>
              <p:spPr>
                <a:xfrm>
                  <a:off x="23808476" y="9971676"/>
                  <a:ext cx="47669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20</a:t>
                  </a:r>
                </a:p>
              </p:txBody>
            </p:sp>
          </p:grp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71FA06-90F6-38D8-E376-EAC7F8F86D37}"/>
                  </a:ext>
                </a:extLst>
              </p:cNvPr>
              <p:cNvSpPr txBox="1"/>
              <p:nvPr/>
            </p:nvSpPr>
            <p:spPr>
              <a:xfrm>
                <a:off x="26534606" y="19016872"/>
                <a:ext cx="867545" cy="553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CA8551F-72DA-08BF-83FF-D876E48BD6C0}"/>
                  </a:ext>
                </a:extLst>
              </p:cNvPr>
              <p:cNvSpPr txBox="1"/>
              <p:nvPr/>
            </p:nvSpPr>
            <p:spPr>
              <a:xfrm>
                <a:off x="29421230" y="18968549"/>
                <a:ext cx="610006" cy="534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4A483E63-A410-7026-10D0-0FAC305E54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rcRect l="15691" t="11081" r="4694" b="15428"/>
            <a:stretch/>
          </p:blipFill>
          <p:spPr>
            <a:xfrm>
              <a:off x="23929854" y="13415822"/>
              <a:ext cx="6260157" cy="5568490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0DBA9C41-5EEA-0E79-D93D-F2C5795C3DCD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rcRect l="18562" t="11969" r="3825" b="15026"/>
          <a:stretch/>
        </p:blipFill>
        <p:spPr>
          <a:xfrm>
            <a:off x="23160827" y="23793039"/>
            <a:ext cx="6466501" cy="586154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6675D385-CC29-7E91-4E7F-87D48DE5C9A4}"/>
              </a:ext>
            </a:extLst>
          </p:cNvPr>
          <p:cNvPicPr>
            <a:picLocks noChangeAspect="1"/>
          </p:cNvPicPr>
          <p:nvPr/>
        </p:nvPicPr>
        <p:blipFill rotWithShape="1">
          <a:blip r:embed="rId2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0"/>
              </a:ext>
            </a:extLst>
          </a:blip>
          <a:srcRect l="18919" t="11022" r="2620" b="15715"/>
          <a:stretch/>
        </p:blipFill>
        <p:spPr>
          <a:xfrm>
            <a:off x="36133103" y="5701660"/>
            <a:ext cx="6627629" cy="5963480"/>
          </a:xfrm>
          <a:prstGeom prst="rect">
            <a:avLst/>
          </a:prstGeom>
        </p:spPr>
      </p:pic>
      <p:pic>
        <p:nvPicPr>
          <p:cNvPr id="40" name="Graphic 39">
            <a:extLst>
              <a:ext uri="{FF2B5EF4-FFF2-40B4-BE49-F238E27FC236}">
                <a16:creationId xmlns:a16="http://schemas.microsoft.com/office/drawing/2014/main" id="{41694A69-FEA8-BBFE-413A-1817DD4A1775}"/>
              </a:ext>
            </a:extLst>
          </p:cNvPr>
          <p:cNvPicPr>
            <a:picLocks noChangeAspect="1"/>
          </p:cNvPicPr>
          <p:nvPr/>
        </p:nvPicPr>
        <p:blipFill rotWithShape="1">
          <a:blip r:embed="rId3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2"/>
              </a:ext>
            </a:extLst>
          </a:blip>
          <a:srcRect l="18942" t="11890" r="2700" b="15431"/>
          <a:stretch/>
        </p:blipFill>
        <p:spPr>
          <a:xfrm>
            <a:off x="36252115" y="13880865"/>
            <a:ext cx="6114905" cy="5465499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10C1E3FB-BD99-75D9-FE95-CD17FE3F9F8B}"/>
              </a:ext>
            </a:extLst>
          </p:cNvPr>
          <p:cNvSpPr txBox="1"/>
          <p:nvPr/>
        </p:nvSpPr>
        <p:spPr>
          <a:xfrm rot="16200000">
            <a:off x="15237985" y="8187916"/>
            <a:ext cx="197682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Closeness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B3996D-43E6-5107-11EC-81DFCBC56FB1}"/>
              </a:ext>
            </a:extLst>
          </p:cNvPr>
          <p:cNvSpPr txBox="1"/>
          <p:nvPr/>
        </p:nvSpPr>
        <p:spPr>
          <a:xfrm>
            <a:off x="16565973" y="11908447"/>
            <a:ext cx="1307886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Participants are closer with their friend than with the stranger and computer partners, however there is no effect of age on their closeness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13D170-7C43-2B32-EA3A-BFDCA0EDB3A8}"/>
              </a:ext>
            </a:extLst>
          </p:cNvPr>
          <p:cNvSpPr txBox="1"/>
          <p:nvPr/>
        </p:nvSpPr>
        <p:spPr>
          <a:xfrm>
            <a:off x="17565515" y="19992104"/>
            <a:ext cx="1062409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/>
              <a:t>We found no age-related effects across financial exploitation measures or investment behavior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EBE959C-E76F-26F5-3977-7B65ACC54BDB}"/>
              </a:ext>
            </a:extLst>
          </p:cNvPr>
          <p:cNvGrpSpPr/>
          <p:nvPr/>
        </p:nvGrpSpPr>
        <p:grpSpPr>
          <a:xfrm>
            <a:off x="14047943" y="1512177"/>
            <a:ext cx="7364964" cy="7636639"/>
            <a:chOff x="17267302" y="5300010"/>
            <a:chExt cx="15233772" cy="1418725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EBC02A-D17E-C673-FF14-B2A7299CD29C}"/>
                </a:ext>
              </a:extLst>
            </p:cNvPr>
            <p:cNvGrpSpPr/>
            <p:nvPr/>
          </p:nvGrpSpPr>
          <p:grpSpPr>
            <a:xfrm>
              <a:off x="17267302" y="5300010"/>
              <a:ext cx="15233772" cy="14187253"/>
              <a:chOff x="17267302" y="5300010"/>
              <a:chExt cx="15233772" cy="14187253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7764D22-FEE2-29D5-77DA-B49907121EA6}"/>
                  </a:ext>
                </a:extLst>
              </p:cNvPr>
              <p:cNvGrpSpPr/>
              <p:nvPr/>
            </p:nvGrpSpPr>
            <p:grpSpPr>
              <a:xfrm>
                <a:off x="17267302" y="5300010"/>
                <a:ext cx="15233772" cy="12987990"/>
                <a:chOff x="17267302" y="5300010"/>
                <a:chExt cx="15233772" cy="12987990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34AFE783-B325-8261-217E-BB4718A01EFE}"/>
                    </a:ext>
                  </a:extLst>
                </p:cNvPr>
                <p:cNvSpPr/>
                <p:nvPr/>
              </p:nvSpPr>
              <p:spPr bwMode="auto">
                <a:xfrm>
                  <a:off x="17267302" y="5300010"/>
                  <a:ext cx="2814638" cy="6500813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D50A6255-10BD-F4E5-2627-B4138E01A997}"/>
                    </a:ext>
                  </a:extLst>
                </p:cNvPr>
                <p:cNvSpPr/>
                <p:nvPr/>
              </p:nvSpPr>
              <p:spPr bwMode="auto">
                <a:xfrm>
                  <a:off x="23482859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2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E1BAF2-0B1B-D6EB-D2FA-146E5C5CA6F3}"/>
                    </a:ext>
                  </a:extLst>
                </p:cNvPr>
                <p:cNvSpPr/>
                <p:nvPr/>
              </p:nvSpPr>
              <p:spPr bwMode="auto">
                <a:xfrm>
                  <a:off x="29686436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BC5D78FB-3804-D93A-C859-BB3859DEF4C8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 bwMode="auto">
                <a:xfrm>
                  <a:off x="18674621" y="11800823"/>
                  <a:ext cx="0" cy="430614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323A30F-EB0B-0BC4-120E-17A180965A1E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24890178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094A9A13-7EB7-FB0C-327F-5A30EB7CA157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1104633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E6E28200-C2D5-D487-234B-026AA92A5BE8}"/>
                    </a:ext>
                  </a:extLst>
                </p:cNvPr>
                <p:cNvCxnSpPr/>
                <p:nvPr/>
              </p:nvCxnSpPr>
              <p:spPr bwMode="auto">
                <a:xfrm>
                  <a:off x="18010414" y="1612190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F1CF9C76-ADBF-601C-5AB7-771E0AFB6314}"/>
                    </a:ext>
                  </a:extLst>
                </p:cNvPr>
                <p:cNvCxnSpPr/>
                <p:nvPr/>
              </p:nvCxnSpPr>
              <p:spPr bwMode="auto">
                <a:xfrm>
                  <a:off x="24237035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0D94689-F8BC-3D65-2CD3-9F5CE68EF435}"/>
                    </a:ext>
                  </a:extLst>
                </p:cNvPr>
                <p:cNvCxnSpPr/>
                <p:nvPr/>
              </p:nvCxnSpPr>
              <p:spPr bwMode="auto">
                <a:xfrm>
                  <a:off x="30451490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18" name="Multiply 17">
                  <a:extLst>
                    <a:ext uri="{FF2B5EF4-FFF2-40B4-BE49-F238E27FC236}">
                      <a16:creationId xmlns:a16="http://schemas.microsoft.com/office/drawing/2014/main" id="{B86E0230-0B5B-2336-900D-8F8ED1CB2692}"/>
                    </a:ext>
                  </a:extLst>
                </p:cNvPr>
                <p:cNvSpPr/>
                <p:nvPr/>
              </p:nvSpPr>
              <p:spPr bwMode="auto">
                <a:xfrm>
                  <a:off x="30860534" y="11343623"/>
                  <a:ext cx="457200" cy="457200"/>
                </a:xfrm>
                <a:prstGeom prst="mathMultiply">
                  <a:avLst/>
                </a:prstGeom>
                <a:solidFill>
                  <a:srgbClr val="72BFC5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DC4BE0B-55CC-21CC-228D-4D58C6F81768}"/>
                    </a:ext>
                  </a:extLst>
                </p:cNvPr>
                <p:cNvCxnSpPr/>
                <p:nvPr/>
              </p:nvCxnSpPr>
              <p:spPr bwMode="auto">
                <a:xfrm>
                  <a:off x="17301874" y="9627476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D54C43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1CE6A5D-1BCC-6244-27A6-2E6271A4DF81}"/>
                    </a:ext>
                  </a:extLst>
                </p:cNvPr>
                <p:cNvCxnSpPr/>
                <p:nvPr/>
              </p:nvCxnSpPr>
              <p:spPr bwMode="auto">
                <a:xfrm>
                  <a:off x="23513855" y="18210955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BB423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BE1D573-BA3F-6844-0338-2311984CF2CB}"/>
                    </a:ext>
                  </a:extLst>
                </p:cNvPr>
                <p:cNvCxnSpPr/>
                <p:nvPr/>
              </p:nvCxnSpPr>
              <p:spPr bwMode="auto">
                <a:xfrm>
                  <a:off x="29707024" y="18210954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EF544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82CD6FC-4197-B0F5-EB5E-7B8778E1D9B9}"/>
                  </a:ext>
                </a:extLst>
              </p:cNvPr>
              <p:cNvSpPr txBox="1"/>
              <p:nvPr/>
            </p:nvSpPr>
            <p:spPr>
              <a:xfrm>
                <a:off x="18047432" y="18801292"/>
                <a:ext cx="127310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Friend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FEAD576-740F-E665-EA00-7C83C68CAF0A}"/>
                  </a:ext>
                </a:extLst>
              </p:cNvPr>
              <p:cNvSpPr txBox="1"/>
              <p:nvPr/>
            </p:nvSpPr>
            <p:spPr>
              <a:xfrm>
                <a:off x="24016659" y="18801291"/>
                <a:ext cx="165782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Stranger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4B7075-BCE9-5433-D5D4-988B3A796C17}"/>
                  </a:ext>
                </a:extLst>
              </p:cNvPr>
              <p:cNvSpPr txBox="1"/>
              <p:nvPr/>
            </p:nvSpPr>
            <p:spPr>
              <a:xfrm>
                <a:off x="30153622" y="18933265"/>
                <a:ext cx="18710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Computer</a:t>
                </a:r>
              </a:p>
            </p:txBody>
          </p:sp>
        </p:grpSp>
        <p:sp>
          <p:nvSpPr>
            <p:cNvPr id="29" name="Multiply 28">
              <a:extLst>
                <a:ext uri="{FF2B5EF4-FFF2-40B4-BE49-F238E27FC236}">
                  <a16:creationId xmlns:a16="http://schemas.microsoft.com/office/drawing/2014/main" id="{E2544558-A55A-31AE-362C-DC229ED9A5F8}"/>
                </a:ext>
              </a:extLst>
            </p:cNvPr>
            <p:cNvSpPr/>
            <p:nvPr/>
          </p:nvSpPr>
          <p:spPr bwMode="auto">
            <a:xfrm>
              <a:off x="30860534" y="9433297"/>
              <a:ext cx="457200" cy="457200"/>
            </a:xfrm>
            <a:prstGeom prst="mathMultiply">
              <a:avLst/>
            </a:prstGeom>
            <a:solidFill>
              <a:srgbClr val="72BFC5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0" name="Multiply 29">
              <a:extLst>
                <a:ext uri="{FF2B5EF4-FFF2-40B4-BE49-F238E27FC236}">
                  <a16:creationId xmlns:a16="http://schemas.microsoft.com/office/drawing/2014/main" id="{49EFB42A-BDC5-EDFE-30E2-3E0854186CEB}"/>
                </a:ext>
              </a:extLst>
            </p:cNvPr>
            <p:cNvSpPr/>
            <p:nvPr/>
          </p:nvSpPr>
          <p:spPr bwMode="auto">
            <a:xfrm>
              <a:off x="24661578" y="1155780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1" name="Multiply 30">
              <a:extLst>
                <a:ext uri="{FF2B5EF4-FFF2-40B4-BE49-F238E27FC236}">
                  <a16:creationId xmlns:a16="http://schemas.microsoft.com/office/drawing/2014/main" id="{1F137DB2-67E6-E506-A500-26336390C594}"/>
                </a:ext>
              </a:extLst>
            </p:cNvPr>
            <p:cNvSpPr/>
            <p:nvPr/>
          </p:nvSpPr>
          <p:spPr bwMode="auto">
            <a:xfrm>
              <a:off x="24661578" y="943329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CB27CAF-4280-AD34-B210-5080F180D2C2}"/>
              </a:ext>
            </a:extLst>
          </p:cNvPr>
          <p:cNvGrpSpPr/>
          <p:nvPr/>
        </p:nvGrpSpPr>
        <p:grpSpPr>
          <a:xfrm>
            <a:off x="3302117" y="697747"/>
            <a:ext cx="7765387" cy="8857886"/>
            <a:chOff x="15752261" y="4761579"/>
            <a:chExt cx="6351768" cy="724538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781F48-3237-34BE-792E-D00CC6F352EC}"/>
                </a:ext>
              </a:extLst>
            </p:cNvPr>
            <p:cNvGrpSpPr/>
            <p:nvPr/>
          </p:nvGrpSpPr>
          <p:grpSpPr>
            <a:xfrm>
              <a:off x="15752261" y="4761579"/>
              <a:ext cx="6351768" cy="7245387"/>
              <a:chOff x="15752261" y="4761579"/>
              <a:chExt cx="6351768" cy="7245387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FCDB739-B6CA-6A2F-4FF4-2D6158E62F41}"/>
                  </a:ext>
                </a:extLst>
              </p:cNvPr>
              <p:cNvSpPr/>
              <p:nvPr/>
            </p:nvSpPr>
            <p:spPr bwMode="auto">
              <a:xfrm>
                <a:off x="15752261" y="4761579"/>
                <a:ext cx="6351768" cy="7245387"/>
              </a:xfrm>
              <a:prstGeom prst="rect">
                <a:avLst/>
              </a:prstGeom>
              <a:solidFill>
                <a:srgbClr val="FAF86D">
                  <a:alpha val="54118"/>
                </a:srgbClr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8CB1042-C763-7E92-8F91-E80C5111A56D}"/>
                  </a:ext>
                </a:extLst>
              </p:cNvPr>
              <p:cNvSpPr txBox="1"/>
              <p:nvPr/>
            </p:nvSpPr>
            <p:spPr>
              <a:xfrm>
                <a:off x="15906068" y="11363259"/>
                <a:ext cx="4965131" cy="57902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n-US" altLang="en-US" sz="2000" dirty="0">
                    <a:latin typeface="Helvetica"/>
                    <a:ea typeface="MS PGothic"/>
                  </a:rPr>
                  <a:t>Kyle M. 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Woosnam</a:t>
                </a:r>
                <a:r>
                  <a:rPr lang="en-US" altLang="en-US" sz="2000" dirty="0">
                    <a:latin typeface="Helvetica"/>
                    <a:ea typeface="MS PGothic"/>
                  </a:rPr>
                  <a:t>,</a:t>
                </a:r>
              </a:p>
              <a:p>
                <a:r>
                  <a:rPr lang="en-US" altLang="en-US" sz="2000" dirty="0">
                    <a:latin typeface="Helvetica"/>
                    <a:ea typeface="MS PGothic"/>
                  </a:rPr>
                  <a:t>The inclusion of other in the self (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ios</a:t>
                </a:r>
                <a:r>
                  <a:rPr lang="en-US" altLang="en-US" sz="2000" dirty="0">
                    <a:latin typeface="Helvetica"/>
                    <a:ea typeface="MS PGothic"/>
                  </a:rPr>
                  <a:t>) scale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D816D11-3FBA-D07E-6B9E-38A2F4EB099B}"/>
                </a:ext>
              </a:extLst>
            </p:cNvPr>
            <p:cNvGrpSpPr/>
            <p:nvPr/>
          </p:nvGrpSpPr>
          <p:grpSpPr>
            <a:xfrm>
              <a:off x="16266708" y="5102620"/>
              <a:ext cx="5346874" cy="6245250"/>
              <a:chOff x="24606262" y="5087612"/>
              <a:chExt cx="5346874" cy="624525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775D2E0-EA68-224B-714D-E08D12FB0BC4}"/>
                  </a:ext>
                </a:extLst>
              </p:cNvPr>
              <p:cNvGrpSpPr/>
              <p:nvPr/>
            </p:nvGrpSpPr>
            <p:grpSpPr>
              <a:xfrm>
                <a:off x="24606262" y="5087612"/>
                <a:ext cx="5346874" cy="2981162"/>
                <a:chOff x="24230508" y="5420973"/>
                <a:chExt cx="5346874" cy="2981162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F210A4F8-95CD-6B0C-1156-2D603B9862CF}"/>
                    </a:ext>
                  </a:extLst>
                </p:cNvPr>
                <p:cNvSpPr/>
                <p:nvPr/>
              </p:nvSpPr>
              <p:spPr bwMode="auto">
                <a:xfrm>
                  <a:off x="24230508" y="5440590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3000" dirty="0">
                      <a:latin typeface="Arial" charset="0"/>
                      <a:cs typeface="Arial" charset="0"/>
                    </a:rPr>
                    <a:t>Other</a:t>
                  </a:r>
                  <a:endPara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094E4F7B-794E-48AC-145A-00C8986E4091}"/>
                    </a:ext>
                  </a:extLst>
                </p:cNvPr>
                <p:cNvSpPr/>
                <p:nvPr/>
              </p:nvSpPr>
              <p:spPr bwMode="auto">
                <a:xfrm>
                  <a:off x="26615837" y="5420973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rPr>
                    <a:t>Self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9954FFDE-545B-AD1D-A25A-59FD7AEFC418}"/>
                  </a:ext>
                </a:extLst>
              </p:cNvPr>
              <p:cNvGrpSpPr/>
              <p:nvPr/>
            </p:nvGrpSpPr>
            <p:grpSpPr>
              <a:xfrm>
                <a:off x="25411939" y="8348344"/>
                <a:ext cx="3925091" cy="2984518"/>
                <a:chOff x="25130667" y="8968962"/>
                <a:chExt cx="3925091" cy="2984518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FC73058-CB31-27B0-772A-3BDDA9B99C29}"/>
                    </a:ext>
                  </a:extLst>
                </p:cNvPr>
                <p:cNvSpPr/>
                <p:nvPr/>
              </p:nvSpPr>
              <p:spPr bwMode="auto">
                <a:xfrm>
                  <a:off x="25130667" y="8968962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67D4BD0-69C1-6205-729F-359FD089EF50}"/>
                    </a:ext>
                  </a:extLst>
                </p:cNvPr>
                <p:cNvSpPr/>
                <p:nvPr/>
              </p:nvSpPr>
              <p:spPr bwMode="auto">
                <a:xfrm>
                  <a:off x="26094213" y="8991935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</p:grpSp>
      </p:grpSp>
      <p:pic>
        <p:nvPicPr>
          <p:cNvPr id="44" name="Picture 43" descr="A graph with a line and dots&#10;&#10;Description automatically generated">
            <a:extLst>
              <a:ext uri="{FF2B5EF4-FFF2-40B4-BE49-F238E27FC236}">
                <a16:creationId xmlns:a16="http://schemas.microsoft.com/office/drawing/2014/main" id="{5A9B45D2-69CE-45B6-E0FF-63E075F123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7"/>
          <a:stretch/>
        </p:blipFill>
        <p:spPr>
          <a:xfrm>
            <a:off x="17565458" y="20012822"/>
            <a:ext cx="5976934" cy="6256269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101D678-0DF9-DFE7-5AB5-E5E73F160921}"/>
              </a:ext>
            </a:extLst>
          </p:cNvPr>
          <p:cNvSpPr txBox="1"/>
          <p:nvPr/>
        </p:nvSpPr>
        <p:spPr>
          <a:xfrm>
            <a:off x="25431750" y="21945601"/>
            <a:ext cx="3377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mask Cope 10, f-s behavior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5566B34-90A2-F860-BA56-C61310F4490F}"/>
              </a:ext>
            </a:extLst>
          </p:cNvPr>
          <p:cNvGrpSpPr/>
          <p:nvPr/>
        </p:nvGrpSpPr>
        <p:grpSpPr>
          <a:xfrm>
            <a:off x="23956247" y="1593935"/>
            <a:ext cx="8009593" cy="7451869"/>
            <a:chOff x="18887859" y="360968"/>
            <a:chExt cx="6543891" cy="6151778"/>
          </a:xfrm>
        </p:grpSpPr>
        <p:pic>
          <p:nvPicPr>
            <p:cNvPr id="46" name="Picture 45" descr="A green check mark on a grey background&#10;&#10;Description automatically generated">
              <a:extLst>
                <a:ext uri="{FF2B5EF4-FFF2-40B4-BE49-F238E27FC236}">
                  <a16:creationId xmlns:a16="http://schemas.microsoft.com/office/drawing/2014/main" id="{05D821C2-E885-CC67-E0E9-FCC0C910A1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4791" t="15087" r="12450" b="22936"/>
            <a:stretch/>
          </p:blipFill>
          <p:spPr>
            <a:xfrm>
              <a:off x="19244972" y="4622666"/>
              <a:ext cx="2991981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7" name="Picture 46" descr="A computer screen shot&#10;&#10;Description automatically generated">
              <a:extLst>
                <a:ext uri="{FF2B5EF4-FFF2-40B4-BE49-F238E27FC236}">
                  <a16:creationId xmlns:a16="http://schemas.microsoft.com/office/drawing/2014/main" id="{25A164EB-4BEF-B4A5-B060-06D4C5267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7658" t="18357" r="18046" b="25816"/>
            <a:stretch/>
          </p:blipFill>
          <p:spPr>
            <a:xfrm>
              <a:off x="22543408" y="4676154"/>
              <a:ext cx="2888342" cy="1819031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8" name="Picture 47" descr="A white cross on a gray background&#10;&#10;Description automatically generated">
              <a:extLst>
                <a:ext uri="{FF2B5EF4-FFF2-40B4-BE49-F238E27FC236}">
                  <a16:creationId xmlns:a16="http://schemas.microsoft.com/office/drawing/2014/main" id="{2A82ECC0-02D2-399E-A379-0EF13FCC0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20" t="7420" r="2620" b="4981"/>
            <a:stretch/>
          </p:blipFill>
          <p:spPr>
            <a:xfrm>
              <a:off x="20965957" y="2971697"/>
              <a:ext cx="2848448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9" name="Picture 48" descr="A grey background with white text&#10;&#10;Description automatically generated">
              <a:extLst>
                <a:ext uri="{FF2B5EF4-FFF2-40B4-BE49-F238E27FC236}">
                  <a16:creationId xmlns:a16="http://schemas.microsoft.com/office/drawing/2014/main" id="{8319B2F5-A88D-8E16-A0DB-3B22400CE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926908" y="1639461"/>
              <a:ext cx="2848448" cy="1943823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0" name="Picture 49" descr="A computer and a keyboard&#10;&#10;Description automatically generated with medium confidence">
              <a:extLst>
                <a:ext uri="{FF2B5EF4-FFF2-40B4-BE49-F238E27FC236}">
                  <a16:creationId xmlns:a16="http://schemas.microsoft.com/office/drawing/2014/main" id="{462EC6A9-8181-A755-C6DF-08487EECDC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2378" t="5420" r="2378" b="9853"/>
            <a:stretch/>
          </p:blipFill>
          <p:spPr>
            <a:xfrm>
              <a:off x="18887859" y="360968"/>
              <a:ext cx="2848448" cy="191943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98D2AA0-6856-8BFC-A013-3D7002419DA0}"/>
                </a:ext>
              </a:extLst>
            </p:cNvPr>
            <p:cNvGrpSpPr/>
            <p:nvPr/>
          </p:nvGrpSpPr>
          <p:grpSpPr>
            <a:xfrm>
              <a:off x="22071524" y="360968"/>
              <a:ext cx="3360226" cy="995434"/>
              <a:chOff x="3514264" y="206684"/>
              <a:chExt cx="3360226" cy="995434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A58D4E4-38FC-FF26-3C92-D95E613FF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514264" y="206684"/>
                <a:ext cx="1027916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3" name="Picture 52" descr="A grey square with a person's head&#10;&#10;Description automatically generated">
                <a:extLst>
                  <a:ext uri="{FF2B5EF4-FFF2-40B4-BE49-F238E27FC236}">
                    <a16:creationId xmlns:a16="http://schemas.microsoft.com/office/drawing/2014/main" id="{DCD9D8FF-F003-604C-A09E-3B749D263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17835" y="206684"/>
                <a:ext cx="982991" cy="995434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4" name="Picture 53" descr="A person with a smile on his face&#10;&#10;Description automatically generated">
                <a:extLst>
                  <a:ext uri="{FF2B5EF4-FFF2-40B4-BE49-F238E27FC236}">
                    <a16:creationId xmlns:a16="http://schemas.microsoft.com/office/drawing/2014/main" id="{AA177AC5-6357-26F0-BFC6-A1CAE04EB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883817" y="206684"/>
                <a:ext cx="990673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</p:grpSp>
      </p:grpSp>
    </p:spTree>
    <p:extLst>
      <p:ext uri="{BB962C8B-B14F-4D97-AF65-F5344CB8AC3E}">
        <p14:creationId xmlns:p14="http://schemas.microsoft.com/office/powerpoint/2010/main" val="2447354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E837406F-5692-3E0A-6846-F0234F4B644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739"/>
          <a:stretch/>
        </p:blipFill>
        <p:spPr>
          <a:xfrm>
            <a:off x="256032" y="871751"/>
            <a:ext cx="11692074" cy="1130805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8BE36795-2270-B2A4-DE7D-9C6377C48B3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6956"/>
          <a:stretch/>
        </p:blipFill>
        <p:spPr>
          <a:xfrm>
            <a:off x="11948106" y="871751"/>
            <a:ext cx="11719381" cy="113080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9D788F-1A31-5C44-8566-4F528D1785C4}"/>
              </a:ext>
            </a:extLst>
          </p:cNvPr>
          <p:cNvSpPr txBox="1"/>
          <p:nvPr/>
        </p:nvSpPr>
        <p:spPr>
          <a:xfrm>
            <a:off x="26309510" y="21994513"/>
            <a:ext cx="1258645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Participants were asked to rate their closeness with the three partners before the task on a 7-point Likert Scale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C166C9F-8AFD-5144-B709-C6E7D9C77CF0}"/>
              </a:ext>
            </a:extLst>
          </p:cNvPr>
          <p:cNvGrpSpPr/>
          <p:nvPr/>
        </p:nvGrpSpPr>
        <p:grpSpPr>
          <a:xfrm>
            <a:off x="26566310" y="4480341"/>
            <a:ext cx="6524991" cy="6955685"/>
            <a:chOff x="23087465" y="23975816"/>
            <a:chExt cx="6524991" cy="695568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33FE7B0-A177-6F40-9F4C-961AE0B6758A}"/>
                </a:ext>
              </a:extLst>
            </p:cNvPr>
            <p:cNvGrpSpPr/>
            <p:nvPr/>
          </p:nvGrpSpPr>
          <p:grpSpPr>
            <a:xfrm>
              <a:off x="23087465" y="23975816"/>
              <a:ext cx="6524991" cy="6955685"/>
              <a:chOff x="23087465" y="23975816"/>
              <a:chExt cx="6524991" cy="6955685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F7D19EB7-28AC-B744-9ABA-310DAFD29B0A}"/>
                  </a:ext>
                </a:extLst>
              </p:cNvPr>
              <p:cNvGrpSpPr/>
              <p:nvPr/>
            </p:nvGrpSpPr>
            <p:grpSpPr>
              <a:xfrm>
                <a:off x="23087465" y="23975816"/>
                <a:ext cx="6524991" cy="6955685"/>
                <a:chOff x="23087465" y="23975816"/>
                <a:chExt cx="6524991" cy="6955685"/>
              </a:xfrm>
            </p:grpSpPr>
            <p:pic>
              <p:nvPicPr>
                <p:cNvPr id="11" name="Graphic 10">
                  <a:extLst>
                    <a:ext uri="{FF2B5EF4-FFF2-40B4-BE49-F238E27FC236}">
                      <a16:creationId xmlns:a16="http://schemas.microsoft.com/office/drawing/2014/main" id="{507378A2-7B75-EB4F-912D-685D66F7F0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3723984" y="23975816"/>
                  <a:ext cx="5888472" cy="6200049"/>
                </a:xfrm>
                <a:prstGeom prst="rect">
                  <a:avLst/>
                </a:prstGeom>
              </p:spPr>
            </p:pic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64BED4-0C1E-384C-B252-76748CAC1B6C}"/>
                    </a:ext>
                  </a:extLst>
                </p:cNvPr>
                <p:cNvSpPr txBox="1"/>
                <p:nvPr/>
              </p:nvSpPr>
              <p:spPr>
                <a:xfrm>
                  <a:off x="25810594" y="30223615"/>
                  <a:ext cx="109677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34BF677-2248-9642-9CB1-6ADE36E56B3C}"/>
                    </a:ext>
                  </a:extLst>
                </p:cNvPr>
                <p:cNvSpPr txBox="1"/>
                <p:nvPr/>
              </p:nvSpPr>
              <p:spPr>
                <a:xfrm>
                  <a:off x="23166754" y="24615337"/>
                  <a:ext cx="6519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400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A2794F8-6A32-D94B-8839-99CAF4032589}"/>
                    </a:ext>
                  </a:extLst>
                </p:cNvPr>
                <p:cNvSpPr txBox="1"/>
                <p:nvPr/>
              </p:nvSpPr>
              <p:spPr>
                <a:xfrm>
                  <a:off x="23087465" y="28711327"/>
                  <a:ext cx="74008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-200</a:t>
                  </a: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72E2E51-16E7-B342-93EF-ABF930710291}"/>
                    </a:ext>
                  </a:extLst>
                </p:cNvPr>
                <p:cNvSpPr txBox="1"/>
                <p:nvPr/>
              </p:nvSpPr>
              <p:spPr>
                <a:xfrm>
                  <a:off x="23822666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20</a:t>
                  </a: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E3C9A62-C76F-1041-B055-E2304EC80EB4}"/>
                    </a:ext>
                  </a:extLst>
                </p:cNvPr>
                <p:cNvSpPr txBox="1"/>
                <p:nvPr/>
              </p:nvSpPr>
              <p:spPr>
                <a:xfrm>
                  <a:off x="27974735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60</a:t>
                  </a:r>
                </a:p>
              </p:txBody>
            </p:sp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BA07AC-5E67-7848-9F24-BE968F5514E2}"/>
                  </a:ext>
                </a:extLst>
              </p:cNvPr>
              <p:cNvSpPr txBox="1"/>
              <p:nvPr/>
            </p:nvSpPr>
            <p:spPr>
              <a:xfrm rot="16200000">
                <a:off x="21699109" y="26614219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Computer (Reciprocate &gt; Defect)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5CE9A9-886F-5747-B508-B31965E7B11B}"/>
                </a:ext>
              </a:extLst>
            </p:cNvPr>
            <p:cNvSpPr/>
            <p:nvPr/>
          </p:nvSpPr>
          <p:spPr bwMode="auto">
            <a:xfrm>
              <a:off x="23891921" y="24154307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F205221-E6BB-984A-80FC-B768489ECF10}"/>
              </a:ext>
            </a:extLst>
          </p:cNvPr>
          <p:cNvGrpSpPr/>
          <p:nvPr/>
        </p:nvGrpSpPr>
        <p:grpSpPr>
          <a:xfrm>
            <a:off x="27234750" y="13488174"/>
            <a:ext cx="6532972" cy="6817128"/>
            <a:chOff x="16026704" y="24108846"/>
            <a:chExt cx="6532972" cy="681712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B0433B2-F60B-4A4E-9F6A-D5A3E2F8F7FF}"/>
                </a:ext>
              </a:extLst>
            </p:cNvPr>
            <p:cNvGrpSpPr/>
            <p:nvPr/>
          </p:nvGrpSpPr>
          <p:grpSpPr>
            <a:xfrm>
              <a:off x="16026704" y="24108846"/>
              <a:ext cx="6532972" cy="6817128"/>
              <a:chOff x="16026704" y="24108846"/>
              <a:chExt cx="6532972" cy="6817128"/>
            </a:xfrm>
          </p:grpSpPr>
          <p:pic>
            <p:nvPicPr>
              <p:cNvPr id="20" name="Graphic 19">
                <a:extLst>
                  <a:ext uri="{FF2B5EF4-FFF2-40B4-BE49-F238E27FC236}">
                    <a16:creationId xmlns:a16="http://schemas.microsoft.com/office/drawing/2014/main" id="{CFB3CE83-290B-E54C-965D-A1F022D2AD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10756" t="6660" r="2865" b="7584"/>
              <a:stretch/>
            </p:blipFill>
            <p:spPr>
              <a:xfrm>
                <a:off x="16651056" y="24108846"/>
                <a:ext cx="5908620" cy="6083352"/>
              </a:xfrm>
              <a:prstGeom prst="rect">
                <a:avLst/>
              </a:prstGeom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C31EF0-D61A-AC42-80D7-E4C2C70A86DD}"/>
                  </a:ext>
                </a:extLst>
              </p:cNvPr>
              <p:cNvSpPr txBox="1"/>
              <p:nvPr/>
            </p:nvSpPr>
            <p:spPr>
              <a:xfrm>
                <a:off x="18654011" y="30218088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ABAA111-FF13-5A4A-B69C-A3BEF7F2C2B3}"/>
                  </a:ext>
                </a:extLst>
              </p:cNvPr>
              <p:cNvSpPr txBox="1"/>
              <p:nvPr/>
            </p:nvSpPr>
            <p:spPr>
              <a:xfrm rot="16200000">
                <a:off x="14608848" y="26568394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Stranger (Reciprocate &gt; Defect)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6916F5A-8012-EA4D-BA81-C47464F545AD}"/>
                  </a:ext>
                </a:extLst>
              </p:cNvPr>
              <p:cNvSpPr txBox="1"/>
              <p:nvPr/>
            </p:nvSpPr>
            <p:spPr>
              <a:xfrm>
                <a:off x="16115961" y="24411311"/>
                <a:ext cx="651983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DC5619E-A9D2-A346-9083-0B1EA81D8AF9}"/>
                  </a:ext>
                </a:extLst>
              </p:cNvPr>
              <p:cNvSpPr txBox="1"/>
              <p:nvPr/>
            </p:nvSpPr>
            <p:spPr>
              <a:xfrm>
                <a:off x="16026704" y="28875791"/>
                <a:ext cx="740088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F936398-21FA-9248-BA6E-155315401154}"/>
                  </a:ext>
                </a:extLst>
              </p:cNvPr>
              <p:cNvSpPr txBox="1"/>
              <p:nvPr/>
            </p:nvSpPr>
            <p:spPr>
              <a:xfrm>
                <a:off x="16666083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C84EDFF-F84E-1940-8B80-DC8DAD1049BE}"/>
                  </a:ext>
                </a:extLst>
              </p:cNvPr>
              <p:cNvSpPr txBox="1"/>
              <p:nvPr/>
            </p:nvSpPr>
            <p:spPr>
              <a:xfrm>
                <a:off x="20818152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7323B76-BAFB-8D40-86EB-D23726D85EA0}"/>
                </a:ext>
              </a:extLst>
            </p:cNvPr>
            <p:cNvSpPr/>
            <p:nvPr/>
          </p:nvSpPr>
          <p:spPr bwMode="auto">
            <a:xfrm>
              <a:off x="16871673" y="24149410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5018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162">
            <a:extLst>
              <a:ext uri="{FF2B5EF4-FFF2-40B4-BE49-F238E27FC236}">
                <a16:creationId xmlns:a16="http://schemas.microsoft.com/office/drawing/2014/main" id="{F85C8D55-E7D1-1411-7315-1807B9914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14071787"/>
            <a:ext cx="14827930" cy="1861272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81" name="TextBox 86">
            <a:extLst>
              <a:ext uri="{FF2B5EF4-FFF2-40B4-BE49-F238E27FC236}">
                <a16:creationId xmlns:a16="http://schemas.microsoft.com/office/drawing/2014/main" id="{4AA4023A-FE9C-8A8F-DAD7-839D36EF1B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92340" y="13743817"/>
            <a:ext cx="10223153" cy="1400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4. Ventral Striatal Activation Is not Associated with Age </a:t>
            </a:r>
            <a:endParaRPr lang="en-US" altLang="en-US" sz="4267" b="1" dirty="0">
              <a:solidFill>
                <a:srgbClr val="C00000"/>
              </a:solidFill>
              <a:latin typeface="Trebuchet MS" panose="020B0603020202020204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374AF7-01C1-54D1-AF5E-5E845D42E41B}"/>
              </a:ext>
            </a:extLst>
          </p:cNvPr>
          <p:cNvSpPr/>
          <p:nvPr/>
        </p:nvSpPr>
        <p:spPr>
          <a:xfrm>
            <a:off x="15753891" y="15011657"/>
            <a:ext cx="14650695" cy="584775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3200" i="1" dirty="0">
                <a:latin typeface="Helvetica"/>
                <a:ea typeface="MS PGothic"/>
                <a:cs typeface="Helvetica"/>
              </a:rPr>
              <a:t>We found Ventral Striatum (VS) activation for Reciprocate &gt; Defect outcomes</a:t>
            </a:r>
            <a:endParaRPr lang="en-US" sz="3200" i="1" dirty="0">
              <a:cs typeface="Helvetica" panose="020B0604020202020204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2B87F1C-C65B-2365-C691-F84E272B2128}"/>
              </a:ext>
            </a:extLst>
          </p:cNvPr>
          <p:cNvSpPr txBox="1"/>
          <p:nvPr/>
        </p:nvSpPr>
        <p:spPr>
          <a:xfrm>
            <a:off x="15470883" y="23756535"/>
            <a:ext cx="1465069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outcome.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6DE505BC-359F-2B64-7BF5-86249E8BC13F}"/>
              </a:ext>
            </a:extLst>
          </p:cNvPr>
          <p:cNvGrpSpPr/>
          <p:nvPr/>
        </p:nvGrpSpPr>
        <p:grpSpPr>
          <a:xfrm>
            <a:off x="16413362" y="16845193"/>
            <a:ext cx="6012596" cy="5359483"/>
            <a:chOff x="14976740" y="15406812"/>
            <a:chExt cx="6810930" cy="6071098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8CF128A2-7337-58D4-4F0F-518CE4ACA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8F892C7-F6CA-BE50-D63E-C9CEF7BBEA28}"/>
                </a:ext>
              </a:extLst>
            </p:cNvPr>
            <p:cNvSpPr txBox="1"/>
            <p:nvPr/>
          </p:nvSpPr>
          <p:spPr>
            <a:xfrm>
              <a:off x="14986107" y="20885189"/>
              <a:ext cx="11331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latin typeface="Helvetica"/>
                  <a:ea typeface="MS PGothic"/>
                </a:rPr>
                <a:t>VS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BCFA7F6-6616-FD53-A415-FA1DC4F386A1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A569D325-14D6-3FBA-46F9-0533E45EEBA2}"/>
              </a:ext>
            </a:extLst>
          </p:cNvPr>
          <p:cNvSpPr txBox="1"/>
          <p:nvPr/>
        </p:nvSpPr>
        <p:spPr>
          <a:xfrm>
            <a:off x="18209595" y="31314065"/>
            <a:ext cx="985526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We found that activation in the VS was not related to age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30A3D42-2685-DD83-F550-6D419DE0CEA4}"/>
              </a:ext>
            </a:extLst>
          </p:cNvPr>
          <p:cNvGrpSpPr/>
          <p:nvPr/>
        </p:nvGrpSpPr>
        <p:grpSpPr>
          <a:xfrm>
            <a:off x="25203363" y="25624464"/>
            <a:ext cx="4662175" cy="5381809"/>
            <a:chOff x="23611670" y="15386915"/>
            <a:chExt cx="5877242" cy="6288526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6B07F237-2D1D-AA5C-4846-56948C9E0ECF}"/>
                </a:ext>
              </a:extLst>
            </p:cNvPr>
            <p:cNvGrpSpPr/>
            <p:nvPr/>
          </p:nvGrpSpPr>
          <p:grpSpPr>
            <a:xfrm>
              <a:off x="23722773" y="15386915"/>
              <a:ext cx="5766139" cy="6288526"/>
              <a:chOff x="23722773" y="15386915"/>
              <a:chExt cx="5766139" cy="6288526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566B512C-6DEA-DDC7-23FB-35CCDB864537}"/>
                  </a:ext>
                </a:extLst>
              </p:cNvPr>
              <p:cNvSpPr/>
              <p:nvPr/>
            </p:nvSpPr>
            <p:spPr bwMode="auto">
              <a:xfrm>
                <a:off x="24280009" y="15747147"/>
                <a:ext cx="5109967" cy="521382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F6ECB501-C792-BAA1-2CC5-9DE81B55F030}"/>
                  </a:ext>
                </a:extLst>
              </p:cNvPr>
              <p:cNvGrpSpPr/>
              <p:nvPr/>
            </p:nvGrpSpPr>
            <p:grpSpPr>
              <a:xfrm>
                <a:off x="23722773" y="15386915"/>
                <a:ext cx="5766139" cy="6288526"/>
                <a:chOff x="23722773" y="15386915"/>
                <a:chExt cx="5766139" cy="6288526"/>
              </a:xfrm>
            </p:grpSpPr>
            <p:pic>
              <p:nvPicPr>
                <p:cNvPr id="97" name="Graphic 96">
                  <a:extLst>
                    <a:ext uri="{FF2B5EF4-FFF2-40B4-BE49-F238E27FC236}">
                      <a16:creationId xmlns:a16="http://schemas.microsoft.com/office/drawing/2014/main" id="{43C9306F-2C03-A2C8-4848-B619109DAA6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rcRect l="10234" b="7938"/>
                <a:stretch/>
              </p:blipFill>
              <p:spPr>
                <a:xfrm>
                  <a:off x="24165170" y="15386915"/>
                  <a:ext cx="5323742" cy="5662134"/>
                </a:xfrm>
                <a:prstGeom prst="rect">
                  <a:avLst/>
                </a:prstGeom>
              </p:spPr>
            </p:pic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DF1AC5B5-014D-8A7A-6881-70B646DCADDF}"/>
                    </a:ext>
                  </a:extLst>
                </p:cNvPr>
                <p:cNvSpPr txBox="1"/>
                <p:nvPr/>
              </p:nvSpPr>
              <p:spPr>
                <a:xfrm>
                  <a:off x="25887039" y="21058834"/>
                  <a:ext cx="957831" cy="6166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E01277E7-C84C-A41A-2386-24226DEDA212}"/>
                    </a:ext>
                  </a:extLst>
                </p:cNvPr>
                <p:cNvSpPr txBox="1"/>
                <p:nvPr/>
              </p:nvSpPr>
              <p:spPr>
                <a:xfrm rot="16200000">
                  <a:off x="22764974" y="18383871"/>
                  <a:ext cx="2322987" cy="40738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500" dirty="0"/>
                    <a:t>Reciprocate &gt; Defect</a:t>
                  </a:r>
                </a:p>
              </p:txBody>
            </p:sp>
          </p:grp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297617-5CA2-19EC-AC1C-E6A5EBEB3DA3}"/>
                </a:ext>
              </a:extLst>
            </p:cNvPr>
            <p:cNvSpPr txBox="1"/>
            <p:nvPr/>
          </p:nvSpPr>
          <p:spPr>
            <a:xfrm>
              <a:off x="23666606" y="16454726"/>
              <a:ext cx="5693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76A708FA-10E2-460A-AE78-BE3AAF25F2B4}"/>
                </a:ext>
              </a:extLst>
            </p:cNvPr>
            <p:cNvSpPr txBox="1"/>
            <p:nvPr/>
          </p:nvSpPr>
          <p:spPr>
            <a:xfrm>
              <a:off x="23611670" y="20489922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D91668E-A7C9-DBD7-3DF8-EF6C30111537}"/>
                </a:ext>
              </a:extLst>
            </p:cNvPr>
            <p:cNvSpPr txBox="1"/>
            <p:nvPr/>
          </p:nvSpPr>
          <p:spPr>
            <a:xfrm>
              <a:off x="24150950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EC03A6CC-92ED-1BA3-D06A-54B62448CA2B}"/>
                </a:ext>
              </a:extLst>
            </p:cNvPr>
            <p:cNvSpPr txBox="1"/>
            <p:nvPr/>
          </p:nvSpPr>
          <p:spPr>
            <a:xfrm>
              <a:off x="27777018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C529997-E613-6FA5-A7DF-DF57A82C0094}"/>
              </a:ext>
            </a:extLst>
          </p:cNvPr>
          <p:cNvGrpSpPr/>
          <p:nvPr/>
        </p:nvGrpSpPr>
        <p:grpSpPr>
          <a:xfrm>
            <a:off x="15648945" y="26169771"/>
            <a:ext cx="4327314" cy="4753042"/>
            <a:chOff x="16026704" y="24076052"/>
            <a:chExt cx="6621599" cy="6849922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C0CE68F0-AF14-6656-57CF-FFBB06F2924C}"/>
                </a:ext>
              </a:extLst>
            </p:cNvPr>
            <p:cNvGrpSpPr/>
            <p:nvPr/>
          </p:nvGrpSpPr>
          <p:grpSpPr>
            <a:xfrm>
              <a:off x="16651056" y="24076052"/>
              <a:ext cx="5997247" cy="6116146"/>
              <a:chOff x="16298215" y="23901746"/>
              <a:chExt cx="5444618" cy="5552561"/>
            </a:xfrm>
          </p:grpSpPr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E765E8AC-BEF2-0C10-2C08-A7AA533B4CC4}"/>
                  </a:ext>
                </a:extLst>
              </p:cNvPr>
              <p:cNvSpPr/>
              <p:nvPr/>
            </p:nvSpPr>
            <p:spPr bwMode="auto">
              <a:xfrm>
                <a:off x="16404332" y="23901746"/>
                <a:ext cx="5338501" cy="54611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pic>
            <p:nvPicPr>
              <p:cNvPr id="109" name="Graphic 108">
                <a:extLst>
                  <a:ext uri="{FF2B5EF4-FFF2-40B4-BE49-F238E27FC236}">
                    <a16:creationId xmlns:a16="http://schemas.microsoft.com/office/drawing/2014/main" id="{F3F0E9D3-8D47-FE8D-3B18-3A8FE90E5C5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l="10756" t="6660" r="2865" b="7584"/>
              <a:stretch/>
            </p:blipFill>
            <p:spPr>
              <a:xfrm>
                <a:off x="16298215" y="23931518"/>
                <a:ext cx="5364158" cy="5522789"/>
              </a:xfrm>
              <a:prstGeom prst="rect">
                <a:avLst/>
              </a:prstGeom>
            </p:spPr>
          </p:pic>
        </p:grp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7D665922-354B-5F7B-52DE-B5A9E06AF3C3}"/>
                </a:ext>
              </a:extLst>
            </p:cNvPr>
            <p:cNvSpPr txBox="1"/>
            <p:nvPr/>
          </p:nvSpPr>
          <p:spPr>
            <a:xfrm>
              <a:off x="18654011" y="30218088"/>
              <a:ext cx="109677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Age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E4CE376-1456-3558-63EF-76F2B29FCC9C}"/>
                </a:ext>
              </a:extLst>
            </p:cNvPr>
            <p:cNvSpPr txBox="1"/>
            <p:nvPr/>
          </p:nvSpPr>
          <p:spPr>
            <a:xfrm rot="16200000">
              <a:off x="14608848" y="26568394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Stranger (Reciprocate &gt; Defect)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AE3A315D-C5AE-B382-C760-332506165832}"/>
                </a:ext>
              </a:extLst>
            </p:cNvPr>
            <p:cNvSpPr txBox="1"/>
            <p:nvPr/>
          </p:nvSpPr>
          <p:spPr>
            <a:xfrm>
              <a:off x="16115961" y="24411311"/>
              <a:ext cx="651983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73A14E67-238A-82CF-0752-574EAE3C7987}"/>
                </a:ext>
              </a:extLst>
            </p:cNvPr>
            <p:cNvSpPr txBox="1"/>
            <p:nvPr/>
          </p:nvSpPr>
          <p:spPr>
            <a:xfrm>
              <a:off x="16026704" y="28875791"/>
              <a:ext cx="740088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E6A6E8B3-1BEE-12B6-2F1C-7AF1856CBDE9}"/>
                </a:ext>
              </a:extLst>
            </p:cNvPr>
            <p:cNvSpPr txBox="1"/>
            <p:nvPr/>
          </p:nvSpPr>
          <p:spPr>
            <a:xfrm>
              <a:off x="16666083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132BEBEC-04E3-AC3D-CE24-FB42999CD2B3}"/>
                </a:ext>
              </a:extLst>
            </p:cNvPr>
            <p:cNvSpPr txBox="1"/>
            <p:nvPr/>
          </p:nvSpPr>
          <p:spPr>
            <a:xfrm>
              <a:off x="20818152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2AD1EF36-AA4E-A44B-D919-824BBFDA4A0C}"/>
              </a:ext>
            </a:extLst>
          </p:cNvPr>
          <p:cNvGrpSpPr/>
          <p:nvPr/>
        </p:nvGrpSpPr>
        <p:grpSpPr>
          <a:xfrm>
            <a:off x="20253272" y="25944605"/>
            <a:ext cx="4649725" cy="5094016"/>
            <a:chOff x="23087465" y="23975816"/>
            <a:chExt cx="6623276" cy="7256145"/>
          </a:xfrm>
        </p:grpSpPr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1DEAB958-C111-9F02-623D-071183F50D19}"/>
                </a:ext>
              </a:extLst>
            </p:cNvPr>
            <p:cNvGrpSpPr/>
            <p:nvPr/>
          </p:nvGrpSpPr>
          <p:grpSpPr>
            <a:xfrm>
              <a:off x="23087465" y="23975816"/>
              <a:ext cx="6623276" cy="7256145"/>
              <a:chOff x="23087465" y="23975816"/>
              <a:chExt cx="6623276" cy="7256145"/>
            </a:xfrm>
          </p:grpSpPr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8534103F-0EA0-62CC-7520-621D0FE2C856}"/>
                  </a:ext>
                </a:extLst>
              </p:cNvPr>
              <p:cNvGrpSpPr/>
              <p:nvPr/>
            </p:nvGrpSpPr>
            <p:grpSpPr>
              <a:xfrm>
                <a:off x="23723984" y="23975816"/>
                <a:ext cx="5986757" cy="6200049"/>
                <a:chOff x="22850799" y="23722813"/>
                <a:chExt cx="6404865" cy="6633053"/>
              </a:xfrm>
            </p:grpSpPr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08F19C4F-7188-5689-67D2-5A26E5430A88}"/>
                    </a:ext>
                  </a:extLst>
                </p:cNvPr>
                <p:cNvSpPr/>
                <p:nvPr/>
              </p:nvSpPr>
              <p:spPr bwMode="auto">
                <a:xfrm>
                  <a:off x="22910829" y="23794038"/>
                  <a:ext cx="6344835" cy="6490605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pic>
              <p:nvPicPr>
                <p:cNvPr id="120" name="Graphic 119">
                  <a:extLst>
                    <a:ext uri="{FF2B5EF4-FFF2-40B4-BE49-F238E27FC236}">
                      <a16:creationId xmlns:a16="http://schemas.microsoft.com/office/drawing/2014/main" id="{939A497A-8EAF-4E1B-2E8E-15CA0621CB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2850799" y="23722813"/>
                  <a:ext cx="6299716" cy="6633053"/>
                </a:xfrm>
                <a:prstGeom prst="rect">
                  <a:avLst/>
                </a:prstGeom>
              </p:spPr>
            </p:pic>
          </p:grp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3D1524EC-D92B-8FA3-D8A6-098201DDCA0F}"/>
                  </a:ext>
                </a:extLst>
              </p:cNvPr>
              <p:cNvSpPr txBox="1"/>
              <p:nvPr/>
            </p:nvSpPr>
            <p:spPr>
              <a:xfrm>
                <a:off x="25810593" y="30223616"/>
                <a:ext cx="2418355" cy="10083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0DC9BEAD-E103-68DA-5790-185983E037AD}"/>
                  </a:ext>
                </a:extLst>
              </p:cNvPr>
              <p:cNvSpPr txBox="1"/>
              <p:nvPr/>
            </p:nvSpPr>
            <p:spPr>
              <a:xfrm>
                <a:off x="23166754" y="24615337"/>
                <a:ext cx="6519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EB83C2D-A0BE-8C30-A945-0F86106E2CDC}"/>
                  </a:ext>
                </a:extLst>
              </p:cNvPr>
              <p:cNvSpPr txBox="1"/>
              <p:nvPr/>
            </p:nvSpPr>
            <p:spPr>
              <a:xfrm>
                <a:off x="23087465" y="28711327"/>
                <a:ext cx="7400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218FC39E-578D-0D68-C88D-76EE001D6E18}"/>
                  </a:ext>
                </a:extLst>
              </p:cNvPr>
              <p:cNvSpPr txBox="1"/>
              <p:nvPr/>
            </p:nvSpPr>
            <p:spPr>
              <a:xfrm>
                <a:off x="23822666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DE6319DE-0316-C93F-9818-3984FE3B0383}"/>
                  </a:ext>
                </a:extLst>
              </p:cNvPr>
              <p:cNvSpPr txBox="1"/>
              <p:nvPr/>
            </p:nvSpPr>
            <p:spPr>
              <a:xfrm>
                <a:off x="27974735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9F44120-45BB-E9BC-5BC4-EAAC98EBCF93}"/>
                </a:ext>
              </a:extLst>
            </p:cNvPr>
            <p:cNvSpPr txBox="1"/>
            <p:nvPr/>
          </p:nvSpPr>
          <p:spPr>
            <a:xfrm rot="16200000">
              <a:off x="21699109" y="26614219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Computer (Reciprocate &gt; Defect)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707521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DE0AC601CE7945A16C28BE7D604718" ma:contentTypeVersion="16" ma:contentTypeDescription="Create a new document." ma:contentTypeScope="" ma:versionID="7200742d51933ad5859751156d985908">
  <xsd:schema xmlns:xsd="http://www.w3.org/2001/XMLSchema" xmlns:xs="http://www.w3.org/2001/XMLSchema" xmlns:p="http://schemas.microsoft.com/office/2006/metadata/properties" xmlns:ns2="068132b6-27af-4cc5-9624-46e0bc309f9c" xmlns:ns3="1ec1d487-840c-40ff-aca1-00ff13008544" targetNamespace="http://schemas.microsoft.com/office/2006/metadata/properties" ma:root="true" ma:fieldsID="ef3bb859774f4d5f12e6e11e5f5551df" ns2:_="" ns3:_="">
    <xsd:import namespace="068132b6-27af-4cc5-9624-46e0bc309f9c"/>
    <xsd:import namespace="1ec1d487-840c-40ff-aca1-00ff1300854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8132b6-27af-4cc5-9624-46e0bc309f9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46aeeafc-10b8-45d8-a1af-5ed376f9e15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c1d487-840c-40ff-aca1-00ff13008544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585dd9d-b35f-48e0-ab88-fcb6ff0e764c}" ma:internalName="TaxCatchAll" ma:showField="CatchAllData" ma:web="1ec1d487-840c-40ff-aca1-00ff1300854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5CAE7E8-1A3A-4A91-86FB-BA9E1762341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6138A07-987C-4A73-AAED-022482DDD0A4}">
  <ds:schemaRefs>
    <ds:schemaRef ds:uri="068132b6-27af-4cc5-9624-46e0bc309f9c"/>
    <ds:schemaRef ds:uri="1ec1d487-840c-40ff-aca1-00ff1300854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15978</TotalTime>
  <Words>788</Words>
  <Application>Microsoft Macintosh PowerPoint</Application>
  <PresentationFormat>Custom</PresentationFormat>
  <Paragraphs>141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Helvetica</vt:lpstr>
      <vt:lpstr>Trebuchet MS</vt:lpstr>
      <vt:lpstr>Default Design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DVS</dc:creator>
  <cp:lastModifiedBy>Avi Dachs</cp:lastModifiedBy>
  <cp:revision>35</cp:revision>
  <cp:lastPrinted>2018-05-07T13:24:31Z</cp:lastPrinted>
  <dcterms:created xsi:type="dcterms:W3CDTF">2007-10-30T17:33:32Z</dcterms:created>
  <dcterms:modified xsi:type="dcterms:W3CDTF">2023-11-10T01:08:05Z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