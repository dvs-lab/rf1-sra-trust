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8"/>
  </p:notesMasterIdLst>
  <p:handoutMasterIdLst>
    <p:handoutMasterId r:id="rId9"/>
  </p:handoutMasterIdLst>
  <p:sldIdLst>
    <p:sldId id="256" r:id="rId4"/>
    <p:sldId id="257" r:id="rId5"/>
    <p:sldId id="260" r:id="rId6"/>
    <p:sldId id="261" r:id="rId7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852"/>
    <p:restoredTop sz="94650"/>
  </p:normalViewPr>
  <p:slideViewPr>
    <p:cSldViewPr snapToGrid="0">
      <p:cViewPr>
        <p:scale>
          <a:sx n="27" d="100"/>
          <a:sy n="27" d="100"/>
        </p:scale>
        <p:origin x="-224" y="-24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microsoft.com/office/2018/10/relationships/authors" Target="authors.xml"/><Relationship Id="rId10" Type="http://schemas.openxmlformats.org/officeDocument/2006/relationships/commentAuthors" Target="commentAuthors.xml"/><Relationship Id="rId4" Type="http://schemas.openxmlformats.org/officeDocument/2006/relationships/slide" Target="slides/slide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DDBB1-044E-9D49-A06F-A3C869B026F2}" authorId="{65E78F60-8CE4-956A-0128-6E549761F19F}" created="2023-11-09T16:08:01.580">
    <pc:sldMkLst xmlns:pc="http://schemas.microsoft.com/office/powerpoint/2013/main/command">
      <pc:docMk/>
      <pc:sldMk cId="0" sldId="256"/>
    </pc:sldMkLst>
    <p188:replyLst>
      <p188:reply id="{3B9890BE-EE1D-3A49-92EB-1992130D2BCD}" authorId="{65E78F60-8CE4-956A-0128-6E549761F19F}" created="2023-11-09T16:08:57.249">
        <p188:txBody>
          <a:bodyPr/>
          <a:lstStyle/>
          <a:p>
            <a:r>
              <a:rPr lang="en-US"/>
              <a:t>IOS x age</a:t>
            </a:r>
          </a:p>
        </p188:txBody>
      </p188:reply>
    </p188:replyLst>
    <p188:txBody>
      <a:bodyPr/>
      <a:lstStyle/>
      <a:p>
        <a:r>
          <a:rPr lang="en-US"/>
          <a:t>Computer Stranger order 3.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11/9/23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svg"/><Relationship Id="rId3" Type="http://schemas.microsoft.com/office/2018/10/relationships/comments" Target="../comments/modernComment_100_0.xml"/><Relationship Id="rId21" Type="http://schemas.openxmlformats.org/officeDocument/2006/relationships/image" Target="../media/image18.pn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svg"/><Relationship Id="rId32" Type="http://schemas.openxmlformats.org/officeDocument/2006/relationships/image" Target="../media/image29.sv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28" Type="http://schemas.openxmlformats.org/officeDocument/2006/relationships/image" Target="../media/image25.sv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svg"/><Relationship Id="rId27" Type="http://schemas.openxmlformats.org/officeDocument/2006/relationships/image" Target="../media/image24.png"/><Relationship Id="rId30" Type="http://schemas.openxmlformats.org/officeDocument/2006/relationships/image" Target="../media/image2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9.png"/><Relationship Id="rId7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4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0912317" y="28607914"/>
            <a:ext cx="3543576" cy="1716829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15696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Scan the QR code to see the</a:t>
              </a:r>
              <a:endParaRPr lang="en-US" sz="3200" b="1" dirty="0"/>
            </a:p>
            <a:p>
              <a:pPr algn="ctr"/>
              <a:r>
                <a:rPr lang="en-US" sz="3200" b="1" u="sng" dirty="0">
                  <a:latin typeface="Helvetica"/>
                  <a:ea typeface="MS PGothic"/>
                </a:rPr>
                <a:t>Pre-registration!</a:t>
              </a:r>
              <a:endParaRPr lang="en-US" sz="3200" b="1" u="sng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7902" y="26012680"/>
            <a:ext cx="2340933" cy="2333025"/>
          </a:xfrm>
          <a:prstGeom prst="rect">
            <a:avLst/>
          </a:prstGeom>
        </p:spPr>
      </p:pic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7" y="13516081"/>
            <a:ext cx="14710114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456311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4" name="TextBox 4"/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5366" name="TextBox 86"/>
          <p:cNvSpPr txBox="1">
            <a:spLocks noChangeArrowheads="1"/>
          </p:cNvSpPr>
          <p:nvPr/>
        </p:nvSpPr>
        <p:spPr bwMode="auto">
          <a:xfrm>
            <a:off x="15671037" y="3834958"/>
            <a:ext cx="14465760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Subjects Are Closer With Friends than With Strangers</a:t>
            </a:r>
          </a:p>
        </p:txBody>
      </p: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50489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5" name="TextBox 86">
            <a:extLst>
              <a:ext uri="{FF2B5EF4-FFF2-40B4-BE49-F238E27FC236}">
                <a16:creationId xmlns:a16="http://schemas.microsoft.com/office/drawing/2014/main" id="{1CF89B97-C9DF-F948-91B0-4A8F54D0C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22267959"/>
            <a:ext cx="14827930" cy="1041654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0" name="TextBox 86">
            <a:extLst>
              <a:ext uri="{FF2B5EF4-FFF2-40B4-BE49-F238E27FC236}">
                <a16:creationId xmlns:a16="http://schemas.microsoft.com/office/drawing/2014/main" id="{ED758D76-DD2F-7D44-83F3-6BA6250C1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606227" y="30861297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25" name="Group 15524">
            <a:extLst>
              <a:ext uri="{FF2B5EF4-FFF2-40B4-BE49-F238E27FC236}">
                <a16:creationId xmlns:a16="http://schemas.microsoft.com/office/drawing/2014/main" id="{495044C5-5185-1E74-1C51-F36E8CA64CBA}"/>
              </a:ext>
            </a:extLst>
          </p:cNvPr>
          <p:cNvGrpSpPr/>
          <p:nvPr/>
        </p:nvGrpSpPr>
        <p:grpSpPr>
          <a:xfrm>
            <a:off x="169367" y="3967558"/>
            <a:ext cx="14831195" cy="9230365"/>
            <a:chOff x="211346" y="3968278"/>
            <a:chExt cx="14831195" cy="8123743"/>
          </a:xfrm>
        </p:grpSpPr>
        <p:sp>
          <p:nvSpPr>
            <p:cNvPr id="15362" name="TextBox 189"/>
            <p:cNvSpPr txBox="1">
              <a:spLocks noChangeArrowheads="1"/>
            </p:cNvSpPr>
            <p:nvPr/>
          </p:nvSpPr>
          <p:spPr bwMode="auto">
            <a:xfrm>
              <a:off x="515553" y="4761579"/>
              <a:ext cx="14526988" cy="50167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 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Social relationships influence our behaviors and may modulate our neural responses to reward.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2015)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 </a:t>
              </a:r>
              <a:r>
                <a:rPr lang="en-US" sz="4000" dirty="0">
                  <a:solidFill>
                    <a:srgbClr val="000000"/>
                  </a:solidFill>
                  <a:latin typeface="Helvetica" pitchFamily="2" charset="0"/>
                  <a:ea typeface="MS PGothic"/>
                  <a:cs typeface="Helvetica"/>
                </a:rPr>
                <a:t>Th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e effect of relationships on behavior and reward activation may change as we age.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2022)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b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It remains unclear whether age-related differences in responses to trust are associated with maladaptive outcomes such as financial exploitation.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</p:txBody>
        </p:sp>
        <p:sp>
          <p:nvSpPr>
            <p:cNvPr id="15369" name="Rectangle 162"/>
            <p:cNvSpPr>
              <a:spLocks noChangeArrowheads="1"/>
            </p:cNvSpPr>
            <p:nvPr/>
          </p:nvSpPr>
          <p:spPr bwMode="auto">
            <a:xfrm>
              <a:off x="211346" y="4331110"/>
              <a:ext cx="14720168" cy="7760911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 dirty="0">
                <a:latin typeface="Trebuchet MS" panose="020B0603020202020204" pitchFamily="34" charset="0"/>
              </a:endParaRPr>
            </a:p>
          </p:txBody>
        </p:sp>
        <p:sp>
          <p:nvSpPr>
            <p:cNvPr id="15361" name="Rectangle 200"/>
            <p:cNvSpPr>
              <a:spLocks noChangeArrowheads="1"/>
            </p:cNvSpPr>
            <p:nvPr/>
          </p:nvSpPr>
          <p:spPr bwMode="auto">
            <a:xfrm>
              <a:off x="4858205" y="3968278"/>
              <a:ext cx="4805795" cy="7387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81274" tIns="40638" rIns="81274" bIns="40638">
              <a:spAutoFit/>
            </a:bodyPr>
            <a:lstStyle>
              <a:lvl1pPr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altLang="en-US" sz="4267" b="1" dirty="0">
                  <a:solidFill>
                    <a:srgbClr val="C00000"/>
                  </a:solidFill>
                  <a:latin typeface="Trebuchet MS" panose="020B0603020202020204" pitchFamily="34" charset="0"/>
                </a:rPr>
                <a:t>1. Introduction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28EF0BF-392F-46C6-BF23-BF99B2CEA917}"/>
                </a:ext>
              </a:extLst>
            </p:cNvPr>
            <p:cNvSpPr txBox="1"/>
            <p:nvPr/>
          </p:nvSpPr>
          <p:spPr>
            <a:xfrm>
              <a:off x="251798" y="9507352"/>
              <a:ext cx="14639262" cy="2031325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>
                <a:spcBef>
                  <a:spcPts val="360"/>
                </a:spcBef>
                <a:spcAft>
                  <a:spcPts val="0"/>
                </a:spcAft>
              </a:pPr>
              <a:r>
                <a:rPr lang="en-US" sz="4200" b="1" dirty="0">
                  <a:latin typeface="Helvetica"/>
                  <a:ea typeface="MS PGothic"/>
                  <a:cs typeface="Helvetica"/>
                </a:rPr>
                <a:t>We</a:t>
              </a:r>
              <a:r>
                <a:rPr lang="en-US" sz="4200" b="1" i="0" u="none" strike="noStrike" dirty="0">
                  <a:effectLst/>
                  <a:latin typeface="Helvetica"/>
                  <a:ea typeface="MS PGothic"/>
                  <a:cs typeface="Helvetica"/>
                </a:rPr>
                <a:t> investigated </a:t>
              </a:r>
              <a:r>
                <a:rPr lang="en-US" sz="4200" b="1" dirty="0">
                  <a:latin typeface="Helvetica"/>
                  <a:ea typeface="MS PGothic"/>
                  <a:cs typeface="Helvetica"/>
                </a:rPr>
                <a:t>whether social trust decisions change as we age, and how those changes could be related to financial exploitation.</a:t>
              </a:r>
              <a:endParaRPr lang="en-US" sz="4200" b="1" dirty="0">
                <a:cs typeface="Helvetica"/>
              </a:endParaRPr>
            </a:p>
          </p:txBody>
        </p:sp>
      </p:grp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922551" y="24296197"/>
            <a:ext cx="6012596" cy="5358384"/>
            <a:chOff x="14976740" y="15406812"/>
            <a:chExt cx="6810930" cy="6071098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2" name="TextBox 86">
            <a:extLst>
              <a:ext uri="{FF2B5EF4-FFF2-40B4-BE49-F238E27FC236}">
                <a16:creationId xmlns:a16="http://schemas.microsoft.com/office/drawing/2014/main" id="{7876542B-4364-4FD7-BCA2-651EBF34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8" y="25095850"/>
            <a:ext cx="12496564" cy="6401753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activation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differs between older and younger adults relative to social context.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further examine age-related differences in neural responses to monetary outcomes relative to social context and risk of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15524" name="Group 15523">
            <a:extLst>
              <a:ext uri="{FF2B5EF4-FFF2-40B4-BE49-F238E27FC236}">
                <a16:creationId xmlns:a16="http://schemas.microsoft.com/office/drawing/2014/main" id="{2BE13E56-51BA-1AA5-3DFC-DFF18406D067}"/>
              </a:ext>
            </a:extLst>
          </p:cNvPr>
          <p:cNvGrpSpPr/>
          <p:nvPr/>
        </p:nvGrpSpPr>
        <p:grpSpPr>
          <a:xfrm>
            <a:off x="65312" y="31162938"/>
            <a:ext cx="14865736" cy="1521569"/>
            <a:chOff x="238017" y="31162937"/>
            <a:chExt cx="14865736" cy="1521569"/>
          </a:xfrm>
        </p:grpSpPr>
        <p:sp>
          <p:nvSpPr>
            <p:cNvPr id="15522" name="Rectangle 162">
              <a:extLst>
                <a:ext uri="{FF2B5EF4-FFF2-40B4-BE49-F238E27FC236}">
                  <a16:creationId xmlns:a16="http://schemas.microsoft.com/office/drawing/2014/main" id="{FE02C6A3-84E3-8711-744E-4E036833F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51" y="31162937"/>
              <a:ext cx="14710114" cy="1521569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>
                <a:latin typeface="Trebuchet MS" panose="020B0603020202020204" pitchFamily="34" charset="0"/>
              </a:endParaRPr>
            </a:p>
          </p:txBody>
        </p:sp>
        <p:sp>
          <p:nvSpPr>
            <p:cNvPr id="15523" name="TextBox 15522">
              <a:extLst>
                <a:ext uri="{FF2B5EF4-FFF2-40B4-BE49-F238E27FC236}">
                  <a16:creationId xmlns:a16="http://schemas.microsoft.com/office/drawing/2014/main" id="{D58D20F7-A26B-E2DB-0B9B-4184ACFBEF53}"/>
                </a:ext>
              </a:extLst>
            </p:cNvPr>
            <p:cNvSpPr txBox="1"/>
            <p:nvPr/>
          </p:nvSpPr>
          <p:spPr>
            <a:xfrm>
              <a:off x="238017" y="31376129"/>
              <a:ext cx="1486573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0" i="0" dirty="0">
                  <a:effectLst/>
                  <a:latin typeface="Helvetica" pitchFamily="2" charset="0"/>
                </a:rPr>
                <a:t>This study was supported by NIH grant RF1-AG67011 (David V. Smith).</a:t>
              </a:r>
              <a:br>
                <a:rPr lang="en-US" sz="3200" dirty="0">
                  <a:latin typeface="Helvetica" pitchFamily="2" charset="0"/>
                </a:rPr>
              </a:br>
              <a:r>
                <a:rPr lang="en-US" sz="3200" b="0" i="0" dirty="0">
                  <a:effectLst/>
                  <a:latin typeface="Helvetica" pitchFamily="2" charset="0"/>
                </a:rPr>
                <a:t>Contact information: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Avi.Dachs@temple.edu</a:t>
              </a:r>
              <a:r>
                <a:rPr lang="en-US" sz="3200" b="0" i="0" dirty="0">
                  <a:effectLst/>
                  <a:latin typeface="Helvetica" pitchFamily="2" charset="0"/>
                </a:rPr>
                <a:t>,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Cooper.Sharp@temple.edu</a:t>
              </a:r>
              <a:endParaRPr lang="en-US" sz="3200" dirty="0">
                <a:latin typeface="Helvetica" pitchFamily="2" charset="0"/>
              </a:endParaRPr>
            </a:p>
          </p:txBody>
        </p:sp>
      </p:grp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423843" y="26895455"/>
            <a:ext cx="9969217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28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28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2800" b="0" i="0" dirty="0">
                <a:effectLst/>
                <a:latin typeface="Helvetica" pitchFamily="2" charset="0"/>
              </a:rPr>
              <a:t>Inclusion of Other in Self Scale and 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2800" b="0" i="0" dirty="0">
                <a:effectLst/>
                <a:latin typeface="Helvetica" pitchFamily="2" charset="0"/>
              </a:rPr>
              <a:t>Older Adults Financial Exploitation and Vulnerability Scale.</a:t>
            </a:r>
          </a:p>
          <a:p>
            <a:pPr algn="ctr"/>
            <a:endParaRPr lang="en-US" sz="28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28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28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28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25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15661" name="TextBox 15660">
              <a:extLst>
                <a:ext uri="{FF2B5EF4-FFF2-40B4-BE49-F238E27FC236}">
                  <a16:creationId xmlns:a16="http://schemas.microsoft.com/office/drawing/2014/main" id="{617C1651-3CCF-B80A-1012-2C16CC7ED704}"/>
                </a:ext>
              </a:extLst>
            </p:cNvPr>
            <p:cNvSpPr txBox="1"/>
            <p:nvPr/>
          </p:nvSpPr>
          <p:spPr>
            <a:xfrm>
              <a:off x="16288042" y="7069297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574224" y="14845624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2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u="sng" dirty="0"/>
                <a:t>You are given </a:t>
              </a:r>
              <a:r>
                <a:rPr lang="en-US" sz="3500" b="1" u="sng" dirty="0"/>
                <a:t>$8</a:t>
              </a:r>
              <a:r>
                <a:rPr lang="en-US" sz="3500" u="sng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4000" u="sng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250937" y="17041236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10" name="Group 15709">
            <a:extLst>
              <a:ext uri="{FF2B5EF4-FFF2-40B4-BE49-F238E27FC236}">
                <a16:creationId xmlns:a16="http://schemas.microsoft.com/office/drawing/2014/main" id="{9AFA48F8-C584-C811-C9F5-EFCA333DD7C1}"/>
              </a:ext>
            </a:extLst>
          </p:cNvPr>
          <p:cNvGrpSpPr/>
          <p:nvPr/>
        </p:nvGrpSpPr>
        <p:grpSpPr>
          <a:xfrm>
            <a:off x="30912367" y="15288689"/>
            <a:ext cx="4003957" cy="3793200"/>
            <a:chOff x="30175830" y="13427301"/>
            <a:chExt cx="6887851" cy="7050823"/>
          </a:xfrm>
        </p:grpSpPr>
        <p:pic>
          <p:nvPicPr>
            <p:cNvPr id="15672" name="Picture 15671" descr="A close-up of a brain&#10;&#10;Description automatically generated">
              <a:extLst>
                <a:ext uri="{FF2B5EF4-FFF2-40B4-BE49-F238E27FC236}">
                  <a16:creationId xmlns:a16="http://schemas.microsoft.com/office/drawing/2014/main" id="{D3F7B839-9C15-BAE8-4B9F-D9E5FA416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686058" y="14307843"/>
              <a:ext cx="6377623" cy="5333837"/>
            </a:xfrm>
            <a:prstGeom prst="rect">
              <a:avLst/>
            </a:prstGeom>
          </p:spPr>
        </p:pic>
        <p:sp>
          <p:nvSpPr>
            <p:cNvPr id="15673" name="TextBox 15672">
              <a:extLst>
                <a:ext uri="{FF2B5EF4-FFF2-40B4-BE49-F238E27FC236}">
                  <a16:creationId xmlns:a16="http://schemas.microsoft.com/office/drawing/2014/main" id="{B7572CC2-F582-E038-F57D-36186A2AD7CD}"/>
                </a:ext>
              </a:extLst>
            </p:cNvPr>
            <p:cNvSpPr txBox="1"/>
            <p:nvPr/>
          </p:nvSpPr>
          <p:spPr>
            <a:xfrm>
              <a:off x="30175830" y="13427301"/>
              <a:ext cx="1827438" cy="9879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-8</a:t>
              </a:r>
            </a:p>
          </p:txBody>
        </p:sp>
        <p:sp>
          <p:nvSpPr>
            <p:cNvPr id="15679" name="TextBox 15678">
              <a:extLst>
                <a:ext uri="{FF2B5EF4-FFF2-40B4-BE49-F238E27FC236}">
                  <a16:creationId xmlns:a16="http://schemas.microsoft.com/office/drawing/2014/main" id="{C5CCA665-31CA-7E9E-5033-AF62B19B1AEF}"/>
                </a:ext>
              </a:extLst>
            </p:cNvPr>
            <p:cNvSpPr txBox="1"/>
            <p:nvPr/>
          </p:nvSpPr>
          <p:spPr>
            <a:xfrm>
              <a:off x="30483851" y="19661963"/>
              <a:ext cx="2587045" cy="8161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latin typeface="Helvetica"/>
                </a:rPr>
                <a:t>mPFC</a:t>
              </a:r>
              <a:endParaRPr lang="en-US" sz="3200" b="1" dirty="0">
                <a:latin typeface="Helvetica"/>
              </a:endParaRPr>
            </a:p>
          </p:txBody>
        </p:sp>
      </p:grp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892788" y="7424174"/>
            <a:ext cx="3962327" cy="4113783"/>
            <a:chOff x="30936691" y="4266720"/>
            <a:chExt cx="5919174" cy="6849738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0936691" y="10239860"/>
              <a:ext cx="2517094" cy="8765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latin typeface="Helvetica"/>
                </a:rPr>
                <a:t>dlPFC</a:t>
              </a:r>
              <a:endParaRPr lang="en-US" sz="3200" b="1" dirty="0">
                <a:latin typeface="Helvetica"/>
              </a:endParaRP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sp>
        <p:nvSpPr>
          <p:cNvPr id="15709" name="TextBox 15708">
            <a:extLst>
              <a:ext uri="{FF2B5EF4-FFF2-40B4-BE49-F238E27FC236}">
                <a16:creationId xmlns:a16="http://schemas.microsoft.com/office/drawing/2014/main" id="{80412985-0DFC-4CC7-0908-955D07FD1104}"/>
              </a:ext>
            </a:extLst>
          </p:cNvPr>
          <p:cNvSpPr txBox="1"/>
          <p:nvPr/>
        </p:nvSpPr>
        <p:spPr>
          <a:xfrm>
            <a:off x="31089809" y="13842164"/>
            <a:ext cx="48011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Reciprocate &gt; Computer Reciprocate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2124221" y="23761217"/>
            <a:ext cx="6126173" cy="7108285"/>
            <a:chOff x="23532472" y="16411504"/>
            <a:chExt cx="4693010" cy="5263937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684560" y="16939790"/>
              <a:ext cx="3160310" cy="4735651"/>
              <a:chOff x="23684560" y="16939790"/>
              <a:chExt cx="3160310" cy="4735651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5887039" y="21058834"/>
                <a:ext cx="957831" cy="6166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278692" y="18345658"/>
                <a:ext cx="3295551" cy="4838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532472" y="16411504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11670" y="20489922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150950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7777018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60</a:t>
              </a:r>
            </a:p>
          </p:txBody>
        </p:sp>
      </p:grpSp>
      <p:grpSp>
        <p:nvGrpSpPr>
          <p:cNvPr id="15726" name="Group 15725">
            <a:extLst>
              <a:ext uri="{FF2B5EF4-FFF2-40B4-BE49-F238E27FC236}">
                <a16:creationId xmlns:a16="http://schemas.microsoft.com/office/drawing/2014/main" id="{B3430D81-BB79-4C3F-9F94-3445BBB422F8}"/>
              </a:ext>
            </a:extLst>
          </p:cNvPr>
          <p:cNvGrpSpPr/>
          <p:nvPr/>
        </p:nvGrpSpPr>
        <p:grpSpPr>
          <a:xfrm>
            <a:off x="35263511" y="13754984"/>
            <a:ext cx="6764367" cy="6581465"/>
            <a:chOff x="37462544" y="16909110"/>
            <a:chExt cx="5148037" cy="5179793"/>
          </a:xfrm>
        </p:grpSpPr>
        <p:sp>
          <p:nvSpPr>
            <p:cNvPr id="15719" name="TextBox 15718">
              <a:extLst>
                <a:ext uri="{FF2B5EF4-FFF2-40B4-BE49-F238E27FC236}">
                  <a16:creationId xmlns:a16="http://schemas.microsoft.com/office/drawing/2014/main" id="{F04F4CFA-B833-1DD9-86EC-A956DC37137A}"/>
                </a:ext>
              </a:extLst>
            </p:cNvPr>
            <p:cNvSpPr txBox="1"/>
            <p:nvPr/>
          </p:nvSpPr>
          <p:spPr>
            <a:xfrm>
              <a:off x="37516370" y="16909110"/>
              <a:ext cx="598030" cy="4117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720" name="TextBox 15719">
              <a:extLst>
                <a:ext uri="{FF2B5EF4-FFF2-40B4-BE49-F238E27FC236}">
                  <a16:creationId xmlns:a16="http://schemas.microsoft.com/office/drawing/2014/main" id="{0D17E5B2-CB95-D5BD-E169-9C1854A0AD37}"/>
                </a:ext>
              </a:extLst>
            </p:cNvPr>
            <p:cNvSpPr txBox="1"/>
            <p:nvPr/>
          </p:nvSpPr>
          <p:spPr>
            <a:xfrm>
              <a:off x="37462544" y="20542022"/>
              <a:ext cx="689526" cy="4117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721" name="TextBox 15720">
              <a:extLst>
                <a:ext uri="{FF2B5EF4-FFF2-40B4-BE49-F238E27FC236}">
                  <a16:creationId xmlns:a16="http://schemas.microsoft.com/office/drawing/2014/main" id="{81E64089-644A-E436-A434-45AF685F62E1}"/>
                </a:ext>
              </a:extLst>
            </p:cNvPr>
            <p:cNvSpPr txBox="1"/>
            <p:nvPr/>
          </p:nvSpPr>
          <p:spPr>
            <a:xfrm rot="16200000">
              <a:off x="36531370" y="18699129"/>
              <a:ext cx="2471242" cy="4406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mPFC</a:t>
              </a:r>
              <a:r>
                <a:rPr lang="en-US" sz="3000" dirty="0"/>
                <a:t> activation</a:t>
              </a:r>
            </a:p>
          </p:txBody>
        </p:sp>
        <p:sp>
          <p:nvSpPr>
            <p:cNvPr id="15722" name="TextBox 15721">
              <a:extLst>
                <a:ext uri="{FF2B5EF4-FFF2-40B4-BE49-F238E27FC236}">
                  <a16:creationId xmlns:a16="http://schemas.microsoft.com/office/drawing/2014/main" id="{D6E3B518-3825-F962-6455-6381AEA6B615}"/>
                </a:ext>
              </a:extLst>
            </p:cNvPr>
            <p:cNvSpPr txBox="1"/>
            <p:nvPr/>
          </p:nvSpPr>
          <p:spPr>
            <a:xfrm>
              <a:off x="38109468" y="21552103"/>
              <a:ext cx="445533" cy="4117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723" name="TextBox 15722">
              <a:extLst>
                <a:ext uri="{FF2B5EF4-FFF2-40B4-BE49-F238E27FC236}">
                  <a16:creationId xmlns:a16="http://schemas.microsoft.com/office/drawing/2014/main" id="{8B001207-DE47-3A09-905A-EBCA2F9F5C56}"/>
                </a:ext>
              </a:extLst>
            </p:cNvPr>
            <p:cNvSpPr txBox="1"/>
            <p:nvPr/>
          </p:nvSpPr>
          <p:spPr>
            <a:xfrm>
              <a:off x="42165048" y="21461542"/>
              <a:ext cx="445533" cy="4117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  <p:sp>
          <p:nvSpPr>
            <p:cNvPr id="15724" name="TextBox 15723">
              <a:extLst>
                <a:ext uri="{FF2B5EF4-FFF2-40B4-BE49-F238E27FC236}">
                  <a16:creationId xmlns:a16="http://schemas.microsoft.com/office/drawing/2014/main" id="{A7A779AE-265E-DD6C-9D50-6736DE453C86}"/>
                </a:ext>
              </a:extLst>
            </p:cNvPr>
            <p:cNvSpPr txBox="1"/>
            <p:nvPr/>
          </p:nvSpPr>
          <p:spPr>
            <a:xfrm>
              <a:off x="39987911" y="21381017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92" y="5817533"/>
            <a:ext cx="6887588" cy="6463045"/>
            <a:chOff x="37564868" y="6979043"/>
            <a:chExt cx="5268875" cy="5249812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16989" y="6979043"/>
              <a:ext cx="601117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93086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2385910" y="11803853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" y="487329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image36299968">
            <a:extLst>
              <a:ext uri="{FF2B5EF4-FFF2-40B4-BE49-F238E27FC236}">
                <a16:creationId xmlns:a16="http://schemas.microsoft.com/office/drawing/2014/main" id="{EA3B4680-C131-E644-9965-35912127B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086" y="643380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813844" y="20893442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B1F679-B03D-7ABA-4916-B7FDEEB0D1A4}"/>
              </a:ext>
            </a:extLst>
          </p:cNvPr>
          <p:cNvGrpSpPr/>
          <p:nvPr/>
        </p:nvGrpSpPr>
        <p:grpSpPr>
          <a:xfrm>
            <a:off x="23148115" y="5669169"/>
            <a:ext cx="6689848" cy="6035275"/>
            <a:chOff x="23148115" y="5669169"/>
            <a:chExt cx="6689848" cy="603527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5E4488D-320E-3C93-EC8D-7C3BAA78FA30}"/>
                </a:ext>
              </a:extLst>
            </p:cNvPr>
            <p:cNvSpPr txBox="1"/>
            <p:nvPr/>
          </p:nvSpPr>
          <p:spPr>
            <a:xfrm rot="16200000">
              <a:off x="21388338" y="7970314"/>
              <a:ext cx="4073551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IOS Friend - Computer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B9CE20-98EC-DB3B-E27B-D3E16039CA7B}"/>
                </a:ext>
              </a:extLst>
            </p:cNvPr>
            <p:cNvSpPr txBox="1"/>
            <p:nvPr/>
          </p:nvSpPr>
          <p:spPr>
            <a:xfrm>
              <a:off x="26458500" y="11124695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2F055F7-F4AD-16D6-0DC4-090889B5AC94}"/>
                </a:ext>
              </a:extLst>
            </p:cNvPr>
            <p:cNvSpPr txBox="1"/>
            <p:nvPr/>
          </p:nvSpPr>
          <p:spPr>
            <a:xfrm>
              <a:off x="23168341" y="10761280"/>
              <a:ext cx="5052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F335FD-74A6-0034-2C62-5E101F9EF9FA}"/>
                </a:ext>
              </a:extLst>
            </p:cNvPr>
            <p:cNvSpPr txBox="1"/>
            <p:nvPr/>
          </p:nvSpPr>
          <p:spPr>
            <a:xfrm>
              <a:off x="23382493" y="5669169"/>
              <a:ext cx="38504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A872D9-BAA2-926E-8BF6-557B36359A89}"/>
                </a:ext>
              </a:extLst>
            </p:cNvPr>
            <p:cNvSpPr txBox="1"/>
            <p:nvPr/>
          </p:nvSpPr>
          <p:spPr>
            <a:xfrm>
              <a:off x="23473332" y="1118122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7890C1-56FC-BC07-26D2-E3906F91A2E1}"/>
                </a:ext>
              </a:extLst>
            </p:cNvPr>
            <p:cNvSpPr txBox="1"/>
            <p:nvPr/>
          </p:nvSpPr>
          <p:spPr>
            <a:xfrm>
              <a:off x="29252546" y="1114797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pic>
        <p:nvPicPr>
          <p:cNvPr id="10" name="Graphic 9">
            <a:extLst>
              <a:ext uri="{FF2B5EF4-FFF2-40B4-BE49-F238E27FC236}">
                <a16:creationId xmlns:a16="http://schemas.microsoft.com/office/drawing/2014/main" id="{12C2420C-269D-5FD9-9793-4E8BAE4F2032}"/>
              </a:ext>
            </a:extLst>
          </p:cNvPr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rcRect l="14834" t="11264" r="3835" b="16585"/>
          <a:stretch/>
        </p:blipFill>
        <p:spPr>
          <a:xfrm>
            <a:off x="23673037" y="5663992"/>
            <a:ext cx="6460448" cy="5523032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360378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8" y="13459226"/>
            <a:ext cx="6933598" cy="6118831"/>
            <a:chOff x="22987347" y="13324694"/>
            <a:chExt cx="7224823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7043889" cy="6246177"/>
              <a:chOff x="22987347" y="13324694"/>
              <a:chExt cx="7043889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421230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rcRect l="15691" t="11081" r="4694" b="15428"/>
            <a:stretch/>
          </p:blipFill>
          <p:spPr>
            <a:xfrm>
              <a:off x="23952013" y="13459237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rcRect l="18562" t="11969" r="3825" b="15026"/>
          <a:stretch/>
        </p:blipFill>
        <p:spPr>
          <a:xfrm>
            <a:off x="23160827" y="23793039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rcRect l="18919" t="11022" r="2620" b="15715"/>
          <a:stretch/>
        </p:blipFill>
        <p:spPr>
          <a:xfrm>
            <a:off x="36133103" y="5701660"/>
            <a:ext cx="6627629" cy="5963480"/>
          </a:xfrm>
          <a:prstGeom prst="rect">
            <a:avLst/>
          </a:prstGeom>
        </p:spPr>
      </p:pic>
      <p:pic>
        <p:nvPicPr>
          <p:cNvPr id="40" name="Graphic 39">
            <a:extLst>
              <a:ext uri="{FF2B5EF4-FFF2-40B4-BE49-F238E27FC236}">
                <a16:creationId xmlns:a16="http://schemas.microsoft.com/office/drawing/2014/main" id="{41694A69-FEA8-BBFE-413A-1817DD4A1775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rcRect l="18942" t="11890" r="2700" b="15431"/>
          <a:stretch/>
        </p:blipFill>
        <p:spPr>
          <a:xfrm>
            <a:off x="36252115" y="13880865"/>
            <a:ext cx="6114905" cy="5465499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2447354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15959</TotalTime>
  <Words>739</Words>
  <Application>Microsoft Macintosh PowerPoint</Application>
  <PresentationFormat>Custom</PresentationFormat>
  <Paragraphs>135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Avi Dachs</cp:lastModifiedBy>
  <cp:revision>34</cp:revision>
  <cp:lastPrinted>2018-05-07T13:24:31Z</cp:lastPrinted>
  <dcterms:created xsi:type="dcterms:W3CDTF">2007-10-30T17:33:32Z</dcterms:created>
  <dcterms:modified xsi:type="dcterms:W3CDTF">2023-11-10T00:49:08Z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