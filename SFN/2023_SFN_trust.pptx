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9"/>
  </p:notesMasterIdLst>
  <p:handoutMasterIdLst>
    <p:handoutMasterId r:id="rId10"/>
  </p:handoutMasterIdLst>
  <p:sldIdLst>
    <p:sldId id="263" r:id="rId4"/>
    <p:sldId id="262" r:id="rId5"/>
    <p:sldId id="264" r:id="rId6"/>
    <p:sldId id="260" r:id="rId7"/>
    <p:sldId id="261" r:id="rId8"/>
  </p:sldIdLst>
  <p:sldSz cx="43891200" cy="32918400"/>
  <p:notesSz cx="7023100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3154" indent="-62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2229" indent="-12735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68346" indent="-19251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4462" indent="-25767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4264975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511796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5970966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6823959" algn="l" defTabSz="1705991" rtl="0" eaLnBrk="1" latinLnBrk="0" hangingPunct="1">
      <a:defRPr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5E78F60-8CE4-956A-0128-6E549761F19F}" name="Avi Dachs" initials="AD" userId="S::tur74001@temple.edu::87fc8e61-7f3a-4332-ab39-1fb75fe6e6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Chiu" initials="MC" lastIdx="2" clrIdx="0">
    <p:extLst>
      <p:ext uri="{19B8F6BF-5375-455C-9EA6-DF929625EA0E}">
        <p15:presenceInfo xmlns:p15="http://schemas.microsoft.com/office/powerpoint/2012/main" userId="S-1-5-21-3496871491-3148157022-986074665-411994" providerId="AD"/>
      </p:ext>
    </p:extLst>
  </p:cmAuthor>
  <p:cmAuthor id="2" name="Dominic Fareri" initials="DF" lastIdx="7" clrIdx="1">
    <p:extLst>
      <p:ext uri="{19B8F6BF-5375-455C-9EA6-DF929625EA0E}">
        <p15:presenceInfo xmlns:p15="http://schemas.microsoft.com/office/powerpoint/2012/main" userId="Dominic Fareri" providerId="None"/>
      </p:ext>
    </p:extLst>
  </p:cmAuthor>
  <p:cmAuthor id="3" name="David V. Smith" initials="DVS" lastIdx="4" clrIdx="2">
    <p:extLst>
      <p:ext uri="{19B8F6BF-5375-455C-9EA6-DF929625EA0E}">
        <p15:presenceInfo xmlns:p15="http://schemas.microsoft.com/office/powerpoint/2012/main" userId="David V. Smith" providerId="None"/>
      </p:ext>
    </p:extLst>
  </p:cmAuthor>
  <p:cmAuthor id="4" name="Katherine Hackett" initials="KH" lastIdx="3" clrIdx="3">
    <p:extLst>
      <p:ext uri="{19B8F6BF-5375-455C-9EA6-DF929625EA0E}">
        <p15:presenceInfo xmlns:p15="http://schemas.microsoft.com/office/powerpoint/2012/main" userId="S::tug90253@temple.edu::140e704c-c617-467c-a834-32d4bb446dd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BEB"/>
    <a:srgbClr val="E2EBEB"/>
    <a:srgbClr val="D1ECE1"/>
    <a:srgbClr val="EBEBEB"/>
    <a:srgbClr val="3C8C94"/>
    <a:srgbClr val="72BFC6"/>
    <a:srgbClr val="A3CB9F"/>
    <a:srgbClr val="95CB8F"/>
    <a:srgbClr val="79CB7A"/>
    <a:srgbClr val="FAF8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650"/>
  </p:normalViewPr>
  <p:slideViewPr>
    <p:cSldViewPr snapToGrid="0">
      <p:cViewPr>
        <p:scale>
          <a:sx n="31" d="100"/>
          <a:sy n="31" d="100"/>
        </p:scale>
        <p:origin x="144" y="-8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7531" y="0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2439DB-88A9-47CB-8306-24653602898A}" type="datetimeFigureOut">
              <a:rPr lang="en-US" altLang="en-US"/>
              <a:pPr/>
              <a:t>11/10/23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Helvetica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7531" y="8841738"/>
            <a:ext cx="3043979" cy="467363"/>
          </a:xfrm>
          <a:prstGeom prst="rect">
            <a:avLst/>
          </a:prstGeom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E2D3955-F8C1-45A6-BC0E-23ADC1AD9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7531" y="0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4275" y="698500"/>
            <a:ext cx="4654550" cy="34909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2946" y="4422459"/>
            <a:ext cx="5617208" cy="4188778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7531" y="8841738"/>
            <a:ext cx="3043979" cy="465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1564" tIns="45783" rIns="91564" bIns="4578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3F6F6737-73D4-41EA-8E23-BF979942D6D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MS PGothic" panose="020B0600070205080204" pitchFamily="34" charset="-128"/>
        <a:cs typeface="Arial" charset="0"/>
      </a:defRPr>
    </a:lvl1pPr>
    <a:lvl2pPr marL="453154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2229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68346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4462" algn="l" rtl="0" eaLnBrk="0" fontAlgn="base" hangingPunct="0">
      <a:spcBef>
        <a:spcPct val="30000"/>
      </a:spcBef>
      <a:spcAft>
        <a:spcPct val="0"/>
      </a:spcAft>
      <a:defRPr sz="112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4261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115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7968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816" algn="l" defTabSz="91370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4064" indent="-286179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4715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2600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60486" indent="-228943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8372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6258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34144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92029" indent="-22894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4736F1-11A1-4F15-821F-373E647BE191}" type="slidenum">
              <a:rPr lang="en-US" altLang="en-US" sz="120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4275" y="698500"/>
            <a:ext cx="4654550" cy="3490913"/>
          </a:xfrm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 eaLnBrk="1" hangingPunct="1">
              <a:buFontTx/>
              <a:buChar char="-"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1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82" y="10226677"/>
            <a:ext cx="37306249" cy="70548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5" y="18653127"/>
            <a:ext cx="30724474" cy="8413750"/>
          </a:xfrm>
        </p:spPr>
        <p:txBody>
          <a:bodyPr/>
          <a:lstStyle>
            <a:lvl1pPr marL="0" indent="0" algn="ctr">
              <a:buNone/>
              <a:defRPr/>
            </a:lvl1pPr>
            <a:lvl2pPr marL="406356" indent="0" algn="ctr">
              <a:buNone/>
              <a:defRPr/>
            </a:lvl2pPr>
            <a:lvl3pPr marL="812714" indent="0" algn="ctr">
              <a:buNone/>
              <a:defRPr/>
            </a:lvl3pPr>
            <a:lvl4pPr marL="1219072" indent="0" algn="ctr">
              <a:buNone/>
              <a:defRPr/>
            </a:lvl4pPr>
            <a:lvl5pPr marL="1625431" indent="0" algn="ctr">
              <a:buNone/>
              <a:defRPr/>
            </a:lvl5pPr>
            <a:lvl6pPr marL="2031789" indent="0" algn="ctr">
              <a:buNone/>
              <a:defRPr/>
            </a:lvl6pPr>
            <a:lvl7pPr marL="2438145" indent="0" algn="ctr">
              <a:buNone/>
              <a:defRPr/>
            </a:lvl7pPr>
            <a:lvl8pPr marL="2844503" indent="0" algn="ctr">
              <a:buNone/>
              <a:defRPr/>
            </a:lvl8pPr>
            <a:lvl9pPr marL="325085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045733-9CD5-4A39-AF19-1576EAAC58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6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AEFD10-DBAF-4AE2-89A0-5AF92A9DB4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410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6" y="21153440"/>
            <a:ext cx="37307838" cy="6537324"/>
          </a:xfrm>
        </p:spPr>
        <p:txBody>
          <a:bodyPr anchor="t"/>
          <a:lstStyle>
            <a:lvl1pPr algn="l">
              <a:defRPr sz="358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6" y="13952538"/>
            <a:ext cx="37307838" cy="7200900"/>
          </a:xfrm>
        </p:spPr>
        <p:txBody>
          <a:bodyPr anchor="b"/>
          <a:lstStyle>
            <a:lvl1pPr marL="0" indent="0">
              <a:buNone/>
              <a:defRPr sz="1753"/>
            </a:lvl1pPr>
            <a:lvl2pPr marL="406356" indent="0">
              <a:buNone/>
              <a:defRPr sz="1600"/>
            </a:lvl2pPr>
            <a:lvl3pPr marL="812714" indent="0">
              <a:buNone/>
              <a:defRPr sz="1447"/>
            </a:lvl3pPr>
            <a:lvl4pPr marL="1219072" indent="0">
              <a:buNone/>
              <a:defRPr sz="1220"/>
            </a:lvl4pPr>
            <a:lvl5pPr marL="1625431" indent="0">
              <a:buNone/>
              <a:defRPr sz="1220"/>
            </a:lvl5pPr>
            <a:lvl6pPr marL="2031789" indent="0">
              <a:buNone/>
              <a:defRPr sz="1220"/>
            </a:lvl6pPr>
            <a:lvl7pPr marL="2438145" indent="0">
              <a:buNone/>
              <a:defRPr sz="1220"/>
            </a:lvl7pPr>
            <a:lvl8pPr marL="2844503" indent="0">
              <a:buNone/>
              <a:defRPr sz="1220"/>
            </a:lvl8pPr>
            <a:lvl9pPr marL="3250859" indent="0">
              <a:buNone/>
              <a:defRPr sz="12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C3906F-68E1-40D4-92B5-7E5E62F9182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90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31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6" y="7680331"/>
            <a:ext cx="19675475" cy="21724938"/>
          </a:xfrm>
        </p:spPr>
        <p:txBody>
          <a:bodyPr/>
          <a:lstStyle>
            <a:lvl1pPr>
              <a:defRPr sz="2514"/>
            </a:lvl1pPr>
            <a:lvl2pPr>
              <a:defRPr sz="2133"/>
            </a:lvl2pPr>
            <a:lvl3pPr>
              <a:defRPr sz="1753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6F8588-11AB-46DB-B65B-0DA5B032DF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72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6" y="7369176"/>
            <a:ext cx="19392899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6" y="10439407"/>
            <a:ext cx="19392899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40" y="7369176"/>
            <a:ext cx="19400837" cy="3070224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56" indent="0">
              <a:buNone/>
              <a:defRPr sz="1753" b="1"/>
            </a:lvl2pPr>
            <a:lvl3pPr marL="812714" indent="0">
              <a:buNone/>
              <a:defRPr sz="1600" b="1"/>
            </a:lvl3pPr>
            <a:lvl4pPr marL="1219072" indent="0">
              <a:buNone/>
              <a:defRPr sz="1447" b="1"/>
            </a:lvl4pPr>
            <a:lvl5pPr marL="1625431" indent="0">
              <a:buNone/>
              <a:defRPr sz="1447" b="1"/>
            </a:lvl5pPr>
            <a:lvl6pPr marL="2031789" indent="0">
              <a:buNone/>
              <a:defRPr sz="1447" b="1"/>
            </a:lvl6pPr>
            <a:lvl7pPr marL="2438145" indent="0">
              <a:buNone/>
              <a:defRPr sz="1447" b="1"/>
            </a:lvl7pPr>
            <a:lvl8pPr marL="2844503" indent="0">
              <a:buNone/>
              <a:defRPr sz="1447" b="1"/>
            </a:lvl8pPr>
            <a:lvl9pPr marL="3250859" indent="0">
              <a:buNone/>
              <a:defRPr sz="14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40" y="10439407"/>
            <a:ext cx="19400837" cy="18965862"/>
          </a:xfrm>
        </p:spPr>
        <p:txBody>
          <a:bodyPr/>
          <a:lstStyle>
            <a:lvl1pPr>
              <a:defRPr sz="2133"/>
            </a:lvl1pPr>
            <a:lvl2pPr>
              <a:defRPr sz="1753"/>
            </a:lvl2pPr>
            <a:lvl3pPr>
              <a:defRPr sz="1600"/>
            </a:lvl3pPr>
            <a:lvl4pPr>
              <a:defRPr sz="1447"/>
            </a:lvl4pPr>
            <a:lvl5pPr>
              <a:defRPr sz="1447"/>
            </a:lvl5pPr>
            <a:lvl6pPr>
              <a:defRPr sz="1447"/>
            </a:lvl6pPr>
            <a:lvl7pPr>
              <a:defRPr sz="1447"/>
            </a:lvl7pPr>
            <a:lvl8pPr>
              <a:defRPr sz="1447"/>
            </a:lvl8pPr>
            <a:lvl9pPr>
              <a:defRPr sz="14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F70D44-9EE5-494F-B24D-9088C4F630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5950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282EB0-6A1C-42AA-BBF4-30A498DC98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10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8D00DC-00D9-48A8-8591-ED180EF32D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996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6"/>
            <a:ext cx="14439901" cy="5576888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6"/>
            <a:ext cx="24536400" cy="28093988"/>
          </a:xfrm>
        </p:spPr>
        <p:txBody>
          <a:bodyPr/>
          <a:lstStyle>
            <a:lvl1pPr>
              <a:defRPr sz="2820"/>
            </a:lvl1pPr>
            <a:lvl2pPr>
              <a:defRPr sz="2514"/>
            </a:lvl2pPr>
            <a:lvl3pPr>
              <a:defRPr sz="2133"/>
            </a:lvl3pPr>
            <a:lvl4pPr>
              <a:defRPr sz="1753"/>
            </a:lvl4pPr>
            <a:lvl5pPr>
              <a:defRPr sz="1753"/>
            </a:lvl5pPr>
            <a:lvl6pPr>
              <a:defRPr sz="1753"/>
            </a:lvl6pPr>
            <a:lvl7pPr>
              <a:defRPr sz="1753"/>
            </a:lvl7pPr>
            <a:lvl8pPr>
              <a:defRPr sz="1753"/>
            </a:lvl8pPr>
            <a:lvl9pPr>
              <a:defRPr sz="17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2"/>
            <a:ext cx="14439901" cy="22517100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8C0C4-CE81-4EEF-9770-5470521DE3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83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4"/>
            <a:ext cx="26335036" cy="2720976"/>
          </a:xfrm>
        </p:spPr>
        <p:txBody>
          <a:bodyPr anchor="b"/>
          <a:lstStyle>
            <a:lvl1pPr algn="l">
              <a:defRPr sz="175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45"/>
            <a:ext cx="26335036" cy="19750086"/>
          </a:xfrm>
        </p:spPr>
        <p:txBody>
          <a:bodyPr/>
          <a:lstStyle>
            <a:lvl1pPr marL="0" indent="0">
              <a:buNone/>
              <a:defRPr sz="2820"/>
            </a:lvl1pPr>
            <a:lvl2pPr marL="406356" indent="0">
              <a:buNone/>
              <a:defRPr sz="2514"/>
            </a:lvl2pPr>
            <a:lvl3pPr marL="812714" indent="0">
              <a:buNone/>
              <a:defRPr sz="2133"/>
            </a:lvl3pPr>
            <a:lvl4pPr marL="1219072" indent="0">
              <a:buNone/>
              <a:defRPr sz="1753"/>
            </a:lvl4pPr>
            <a:lvl5pPr marL="1625431" indent="0">
              <a:buNone/>
              <a:defRPr sz="1753"/>
            </a:lvl5pPr>
            <a:lvl6pPr marL="2031789" indent="0">
              <a:buNone/>
              <a:defRPr sz="1753"/>
            </a:lvl6pPr>
            <a:lvl7pPr marL="2438145" indent="0">
              <a:buNone/>
              <a:defRPr sz="1753"/>
            </a:lvl7pPr>
            <a:lvl8pPr marL="2844503" indent="0">
              <a:buNone/>
              <a:defRPr sz="1753"/>
            </a:lvl8pPr>
            <a:lvl9pPr marL="3250859" indent="0">
              <a:buNone/>
              <a:defRPr sz="1753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5"/>
            <a:ext cx="26335036" cy="3862386"/>
          </a:xfrm>
        </p:spPr>
        <p:txBody>
          <a:bodyPr/>
          <a:lstStyle>
            <a:lvl1pPr marL="0" indent="0">
              <a:buNone/>
              <a:defRPr sz="1220"/>
            </a:lvl1pPr>
            <a:lvl2pPr marL="406356" indent="0">
              <a:buNone/>
              <a:defRPr sz="1066"/>
            </a:lvl2pPr>
            <a:lvl3pPr marL="812714" indent="0">
              <a:buNone/>
              <a:defRPr sz="914"/>
            </a:lvl3pPr>
            <a:lvl4pPr marL="1219072" indent="0">
              <a:buNone/>
              <a:defRPr sz="763"/>
            </a:lvl4pPr>
            <a:lvl5pPr marL="1625431" indent="0">
              <a:buNone/>
              <a:defRPr sz="763"/>
            </a:lvl5pPr>
            <a:lvl6pPr marL="2031789" indent="0">
              <a:buNone/>
              <a:defRPr sz="763"/>
            </a:lvl6pPr>
            <a:lvl7pPr marL="2438145" indent="0">
              <a:buNone/>
              <a:defRPr sz="763"/>
            </a:lvl7pPr>
            <a:lvl8pPr marL="2844503" indent="0">
              <a:buNone/>
              <a:defRPr sz="763"/>
            </a:lvl8pPr>
            <a:lvl9pPr marL="3250859" indent="0">
              <a:buNone/>
              <a:defRPr sz="7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F393D9-CF7B-4330-B265-DED19A74F3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5251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6C7718-C7BA-4E2F-9613-1867C7C343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7206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0" y="1317631"/>
            <a:ext cx="9875836" cy="280876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6" y="1317631"/>
            <a:ext cx="29475113" cy="280876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2C855F-A866-40A9-8FAF-89579C6C04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818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2873" y="1317626"/>
            <a:ext cx="39505467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2873" y="7680331"/>
            <a:ext cx="39505467" cy="2172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28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4473" y="29975176"/>
            <a:ext cx="139022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5867" smtClean="0">
                <a:latin typeface="Arial" charset="0"/>
                <a:ea typeface="MS PGothic" charset="0"/>
                <a:cs typeface="MS PGothic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3673" y="29975176"/>
            <a:ext cx="10244667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12035" tIns="256017" rIns="512035" bIns="25601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5867">
                <a:latin typeface="Arial" panose="020B0604020202020204" pitchFamily="34" charset="0"/>
              </a:defRPr>
            </a:lvl1pPr>
          </a:lstStyle>
          <a:p>
            <a:fld id="{0BDB88F5-6D3C-44D6-BE49-529E82C2D5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2pPr>
      <a:lvl3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3pPr>
      <a:lvl4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4pPr>
      <a:lvl5pPr algn="ctr" defTabSz="3899866" rtl="0" eaLnBrk="0" fontAlgn="base" hangingPunct="0">
        <a:spcBef>
          <a:spcPct val="0"/>
        </a:spcBef>
        <a:spcAft>
          <a:spcPct val="0"/>
        </a:spcAft>
        <a:defRPr sz="18664">
          <a:solidFill>
            <a:schemeClr val="tx2"/>
          </a:solidFill>
          <a:latin typeface="Arial" charset="0"/>
          <a:ea typeface="MS PGothic" panose="020B0600070205080204" pitchFamily="34" charset="-128"/>
          <a:cs typeface="Arial" charset="0"/>
        </a:defRPr>
      </a:lvl5pPr>
      <a:lvl6pPr marL="406356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6pPr>
      <a:lvl7pPr marL="812714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7pPr>
      <a:lvl8pPr marL="1219072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8pPr>
      <a:lvl9pPr marL="1625431" algn="ctr" defTabSz="3901315" rtl="0" fontAlgn="base">
        <a:spcBef>
          <a:spcPct val="0"/>
        </a:spcBef>
        <a:spcAft>
          <a:spcPct val="0"/>
        </a:spcAft>
        <a:defRPr sz="18742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461745" indent="-1461745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3689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3166173" indent="-1216240" algn="l" defTabSz="3899866" rtl="0" eaLnBrk="0" fontAlgn="base" hangingPunct="0">
        <a:spcBef>
          <a:spcPct val="20000"/>
        </a:spcBef>
        <a:spcAft>
          <a:spcPct val="0"/>
        </a:spcAft>
        <a:buChar char="–"/>
        <a:defRPr sz="11731">
          <a:solidFill>
            <a:schemeClr val="tx1"/>
          </a:solidFill>
          <a:latin typeface="+mn-lt"/>
          <a:ea typeface="Arial" charset="0"/>
          <a:cs typeface="+mn-cs"/>
        </a:defRPr>
      </a:lvl2pPr>
      <a:lvl3pPr marL="4873424" indent="-973557" algn="l" defTabSz="3899866" rtl="0" eaLnBrk="0" fontAlgn="base" hangingPunct="0">
        <a:spcBef>
          <a:spcPct val="20000"/>
        </a:spcBef>
        <a:spcAft>
          <a:spcPct val="0"/>
        </a:spcAft>
        <a:buChar char="•"/>
        <a:defRPr sz="10131">
          <a:solidFill>
            <a:schemeClr val="tx1"/>
          </a:solidFill>
          <a:latin typeface="+mn-lt"/>
          <a:ea typeface="Arial" charset="0"/>
          <a:cs typeface="+mn-cs"/>
        </a:defRPr>
      </a:lvl3pPr>
      <a:lvl4pPr marL="6826179" indent="-973557" algn="l" defTabSz="3899866" rtl="0" eaLnBrk="0" fontAlgn="base" hangingPunct="0">
        <a:spcBef>
          <a:spcPct val="20000"/>
        </a:spcBef>
        <a:spcAft>
          <a:spcPct val="0"/>
        </a:spcAft>
        <a:buChar char="–"/>
        <a:defRPr sz="8533">
          <a:solidFill>
            <a:schemeClr val="tx1"/>
          </a:solidFill>
          <a:latin typeface="+mn-lt"/>
          <a:ea typeface="Arial" charset="0"/>
          <a:cs typeface="+mn-cs"/>
        </a:defRPr>
      </a:lvl4pPr>
      <a:lvl5pPr marL="8776112" indent="-973557" algn="l" defTabSz="3899866" rtl="0" eaLnBrk="0" fontAlgn="base" hangingPunct="0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ea typeface="Arial" charset="0"/>
          <a:cs typeface="+mn-cs"/>
        </a:defRPr>
      </a:lvl5pPr>
      <a:lvl6pPr marL="918396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6pPr>
      <a:lvl7pPr marL="9590323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7pPr>
      <a:lvl8pPr marL="9996680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8pPr>
      <a:lvl9pPr marL="10403038" indent="-974977" algn="l" defTabSz="3901315" rtl="0" fontAlgn="base">
        <a:spcBef>
          <a:spcPct val="20000"/>
        </a:spcBef>
        <a:spcAft>
          <a:spcPct val="0"/>
        </a:spcAft>
        <a:buChar char="»"/>
        <a:defRPr sz="8533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56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714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9072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431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78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8145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503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859" algn="l" defTabSz="812714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sv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7.png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D86F45B-B6EA-D11B-FE87-C7FDF14080C8}"/>
              </a:ext>
            </a:extLst>
          </p:cNvPr>
          <p:cNvGrpSpPr/>
          <p:nvPr/>
        </p:nvGrpSpPr>
        <p:grpSpPr>
          <a:xfrm>
            <a:off x="12078302" y="28890985"/>
            <a:ext cx="2276038" cy="1215276"/>
            <a:chOff x="11083249" y="26380930"/>
            <a:chExt cx="3543576" cy="17168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53421B0-7681-A37B-CA3F-986E07C1DB77}"/>
                </a:ext>
              </a:extLst>
            </p:cNvPr>
            <p:cNvSpPr/>
            <p:nvPr/>
          </p:nvSpPr>
          <p:spPr bwMode="auto">
            <a:xfrm>
              <a:off x="11083249" y="26380930"/>
              <a:ext cx="3543576" cy="1716829"/>
            </a:xfrm>
            <a:prstGeom prst="rect">
              <a:avLst/>
            </a:prstGeom>
            <a:solidFill>
              <a:srgbClr val="FAF86D">
                <a:alpha val="82294"/>
              </a:srgbClr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94C34F-C114-09E7-7592-2C68A047774A}"/>
                </a:ext>
              </a:extLst>
            </p:cNvPr>
            <p:cNvSpPr txBox="1"/>
            <p:nvPr/>
          </p:nvSpPr>
          <p:spPr>
            <a:xfrm>
              <a:off x="11186208" y="26454514"/>
              <a:ext cx="3386365" cy="47574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2000" b="1" dirty="0">
                  <a:latin typeface="Helvetica"/>
                  <a:ea typeface="MS PGothic"/>
                </a:rPr>
                <a:t>Scan the QR code to see the</a:t>
              </a:r>
              <a:endParaRPr lang="en-US" sz="2000" b="1" dirty="0"/>
            </a:p>
            <a:p>
              <a:pPr algn="ctr"/>
              <a:r>
                <a:rPr lang="en-US" sz="2000" b="1" dirty="0">
                  <a:latin typeface="Helvetica"/>
                  <a:ea typeface="MS PGothic"/>
                </a:rPr>
                <a:t>Pre-registration!</a:t>
              </a:r>
              <a:endParaRPr lang="en-US" sz="2000" b="1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5B61256-0745-91A9-AD49-FA138651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403" y="25932577"/>
            <a:ext cx="2340933" cy="2333025"/>
          </a:xfrm>
          <a:prstGeom prst="rect">
            <a:avLst/>
          </a:prstGeom>
        </p:spPr>
      </p:pic>
      <p:sp>
        <p:nvSpPr>
          <p:cNvPr id="15388" name="TextBox 2"/>
          <p:cNvSpPr txBox="1">
            <a:spLocks noChangeArrowheads="1"/>
          </p:cNvSpPr>
          <p:nvPr/>
        </p:nvSpPr>
        <p:spPr bwMode="auto">
          <a:xfrm>
            <a:off x="4842671" y="1755462"/>
            <a:ext cx="33932768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Abraham Dachs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Cooper J. Sharp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Enes Yanilmaz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James B. </a:t>
            </a:r>
            <a:r>
              <a:rPr lang="en-US" sz="4000" i="0" dirty="0" err="1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Wyngaarden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 III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Ori Zaff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Tia Tropea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Daniel Sazhin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Rita Ludwig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2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Tania Giovannetti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Dominic S. Fareri</a:t>
            </a:r>
            <a:r>
              <a:rPr lang="en-US" sz="4000" baseline="30000" dirty="0">
                <a:solidFill>
                  <a:srgbClr val="000000"/>
                </a:solidFill>
                <a:latin typeface="Trebuchet MS" panose="020B0703020202090204" pitchFamily="34" charset="0"/>
              </a:rPr>
              <a:t>3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, David V. Smith</a:t>
            </a:r>
            <a:r>
              <a:rPr lang="en-US" sz="4000" i="0" baseline="3000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1</a:t>
            </a:r>
            <a:r>
              <a:rPr lang="en-US" sz="4000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 </a:t>
            </a:r>
            <a:br>
              <a:rPr lang="en-US" sz="4000" dirty="0">
                <a:latin typeface="Trebuchet MS" panose="020B0703020202090204" pitchFamily="34" charset="0"/>
                <a:cs typeface="Helvetica" panose="020B0604020202020204" pitchFamily="34" charset="0"/>
              </a:rPr>
            </a:br>
            <a:endParaRPr lang="en-US" altLang="en-US" sz="4000" dirty="0">
              <a:latin typeface="Trebuchet MS" panose="020B0703020202090204" pitchFamily="34" charset="0"/>
              <a:cs typeface="Helvetica" panose="020B0604020202020204" pitchFamily="34" charset="0"/>
            </a:endParaRPr>
          </a:p>
        </p:txBody>
      </p:sp>
      <p:sp>
        <p:nvSpPr>
          <p:cNvPr id="15371" name="TextBox 15370"/>
          <p:cNvSpPr txBox="1"/>
          <p:nvPr/>
        </p:nvSpPr>
        <p:spPr>
          <a:xfrm>
            <a:off x="1612263" y="216407"/>
            <a:ext cx="40393584" cy="14688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9000" b="1" i="0" dirty="0">
                <a:solidFill>
                  <a:srgbClr val="000000"/>
                </a:solidFill>
                <a:effectLst/>
                <a:latin typeface="Trebuchet MS" panose="020B0703020202090204" pitchFamily="34" charset="0"/>
              </a:rPr>
              <a:t>Examining Age-Related Differences in Neural Responses to Trust</a:t>
            </a:r>
            <a:endParaRPr lang="en-US" sz="9000" dirty="0">
              <a:effectLst/>
              <a:latin typeface="Trebuchet MS" panose="020B0703020202090204" pitchFamily="34" charset="0"/>
              <a:ea typeface="Calibri" panose="020F0502020204030204" pitchFamily="34" charset="0"/>
              <a:cs typeface="Helvetica"/>
            </a:endParaRPr>
          </a:p>
        </p:txBody>
      </p:sp>
      <p:sp>
        <p:nvSpPr>
          <p:cNvPr id="15367" name="Rectangle 162"/>
          <p:cNvSpPr>
            <a:spLocks noChangeArrowheads="1"/>
          </p:cNvSpPr>
          <p:nvPr/>
        </p:nvSpPr>
        <p:spPr bwMode="auto">
          <a:xfrm>
            <a:off x="15350316" y="4238464"/>
            <a:ext cx="14842502" cy="17487949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68" name="Rectangle 162">
            <a:extLst>
              <a:ext uri="{FF2B5EF4-FFF2-40B4-BE49-F238E27FC236}">
                <a16:creationId xmlns:a16="http://schemas.microsoft.com/office/drawing/2014/main" id="{CA8DA663-8989-0040-A19E-2D41018BB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3905" y="22148282"/>
            <a:ext cx="14803333" cy="10536225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CFFF830-B4D0-45F1-9D03-A4780549AB6A}"/>
              </a:ext>
            </a:extLst>
          </p:cNvPr>
          <p:cNvSpPr txBox="1"/>
          <p:nvPr/>
        </p:nvSpPr>
        <p:spPr>
          <a:xfrm>
            <a:off x="15511210" y="30206766"/>
            <a:ext cx="14212155" cy="20621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We found activation in the ventral striatum (VS) when participants were presented with a reciprocate outcome as opposed to a defect outcome, however, there was no significant association with age for any condition (Friend &gt; Stranger and Friend &gt; Computer). 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0D1788F-40E9-4B4B-8F80-BF8EDB08248D}"/>
              </a:ext>
            </a:extLst>
          </p:cNvPr>
          <p:cNvSpPr txBox="1"/>
          <p:nvPr/>
        </p:nvSpPr>
        <p:spPr>
          <a:xfrm>
            <a:off x="10972800" y="3193375"/>
            <a:ext cx="2194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dirty="0">
                <a:solidFill>
                  <a:srgbClr val="000000"/>
                </a:solidFill>
                <a:effectLst/>
                <a:cs typeface="Helvetica" panose="020B0604020202020204" pitchFamily="34" charset="0"/>
              </a:rPr>
              <a:t>1. Temple University, Philadelphia, PA; 2. University of Pennsylvania, Philadelphia, PA; 3. Adelphi University, Garden City, NY</a:t>
            </a:r>
            <a:endParaRPr lang="en-US" sz="2800" dirty="0">
              <a:cs typeface="Helvetica" panose="020B0604020202020204" pitchFamily="34" charset="0"/>
            </a:endParaRPr>
          </a:p>
        </p:txBody>
      </p:sp>
      <p:grpSp>
        <p:nvGrpSpPr>
          <p:cNvPr id="15508" name="Group 15507">
            <a:extLst>
              <a:ext uri="{FF2B5EF4-FFF2-40B4-BE49-F238E27FC236}">
                <a16:creationId xmlns:a16="http://schemas.microsoft.com/office/drawing/2014/main" id="{ACE08C75-5E52-BA85-3BBA-E0BBC55E5D24}"/>
              </a:ext>
            </a:extLst>
          </p:cNvPr>
          <p:cNvGrpSpPr/>
          <p:nvPr/>
        </p:nvGrpSpPr>
        <p:grpSpPr>
          <a:xfrm>
            <a:off x="15576764" y="23993601"/>
            <a:ext cx="5429343" cy="4910419"/>
            <a:chOff x="14636639" y="15406812"/>
            <a:chExt cx="7151031" cy="646888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28FE8E4-EF11-44C2-C242-0D3749E53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705594" y="15406812"/>
              <a:ext cx="6082076" cy="6071098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37958DE-5E24-D58C-4A7D-3AB8A936FE13}"/>
                </a:ext>
              </a:extLst>
            </p:cNvPr>
            <p:cNvSpPr txBox="1"/>
            <p:nvPr/>
          </p:nvSpPr>
          <p:spPr>
            <a:xfrm>
              <a:off x="15228734" y="21105322"/>
              <a:ext cx="1193324" cy="7703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atin typeface="Helvetica"/>
                  <a:ea typeface="MS PGothic"/>
                </a:rPr>
                <a:t>VS</a:t>
              </a:r>
              <a:endParaRPr lang="en-US" sz="3200" dirty="0">
                <a:latin typeface="Helvetic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99AB7A3-EC66-2E69-D984-AA56725B49BC}"/>
                </a:ext>
              </a:extLst>
            </p:cNvPr>
            <p:cNvSpPr txBox="1"/>
            <p:nvPr/>
          </p:nvSpPr>
          <p:spPr>
            <a:xfrm>
              <a:off x="14636639" y="15690148"/>
              <a:ext cx="2222101" cy="1338012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3200" dirty="0">
                  <a:latin typeface="Helvetica"/>
                  <a:ea typeface="MS PGothic"/>
                </a:rPr>
                <a:t>Y= 9</a:t>
              </a:r>
            </a:p>
            <a:p>
              <a:pPr algn="ctr"/>
              <a:endParaRPr lang="en-US" sz="2800" dirty="0">
                <a:latin typeface="Helvetica"/>
              </a:endParaRPr>
            </a:p>
          </p:txBody>
        </p:sp>
      </p:grpSp>
      <p:sp>
        <p:nvSpPr>
          <p:cNvPr id="45" name="Rectangle 162">
            <a:extLst>
              <a:ext uri="{FF2B5EF4-FFF2-40B4-BE49-F238E27FC236}">
                <a16:creationId xmlns:a16="http://schemas.microsoft.com/office/drawing/2014/main" id="{FA585F15-03D7-754B-AA26-E340A32F9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3599" y="4238464"/>
            <a:ext cx="12957755" cy="19868614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400" name="Rectangle 54"/>
          <p:cNvSpPr>
            <a:spLocks noChangeArrowheads="1"/>
          </p:cNvSpPr>
          <p:nvPr/>
        </p:nvSpPr>
        <p:spPr bwMode="auto">
          <a:xfrm>
            <a:off x="30676645" y="24531321"/>
            <a:ext cx="12928282" cy="8153186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FB003-669C-6748-AC0B-0C13B0734BA6}"/>
              </a:ext>
            </a:extLst>
          </p:cNvPr>
          <p:cNvSpPr/>
          <p:nvPr/>
        </p:nvSpPr>
        <p:spPr>
          <a:xfrm>
            <a:off x="30892503" y="25333818"/>
            <a:ext cx="12496564" cy="645304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Our preliminary results indicate that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reciprocation elicited activation in the ventral striatum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.</a:t>
            </a:r>
          </a:p>
          <a:p>
            <a:pPr>
              <a:spcBef>
                <a:spcPts val="360"/>
              </a:spcBef>
              <a:spcAft>
                <a:spcPts val="0"/>
              </a:spcAft>
            </a:pPr>
            <a:endParaRPr lang="en-US" sz="4000" dirty="0">
              <a:latin typeface="Helvetica"/>
              <a:ea typeface="MS PGothic"/>
              <a:cs typeface="Helvetica"/>
            </a:endParaRPr>
          </a:p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Additionally, we find that activation of the </a:t>
            </a:r>
            <a:r>
              <a:rPr lang="en-US" sz="4000" b="1" dirty="0" err="1">
                <a:latin typeface="Helvetica"/>
                <a:ea typeface="MS PGothic"/>
                <a:cs typeface="Helvetica"/>
              </a:rPr>
              <a:t>dlPFC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 increased, 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and </a:t>
            </a:r>
            <a:r>
              <a:rPr lang="en-US" sz="4000" b="1" dirty="0" err="1">
                <a:latin typeface="Helvetica"/>
                <a:ea typeface="MS PGothic"/>
                <a:cs typeface="Helvetica"/>
              </a:rPr>
              <a:t>mPFC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decreased,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 during the processing of social outcomes </a:t>
            </a:r>
            <a:r>
              <a:rPr lang="en-US" sz="4000" b="1" dirty="0">
                <a:latin typeface="Helvetica"/>
                <a:ea typeface="MS PGothic"/>
                <a:cs typeface="Helvetica"/>
              </a:rPr>
              <a:t>as a function of age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. </a:t>
            </a:r>
          </a:p>
          <a:p>
            <a:pPr>
              <a:spcBef>
                <a:spcPts val="360"/>
              </a:spcBef>
              <a:spcAft>
                <a:spcPts val="0"/>
              </a:spcAft>
            </a:pPr>
            <a:endParaRPr lang="en-US" sz="4000" b="1" dirty="0">
              <a:latin typeface="Helvetica"/>
              <a:ea typeface="MS PGothic"/>
              <a:cs typeface="Helvetica"/>
            </a:endParaRPr>
          </a:p>
          <a:p>
            <a:pPr>
              <a:spcBef>
                <a:spcPts val="3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1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dirty="0">
                <a:latin typeface="Helvetica"/>
                <a:ea typeface="MS PGothic"/>
                <a:cs typeface="Helvetica"/>
              </a:rPr>
              <a:t>Future analyses will examine how neural and behavioral responses to trust are associated with risk for financial exploitation. </a:t>
            </a:r>
            <a:endParaRPr lang="en-US" sz="4000" b="1" dirty="0">
              <a:latin typeface="Helvetica"/>
              <a:ea typeface="MS PGothic"/>
              <a:cs typeface="Helvetica"/>
            </a:endParaRPr>
          </a:p>
        </p:txBody>
      </p:sp>
      <p:sp>
        <p:nvSpPr>
          <p:cNvPr id="15362" name="TextBox 189"/>
          <p:cNvSpPr txBox="1">
            <a:spLocks noChangeArrowheads="1"/>
          </p:cNvSpPr>
          <p:nvPr/>
        </p:nvSpPr>
        <p:spPr bwMode="auto">
          <a:xfrm>
            <a:off x="283673" y="4727486"/>
            <a:ext cx="14526988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 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Social relationships influence our behaviors and modulate our neural responses to reward (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Fareri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et al., 2015).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4000" dirty="0">
              <a:latin typeface="Helvetica" pitchFamily="2" charset="0"/>
              <a:ea typeface="MS PGothic"/>
              <a:cs typeface="Helvetica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/>
                <a:ea typeface="MS PGothic"/>
                <a:cs typeface="Helvetica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Helvetica" pitchFamily="2" charset="0"/>
                <a:ea typeface="MS PGothic"/>
                <a:cs typeface="Helvetica"/>
              </a:rPr>
              <a:t>Th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e effect of relationships on behavior and reward activation change as we age (</a:t>
            </a:r>
            <a:r>
              <a:rPr lang="en-US" sz="4000" b="0" i="0" dirty="0" err="1">
                <a:solidFill>
                  <a:srgbClr val="000000"/>
                </a:solidFill>
                <a:effectLst/>
                <a:latin typeface="Helvetica" pitchFamily="2" charset="0"/>
              </a:rPr>
              <a:t>Fareri</a:t>
            </a:r>
            <a:r>
              <a:rPr lang="en-US" sz="4000" b="0" i="0" dirty="0">
                <a:solidFill>
                  <a:srgbClr val="000000"/>
                </a:solidFill>
                <a:effectLst/>
                <a:latin typeface="Helvetica" pitchFamily="2" charset="0"/>
              </a:rPr>
              <a:t> et al., 2022; Cassidy et al., 2020).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4000" b="0" i="0" dirty="0">
              <a:solidFill>
                <a:srgbClr val="000000"/>
              </a:solidFill>
              <a:effectLst/>
              <a:latin typeface="Helvetica" pitchFamily="2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4000" b="0" dirty="0">
                <a:solidFill>
                  <a:srgbClr val="000000"/>
                </a:solidFill>
                <a:effectLst/>
                <a:latin typeface="Helvetica" pitchFamily="2" charset="0"/>
              </a:rPr>
              <a:t> It remains unclear whether age-related differences in responses to trust are associated with maladaptive outcomes such as financial exploitation.</a:t>
            </a:r>
            <a:endParaRPr lang="en-US" sz="4000" dirty="0">
              <a:latin typeface="Helvetica" pitchFamily="2" charset="0"/>
              <a:ea typeface="MS PGothic"/>
              <a:cs typeface="Helvetic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4000" dirty="0">
              <a:latin typeface="Helvetica" pitchFamily="2" charset="0"/>
              <a:ea typeface="MS PGothic"/>
              <a:cs typeface="Helvetic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8EF0BF-392F-46C6-BF23-BF99B2CEA917}"/>
              </a:ext>
            </a:extLst>
          </p:cNvPr>
          <p:cNvSpPr txBox="1"/>
          <p:nvPr/>
        </p:nvSpPr>
        <p:spPr>
          <a:xfrm>
            <a:off x="209617" y="10619784"/>
            <a:ext cx="14639262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360"/>
              </a:spcBef>
              <a:spcAft>
                <a:spcPts val="0"/>
              </a:spcAft>
            </a:pPr>
            <a:r>
              <a:rPr lang="en-US" sz="4200" b="1" dirty="0">
                <a:latin typeface="Helvetica"/>
                <a:ea typeface="MS PGothic"/>
                <a:cs typeface="Helvetica"/>
              </a:rPr>
              <a:t>We</a:t>
            </a:r>
            <a:r>
              <a:rPr lang="en-US" sz="4200" b="1" i="0" u="none" strike="noStrike" dirty="0">
                <a:effectLst/>
                <a:latin typeface="Helvetica"/>
                <a:ea typeface="MS PGothic"/>
                <a:cs typeface="Helvetica"/>
              </a:rPr>
              <a:t> investigated </a:t>
            </a:r>
            <a:r>
              <a:rPr lang="en-US" sz="4200" b="1" dirty="0">
                <a:latin typeface="Helvetica"/>
                <a:ea typeface="MS PGothic"/>
                <a:cs typeface="Helvetica"/>
              </a:rPr>
              <a:t>whether social trust decisions change as we age, and if those changes could be related to financial exploitation.</a:t>
            </a:r>
            <a:endParaRPr lang="en-US" sz="4200" b="1" dirty="0">
              <a:cs typeface="Helvetica"/>
            </a:endParaRPr>
          </a:p>
        </p:txBody>
      </p:sp>
      <p:sp>
        <p:nvSpPr>
          <p:cNvPr id="15365" name="Rectangle 162"/>
          <p:cNvSpPr>
            <a:spLocks noChangeArrowheads="1"/>
          </p:cNvSpPr>
          <p:nvPr/>
        </p:nvSpPr>
        <p:spPr bwMode="auto">
          <a:xfrm>
            <a:off x="162956" y="13516081"/>
            <a:ext cx="14720167" cy="17284110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369" name="Rectangle 162"/>
          <p:cNvSpPr>
            <a:spLocks noChangeArrowheads="1"/>
          </p:cNvSpPr>
          <p:nvPr/>
        </p:nvSpPr>
        <p:spPr bwMode="auto">
          <a:xfrm>
            <a:off x="169367" y="4238464"/>
            <a:ext cx="14720168" cy="8818108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 dirty="0">
              <a:latin typeface="Trebuchet MS" panose="020B0603020202020204" pitchFamily="34" charset="0"/>
            </a:endParaRPr>
          </a:p>
        </p:txBody>
      </p:sp>
      <p:sp>
        <p:nvSpPr>
          <p:cNvPr id="15522" name="Rectangle 162">
            <a:extLst>
              <a:ext uri="{FF2B5EF4-FFF2-40B4-BE49-F238E27FC236}">
                <a16:creationId xmlns:a16="http://schemas.microsoft.com/office/drawing/2014/main" id="{FE02C6A3-84E3-8711-744E-4E036833F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846" y="31162938"/>
            <a:ext cx="14710114" cy="1521569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15523" name="TextBox 15522">
            <a:extLst>
              <a:ext uri="{FF2B5EF4-FFF2-40B4-BE49-F238E27FC236}">
                <a16:creationId xmlns:a16="http://schemas.microsoft.com/office/drawing/2014/main" id="{D58D20F7-A26B-E2DB-0B9B-4184ACFBEF53}"/>
              </a:ext>
            </a:extLst>
          </p:cNvPr>
          <p:cNvSpPr txBox="1"/>
          <p:nvPr/>
        </p:nvSpPr>
        <p:spPr>
          <a:xfrm>
            <a:off x="65312" y="31376130"/>
            <a:ext cx="148657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0" i="0" dirty="0">
                <a:effectLst/>
                <a:latin typeface="Helvetica" pitchFamily="2" charset="0"/>
              </a:rPr>
              <a:t>This study was supported by NIH grant RF1-AG67011 (David V. Smith).</a:t>
            </a:r>
            <a:br>
              <a:rPr lang="en-US" sz="3200" dirty="0">
                <a:latin typeface="Helvetica" pitchFamily="2" charset="0"/>
              </a:rPr>
            </a:br>
            <a:r>
              <a:rPr lang="en-US" sz="3200" b="0" i="0" dirty="0">
                <a:effectLst/>
                <a:latin typeface="Helvetica" pitchFamily="2" charset="0"/>
              </a:rPr>
              <a:t>Contact information: </a:t>
            </a:r>
            <a:r>
              <a:rPr lang="en-US" sz="3200" b="0" i="0" dirty="0" err="1">
                <a:effectLst/>
                <a:latin typeface="Helvetica" pitchFamily="2" charset="0"/>
              </a:rPr>
              <a:t>Avi.Dachs@temple.edu</a:t>
            </a:r>
            <a:r>
              <a:rPr lang="en-US" sz="3200" b="0" i="0" dirty="0">
                <a:effectLst/>
                <a:latin typeface="Helvetica" pitchFamily="2" charset="0"/>
              </a:rPr>
              <a:t>, </a:t>
            </a:r>
            <a:r>
              <a:rPr lang="en-US" sz="3200" b="0" i="0" dirty="0" err="1">
                <a:effectLst/>
                <a:latin typeface="Helvetica" pitchFamily="2" charset="0"/>
              </a:rPr>
              <a:t>Cooper.Sharp@temple.edu</a:t>
            </a:r>
            <a:endParaRPr lang="en-US" sz="3200" dirty="0">
              <a:latin typeface="Helvetica" pitchFamily="2" charset="0"/>
            </a:endParaRPr>
          </a:p>
        </p:txBody>
      </p:sp>
      <p:sp>
        <p:nvSpPr>
          <p:cNvPr id="15656" name="TextBox 15655">
            <a:extLst>
              <a:ext uri="{FF2B5EF4-FFF2-40B4-BE49-F238E27FC236}">
                <a16:creationId xmlns:a16="http://schemas.microsoft.com/office/drawing/2014/main" id="{0129C3E6-E266-8160-0CF6-63893649E9BB}"/>
              </a:ext>
            </a:extLst>
          </p:cNvPr>
          <p:cNvSpPr txBox="1"/>
          <p:nvPr/>
        </p:nvSpPr>
        <p:spPr>
          <a:xfrm>
            <a:off x="348830" y="25816008"/>
            <a:ext cx="11690573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5"/>
              </a:spcAft>
            </a:pPr>
            <a:r>
              <a:rPr lang="en-US" sz="3200" dirty="0">
                <a:latin typeface="Helvetica"/>
                <a:ea typeface="Times New Roman" panose="02020603050405020304" pitchFamily="18" charset="0"/>
                <a:cs typeface="Helvetica"/>
              </a:rPr>
              <a:t>We used</a:t>
            </a:r>
            <a:r>
              <a:rPr lang="en-US" sz="32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 the </a:t>
            </a:r>
            <a:r>
              <a:rPr lang="en-US" sz="3200" b="0" i="0" dirty="0">
                <a:effectLst/>
                <a:latin typeface="Helvetica" pitchFamily="2" charset="0"/>
              </a:rPr>
              <a:t>Inclusion of Other in Self Scale (IOS) and </a:t>
            </a:r>
            <a:r>
              <a:rPr lang="en-US" sz="3200" dirty="0">
                <a:effectLst/>
                <a:latin typeface="Helvetica" pitchFamily="2" charset="0"/>
                <a:ea typeface="Times New Roman" panose="02020603050405020304" pitchFamily="18" charset="0"/>
                <a:cs typeface="Helvetica"/>
              </a:rPr>
              <a:t>the </a:t>
            </a:r>
            <a:r>
              <a:rPr lang="en-US" sz="3200" b="0" i="0" dirty="0">
                <a:effectLst/>
                <a:latin typeface="Helvetica" pitchFamily="2" charset="0"/>
              </a:rPr>
              <a:t>Older Adults Financial Exploitation Measure (OAFEM) to measure closeness ratings and risk for financial exploitation.</a:t>
            </a:r>
          </a:p>
          <a:p>
            <a:pPr algn="ctr">
              <a:spcAft>
                <a:spcPts val="15"/>
              </a:spcAft>
            </a:pPr>
            <a:endParaRPr lang="en-US" sz="3200" dirty="0">
              <a:latin typeface="Helvetica" pitchFamily="2" charset="0"/>
              <a:ea typeface="Times New Roman" panose="02020603050405020304" pitchFamily="18" charset="0"/>
              <a:cs typeface="Helvetica"/>
            </a:endParaRPr>
          </a:p>
          <a:p>
            <a:pPr algn="ctr">
              <a:spcAft>
                <a:spcPts val="15"/>
              </a:spcAft>
            </a:pPr>
            <a:r>
              <a:rPr lang="en-US" sz="3200" dirty="0">
                <a:latin typeface="Helvetica"/>
                <a:ea typeface="MS PGothic"/>
                <a:cs typeface="Helvetica"/>
              </a:rPr>
              <a:t>Whole brain results were 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thresholded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 at Z &gt; 3.1 and Family Wise Error corrected at p &gt; .05</a:t>
            </a:r>
          </a:p>
          <a:p>
            <a:pPr algn="ctr">
              <a:spcAft>
                <a:spcPts val="15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  <a:p>
            <a:pPr algn="ctr">
              <a:spcAft>
                <a:spcPts val="15"/>
              </a:spcAft>
            </a:pPr>
            <a:r>
              <a:rPr lang="en-US" sz="3200" dirty="0">
                <a:effectLst/>
                <a:latin typeface="Helvetica"/>
                <a:ea typeface="MS PGothic"/>
                <a:cs typeface="Helvetica"/>
              </a:rPr>
              <a:t>fMRI data were preprocessed with </a:t>
            </a:r>
            <a:r>
              <a:rPr lang="en-US" sz="3200" dirty="0" err="1">
                <a:effectLst/>
                <a:latin typeface="Helvetica"/>
                <a:ea typeface="MS PGothic"/>
                <a:cs typeface="Helvetica"/>
              </a:rPr>
              <a:t>fMRIprep</a:t>
            </a:r>
            <a:r>
              <a:rPr lang="en-US" sz="3200" dirty="0">
                <a:effectLst/>
                <a:latin typeface="Helvetica"/>
                <a:ea typeface="MS PGothic"/>
                <a:cs typeface="Helvetica"/>
              </a:rPr>
              <a:t> and statistical analyses were performed using FSL</a:t>
            </a:r>
            <a:endParaRPr lang="en-US" sz="3200" dirty="0">
              <a:effectLst/>
              <a:latin typeface="Helvetica"/>
              <a:ea typeface="Times New Roman" panose="02020603050405020304" pitchFamily="18" charset="0"/>
              <a:cs typeface="Helvetica"/>
            </a:endParaRPr>
          </a:p>
          <a:p>
            <a:endParaRPr lang="en-US" sz="25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C18AD7-82F0-2340-9AF5-4FA312159648}"/>
              </a:ext>
            </a:extLst>
          </p:cNvPr>
          <p:cNvGrpSpPr/>
          <p:nvPr/>
        </p:nvGrpSpPr>
        <p:grpSpPr>
          <a:xfrm>
            <a:off x="597367" y="15567382"/>
            <a:ext cx="13063327" cy="9292257"/>
            <a:chOff x="572915" y="16098706"/>
            <a:chExt cx="13946934" cy="1005675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E925EB6-326B-8343-87E7-5F037676B4C3}"/>
                </a:ext>
              </a:extLst>
            </p:cNvPr>
            <p:cNvGrpSpPr/>
            <p:nvPr/>
          </p:nvGrpSpPr>
          <p:grpSpPr>
            <a:xfrm>
              <a:off x="572915" y="16098706"/>
              <a:ext cx="13946934" cy="10056750"/>
              <a:chOff x="530502" y="15989696"/>
              <a:chExt cx="13946934" cy="10056750"/>
            </a:xfrm>
          </p:grpSpPr>
          <p:grpSp>
            <p:nvGrpSpPr>
              <p:cNvPr id="15621" name="Group 15620">
                <a:extLst>
                  <a:ext uri="{FF2B5EF4-FFF2-40B4-BE49-F238E27FC236}">
                    <a16:creationId xmlns:a16="http://schemas.microsoft.com/office/drawing/2014/main" id="{5C45E275-5A15-8C98-B9C5-16C75C23860A}"/>
                  </a:ext>
                </a:extLst>
              </p:cNvPr>
              <p:cNvGrpSpPr/>
              <p:nvPr/>
            </p:nvGrpSpPr>
            <p:grpSpPr>
              <a:xfrm>
                <a:off x="3779671" y="15989696"/>
                <a:ext cx="10697765" cy="10056750"/>
                <a:chOff x="3779671" y="16218296"/>
                <a:chExt cx="10697765" cy="10056750"/>
              </a:xfrm>
            </p:grpSpPr>
            <p:grpSp>
              <p:nvGrpSpPr>
                <p:cNvPr id="15606" name="Group 15605">
                  <a:extLst>
                    <a:ext uri="{FF2B5EF4-FFF2-40B4-BE49-F238E27FC236}">
                      <a16:creationId xmlns:a16="http://schemas.microsoft.com/office/drawing/2014/main" id="{B0CC5957-EC01-CDC2-ADAF-5A0141831C57}"/>
                    </a:ext>
                  </a:extLst>
                </p:cNvPr>
                <p:cNvGrpSpPr/>
                <p:nvPr/>
              </p:nvGrpSpPr>
              <p:grpSpPr>
                <a:xfrm>
                  <a:off x="3779671" y="16218296"/>
                  <a:ext cx="10697765" cy="10056750"/>
                  <a:chOff x="18887859" y="360968"/>
                  <a:chExt cx="6543891" cy="6151778"/>
                </a:xfrm>
              </p:grpSpPr>
              <p:pic>
                <p:nvPicPr>
                  <p:cNvPr id="15607" name="Picture 15606" descr="A green check mark on a grey background&#10;&#10;Description automatically generated">
                    <a:extLst>
                      <a:ext uri="{FF2B5EF4-FFF2-40B4-BE49-F238E27FC236}">
                        <a16:creationId xmlns:a16="http://schemas.microsoft.com/office/drawing/2014/main" id="{BFD42068-273C-19B5-B61E-D2752FACB1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5"/>
                  <a:srcRect l="14791" t="15087" r="12450" b="22936"/>
                  <a:stretch/>
                </p:blipFill>
                <p:spPr>
                  <a:xfrm>
                    <a:off x="19244972" y="4622666"/>
                    <a:ext cx="2991981" cy="189008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08" name="Picture 15607" descr="A computer screen shot&#10;&#10;Description automatically generated">
                    <a:extLst>
                      <a:ext uri="{FF2B5EF4-FFF2-40B4-BE49-F238E27FC236}">
                        <a16:creationId xmlns:a16="http://schemas.microsoft.com/office/drawing/2014/main" id="{7AF89E18-68CC-9284-01FB-59B8ECC6A7F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/>
                  <a:srcRect l="17658" t="18357" r="18046" b="25816"/>
                  <a:stretch/>
                </p:blipFill>
                <p:spPr>
                  <a:xfrm>
                    <a:off x="22543408" y="4676154"/>
                    <a:ext cx="2888342" cy="1819031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09" name="Picture 15608" descr="A white cross on a gray background&#10;&#10;Description automatically generated">
                    <a:extLst>
                      <a:ext uri="{FF2B5EF4-FFF2-40B4-BE49-F238E27FC236}">
                        <a16:creationId xmlns:a16="http://schemas.microsoft.com/office/drawing/2014/main" id="{A316990F-59C7-631E-47E9-456D559048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7"/>
                  <a:srcRect l="2620" t="7420" r="2620" b="4981"/>
                  <a:stretch/>
                </p:blipFill>
                <p:spPr>
                  <a:xfrm>
                    <a:off x="20965957" y="2971697"/>
                    <a:ext cx="2848448" cy="189008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0" name="Picture 15609" descr="A grey background with white text&#10;&#10;Description automatically generated">
                    <a:extLst>
                      <a:ext uri="{FF2B5EF4-FFF2-40B4-BE49-F238E27FC236}">
                        <a16:creationId xmlns:a16="http://schemas.microsoft.com/office/drawing/2014/main" id="{E95A9EFF-122D-C651-FDF5-564B82E90BB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9926908" y="1639461"/>
                    <a:ext cx="2848448" cy="1943823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pic>
                <p:nvPicPr>
                  <p:cNvPr id="15611" name="Picture 15610" descr="A computer and a keyboard&#10;&#10;Description automatically generated with medium confidence">
                    <a:extLst>
                      <a:ext uri="{FF2B5EF4-FFF2-40B4-BE49-F238E27FC236}">
                        <a16:creationId xmlns:a16="http://schemas.microsoft.com/office/drawing/2014/main" id="{BD10086D-C152-9AEB-CD34-13177C8F6D4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9"/>
                  <a:srcRect l="2378" t="5420" r="2378" b="9853"/>
                  <a:stretch/>
                </p:blipFill>
                <p:spPr>
                  <a:xfrm>
                    <a:off x="18887859" y="360968"/>
                    <a:ext cx="2848448" cy="1919430"/>
                  </a:xfrm>
                  <a:prstGeom prst="rect">
                    <a:avLst/>
                  </a:prstGeom>
                  <a:solidFill>
                    <a:srgbClr val="FFFFFF">
                      <a:shade val="85000"/>
                    </a:srgbClr>
                  </a:solidFill>
                  <a:ln w="88900" cap="sq">
                    <a:solidFill>
                      <a:srgbClr val="C00000"/>
                    </a:solidFill>
                    <a:miter lim="800000"/>
                  </a:ln>
                  <a:effectLst>
                    <a:outerShdw blurRad="55000" dist="18000" dir="5400000" algn="tl" rotWithShape="0">
                      <a:srgbClr val="000000">
                        <a:alpha val="40000"/>
                      </a:srgbClr>
                    </a:outerShdw>
                  </a:effectLst>
                  <a:scene3d>
                    <a:camera prst="orthographicFront"/>
                    <a:lightRig rig="twoPt" dir="t">
                      <a:rot lat="0" lon="0" rev="7200000"/>
                    </a:lightRig>
                  </a:scene3d>
                  <a:sp3d>
                    <a:bevelT w="25400" h="19050"/>
                    <a:contourClr>
                      <a:srgbClr val="FFFFFF"/>
                    </a:contourClr>
                  </a:sp3d>
                </p:spPr>
              </p:pic>
              <p:grpSp>
                <p:nvGrpSpPr>
                  <p:cNvPr id="15612" name="Group 15611">
                    <a:extLst>
                      <a:ext uri="{FF2B5EF4-FFF2-40B4-BE49-F238E27FC236}">
                        <a16:creationId xmlns:a16="http://schemas.microsoft.com/office/drawing/2014/main" id="{60B2107B-4199-FD0C-4076-CA2B2F109B20}"/>
                      </a:ext>
                    </a:extLst>
                  </p:cNvPr>
                  <p:cNvGrpSpPr/>
                  <p:nvPr/>
                </p:nvGrpSpPr>
                <p:grpSpPr>
                  <a:xfrm>
                    <a:off x="22071524" y="360968"/>
                    <a:ext cx="3360226" cy="995434"/>
                    <a:chOff x="3514264" y="206684"/>
                    <a:chExt cx="3360226" cy="995434"/>
                  </a:xfrm>
                </p:grpSpPr>
                <p:pic>
                  <p:nvPicPr>
                    <p:cNvPr id="15613" name="Picture 15612">
                      <a:extLst>
                        <a:ext uri="{FF2B5EF4-FFF2-40B4-BE49-F238E27FC236}">
                          <a16:creationId xmlns:a16="http://schemas.microsoft.com/office/drawing/2014/main" id="{8F1F804F-2F4C-1C69-0ED4-456A517A34F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3514264" y="206684"/>
                      <a:ext cx="1027916" cy="990673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  <p:pic>
                  <p:nvPicPr>
                    <p:cNvPr id="15614" name="Picture 15613" descr="A grey square with a person's head&#10;&#10;Description automatically generated">
                      <a:extLst>
                        <a:ext uri="{FF2B5EF4-FFF2-40B4-BE49-F238E27FC236}">
                          <a16:creationId xmlns:a16="http://schemas.microsoft.com/office/drawing/2014/main" id="{2172C1AD-5BEC-2CFE-FCB3-472B60E2C225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1"/>
                    <a:stretch>
                      <a:fillRect/>
                    </a:stretch>
                  </p:blipFill>
                  <p:spPr>
                    <a:xfrm>
                      <a:off x="4717835" y="206684"/>
                      <a:ext cx="982991" cy="995434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  <p:pic>
                  <p:nvPicPr>
                    <p:cNvPr id="15615" name="Picture 15614" descr="A person with a smile on his face&#10;&#10;Description automatically generated">
                      <a:extLst>
                        <a:ext uri="{FF2B5EF4-FFF2-40B4-BE49-F238E27FC236}">
                          <a16:creationId xmlns:a16="http://schemas.microsoft.com/office/drawing/2014/main" id="{7957BC4D-151A-EB1E-5CAE-777FF2B16B2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883817" y="206684"/>
                      <a:ext cx="990673" cy="990673"/>
                    </a:xfrm>
                    <a:prstGeom prst="rect">
                      <a:avLst/>
                    </a:prstGeom>
                    <a:solidFill>
                      <a:srgbClr val="FFFFFF">
                        <a:shade val="85000"/>
                      </a:srgbClr>
                    </a:solidFill>
                    <a:ln w="88900" cap="sq">
                      <a:solidFill>
                        <a:srgbClr val="C00000"/>
                      </a:solidFill>
                      <a:miter lim="800000"/>
                    </a:ln>
                    <a:effectLst>
                      <a:outerShdw blurRad="55000" dist="18000" dir="5400000" algn="tl" rotWithShape="0">
                        <a:srgbClr val="000000">
                          <a:alpha val="40000"/>
                        </a:srgbClr>
                      </a:outerShdw>
                    </a:effectLst>
                    <a:scene3d>
                      <a:camera prst="orthographicFront"/>
                      <a:lightRig rig="twoPt" dir="t">
                        <a:rot lat="0" lon="0" rev="7200000"/>
                      </a:lightRig>
                    </a:scene3d>
                    <a:sp3d>
                      <a:bevelT w="25400" h="19050"/>
                      <a:contourClr>
                        <a:srgbClr val="FFFFFF"/>
                      </a:contourClr>
                    </a:sp3d>
                  </p:spPr>
                </p:pic>
              </p:grpSp>
            </p:grpSp>
            <p:sp>
              <p:nvSpPr>
                <p:cNvPr id="15616" name="Rectangle 15615">
                  <a:extLst>
                    <a:ext uri="{FF2B5EF4-FFF2-40B4-BE49-F238E27FC236}">
                      <a16:creationId xmlns:a16="http://schemas.microsoft.com/office/drawing/2014/main" id="{946783DC-D597-2C29-6191-5B3893CFCF5D}"/>
                    </a:ext>
                  </a:extLst>
                </p:cNvPr>
                <p:cNvSpPr/>
                <p:nvPr/>
              </p:nvSpPr>
              <p:spPr bwMode="auto">
                <a:xfrm>
                  <a:off x="4071341" y="18677659"/>
                  <a:ext cx="2147590" cy="340451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Share $8</a:t>
                  </a:r>
                </a:p>
              </p:txBody>
            </p:sp>
            <p:sp>
              <p:nvSpPr>
                <p:cNvPr id="15618" name="Rectangle 15617">
                  <a:extLst>
                    <a:ext uri="{FF2B5EF4-FFF2-40B4-BE49-F238E27FC236}">
                      <a16:creationId xmlns:a16="http://schemas.microsoft.com/office/drawing/2014/main" id="{C6024063-9D2C-50D8-70B5-FC3D7C6F49F8}"/>
                    </a:ext>
                  </a:extLst>
                </p:cNvPr>
                <p:cNvSpPr/>
                <p:nvPr/>
              </p:nvSpPr>
              <p:spPr bwMode="auto">
                <a:xfrm>
                  <a:off x="6320475" y="18660155"/>
                  <a:ext cx="1942901" cy="552682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Share $2</a:t>
                  </a:r>
                </a:p>
              </p:txBody>
            </p:sp>
            <p:sp>
              <p:nvSpPr>
                <p:cNvPr id="15619" name="Rectangle 15618">
                  <a:extLst>
                    <a:ext uri="{FF2B5EF4-FFF2-40B4-BE49-F238E27FC236}">
                      <a16:creationId xmlns:a16="http://schemas.microsoft.com/office/drawing/2014/main" id="{8EBB5886-1680-B3C7-DEC7-CD388B0CA60C}"/>
                    </a:ext>
                  </a:extLst>
                </p:cNvPr>
                <p:cNvSpPr/>
                <p:nvPr/>
              </p:nvSpPr>
              <p:spPr bwMode="auto">
                <a:xfrm>
                  <a:off x="6772254" y="19789015"/>
                  <a:ext cx="2503191" cy="552682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Loading…</a:t>
                  </a:r>
                </a:p>
              </p:txBody>
            </p:sp>
            <p:sp>
              <p:nvSpPr>
                <p:cNvPr id="15620" name="Rectangle 15619">
                  <a:extLst>
                    <a:ext uri="{FF2B5EF4-FFF2-40B4-BE49-F238E27FC236}">
                      <a16:creationId xmlns:a16="http://schemas.microsoft.com/office/drawing/2014/main" id="{98A52E85-D70D-5398-4E75-D523A6EBBF49}"/>
                    </a:ext>
                  </a:extLst>
                </p:cNvPr>
                <p:cNvSpPr/>
                <p:nvPr/>
              </p:nvSpPr>
              <p:spPr bwMode="auto">
                <a:xfrm>
                  <a:off x="9139048" y="21549198"/>
                  <a:ext cx="704737" cy="718761"/>
                </a:xfrm>
                <a:prstGeom prst="rect">
                  <a:avLst/>
                </a:prstGeom>
                <a:solidFill>
                  <a:srgbClr val="848484"/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5000" b="0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Arial" charset="0"/>
                      <a:cs typeface="Arial" charset="0"/>
                    </a:rPr>
                    <a:t>+</a:t>
                  </a:r>
                </a:p>
              </p:txBody>
            </p:sp>
          </p:grpSp>
          <p:grpSp>
            <p:nvGrpSpPr>
              <p:cNvPr id="15592" name="Group 15591">
                <a:extLst>
                  <a:ext uri="{FF2B5EF4-FFF2-40B4-BE49-F238E27FC236}">
                    <a16:creationId xmlns:a16="http://schemas.microsoft.com/office/drawing/2014/main" id="{415B0EBC-8379-F485-6113-E5DF57F87E19}"/>
                  </a:ext>
                </a:extLst>
              </p:cNvPr>
              <p:cNvGrpSpPr/>
              <p:nvPr/>
            </p:nvGrpSpPr>
            <p:grpSpPr>
              <a:xfrm>
                <a:off x="1532700" y="21512239"/>
                <a:ext cx="5203251" cy="1323439"/>
                <a:chOff x="1154328" y="21740839"/>
                <a:chExt cx="5203251" cy="1323439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4707B45F-027B-576B-4808-66F0A5D95489}"/>
                    </a:ext>
                  </a:extLst>
                </p:cNvPr>
                <p:cNvSpPr txBox="1"/>
                <p:nvPr/>
              </p:nvSpPr>
              <p:spPr>
                <a:xfrm>
                  <a:off x="5031575" y="21740839"/>
                  <a:ext cx="1326004" cy="132343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0" b="1" dirty="0">
                      <a:solidFill>
                        <a:srgbClr val="03DF04"/>
                      </a:solidFill>
                    </a:rPr>
                    <a:t>x3</a:t>
                  </a:r>
                </a:p>
              </p:txBody>
            </p:sp>
            <p:sp>
              <p:nvSpPr>
                <p:cNvPr id="15433" name="Rounded Rectangle 15432">
                  <a:extLst>
                    <a:ext uri="{FF2B5EF4-FFF2-40B4-BE49-F238E27FC236}">
                      <a16:creationId xmlns:a16="http://schemas.microsoft.com/office/drawing/2014/main" id="{9D770554-0135-2E8B-9BC3-8228F9631C8A}"/>
                    </a:ext>
                  </a:extLst>
                </p:cNvPr>
                <p:cNvSpPr/>
                <p:nvPr/>
              </p:nvSpPr>
              <p:spPr bwMode="auto">
                <a:xfrm>
                  <a:off x="1154328" y="21817902"/>
                  <a:ext cx="3412362" cy="1168944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The money you  sent is tripled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</p:grpSp>
          <p:grpSp>
            <p:nvGrpSpPr>
              <p:cNvPr id="15490" name="Group 15489">
                <a:extLst>
                  <a:ext uri="{FF2B5EF4-FFF2-40B4-BE49-F238E27FC236}">
                    <a16:creationId xmlns:a16="http://schemas.microsoft.com/office/drawing/2014/main" id="{26CF14B9-FE18-01D5-1A0A-E19BE8376A0A}"/>
                  </a:ext>
                </a:extLst>
              </p:cNvPr>
              <p:cNvGrpSpPr/>
              <p:nvPr/>
            </p:nvGrpSpPr>
            <p:grpSpPr>
              <a:xfrm>
                <a:off x="530502" y="18979791"/>
                <a:ext cx="4534151" cy="2464546"/>
                <a:chOff x="533974" y="18532980"/>
                <a:chExt cx="4534151" cy="2464546"/>
              </a:xfrm>
            </p:grpSpPr>
            <p:sp>
              <p:nvSpPr>
                <p:cNvPr id="15432" name="Rounded Rectangle 15431">
                  <a:extLst>
                    <a:ext uri="{FF2B5EF4-FFF2-40B4-BE49-F238E27FC236}">
                      <a16:creationId xmlns:a16="http://schemas.microsoft.com/office/drawing/2014/main" id="{29E5F4B4-9ECB-A12A-6B3F-C0855A0CDE34}"/>
                    </a:ext>
                  </a:extLst>
                </p:cNvPr>
                <p:cNvSpPr/>
                <p:nvPr/>
              </p:nvSpPr>
              <p:spPr bwMode="auto">
                <a:xfrm>
                  <a:off x="533974" y="19334093"/>
                  <a:ext cx="4534151" cy="1663433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You choose a higher or lower amount to share with your partner.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15442" name="Elbow Connector 15441">
                  <a:extLst>
                    <a:ext uri="{FF2B5EF4-FFF2-40B4-BE49-F238E27FC236}">
                      <a16:creationId xmlns:a16="http://schemas.microsoft.com/office/drawing/2014/main" id="{FD357802-D2BB-A2AC-2582-D36E431D92F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361558" y="18532980"/>
                  <a:ext cx="953880" cy="801113"/>
                </a:xfrm>
                <a:prstGeom prst="bentConnector3">
                  <a:avLst>
                    <a:gd name="adj1" fmla="val -3922"/>
                  </a:avLst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grpSp>
            <p:nvGrpSpPr>
              <p:cNvPr id="15538" name="Group 15537">
                <a:extLst>
                  <a:ext uri="{FF2B5EF4-FFF2-40B4-BE49-F238E27FC236}">
                    <a16:creationId xmlns:a16="http://schemas.microsoft.com/office/drawing/2014/main" id="{4ABA81B2-5B67-77D2-5517-08033E19241B}"/>
                  </a:ext>
                </a:extLst>
              </p:cNvPr>
              <p:cNvGrpSpPr/>
              <p:nvPr/>
            </p:nvGrpSpPr>
            <p:grpSpPr>
              <a:xfrm>
                <a:off x="795814" y="16818784"/>
                <a:ext cx="4146785" cy="1569660"/>
                <a:chOff x="829782" y="16644992"/>
                <a:chExt cx="4146785" cy="1569660"/>
              </a:xfrm>
            </p:grpSpPr>
            <p:sp>
              <p:nvSpPr>
                <p:cNvPr id="15528" name="Rounded Rectangle 15527">
                  <a:extLst>
                    <a:ext uri="{FF2B5EF4-FFF2-40B4-BE49-F238E27FC236}">
                      <a16:creationId xmlns:a16="http://schemas.microsoft.com/office/drawing/2014/main" id="{AD2DBFD4-1DD0-D27D-7CB0-35408A9E32E4}"/>
                    </a:ext>
                  </a:extLst>
                </p:cNvPr>
                <p:cNvSpPr/>
                <p:nvPr/>
              </p:nvSpPr>
              <p:spPr bwMode="auto">
                <a:xfrm>
                  <a:off x="829782" y="16644992"/>
                  <a:ext cx="2516152" cy="1569660"/>
                </a:xfrm>
                <a:prstGeom prst="roundRect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4389438" eaLnBrk="1" hangingPunct="1"/>
                  <a:r>
                    <a:rPr lang="en-US" sz="3000" dirty="0"/>
                    <a:t>You are assigned a partner.</a:t>
                  </a:r>
                </a:p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15537" name="Straight Arrow Connector 15536">
                  <a:extLst>
                    <a:ext uri="{FF2B5EF4-FFF2-40B4-BE49-F238E27FC236}">
                      <a16:creationId xmlns:a16="http://schemas.microsoft.com/office/drawing/2014/main" id="{7A1CFB10-A83A-AA5A-7CB9-EC39B260985E}"/>
                    </a:ext>
                  </a:extLst>
                </p:cNvPr>
                <p:cNvCxnSpPr>
                  <a:cxnSpLocks/>
                  <a:stCxn id="15528" idx="3"/>
                </p:cNvCxnSpPr>
                <p:nvPr/>
              </p:nvCxnSpPr>
              <p:spPr bwMode="auto">
                <a:xfrm>
                  <a:off x="3345934" y="17429822"/>
                  <a:ext cx="1630633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sp>
            <p:nvSpPr>
              <p:cNvPr id="15542" name="Rounded Rectangle 15541">
                <a:extLst>
                  <a:ext uri="{FF2B5EF4-FFF2-40B4-BE49-F238E27FC236}">
                    <a16:creationId xmlns:a16="http://schemas.microsoft.com/office/drawing/2014/main" id="{F919F17A-D127-CAD0-86F8-9896BB472FB5}"/>
                  </a:ext>
                </a:extLst>
              </p:cNvPr>
              <p:cNvSpPr/>
              <p:nvPr/>
            </p:nvSpPr>
            <p:spPr bwMode="auto">
              <a:xfrm>
                <a:off x="1019445" y="25077499"/>
                <a:ext cx="2843041" cy="764088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500" dirty="0"/>
                  <a:t>End of trial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15667" name="Rounded Rectangle 15666">
                <a:extLst>
                  <a:ext uri="{FF2B5EF4-FFF2-40B4-BE49-F238E27FC236}">
                    <a16:creationId xmlns:a16="http://schemas.microsoft.com/office/drawing/2014/main" id="{A04AF92B-DBCA-68B5-49E1-F021F79663D4}"/>
                  </a:ext>
                </a:extLst>
              </p:cNvPr>
              <p:cNvSpPr/>
              <p:nvPr/>
            </p:nvSpPr>
            <p:spPr bwMode="auto">
              <a:xfrm>
                <a:off x="530502" y="23379694"/>
                <a:ext cx="3455135" cy="546012"/>
              </a:xfrm>
              <a:prstGeom prst="roundRect">
                <a:avLst/>
              </a:prstGeom>
              <a:solidFill>
                <a:schemeClr val="accent1"/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4389438" eaLnBrk="1" hangingPunct="1"/>
                <a:r>
                  <a:rPr lang="en-US" sz="3000" dirty="0"/>
                  <a:t>Outcome Phase</a:t>
                </a:r>
              </a:p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15668" name="Rectangle 15667">
              <a:extLst>
                <a:ext uri="{FF2B5EF4-FFF2-40B4-BE49-F238E27FC236}">
                  <a16:creationId xmlns:a16="http://schemas.microsoft.com/office/drawing/2014/main" id="{313395CF-F0BD-08A4-741C-0E58C7C64F02}"/>
                </a:ext>
              </a:extLst>
            </p:cNvPr>
            <p:cNvSpPr/>
            <p:nvPr/>
          </p:nvSpPr>
          <p:spPr bwMode="auto">
            <a:xfrm>
              <a:off x="5210967" y="17385583"/>
              <a:ext cx="1984189" cy="552682"/>
            </a:xfrm>
            <a:prstGeom prst="rect">
              <a:avLst/>
            </a:prstGeom>
            <a:solidFill>
              <a:srgbClr val="84848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Arial" charset="0"/>
                  <a:cs typeface="Arial" charset="0"/>
                </a:rPr>
                <a:t>Computer</a:t>
              </a:r>
            </a:p>
          </p:txBody>
        </p:sp>
      </p:grpSp>
      <p:grpSp>
        <p:nvGrpSpPr>
          <p:cNvPr id="15637" name="Group 15636">
            <a:extLst>
              <a:ext uri="{FF2B5EF4-FFF2-40B4-BE49-F238E27FC236}">
                <a16:creationId xmlns:a16="http://schemas.microsoft.com/office/drawing/2014/main" id="{3A2B419D-DEB8-5DE4-6994-E09E435EDE6A}"/>
              </a:ext>
            </a:extLst>
          </p:cNvPr>
          <p:cNvGrpSpPr/>
          <p:nvPr/>
        </p:nvGrpSpPr>
        <p:grpSpPr>
          <a:xfrm>
            <a:off x="21667753" y="23179902"/>
            <a:ext cx="7277183" cy="6638191"/>
            <a:chOff x="23516336" y="15981033"/>
            <a:chExt cx="5574747" cy="4915819"/>
          </a:xfrm>
        </p:grpSpPr>
        <p:grpSp>
          <p:nvGrpSpPr>
            <p:cNvPr id="15627" name="Group 15626">
              <a:extLst>
                <a:ext uri="{FF2B5EF4-FFF2-40B4-BE49-F238E27FC236}">
                  <a16:creationId xmlns:a16="http://schemas.microsoft.com/office/drawing/2014/main" id="{06AA4FCA-34DA-E471-770A-8C935B50E788}"/>
                </a:ext>
              </a:extLst>
            </p:cNvPr>
            <p:cNvGrpSpPr/>
            <p:nvPr/>
          </p:nvGrpSpPr>
          <p:grpSpPr>
            <a:xfrm>
              <a:off x="23516336" y="16721772"/>
              <a:ext cx="3469498" cy="4175080"/>
              <a:chOff x="23516336" y="16721772"/>
              <a:chExt cx="3469498" cy="4175080"/>
            </a:xfrm>
          </p:grpSpPr>
          <p:sp>
            <p:nvSpPr>
              <p:cNvPr id="15625" name="TextBox 15624">
                <a:extLst>
                  <a:ext uri="{FF2B5EF4-FFF2-40B4-BE49-F238E27FC236}">
                    <a16:creationId xmlns:a16="http://schemas.microsoft.com/office/drawing/2014/main" id="{7328C975-6B3E-4A8B-7D28-2CBF3C3AA243}"/>
                  </a:ext>
                </a:extLst>
              </p:cNvPr>
              <p:cNvSpPr txBox="1"/>
              <p:nvPr/>
            </p:nvSpPr>
            <p:spPr>
              <a:xfrm>
                <a:off x="26321244" y="20486597"/>
                <a:ext cx="664590" cy="4102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15626" name="TextBox 15625">
                <a:extLst>
                  <a:ext uri="{FF2B5EF4-FFF2-40B4-BE49-F238E27FC236}">
                    <a16:creationId xmlns:a16="http://schemas.microsoft.com/office/drawing/2014/main" id="{0741CC01-E666-6FF6-4DCF-5C0AEA54A228}"/>
                  </a:ext>
                </a:extLst>
              </p:cNvPr>
              <p:cNvSpPr txBox="1"/>
              <p:nvPr/>
            </p:nvSpPr>
            <p:spPr>
              <a:xfrm rot="16200000">
                <a:off x="22259180" y="17978928"/>
                <a:ext cx="2938707" cy="424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dirty="0"/>
                  <a:t>Reciprocate &gt; Defect</a:t>
                </a:r>
              </a:p>
            </p:txBody>
          </p:sp>
        </p:grpSp>
        <p:sp>
          <p:nvSpPr>
            <p:cNvPr id="15632" name="TextBox 15631">
              <a:extLst>
                <a:ext uri="{FF2B5EF4-FFF2-40B4-BE49-F238E27FC236}">
                  <a16:creationId xmlns:a16="http://schemas.microsoft.com/office/drawing/2014/main" id="{DB5643A6-0963-1889-743A-BE329E7DFA26}"/>
                </a:ext>
              </a:extLst>
            </p:cNvPr>
            <p:cNvSpPr txBox="1"/>
            <p:nvPr/>
          </p:nvSpPr>
          <p:spPr>
            <a:xfrm>
              <a:off x="23747619" y="15981033"/>
              <a:ext cx="6019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400</a:t>
              </a:r>
            </a:p>
          </p:txBody>
        </p:sp>
        <p:sp>
          <p:nvSpPr>
            <p:cNvPr id="15633" name="TextBox 15632">
              <a:extLst>
                <a:ext uri="{FF2B5EF4-FFF2-40B4-BE49-F238E27FC236}">
                  <a16:creationId xmlns:a16="http://schemas.microsoft.com/office/drawing/2014/main" id="{F005320C-94E9-2CF4-6842-98DA1FA46221}"/>
                </a:ext>
              </a:extLst>
            </p:cNvPr>
            <p:cNvSpPr txBox="1"/>
            <p:nvPr/>
          </p:nvSpPr>
          <p:spPr>
            <a:xfrm>
              <a:off x="23651698" y="20083634"/>
              <a:ext cx="694062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-200</a:t>
              </a:r>
            </a:p>
          </p:txBody>
        </p:sp>
        <p:sp>
          <p:nvSpPr>
            <p:cNvPr id="15634" name="TextBox 15633">
              <a:extLst>
                <a:ext uri="{FF2B5EF4-FFF2-40B4-BE49-F238E27FC236}">
                  <a16:creationId xmlns:a16="http://schemas.microsoft.com/office/drawing/2014/main" id="{E721D839-B7EC-B05A-38DA-D9704D0EBA2E}"/>
                </a:ext>
              </a:extLst>
            </p:cNvPr>
            <p:cNvSpPr txBox="1"/>
            <p:nvPr/>
          </p:nvSpPr>
          <p:spPr>
            <a:xfrm>
              <a:off x="24215995" y="20446486"/>
              <a:ext cx="4484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20</a:t>
              </a:r>
            </a:p>
          </p:txBody>
        </p:sp>
        <p:sp>
          <p:nvSpPr>
            <p:cNvPr id="15635" name="TextBox 15634">
              <a:extLst>
                <a:ext uri="{FF2B5EF4-FFF2-40B4-BE49-F238E27FC236}">
                  <a16:creationId xmlns:a16="http://schemas.microsoft.com/office/drawing/2014/main" id="{61C5ED5A-0A65-9C1A-0AC3-7712D59B3795}"/>
                </a:ext>
              </a:extLst>
            </p:cNvPr>
            <p:cNvSpPr txBox="1"/>
            <p:nvPr/>
          </p:nvSpPr>
          <p:spPr>
            <a:xfrm>
              <a:off x="28642619" y="20446488"/>
              <a:ext cx="448464" cy="3874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70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D2FE0E2-6053-4146-B370-FB37B649225A}"/>
              </a:ext>
            </a:extLst>
          </p:cNvPr>
          <p:cNvGrpSpPr/>
          <p:nvPr/>
        </p:nvGrpSpPr>
        <p:grpSpPr>
          <a:xfrm>
            <a:off x="31025829" y="7128196"/>
            <a:ext cx="11585621" cy="6349248"/>
            <a:chOff x="30940769" y="6482142"/>
            <a:chExt cx="11585621" cy="6349248"/>
          </a:xfrm>
        </p:grpSpPr>
        <p:grpSp>
          <p:nvGrpSpPr>
            <p:cNvPr id="15708" name="Group 15707">
              <a:extLst>
                <a:ext uri="{FF2B5EF4-FFF2-40B4-BE49-F238E27FC236}">
                  <a16:creationId xmlns:a16="http://schemas.microsoft.com/office/drawing/2014/main" id="{F3365FFA-9BF5-9EF3-928F-677A1E435CFE}"/>
                </a:ext>
              </a:extLst>
            </p:cNvPr>
            <p:cNvGrpSpPr/>
            <p:nvPr/>
          </p:nvGrpSpPr>
          <p:grpSpPr>
            <a:xfrm>
              <a:off x="30968309" y="8084700"/>
              <a:ext cx="4158601" cy="4300330"/>
              <a:chOff x="30952728" y="4266720"/>
              <a:chExt cx="6212381" cy="7160350"/>
            </a:xfrm>
          </p:grpSpPr>
          <p:pic>
            <p:nvPicPr>
              <p:cNvPr id="15670" name="Picture 15669" descr="A brain with a red spot&#10;&#10;Description automatically generated">
                <a:extLst>
                  <a:ext uri="{FF2B5EF4-FFF2-40B4-BE49-F238E27FC236}">
                    <a16:creationId xmlns:a16="http://schemas.microsoft.com/office/drawing/2014/main" id="{BA2FE39D-46B1-0722-481F-CB4E6283E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72216" y="5328136"/>
                <a:ext cx="5683649" cy="4771937"/>
              </a:xfrm>
              <a:prstGeom prst="rect">
                <a:avLst/>
              </a:prstGeom>
            </p:spPr>
          </p:pic>
          <p:sp>
            <p:nvSpPr>
              <p:cNvPr id="15674" name="TextBox 15673">
                <a:extLst>
                  <a:ext uri="{FF2B5EF4-FFF2-40B4-BE49-F238E27FC236}">
                    <a16:creationId xmlns:a16="http://schemas.microsoft.com/office/drawing/2014/main" id="{6D1FEF78-5231-7339-DB44-5A31EBAD6F9E}"/>
                  </a:ext>
                </a:extLst>
              </p:cNvPr>
              <p:cNvSpPr txBox="1"/>
              <p:nvPr/>
            </p:nvSpPr>
            <p:spPr>
              <a:xfrm>
                <a:off x="30952728" y="4266720"/>
                <a:ext cx="1894661" cy="9736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X= 52</a:t>
                </a:r>
              </a:p>
            </p:txBody>
          </p:sp>
          <p:sp>
            <p:nvSpPr>
              <p:cNvPr id="15680" name="TextBox 15679">
                <a:extLst>
                  <a:ext uri="{FF2B5EF4-FFF2-40B4-BE49-F238E27FC236}">
                    <a16:creationId xmlns:a16="http://schemas.microsoft.com/office/drawing/2014/main" id="{0FE2F447-254E-923E-162C-DC99AACAFC55}"/>
                  </a:ext>
                </a:extLst>
              </p:cNvPr>
              <p:cNvSpPr txBox="1"/>
              <p:nvPr/>
            </p:nvSpPr>
            <p:spPr>
              <a:xfrm>
                <a:off x="31154497" y="10453379"/>
                <a:ext cx="6010612" cy="9736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 err="1">
                    <a:latin typeface="Helvetica"/>
                  </a:rPr>
                  <a:t>dlPFC</a:t>
                </a:r>
                <a:endParaRPr lang="en-US" sz="3200" dirty="0">
                  <a:latin typeface="Helvetica"/>
                </a:endParaRPr>
              </a:p>
            </p:txBody>
          </p:sp>
        </p:grpSp>
        <p:sp>
          <p:nvSpPr>
            <p:cNvPr id="15707" name="TextBox 15706">
              <a:extLst>
                <a:ext uri="{FF2B5EF4-FFF2-40B4-BE49-F238E27FC236}">
                  <a16:creationId xmlns:a16="http://schemas.microsoft.com/office/drawing/2014/main" id="{0830B512-1237-C170-3104-978D2CC18E8D}"/>
                </a:ext>
              </a:extLst>
            </p:cNvPr>
            <p:cNvSpPr txBox="1"/>
            <p:nvPr/>
          </p:nvSpPr>
          <p:spPr>
            <a:xfrm>
              <a:off x="30940769" y="6984044"/>
              <a:ext cx="427214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effectLst/>
                  <a:latin typeface="Helvetica" pitchFamily="2" charset="0"/>
                </a:rPr>
                <a:t>Friend Defecting &gt;</a:t>
              </a:r>
              <a:r>
                <a:rPr lang="en-US" sz="2800" dirty="0">
                  <a:latin typeface="Helvetica" pitchFamily="2" charset="0"/>
                </a:rPr>
                <a:t> Computer Defecting</a:t>
              </a:r>
              <a:endParaRPr lang="en-US" sz="2800" i="0" dirty="0">
                <a:effectLst/>
                <a:latin typeface="Helvetica" pitchFamily="2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655AFED-3947-A740-B235-4AE33711962C}"/>
                </a:ext>
              </a:extLst>
            </p:cNvPr>
            <p:cNvGrpSpPr/>
            <p:nvPr/>
          </p:nvGrpSpPr>
          <p:grpSpPr>
            <a:xfrm>
              <a:off x="35398172" y="6482142"/>
              <a:ext cx="7128218" cy="6349248"/>
              <a:chOff x="37564868" y="7069792"/>
              <a:chExt cx="5452955" cy="5157377"/>
            </a:xfrm>
          </p:grpSpPr>
          <p:sp>
            <p:nvSpPr>
              <p:cNvPr id="15711" name="TextBox 15710">
                <a:extLst>
                  <a:ext uri="{FF2B5EF4-FFF2-40B4-BE49-F238E27FC236}">
                    <a16:creationId xmlns:a16="http://schemas.microsoft.com/office/drawing/2014/main" id="{3F0968C1-C452-1885-6B38-F154CD473A3F}"/>
                  </a:ext>
                </a:extLst>
              </p:cNvPr>
              <p:cNvSpPr txBox="1"/>
              <p:nvPr/>
            </p:nvSpPr>
            <p:spPr>
              <a:xfrm>
                <a:off x="37622248" y="7069792"/>
                <a:ext cx="601117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200</a:t>
                </a:r>
              </a:p>
            </p:txBody>
          </p:sp>
          <p:sp>
            <p:nvSpPr>
              <p:cNvPr id="15713" name="TextBox 15712">
                <a:extLst>
                  <a:ext uri="{FF2B5EF4-FFF2-40B4-BE49-F238E27FC236}">
                    <a16:creationId xmlns:a16="http://schemas.microsoft.com/office/drawing/2014/main" id="{0538FBF6-7909-445F-ACD2-9599FE92C967}"/>
                  </a:ext>
                </a:extLst>
              </p:cNvPr>
              <p:cNvSpPr txBox="1"/>
              <p:nvPr/>
            </p:nvSpPr>
            <p:spPr>
              <a:xfrm>
                <a:off x="37564868" y="11337187"/>
                <a:ext cx="693086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-300</a:t>
                </a:r>
              </a:p>
            </p:txBody>
          </p:sp>
          <p:sp>
            <p:nvSpPr>
              <p:cNvPr id="15716" name="TextBox 15715">
                <a:extLst>
                  <a:ext uri="{FF2B5EF4-FFF2-40B4-BE49-F238E27FC236}">
                    <a16:creationId xmlns:a16="http://schemas.microsoft.com/office/drawing/2014/main" id="{A7B791E9-2592-EA60-AB27-F2DBE3421768}"/>
                  </a:ext>
                </a:extLst>
              </p:cNvPr>
              <p:cNvSpPr txBox="1"/>
              <p:nvPr/>
            </p:nvSpPr>
            <p:spPr>
              <a:xfrm>
                <a:off x="38211199" y="11728946"/>
                <a:ext cx="447833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15717" name="TextBox 15716">
                <a:extLst>
                  <a:ext uri="{FF2B5EF4-FFF2-40B4-BE49-F238E27FC236}">
                    <a16:creationId xmlns:a16="http://schemas.microsoft.com/office/drawing/2014/main" id="{4288430D-B235-E5D2-0E3C-C928486D0544}"/>
                  </a:ext>
                </a:extLst>
              </p:cNvPr>
              <p:cNvSpPr txBox="1"/>
              <p:nvPr/>
            </p:nvSpPr>
            <p:spPr>
              <a:xfrm>
                <a:off x="42569990" y="11706123"/>
                <a:ext cx="447833" cy="4250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  <p:sp>
            <p:nvSpPr>
              <p:cNvPr id="15718" name="TextBox 15717">
                <a:extLst>
                  <a:ext uri="{FF2B5EF4-FFF2-40B4-BE49-F238E27FC236}">
                    <a16:creationId xmlns:a16="http://schemas.microsoft.com/office/drawing/2014/main" id="{C5EDCAEC-F972-A2CD-DE27-9E216B9AC130}"/>
                  </a:ext>
                </a:extLst>
              </p:cNvPr>
              <p:cNvSpPr txBox="1"/>
              <p:nvPr/>
            </p:nvSpPr>
            <p:spPr>
              <a:xfrm>
                <a:off x="39886352" y="11652166"/>
                <a:ext cx="141316" cy="5750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4000" dirty="0"/>
              </a:p>
            </p:txBody>
          </p:sp>
          <p:sp>
            <p:nvSpPr>
              <p:cNvPr id="15715" name="TextBox 15714">
                <a:extLst>
                  <a:ext uri="{FF2B5EF4-FFF2-40B4-BE49-F238E27FC236}">
                    <a16:creationId xmlns:a16="http://schemas.microsoft.com/office/drawing/2014/main" id="{6A186BD7-7E16-8AE4-2E56-FAD05BEC16F6}"/>
                  </a:ext>
                </a:extLst>
              </p:cNvPr>
              <p:cNvSpPr txBox="1"/>
              <p:nvPr/>
            </p:nvSpPr>
            <p:spPr>
              <a:xfrm rot="16200000">
                <a:off x="36657648" y="8884400"/>
                <a:ext cx="2422148" cy="423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 err="1"/>
                  <a:t>dlPFC</a:t>
                </a:r>
                <a:r>
                  <a:rPr lang="en-US" sz="3000" dirty="0"/>
                  <a:t> activation</a:t>
                </a:r>
              </a:p>
            </p:txBody>
          </p:sp>
        </p:grpSp>
      </p:grpSp>
      <p:pic>
        <p:nvPicPr>
          <p:cNvPr id="1025" name="Picture 1" descr="page1image36299968">
            <a:extLst>
              <a:ext uri="{FF2B5EF4-FFF2-40B4-BE49-F238E27FC236}">
                <a16:creationId xmlns:a16="http://schemas.microsoft.com/office/drawing/2014/main" id="{60035D50-8936-684B-B250-A56C0072C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9" y="120653"/>
            <a:ext cx="3390900" cy="339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1image36299744">
            <a:extLst>
              <a:ext uri="{FF2B5EF4-FFF2-40B4-BE49-F238E27FC236}">
                <a16:creationId xmlns:a16="http://schemas.microsoft.com/office/drawing/2014/main" id="{C5462043-3FBA-174F-8046-F6A09633C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5401" y="330561"/>
            <a:ext cx="32385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age1image52530848">
            <a:extLst>
              <a:ext uri="{FF2B5EF4-FFF2-40B4-BE49-F238E27FC236}">
                <a16:creationId xmlns:a16="http://schemas.microsoft.com/office/drawing/2014/main" id="{B03A8A5E-93A8-8D4C-8490-C8A39AE1B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6778" y="592888"/>
            <a:ext cx="30238700" cy="10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B6BBF49F-CFF7-964D-A548-CAFA1D235754}"/>
              </a:ext>
            </a:extLst>
          </p:cNvPr>
          <p:cNvGrpSpPr/>
          <p:nvPr/>
        </p:nvGrpSpPr>
        <p:grpSpPr>
          <a:xfrm>
            <a:off x="22984830" y="5663992"/>
            <a:ext cx="6985370" cy="6040452"/>
            <a:chOff x="23148115" y="5663992"/>
            <a:chExt cx="6985370" cy="60404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EB1F679-B03D-7ABA-4916-B7FDEEB0D1A4}"/>
                </a:ext>
              </a:extLst>
            </p:cNvPr>
            <p:cNvGrpSpPr/>
            <p:nvPr/>
          </p:nvGrpSpPr>
          <p:grpSpPr>
            <a:xfrm>
              <a:off x="23148115" y="5669169"/>
              <a:ext cx="6689848" cy="6035275"/>
              <a:chOff x="23148115" y="5669169"/>
              <a:chExt cx="6689848" cy="603527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E4488D-320E-3C93-EC8D-7C3BAA78FA30}"/>
                  </a:ext>
                </a:extLst>
              </p:cNvPr>
              <p:cNvSpPr txBox="1"/>
              <p:nvPr/>
            </p:nvSpPr>
            <p:spPr>
              <a:xfrm rot="16200000">
                <a:off x="21388338" y="7970314"/>
                <a:ext cx="4073551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IOS Friend - Computer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8B9CE20-98EC-DB3B-E27B-D3E16039CA7B}"/>
                  </a:ext>
                </a:extLst>
              </p:cNvPr>
              <p:cNvSpPr txBox="1"/>
              <p:nvPr/>
            </p:nvSpPr>
            <p:spPr>
              <a:xfrm>
                <a:off x="26458500" y="11124695"/>
                <a:ext cx="86754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F055F7-F4AD-16D6-0DC4-090889B5AC94}"/>
                  </a:ext>
                </a:extLst>
              </p:cNvPr>
              <p:cNvSpPr txBox="1"/>
              <p:nvPr/>
            </p:nvSpPr>
            <p:spPr>
              <a:xfrm>
                <a:off x="23168341" y="10761280"/>
                <a:ext cx="50526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-2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F335FD-74A6-0034-2C62-5E101F9EF9FA}"/>
                  </a:ext>
                </a:extLst>
              </p:cNvPr>
              <p:cNvSpPr txBox="1"/>
              <p:nvPr/>
            </p:nvSpPr>
            <p:spPr>
              <a:xfrm>
                <a:off x="23321533" y="5669169"/>
                <a:ext cx="38504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6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A872D9-BAA2-926E-8BF6-557B36359A89}"/>
                  </a:ext>
                </a:extLst>
              </p:cNvPr>
              <p:cNvSpPr txBox="1"/>
              <p:nvPr/>
            </p:nvSpPr>
            <p:spPr>
              <a:xfrm>
                <a:off x="23473332" y="1118122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7890C1-56FC-BC07-26D2-E3906F91A2E1}"/>
                  </a:ext>
                </a:extLst>
              </p:cNvPr>
              <p:cNvSpPr txBox="1"/>
              <p:nvPr/>
            </p:nvSpPr>
            <p:spPr>
              <a:xfrm>
                <a:off x="29252546" y="11147974"/>
                <a:ext cx="58541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2C2420C-269D-5FD9-9793-4E8BAE4F20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 l="14834" t="11264" r="3835" b="16585"/>
            <a:stretch/>
          </p:blipFill>
          <p:spPr>
            <a:xfrm>
              <a:off x="23673037" y="5663992"/>
              <a:ext cx="6460448" cy="552303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A3383C0-EB4E-3413-FBA5-F6CDEFBB9A01}"/>
              </a:ext>
            </a:extLst>
          </p:cNvPr>
          <p:cNvGrpSpPr/>
          <p:nvPr/>
        </p:nvGrpSpPr>
        <p:grpSpPr>
          <a:xfrm>
            <a:off x="15661773" y="14039216"/>
            <a:ext cx="6786687" cy="5929306"/>
            <a:chOff x="15661774" y="13558986"/>
            <a:chExt cx="6773997" cy="606920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F1414F7-3E57-76CD-1C5A-70BE29BA366D}"/>
                </a:ext>
              </a:extLst>
            </p:cNvPr>
            <p:cNvGrpSpPr/>
            <p:nvPr/>
          </p:nvGrpSpPr>
          <p:grpSpPr>
            <a:xfrm>
              <a:off x="15661774" y="13571887"/>
              <a:ext cx="6773997" cy="6056304"/>
              <a:chOff x="15911046" y="13518455"/>
              <a:chExt cx="6773997" cy="6056304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9D692A7-4FAE-7F86-3669-63E5EB7B73B4}"/>
                  </a:ext>
                </a:extLst>
              </p:cNvPr>
              <p:cNvSpPr txBox="1"/>
              <p:nvPr/>
            </p:nvSpPr>
            <p:spPr>
              <a:xfrm>
                <a:off x="15959557" y="13518455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35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C6D13B2-263D-82AD-D27A-9146F541402C}"/>
                  </a:ext>
                </a:extLst>
              </p:cNvPr>
              <p:cNvSpPr txBox="1"/>
              <p:nvPr/>
            </p:nvSpPr>
            <p:spPr>
              <a:xfrm>
                <a:off x="16163859" y="18593433"/>
                <a:ext cx="3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B573673-D070-01BC-38C0-015CC202624E}"/>
                  </a:ext>
                </a:extLst>
              </p:cNvPr>
              <p:cNvSpPr txBox="1"/>
              <p:nvPr/>
            </p:nvSpPr>
            <p:spPr>
              <a:xfrm rot="16200000">
                <a:off x="15411230" y="15931050"/>
                <a:ext cx="155363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OAFEM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BA56891-1EA7-63D6-781A-F4B314CA5404}"/>
                  </a:ext>
                </a:extLst>
              </p:cNvPr>
              <p:cNvSpPr txBox="1"/>
              <p:nvPr/>
            </p:nvSpPr>
            <p:spPr>
              <a:xfrm>
                <a:off x="19201039" y="19020761"/>
                <a:ext cx="86754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1D0DA85-42B5-2604-1257-444398E49E78}"/>
                  </a:ext>
                </a:extLst>
              </p:cNvPr>
              <p:cNvSpPr txBox="1"/>
              <p:nvPr/>
            </p:nvSpPr>
            <p:spPr>
              <a:xfrm>
                <a:off x="16382370" y="19025256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809160B-2F6C-BA84-02F1-D80F287E78AE}"/>
                  </a:ext>
                </a:extLst>
              </p:cNvPr>
              <p:cNvSpPr txBox="1"/>
              <p:nvPr/>
            </p:nvSpPr>
            <p:spPr>
              <a:xfrm>
                <a:off x="22100721" y="19026172"/>
                <a:ext cx="584322" cy="5355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1A809AB7-5523-3F9D-6316-37B2E64951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 l="15526" t="13111" r="4415" b="16123"/>
            <a:stretch/>
          </p:blipFill>
          <p:spPr>
            <a:xfrm>
              <a:off x="16334560" y="13558986"/>
              <a:ext cx="6010236" cy="5570606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B558AD3-6D79-9D59-B5C7-87060424114B}"/>
              </a:ext>
            </a:extLst>
          </p:cNvPr>
          <p:cNvGrpSpPr/>
          <p:nvPr/>
        </p:nvGrpSpPr>
        <p:grpSpPr>
          <a:xfrm>
            <a:off x="22955854" y="13938199"/>
            <a:ext cx="6946614" cy="6118831"/>
            <a:chOff x="22951625" y="13324694"/>
            <a:chExt cx="7238386" cy="624617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BDD7E15-33CB-E293-2CA9-95B8CCDF48ED}"/>
                </a:ext>
              </a:extLst>
            </p:cNvPr>
            <p:cNvGrpSpPr/>
            <p:nvPr/>
          </p:nvGrpSpPr>
          <p:grpSpPr>
            <a:xfrm>
              <a:off x="22951625" y="13324694"/>
              <a:ext cx="7011566" cy="6246177"/>
              <a:chOff x="22951625" y="13324694"/>
              <a:chExt cx="7011566" cy="6246177"/>
            </a:xfrm>
          </p:grpSpPr>
          <p:grpSp>
            <p:nvGrpSpPr>
              <p:cNvPr id="15583" name="Group 15582">
                <a:extLst>
                  <a:ext uri="{FF2B5EF4-FFF2-40B4-BE49-F238E27FC236}">
                    <a16:creationId xmlns:a16="http://schemas.microsoft.com/office/drawing/2014/main" id="{81424957-973F-2BA6-23A6-71C1377BD2AF}"/>
                  </a:ext>
                </a:extLst>
              </p:cNvPr>
              <p:cNvGrpSpPr/>
              <p:nvPr/>
            </p:nvGrpSpPr>
            <p:grpSpPr>
              <a:xfrm>
                <a:off x="22951625" y="13324694"/>
                <a:ext cx="1426361" cy="6163871"/>
                <a:chOff x="23170534" y="5142184"/>
                <a:chExt cx="1114632" cy="5298947"/>
              </a:xfrm>
            </p:grpSpPr>
            <p:sp>
              <p:nvSpPr>
                <p:cNvPr id="15575" name="TextBox 15574">
                  <a:extLst>
                    <a:ext uri="{FF2B5EF4-FFF2-40B4-BE49-F238E27FC236}">
                      <a16:creationId xmlns:a16="http://schemas.microsoft.com/office/drawing/2014/main" id="{136D78E5-71EA-17ED-91C9-F9CCADA262FF}"/>
                    </a:ext>
                  </a:extLst>
                </p:cNvPr>
                <p:cNvSpPr txBox="1"/>
                <p:nvPr/>
              </p:nvSpPr>
              <p:spPr>
                <a:xfrm rot="16200000">
                  <a:off x="20737522" y="7575196"/>
                  <a:ext cx="5298947" cy="4329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000" dirty="0"/>
                    <a:t>Sharing with Friend –With Stranger</a:t>
                  </a:r>
                </a:p>
              </p:txBody>
            </p:sp>
            <p:sp>
              <p:nvSpPr>
                <p:cNvPr id="15576" name="TextBox 15575">
                  <a:extLst>
                    <a:ext uri="{FF2B5EF4-FFF2-40B4-BE49-F238E27FC236}">
                      <a16:creationId xmlns:a16="http://schemas.microsoft.com/office/drawing/2014/main" id="{7E602785-88A0-0942-659B-9A750B46996F}"/>
                    </a:ext>
                  </a:extLst>
                </p:cNvPr>
                <p:cNvSpPr txBox="1"/>
                <p:nvPr/>
              </p:nvSpPr>
              <p:spPr>
                <a:xfrm>
                  <a:off x="23603500" y="9027547"/>
                  <a:ext cx="411426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-2</a:t>
                  </a:r>
                </a:p>
              </p:txBody>
            </p:sp>
            <p:sp>
              <p:nvSpPr>
                <p:cNvPr id="15577" name="TextBox 15576">
                  <a:extLst>
                    <a:ext uri="{FF2B5EF4-FFF2-40B4-BE49-F238E27FC236}">
                      <a16:creationId xmlns:a16="http://schemas.microsoft.com/office/drawing/2014/main" id="{44C014BB-4057-CE6F-8488-5075607DFC5B}"/>
                    </a:ext>
                  </a:extLst>
                </p:cNvPr>
                <p:cNvSpPr txBox="1"/>
                <p:nvPr/>
              </p:nvSpPr>
              <p:spPr>
                <a:xfrm>
                  <a:off x="23684874" y="6227047"/>
                  <a:ext cx="31353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2</a:t>
                  </a:r>
                </a:p>
              </p:txBody>
            </p:sp>
            <p:sp>
              <p:nvSpPr>
                <p:cNvPr id="15578" name="TextBox 15577">
                  <a:extLst>
                    <a:ext uri="{FF2B5EF4-FFF2-40B4-BE49-F238E27FC236}">
                      <a16:creationId xmlns:a16="http://schemas.microsoft.com/office/drawing/2014/main" id="{7FC9F9D2-B5EE-482C-7F35-E7345B0CA197}"/>
                    </a:ext>
                  </a:extLst>
                </p:cNvPr>
                <p:cNvSpPr txBox="1"/>
                <p:nvPr/>
              </p:nvSpPr>
              <p:spPr>
                <a:xfrm>
                  <a:off x="23666269" y="7641535"/>
                  <a:ext cx="31353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0</a:t>
                  </a:r>
                </a:p>
              </p:txBody>
            </p:sp>
            <p:sp>
              <p:nvSpPr>
                <p:cNvPr id="15579" name="TextBox 15578">
                  <a:extLst>
                    <a:ext uri="{FF2B5EF4-FFF2-40B4-BE49-F238E27FC236}">
                      <a16:creationId xmlns:a16="http://schemas.microsoft.com/office/drawing/2014/main" id="{115532EB-4683-39F0-80DC-27E22F24AA20}"/>
                    </a:ext>
                  </a:extLst>
                </p:cNvPr>
                <p:cNvSpPr txBox="1"/>
                <p:nvPr/>
              </p:nvSpPr>
              <p:spPr>
                <a:xfrm>
                  <a:off x="23808476" y="9971676"/>
                  <a:ext cx="476690" cy="4591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dirty="0"/>
                    <a:t>20</a:t>
                  </a:r>
                </a:p>
              </p:txBody>
            </p: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971FA06-90F6-38D8-E376-EAC7F8F86D37}"/>
                  </a:ext>
                </a:extLst>
              </p:cNvPr>
              <p:cNvSpPr txBox="1"/>
              <p:nvPr/>
            </p:nvSpPr>
            <p:spPr>
              <a:xfrm>
                <a:off x="26534606" y="19016872"/>
                <a:ext cx="867545" cy="553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Age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CA8551F-72DA-08BF-83FF-D876E48BD6C0}"/>
                  </a:ext>
                </a:extLst>
              </p:cNvPr>
              <p:cNvSpPr txBox="1"/>
              <p:nvPr/>
            </p:nvSpPr>
            <p:spPr>
              <a:xfrm>
                <a:off x="29353185" y="18968549"/>
                <a:ext cx="610006" cy="5341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</p:grp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4A483E63-A410-7026-10D0-0FAC305E54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15691" t="11081" r="4694" b="15428"/>
            <a:stretch/>
          </p:blipFill>
          <p:spPr>
            <a:xfrm>
              <a:off x="23929854" y="13415822"/>
              <a:ext cx="6260157" cy="5568490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0DBA9C41-5EEA-0E79-D93D-F2C5795C3DCD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18562" t="11969" r="3825" b="15026"/>
          <a:stretch/>
        </p:blipFill>
        <p:spPr>
          <a:xfrm>
            <a:off x="22751158" y="23295687"/>
            <a:ext cx="6466501" cy="5861542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675D385-CC29-7E91-4E7F-87D48DE5C9A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18919" t="11022" r="3480" b="15715"/>
          <a:stretch/>
        </p:blipFill>
        <p:spPr>
          <a:xfrm>
            <a:off x="36346489" y="6863073"/>
            <a:ext cx="6554939" cy="5963480"/>
          </a:xfrm>
          <a:prstGeom prst="rect">
            <a:avLst/>
          </a:prstGeom>
        </p:spPr>
      </p:pic>
      <p:sp>
        <p:nvSpPr>
          <p:cNvPr id="155" name="Rectangle 154">
            <a:extLst>
              <a:ext uri="{FF2B5EF4-FFF2-40B4-BE49-F238E27FC236}">
                <a16:creationId xmlns:a16="http://schemas.microsoft.com/office/drawing/2014/main" id="{8F908185-E22F-CB44-8E95-78E9235C0525}"/>
              </a:ext>
            </a:extLst>
          </p:cNvPr>
          <p:cNvSpPr/>
          <p:nvPr/>
        </p:nvSpPr>
        <p:spPr>
          <a:xfrm>
            <a:off x="30683585" y="21572364"/>
            <a:ext cx="12914399" cy="2657138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360"/>
              </a:spcBef>
              <a:spcAft>
                <a:spcPts val="0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  <a:p>
            <a:pPr algn="ctr">
              <a:spcBef>
                <a:spcPts val="360"/>
              </a:spcBef>
              <a:spcAft>
                <a:spcPts val="0"/>
              </a:spcAft>
            </a:pPr>
            <a:r>
              <a:rPr lang="en-US" sz="3200" dirty="0">
                <a:latin typeface="Helvetica"/>
                <a:ea typeface="MS PGothic"/>
                <a:cs typeface="Helvetica"/>
              </a:rPr>
              <a:t>We also found that friend reciprocating resulted in reduced medial prefrontal cortex (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mPFC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) activation in older adults compared to younger adults.</a:t>
            </a:r>
          </a:p>
          <a:p>
            <a:pPr algn="ctr">
              <a:spcBef>
                <a:spcPts val="360"/>
              </a:spcBef>
              <a:spcAft>
                <a:spcPts val="0"/>
              </a:spcAft>
            </a:pPr>
            <a:endParaRPr lang="en-US" sz="3200" dirty="0">
              <a:latin typeface="Helvetica"/>
              <a:ea typeface="MS PGothic"/>
              <a:cs typeface="Helvetic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BF59342-E7CA-1B42-A3EA-21FDEFB4464A}"/>
              </a:ext>
            </a:extLst>
          </p:cNvPr>
          <p:cNvGrpSpPr/>
          <p:nvPr/>
        </p:nvGrpSpPr>
        <p:grpSpPr>
          <a:xfrm>
            <a:off x="31013968" y="15562632"/>
            <a:ext cx="11866195" cy="6632263"/>
            <a:chOff x="30862394" y="13704182"/>
            <a:chExt cx="11673248" cy="6632263"/>
          </a:xfrm>
        </p:grpSpPr>
        <p:grpSp>
          <p:nvGrpSpPr>
            <p:cNvPr id="15710" name="Group 15709">
              <a:extLst>
                <a:ext uri="{FF2B5EF4-FFF2-40B4-BE49-F238E27FC236}">
                  <a16:creationId xmlns:a16="http://schemas.microsoft.com/office/drawing/2014/main" id="{9AFA48F8-C584-C811-C9F5-EFCA333DD7C1}"/>
                </a:ext>
              </a:extLst>
            </p:cNvPr>
            <p:cNvGrpSpPr/>
            <p:nvPr/>
          </p:nvGrpSpPr>
          <p:grpSpPr>
            <a:xfrm>
              <a:off x="30912367" y="15288689"/>
              <a:ext cx="4003957" cy="4057010"/>
              <a:chOff x="30175830" y="13427301"/>
              <a:chExt cx="6887851" cy="7541194"/>
            </a:xfrm>
          </p:grpSpPr>
          <p:pic>
            <p:nvPicPr>
              <p:cNvPr id="15672" name="Picture 15671" descr="A close-up of a brain&#10;&#10;Description automatically generated">
                <a:extLst>
                  <a:ext uri="{FF2B5EF4-FFF2-40B4-BE49-F238E27FC236}">
                    <a16:creationId xmlns:a16="http://schemas.microsoft.com/office/drawing/2014/main" id="{D3F7B839-9C15-BAE8-4B9F-D9E5FA4162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686058" y="14307843"/>
                <a:ext cx="6377623" cy="5333837"/>
              </a:xfrm>
              <a:prstGeom prst="rect">
                <a:avLst/>
              </a:prstGeom>
            </p:spPr>
          </p:pic>
          <p:sp>
            <p:nvSpPr>
              <p:cNvPr id="15673" name="TextBox 15672">
                <a:extLst>
                  <a:ext uri="{FF2B5EF4-FFF2-40B4-BE49-F238E27FC236}">
                    <a16:creationId xmlns:a16="http://schemas.microsoft.com/office/drawing/2014/main" id="{B7572CC2-F582-E038-F57D-36186A2AD7CD}"/>
                  </a:ext>
                </a:extLst>
              </p:cNvPr>
              <p:cNvSpPr txBox="1"/>
              <p:nvPr/>
            </p:nvSpPr>
            <p:spPr>
              <a:xfrm>
                <a:off x="30175830" y="13427301"/>
                <a:ext cx="1991698" cy="1086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X= -8</a:t>
                </a:r>
              </a:p>
            </p:txBody>
          </p:sp>
          <p:sp>
            <p:nvSpPr>
              <p:cNvPr id="15679" name="TextBox 15678">
                <a:extLst>
                  <a:ext uri="{FF2B5EF4-FFF2-40B4-BE49-F238E27FC236}">
                    <a16:creationId xmlns:a16="http://schemas.microsoft.com/office/drawing/2014/main" id="{C5CCA665-31CA-7E9E-5033-AF62B19B1AEF}"/>
                  </a:ext>
                </a:extLst>
              </p:cNvPr>
              <p:cNvSpPr txBox="1"/>
              <p:nvPr/>
            </p:nvSpPr>
            <p:spPr>
              <a:xfrm>
                <a:off x="30481077" y="19881512"/>
                <a:ext cx="5622817" cy="1086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dirty="0" err="1">
                    <a:latin typeface="Helvetica"/>
                  </a:rPr>
                  <a:t>mPFC</a:t>
                </a:r>
                <a:endParaRPr lang="en-US" sz="3200" dirty="0">
                  <a:latin typeface="Helvetica"/>
                </a:endParaRPr>
              </a:p>
            </p:txBody>
          </p:sp>
        </p:grpSp>
        <p:sp>
          <p:nvSpPr>
            <p:cNvPr id="15709" name="TextBox 15708">
              <a:extLst>
                <a:ext uri="{FF2B5EF4-FFF2-40B4-BE49-F238E27FC236}">
                  <a16:creationId xmlns:a16="http://schemas.microsoft.com/office/drawing/2014/main" id="{80412985-0DFC-4CC7-0908-955D07FD1104}"/>
                </a:ext>
              </a:extLst>
            </p:cNvPr>
            <p:cNvSpPr txBox="1"/>
            <p:nvPr/>
          </p:nvSpPr>
          <p:spPr>
            <a:xfrm>
              <a:off x="30862394" y="14253639"/>
              <a:ext cx="480113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 i="0" dirty="0">
                  <a:effectLst/>
                  <a:latin typeface="Helvetica" pitchFamily="2" charset="0"/>
                </a:rPr>
                <a:t>Friend Reciprocate &gt; Computer Reciprocate</a:t>
              </a:r>
              <a:endParaRPr lang="en-US" sz="2800" i="0" dirty="0">
                <a:effectLst/>
                <a:latin typeface="Helvetica" pitchFamily="2" charset="0"/>
              </a:endParaRPr>
            </a:p>
          </p:txBody>
        </p:sp>
        <p:grpSp>
          <p:nvGrpSpPr>
            <p:cNvPr id="15726" name="Group 15725">
              <a:extLst>
                <a:ext uri="{FF2B5EF4-FFF2-40B4-BE49-F238E27FC236}">
                  <a16:creationId xmlns:a16="http://schemas.microsoft.com/office/drawing/2014/main" id="{B3430D81-BB79-4C3F-9F94-3445BBB422F8}"/>
                </a:ext>
              </a:extLst>
            </p:cNvPr>
            <p:cNvGrpSpPr/>
            <p:nvPr/>
          </p:nvGrpSpPr>
          <p:grpSpPr>
            <a:xfrm>
              <a:off x="35314295" y="13704182"/>
              <a:ext cx="6855599" cy="6632263"/>
              <a:chOff x="37501206" y="16869130"/>
              <a:chExt cx="5217471" cy="5219773"/>
            </a:xfrm>
          </p:grpSpPr>
          <p:sp>
            <p:nvSpPr>
              <p:cNvPr id="15719" name="TextBox 15718">
                <a:extLst>
                  <a:ext uri="{FF2B5EF4-FFF2-40B4-BE49-F238E27FC236}">
                    <a16:creationId xmlns:a16="http://schemas.microsoft.com/office/drawing/2014/main" id="{F04F4CFA-B833-1DD9-86EC-A956DC37137A}"/>
                  </a:ext>
                </a:extLst>
              </p:cNvPr>
              <p:cNvSpPr txBox="1"/>
              <p:nvPr/>
            </p:nvSpPr>
            <p:spPr>
              <a:xfrm>
                <a:off x="37520342" y="16869130"/>
                <a:ext cx="598030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400</a:t>
                </a:r>
              </a:p>
            </p:txBody>
          </p:sp>
          <p:sp>
            <p:nvSpPr>
              <p:cNvPr id="15720" name="TextBox 15719">
                <a:extLst>
                  <a:ext uri="{FF2B5EF4-FFF2-40B4-BE49-F238E27FC236}">
                    <a16:creationId xmlns:a16="http://schemas.microsoft.com/office/drawing/2014/main" id="{0D17E5B2-CB95-D5BD-E169-9C1854A0AD37}"/>
                  </a:ext>
                </a:extLst>
              </p:cNvPr>
              <p:cNvSpPr txBox="1"/>
              <p:nvPr/>
            </p:nvSpPr>
            <p:spPr>
              <a:xfrm>
                <a:off x="37501206" y="20502040"/>
                <a:ext cx="689526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-200</a:t>
                </a:r>
              </a:p>
            </p:txBody>
          </p:sp>
          <p:sp>
            <p:nvSpPr>
              <p:cNvPr id="15721" name="TextBox 15720">
                <a:extLst>
                  <a:ext uri="{FF2B5EF4-FFF2-40B4-BE49-F238E27FC236}">
                    <a16:creationId xmlns:a16="http://schemas.microsoft.com/office/drawing/2014/main" id="{81E64089-644A-E436-A434-45AF685F62E1}"/>
                  </a:ext>
                </a:extLst>
              </p:cNvPr>
              <p:cNvSpPr txBox="1"/>
              <p:nvPr/>
            </p:nvSpPr>
            <p:spPr>
              <a:xfrm rot="16200000">
                <a:off x="36531370" y="18699129"/>
                <a:ext cx="2471242" cy="440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 err="1"/>
                  <a:t>mPFC</a:t>
                </a:r>
                <a:r>
                  <a:rPr lang="en-US" sz="3000" dirty="0"/>
                  <a:t> activation</a:t>
                </a:r>
              </a:p>
            </p:txBody>
          </p:sp>
          <p:sp>
            <p:nvSpPr>
              <p:cNvPr id="15722" name="TextBox 15721">
                <a:extLst>
                  <a:ext uri="{FF2B5EF4-FFF2-40B4-BE49-F238E27FC236}">
                    <a16:creationId xmlns:a16="http://schemas.microsoft.com/office/drawing/2014/main" id="{D6E3B518-3825-F962-6455-6381AEA6B615}"/>
                  </a:ext>
                </a:extLst>
              </p:cNvPr>
              <p:cNvSpPr txBox="1"/>
              <p:nvPr/>
            </p:nvSpPr>
            <p:spPr>
              <a:xfrm>
                <a:off x="38090137" y="21296436"/>
                <a:ext cx="445533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20</a:t>
                </a:r>
              </a:p>
            </p:txBody>
          </p:sp>
          <p:sp>
            <p:nvSpPr>
              <p:cNvPr id="15723" name="TextBox 15722">
                <a:extLst>
                  <a:ext uri="{FF2B5EF4-FFF2-40B4-BE49-F238E27FC236}">
                    <a16:creationId xmlns:a16="http://schemas.microsoft.com/office/drawing/2014/main" id="{8B001207-DE47-3A09-905A-EBCA2F9F5C56}"/>
                  </a:ext>
                </a:extLst>
              </p:cNvPr>
              <p:cNvSpPr txBox="1"/>
              <p:nvPr/>
            </p:nvSpPr>
            <p:spPr>
              <a:xfrm>
                <a:off x="42273144" y="21285835"/>
                <a:ext cx="445533" cy="41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70</a:t>
                </a:r>
              </a:p>
            </p:txBody>
          </p:sp>
          <p:sp>
            <p:nvSpPr>
              <p:cNvPr id="15724" name="TextBox 15723">
                <a:extLst>
                  <a:ext uri="{FF2B5EF4-FFF2-40B4-BE49-F238E27FC236}">
                    <a16:creationId xmlns:a16="http://schemas.microsoft.com/office/drawing/2014/main" id="{A7A779AE-265E-DD6C-9D50-6736DE453C86}"/>
                  </a:ext>
                </a:extLst>
              </p:cNvPr>
              <p:cNvSpPr txBox="1"/>
              <p:nvPr/>
            </p:nvSpPr>
            <p:spPr>
              <a:xfrm>
                <a:off x="39987911" y="21381017"/>
                <a:ext cx="109677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</p:grpSp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41694A69-FEA8-BBFE-413A-1817DD4A17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l="18942" t="11890" r="2700" b="15431"/>
            <a:stretch/>
          </p:blipFill>
          <p:spPr>
            <a:xfrm>
              <a:off x="36252115" y="13880865"/>
              <a:ext cx="6283527" cy="5465499"/>
            </a:xfrm>
            <a:prstGeom prst="rect">
              <a:avLst/>
            </a:prstGeom>
          </p:spPr>
        </p:pic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DEB3996D-43E6-5107-11EC-81DFCBC56FB1}"/>
              </a:ext>
            </a:extLst>
          </p:cNvPr>
          <p:cNvSpPr txBox="1"/>
          <p:nvPr/>
        </p:nvSpPr>
        <p:spPr>
          <a:xfrm>
            <a:off x="15741563" y="11959379"/>
            <a:ext cx="143054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Participants are closer with their friend than with the stranger and computer partners, however, there is no relationship between age and closeness ratings.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13D170-7C43-2B32-EA3A-BFDCA0EDB3A8}"/>
              </a:ext>
            </a:extLst>
          </p:cNvPr>
          <p:cNvSpPr txBox="1"/>
          <p:nvPr/>
        </p:nvSpPr>
        <p:spPr>
          <a:xfrm>
            <a:off x="16952163" y="20057868"/>
            <a:ext cx="121192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We found no age-related effects across financial exploitation measures or investment behavior</a:t>
            </a:r>
          </a:p>
        </p:txBody>
      </p:sp>
      <p:sp>
        <p:nvSpPr>
          <p:cNvPr id="147" name="Rectangle 200">
            <a:extLst>
              <a:ext uri="{FF2B5EF4-FFF2-40B4-BE49-F238E27FC236}">
                <a16:creationId xmlns:a16="http://schemas.microsoft.com/office/drawing/2014/main" id="{171D9269-781E-BC4D-835E-9B1698E0B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226" y="3967558"/>
            <a:ext cx="4805795" cy="8393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81274" tIns="40638" rIns="81274" bIns="40638">
            <a:spAutoFit/>
          </a:bodyPr>
          <a:lstStyle>
            <a:lvl1pPr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5119688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51196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1. Introduction</a:t>
            </a:r>
          </a:p>
        </p:txBody>
      </p:sp>
      <p:sp>
        <p:nvSpPr>
          <p:cNvPr id="148" name="TextBox 4">
            <a:extLst>
              <a:ext uri="{FF2B5EF4-FFF2-40B4-BE49-F238E27FC236}">
                <a16:creationId xmlns:a16="http://schemas.microsoft.com/office/drawing/2014/main" id="{442C5E6C-512A-CC46-AE03-02F5A96CB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0339" y="13204012"/>
            <a:ext cx="4095681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2. Methods</a:t>
            </a:r>
          </a:p>
        </p:txBody>
      </p:sp>
      <p:sp>
        <p:nvSpPr>
          <p:cNvPr id="149" name="TextBox 86">
            <a:extLst>
              <a:ext uri="{FF2B5EF4-FFF2-40B4-BE49-F238E27FC236}">
                <a16:creationId xmlns:a16="http://schemas.microsoft.com/office/drawing/2014/main" id="{8561424E-7FDA-1640-8080-B3098379D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23410" y="3920818"/>
            <a:ext cx="9336971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3. Age-Related Behavioral Effects?</a:t>
            </a:r>
          </a:p>
        </p:txBody>
      </p:sp>
      <p:sp>
        <p:nvSpPr>
          <p:cNvPr id="150" name="TextBox 86">
            <a:extLst>
              <a:ext uri="{FF2B5EF4-FFF2-40B4-BE49-F238E27FC236}">
                <a16:creationId xmlns:a16="http://schemas.microsoft.com/office/drawing/2014/main" id="{76E84C5F-BFA0-1049-9B07-32E015EC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43648" y="3872154"/>
            <a:ext cx="12337509" cy="1400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50" b="1" dirty="0">
                <a:solidFill>
                  <a:srgbClr val="C00000"/>
                </a:solidFill>
                <a:latin typeface="Trebuchet MS"/>
                <a:ea typeface="MS PGothic"/>
              </a:rPr>
              <a:t>5. Whole Brain Analyses of Neural Responses to Social Outcomes</a:t>
            </a:r>
            <a:endParaRPr lang="en-US" altLang="en-US" sz="4250" b="1" dirty="0">
              <a:solidFill>
                <a:srgbClr val="C00000"/>
              </a:solidFill>
              <a:latin typeface="Trebuchet MS"/>
            </a:endParaRPr>
          </a:p>
        </p:txBody>
      </p:sp>
      <p:sp>
        <p:nvSpPr>
          <p:cNvPr id="151" name="TextBox 86">
            <a:extLst>
              <a:ext uri="{FF2B5EF4-FFF2-40B4-BE49-F238E27FC236}">
                <a16:creationId xmlns:a16="http://schemas.microsoft.com/office/drawing/2014/main" id="{8D239974-7E60-414C-A1C7-EC5F61939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9573" y="21922063"/>
            <a:ext cx="1286868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4. Age-Related Differences in Striatal Response? </a:t>
            </a:r>
          </a:p>
        </p:txBody>
      </p:sp>
      <p:sp>
        <p:nvSpPr>
          <p:cNvPr id="152" name="TextBox 86">
            <a:extLst>
              <a:ext uri="{FF2B5EF4-FFF2-40B4-BE49-F238E27FC236}">
                <a16:creationId xmlns:a16="http://schemas.microsoft.com/office/drawing/2014/main" id="{3CCA2969-17BF-3A43-9D64-3BC67FFD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30620" y="24261609"/>
            <a:ext cx="9797258" cy="7489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67" b="1" dirty="0">
                <a:solidFill>
                  <a:srgbClr val="C00000"/>
                </a:solidFill>
                <a:latin typeface="Trebuchet MS" panose="020B0603020202020204" pitchFamily="34" charset="0"/>
              </a:rPr>
              <a:t>6. Conclusions and Future Directions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DA2ABEA-DC63-DB4B-9E64-20A700C207F0}"/>
              </a:ext>
            </a:extLst>
          </p:cNvPr>
          <p:cNvSpPr txBox="1"/>
          <p:nvPr/>
        </p:nvSpPr>
        <p:spPr>
          <a:xfrm>
            <a:off x="197691" y="14078256"/>
            <a:ext cx="1465069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Participants (N = 62) completed a trust task with three partners: a computer, a stranger, and their chosen friend.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DE763B-F4EB-754D-A139-C1319AD540CE}"/>
              </a:ext>
            </a:extLst>
          </p:cNvPr>
          <p:cNvSpPr txBox="1"/>
          <p:nvPr/>
        </p:nvSpPr>
        <p:spPr>
          <a:xfrm>
            <a:off x="30903167" y="5403997"/>
            <a:ext cx="1203601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To investigate if age-related effects were present elsewhere, we conducted a set of whole brain analyses.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D48B72-79AA-2C4A-8106-FEE9B29510DB}"/>
              </a:ext>
            </a:extLst>
          </p:cNvPr>
          <p:cNvSpPr txBox="1"/>
          <p:nvPr/>
        </p:nvSpPr>
        <p:spPr>
          <a:xfrm>
            <a:off x="20973506" y="13620670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-.21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2A617A1E-C1F1-794A-A807-BBC21A37CDED}"/>
              </a:ext>
            </a:extLst>
          </p:cNvPr>
          <p:cNvSpPr txBox="1"/>
          <p:nvPr/>
        </p:nvSpPr>
        <p:spPr>
          <a:xfrm>
            <a:off x="28598415" y="5241364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-.03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99A54FF-CFDA-AA4D-9B63-2C0BC38C1F8A}"/>
              </a:ext>
            </a:extLst>
          </p:cNvPr>
          <p:cNvSpPr txBox="1"/>
          <p:nvPr/>
        </p:nvSpPr>
        <p:spPr>
          <a:xfrm>
            <a:off x="28279896" y="13590309"/>
            <a:ext cx="19326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R = -0.09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129937F-2145-7F4C-8C15-2C0DF8142096}"/>
              </a:ext>
            </a:extLst>
          </p:cNvPr>
          <p:cNvSpPr txBox="1"/>
          <p:nvPr/>
        </p:nvSpPr>
        <p:spPr>
          <a:xfrm>
            <a:off x="38860917" y="12726015"/>
            <a:ext cx="1464950" cy="899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315D9-38A0-3949-8197-E825D70ED72C}"/>
              </a:ext>
            </a:extLst>
          </p:cNvPr>
          <p:cNvSpPr txBox="1"/>
          <p:nvPr/>
        </p:nvSpPr>
        <p:spPr>
          <a:xfrm>
            <a:off x="31554291" y="13490343"/>
            <a:ext cx="1082085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Helvetica"/>
                <a:ea typeface="MS PGothic"/>
                <a:cs typeface="Helvetica"/>
              </a:rPr>
              <a:t>We found that friend defecting resulted in increased dorsolateral prefrontal cortex (</a:t>
            </a:r>
            <a:r>
              <a:rPr lang="en-US" sz="3200" dirty="0" err="1">
                <a:latin typeface="Helvetica"/>
                <a:ea typeface="MS PGothic"/>
                <a:cs typeface="Helvetica"/>
              </a:rPr>
              <a:t>dlPFC</a:t>
            </a:r>
            <a:r>
              <a:rPr lang="en-US" sz="3200" dirty="0">
                <a:latin typeface="Helvetica"/>
                <a:ea typeface="MS PGothic"/>
                <a:cs typeface="Helvetica"/>
              </a:rPr>
              <a:t>) activation in older adults compared to younger adults. </a:t>
            </a:r>
          </a:p>
          <a:p>
            <a:endParaRPr lang="en-US" dirty="0"/>
          </a:p>
        </p:txBody>
      </p:sp>
      <p:grpSp>
        <p:nvGrpSpPr>
          <p:cNvPr id="15705" name="Group 15704">
            <a:extLst>
              <a:ext uri="{FF2B5EF4-FFF2-40B4-BE49-F238E27FC236}">
                <a16:creationId xmlns:a16="http://schemas.microsoft.com/office/drawing/2014/main" id="{B315F0CF-5757-721B-6FDA-3CDF8B65C4FC}"/>
              </a:ext>
            </a:extLst>
          </p:cNvPr>
          <p:cNvGrpSpPr/>
          <p:nvPr/>
        </p:nvGrpSpPr>
        <p:grpSpPr>
          <a:xfrm>
            <a:off x="15693029" y="5633407"/>
            <a:ext cx="6831019" cy="6045286"/>
            <a:chOff x="15693029" y="5633407"/>
            <a:chExt cx="6831019" cy="6045286"/>
          </a:xfrm>
        </p:grpSpPr>
        <p:grpSp>
          <p:nvGrpSpPr>
            <p:cNvPr id="15694" name="Group 15693">
              <a:extLst>
                <a:ext uri="{FF2B5EF4-FFF2-40B4-BE49-F238E27FC236}">
                  <a16:creationId xmlns:a16="http://schemas.microsoft.com/office/drawing/2014/main" id="{5055852D-9D38-8AD6-DEF6-61182430B0FF}"/>
                </a:ext>
              </a:extLst>
            </p:cNvPr>
            <p:cNvGrpSpPr/>
            <p:nvPr/>
          </p:nvGrpSpPr>
          <p:grpSpPr>
            <a:xfrm>
              <a:off x="16753920" y="5633407"/>
              <a:ext cx="5770128" cy="5560255"/>
              <a:chOff x="1421938" y="14767343"/>
              <a:chExt cx="5770128" cy="5560255"/>
            </a:xfrm>
          </p:grpSpPr>
          <p:sp>
            <p:nvSpPr>
              <p:cNvPr id="15695" name="Rectangle 15694">
                <a:extLst>
                  <a:ext uri="{FF2B5EF4-FFF2-40B4-BE49-F238E27FC236}">
                    <a16:creationId xmlns:a16="http://schemas.microsoft.com/office/drawing/2014/main" id="{59245EF6-EA65-4213-1DFF-5690FF2BCBB1}"/>
                  </a:ext>
                </a:extLst>
              </p:cNvPr>
              <p:cNvSpPr/>
              <p:nvPr/>
            </p:nvSpPr>
            <p:spPr bwMode="auto">
              <a:xfrm>
                <a:off x="1421941" y="14767343"/>
                <a:ext cx="5762869" cy="5560255"/>
              </a:xfrm>
              <a:prstGeom prst="rect">
                <a:avLst/>
              </a:prstGeom>
              <a:solidFill>
                <a:srgbClr val="EAEBEB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cxnSp>
            <p:nvCxnSpPr>
              <p:cNvPr id="15696" name="Straight Connector 15695">
                <a:extLst>
                  <a:ext uri="{FF2B5EF4-FFF2-40B4-BE49-F238E27FC236}">
                    <a16:creationId xmlns:a16="http://schemas.microsoft.com/office/drawing/2014/main" id="{1F326A97-0889-F757-F9AC-A1939B026E6B}"/>
                  </a:ext>
                </a:extLst>
              </p:cNvPr>
              <p:cNvCxnSpPr/>
              <p:nvPr/>
            </p:nvCxnSpPr>
            <p:spPr bwMode="auto">
              <a:xfrm flipH="1">
                <a:off x="4303375" y="14775666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7" name="Straight Connector 15696">
                <a:extLst>
                  <a:ext uri="{FF2B5EF4-FFF2-40B4-BE49-F238E27FC236}">
                    <a16:creationId xmlns:a16="http://schemas.microsoft.com/office/drawing/2014/main" id="{318119A5-70BB-53DE-82A9-9A5AAEBA7808}"/>
                  </a:ext>
                </a:extLst>
              </p:cNvPr>
              <p:cNvCxnSpPr/>
              <p:nvPr/>
            </p:nvCxnSpPr>
            <p:spPr bwMode="auto">
              <a:xfrm flipH="1">
                <a:off x="2840886" y="14771504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8" name="Straight Connector 15697">
                <a:extLst>
                  <a:ext uri="{FF2B5EF4-FFF2-40B4-BE49-F238E27FC236}">
                    <a16:creationId xmlns:a16="http://schemas.microsoft.com/office/drawing/2014/main" id="{10C3C3A8-1BF5-3756-F475-F40BC5CEF4EC}"/>
                  </a:ext>
                </a:extLst>
              </p:cNvPr>
              <p:cNvCxnSpPr/>
              <p:nvPr/>
            </p:nvCxnSpPr>
            <p:spPr bwMode="auto">
              <a:xfrm flipH="1">
                <a:off x="5722320" y="14767343"/>
                <a:ext cx="14515" cy="5551932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699" name="Straight Connector 15698">
                <a:extLst>
                  <a:ext uri="{FF2B5EF4-FFF2-40B4-BE49-F238E27FC236}">
                    <a16:creationId xmlns:a16="http://schemas.microsoft.com/office/drawing/2014/main" id="{957E6B38-B9EE-99EE-54C6-E275A0014537}"/>
                  </a:ext>
                </a:extLst>
              </p:cNvPr>
              <p:cNvCxnSpPr>
                <a:stCxn id="15695" idx="1"/>
                <a:endCxn id="15695" idx="3"/>
              </p:cNvCxnSpPr>
              <p:nvPr/>
            </p:nvCxnSpPr>
            <p:spPr bwMode="auto">
              <a:xfrm>
                <a:off x="1421941" y="17547471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0" name="Straight Connector 15699">
                <a:extLst>
                  <a:ext uri="{FF2B5EF4-FFF2-40B4-BE49-F238E27FC236}">
                    <a16:creationId xmlns:a16="http://schemas.microsoft.com/office/drawing/2014/main" id="{1ADEF486-D1AE-3205-D856-B51DA49A5860}"/>
                  </a:ext>
                </a:extLst>
              </p:cNvPr>
              <p:cNvCxnSpPr/>
              <p:nvPr/>
            </p:nvCxnSpPr>
            <p:spPr bwMode="auto">
              <a:xfrm>
                <a:off x="1421940" y="18803458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1" name="Straight Connector 15700">
                <a:extLst>
                  <a:ext uri="{FF2B5EF4-FFF2-40B4-BE49-F238E27FC236}">
                    <a16:creationId xmlns:a16="http://schemas.microsoft.com/office/drawing/2014/main" id="{2DF8FE5D-6599-B3FA-0149-297191C471D1}"/>
                  </a:ext>
                </a:extLst>
              </p:cNvPr>
              <p:cNvCxnSpPr/>
              <p:nvPr/>
            </p:nvCxnSpPr>
            <p:spPr bwMode="auto">
              <a:xfrm>
                <a:off x="1429197" y="16328272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2" name="Straight Connector 15701">
                <a:extLst>
                  <a:ext uri="{FF2B5EF4-FFF2-40B4-BE49-F238E27FC236}">
                    <a16:creationId xmlns:a16="http://schemas.microsoft.com/office/drawing/2014/main" id="{EC14FBC0-C7F4-8654-EFD8-CCFF96ED3CCB}"/>
                  </a:ext>
                </a:extLst>
              </p:cNvPr>
              <p:cNvCxnSpPr/>
              <p:nvPr/>
            </p:nvCxnSpPr>
            <p:spPr bwMode="auto">
              <a:xfrm>
                <a:off x="1421939" y="20048934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5703" name="Straight Connector 15702">
                <a:extLst>
                  <a:ext uri="{FF2B5EF4-FFF2-40B4-BE49-F238E27FC236}">
                    <a16:creationId xmlns:a16="http://schemas.microsoft.com/office/drawing/2014/main" id="{594244E0-1BD5-0B30-441B-104DF3B61537}"/>
                  </a:ext>
                </a:extLst>
              </p:cNvPr>
              <p:cNvCxnSpPr/>
              <p:nvPr/>
            </p:nvCxnSpPr>
            <p:spPr bwMode="auto">
              <a:xfrm>
                <a:off x="1421938" y="15088052"/>
                <a:ext cx="5762869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accent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5686" name="Group 15685">
              <a:extLst>
                <a:ext uri="{FF2B5EF4-FFF2-40B4-BE49-F238E27FC236}">
                  <a16:creationId xmlns:a16="http://schemas.microsoft.com/office/drawing/2014/main" id="{ED126016-F777-1072-6221-FC940E4C8421}"/>
                </a:ext>
              </a:extLst>
            </p:cNvPr>
            <p:cNvGrpSpPr/>
            <p:nvPr/>
          </p:nvGrpSpPr>
          <p:grpSpPr>
            <a:xfrm>
              <a:off x="15693029" y="6238462"/>
              <a:ext cx="6764612" cy="5440231"/>
              <a:chOff x="15670877" y="5930781"/>
              <a:chExt cx="6764612" cy="5440231"/>
            </a:xfrm>
          </p:grpSpPr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0C1E3FB-BD99-75D9-FE95-CD17FE3F9F8B}"/>
                  </a:ext>
                </a:extLst>
              </p:cNvPr>
              <p:cNvSpPr txBox="1"/>
              <p:nvPr/>
            </p:nvSpPr>
            <p:spPr>
              <a:xfrm rot="16200000">
                <a:off x="14959464" y="8002434"/>
                <a:ext cx="19768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 dirty="0"/>
                  <a:t>Closeness</a:t>
                </a:r>
              </a:p>
            </p:txBody>
          </p:sp>
          <p:grpSp>
            <p:nvGrpSpPr>
              <p:cNvPr id="15685" name="Group 15684">
                <a:extLst>
                  <a:ext uri="{FF2B5EF4-FFF2-40B4-BE49-F238E27FC236}">
                    <a16:creationId xmlns:a16="http://schemas.microsoft.com/office/drawing/2014/main" id="{F69E9B06-6DD1-AE5C-F052-C96A7F7CB40F}"/>
                  </a:ext>
                </a:extLst>
              </p:cNvPr>
              <p:cNvGrpSpPr/>
              <p:nvPr/>
            </p:nvGrpSpPr>
            <p:grpSpPr>
              <a:xfrm>
                <a:off x="16093240" y="5930781"/>
                <a:ext cx="6342249" cy="5440231"/>
                <a:chOff x="16093240" y="5930781"/>
                <a:chExt cx="6342249" cy="5440231"/>
              </a:xfrm>
            </p:grpSpPr>
            <p:grpSp>
              <p:nvGrpSpPr>
                <p:cNvPr id="15666" name="Group 15665">
                  <a:extLst>
                    <a:ext uri="{FF2B5EF4-FFF2-40B4-BE49-F238E27FC236}">
                      <a16:creationId xmlns:a16="http://schemas.microsoft.com/office/drawing/2014/main" id="{F4499BAD-2B87-B075-89D7-E684EC5B1F7C}"/>
                    </a:ext>
                  </a:extLst>
                </p:cNvPr>
                <p:cNvGrpSpPr/>
                <p:nvPr/>
              </p:nvGrpSpPr>
              <p:grpSpPr>
                <a:xfrm>
                  <a:off x="16093240" y="6288749"/>
                  <a:ext cx="6342249" cy="5082263"/>
                  <a:chOff x="16307695" y="5718009"/>
                  <a:chExt cx="4012927" cy="3083133"/>
                </a:xfrm>
              </p:grpSpPr>
              <p:sp>
                <p:nvSpPr>
                  <p:cNvPr id="15660" name="TextBox 15659">
                    <a:extLst>
                      <a:ext uri="{FF2B5EF4-FFF2-40B4-BE49-F238E27FC236}">
                        <a16:creationId xmlns:a16="http://schemas.microsoft.com/office/drawing/2014/main" id="{0766629E-BCF3-6556-AF99-A6859175E636}"/>
                      </a:ext>
                    </a:extLst>
                  </p:cNvPr>
                  <p:cNvSpPr txBox="1"/>
                  <p:nvPr/>
                </p:nvSpPr>
                <p:spPr>
                  <a:xfrm>
                    <a:off x="16307695" y="8232313"/>
                    <a:ext cx="243627" cy="3174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dirty="0"/>
                      <a:t>0</a:t>
                    </a:r>
                  </a:p>
                </p:txBody>
              </p:sp>
              <p:sp>
                <p:nvSpPr>
                  <p:cNvPr id="15662" name="TextBox 15661">
                    <a:extLst>
                      <a:ext uri="{FF2B5EF4-FFF2-40B4-BE49-F238E27FC236}">
                        <a16:creationId xmlns:a16="http://schemas.microsoft.com/office/drawing/2014/main" id="{4DC189FA-5EF4-8645-EFD2-F4AA0CF414D9}"/>
                      </a:ext>
                    </a:extLst>
                  </p:cNvPr>
                  <p:cNvSpPr txBox="1"/>
                  <p:nvPr/>
                </p:nvSpPr>
                <p:spPr>
                  <a:xfrm>
                    <a:off x="16323035" y="5718009"/>
                    <a:ext cx="243627" cy="31740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2800" dirty="0"/>
                      <a:t>4</a:t>
                    </a:r>
                  </a:p>
                </p:txBody>
              </p:sp>
              <p:sp>
                <p:nvSpPr>
                  <p:cNvPr id="15663" name="TextBox 15662">
                    <a:extLst>
                      <a:ext uri="{FF2B5EF4-FFF2-40B4-BE49-F238E27FC236}">
                        <a16:creationId xmlns:a16="http://schemas.microsoft.com/office/drawing/2014/main" id="{FEBA7C19-438A-8BB9-F286-7161582091EA}"/>
                      </a:ext>
                    </a:extLst>
                  </p:cNvPr>
                  <p:cNvSpPr txBox="1"/>
                  <p:nvPr/>
                </p:nvSpPr>
                <p:spPr>
                  <a:xfrm>
                    <a:off x="16934663" y="8465001"/>
                    <a:ext cx="805531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000" dirty="0"/>
                      <a:t>Friend</a:t>
                    </a:r>
                  </a:p>
                </p:txBody>
              </p:sp>
              <p:sp>
                <p:nvSpPr>
                  <p:cNvPr id="15664" name="TextBox 15663">
                    <a:extLst>
                      <a:ext uri="{FF2B5EF4-FFF2-40B4-BE49-F238E27FC236}">
                        <a16:creationId xmlns:a16="http://schemas.microsoft.com/office/drawing/2014/main" id="{D1FDC6B6-A877-379F-C9B2-8D6C71CA3AC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22351" y="8460397"/>
                    <a:ext cx="1048955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3000" dirty="0"/>
                      <a:t>Stranger</a:t>
                    </a:r>
                  </a:p>
                </p:txBody>
              </p:sp>
              <p:sp>
                <p:nvSpPr>
                  <p:cNvPr id="15665" name="TextBox 15664">
                    <a:extLst>
                      <a:ext uri="{FF2B5EF4-FFF2-40B4-BE49-F238E27FC236}">
                        <a16:creationId xmlns:a16="http://schemas.microsoft.com/office/drawing/2014/main" id="{0D79EDF9-8FFC-03A5-0959-5F4339B2A174}"/>
                      </a:ext>
                    </a:extLst>
                  </p:cNvPr>
                  <p:cNvSpPr txBox="1"/>
                  <p:nvPr/>
                </p:nvSpPr>
                <p:spPr>
                  <a:xfrm>
                    <a:off x="19136770" y="8465061"/>
                    <a:ext cx="1183852" cy="33608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3000" dirty="0"/>
                      <a:t>Computer</a:t>
                    </a: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51527B6-A02F-7C50-BE7D-EF3CA2D82851}"/>
                    </a:ext>
                  </a:extLst>
                </p:cNvPr>
                <p:cNvGrpSpPr/>
                <p:nvPr/>
              </p:nvGrpSpPr>
              <p:grpSpPr>
                <a:xfrm>
                  <a:off x="17478242" y="5930781"/>
                  <a:ext cx="4174099" cy="4956803"/>
                  <a:chOff x="35245965" y="10130725"/>
                  <a:chExt cx="4594165" cy="5455637"/>
                </a:xfrm>
              </p:grpSpPr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15A25FF5-81AC-06F1-BC36-DB83CAD595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245965" y="10341032"/>
                    <a:ext cx="914400" cy="524533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E562E75E-69FD-32B9-DA52-8CFDD4BA6E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085847" y="13716000"/>
                    <a:ext cx="914400" cy="1859437"/>
                  </a:xfrm>
                  <a:prstGeom prst="rect">
                    <a:avLst/>
                  </a:prstGeom>
                  <a:solidFill>
                    <a:srgbClr val="72BFC6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4528B3B9-AEEA-D1A4-0F7D-9568094B7B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25730" y="13716000"/>
                    <a:ext cx="914400" cy="1859437"/>
                  </a:xfrm>
                  <a:prstGeom prst="rect">
                    <a:avLst/>
                  </a:prstGeom>
                  <a:solidFill>
                    <a:srgbClr val="3C8C94"/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4389438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endParaRPr>
                  </a:p>
                </p:txBody>
              </p: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E70E275C-F7FC-6193-D2BC-A588C1C4AA37}"/>
                      </a:ext>
                    </a:extLst>
                  </p:cNvPr>
                  <p:cNvGrpSpPr/>
                  <p:nvPr/>
                </p:nvGrpSpPr>
                <p:grpSpPr>
                  <a:xfrm>
                    <a:off x="35522114" y="10130725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63" name="Straight Connector 62">
                      <a:extLst>
                        <a:ext uri="{FF2B5EF4-FFF2-40B4-BE49-F238E27FC236}">
                          <a16:creationId xmlns:a16="http://schemas.microsoft.com/office/drawing/2014/main" id="{9CF5B435-CE5C-BA28-F65C-12061DC5B48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15681" name="Straight Connector 15680">
                      <a:extLst>
                        <a:ext uri="{FF2B5EF4-FFF2-40B4-BE49-F238E27FC236}">
                          <a16:creationId xmlns:a16="http://schemas.microsoft.com/office/drawing/2014/main" id="{BEA6FFBB-9D35-354B-3AC6-E8A8F85B63E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15682" name="Straight Connector 15681">
                      <a:extLst>
                        <a:ext uri="{FF2B5EF4-FFF2-40B4-BE49-F238E27FC236}">
                          <a16:creationId xmlns:a16="http://schemas.microsoft.com/office/drawing/2014/main" id="{5C2B39A8-E98F-C573-D650-2D9B21FAC8D9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968BAFCC-52D9-BFB9-CC07-A3696B041520}"/>
                      </a:ext>
                    </a:extLst>
                  </p:cNvPr>
                  <p:cNvGrpSpPr/>
                  <p:nvPr/>
                </p:nvGrpSpPr>
                <p:grpSpPr>
                  <a:xfrm>
                    <a:off x="37367399" y="13504189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60" name="Straight Connector 59">
                      <a:extLst>
                        <a:ext uri="{FF2B5EF4-FFF2-40B4-BE49-F238E27FC236}">
                          <a16:creationId xmlns:a16="http://schemas.microsoft.com/office/drawing/2014/main" id="{749B3F97-30F0-6794-696B-E661B4B3BA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61" name="Straight Connector 60">
                      <a:extLst>
                        <a:ext uri="{FF2B5EF4-FFF2-40B4-BE49-F238E27FC236}">
                          <a16:creationId xmlns:a16="http://schemas.microsoft.com/office/drawing/2014/main" id="{0340D7E1-5C88-15E7-0532-E190399621A6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62" name="Straight Connector 61">
                      <a:extLst>
                        <a:ext uri="{FF2B5EF4-FFF2-40B4-BE49-F238E27FC236}">
                          <a16:creationId xmlns:a16="http://schemas.microsoft.com/office/drawing/2014/main" id="{7F959E90-D232-A788-EBD7-D8540E0E969F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083FCD46-2613-2829-B84B-4421FD99A2AF}"/>
                      </a:ext>
                    </a:extLst>
                  </p:cNvPr>
                  <p:cNvGrpSpPr/>
                  <p:nvPr/>
                </p:nvGrpSpPr>
                <p:grpSpPr>
                  <a:xfrm>
                    <a:off x="39207283" y="13504188"/>
                    <a:ext cx="351296" cy="423621"/>
                    <a:chOff x="35522114" y="10130725"/>
                    <a:chExt cx="351296" cy="423621"/>
                  </a:xfrm>
                </p:grpSpPr>
                <p:cxnSp>
                  <p:nvCxnSpPr>
                    <p:cNvPr id="57" name="Straight Connector 56">
                      <a:extLst>
                        <a:ext uri="{FF2B5EF4-FFF2-40B4-BE49-F238E27FC236}">
                          <a16:creationId xmlns:a16="http://schemas.microsoft.com/office/drawing/2014/main" id="{DA16309C-2410-022D-0276-EB3CFD6D5CA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35697998" y="10130725"/>
                      <a:ext cx="0" cy="423621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8" name="Straight Connector 57">
                      <a:extLst>
                        <a:ext uri="{FF2B5EF4-FFF2-40B4-BE49-F238E27FC236}">
                          <a16:creationId xmlns:a16="http://schemas.microsoft.com/office/drawing/2014/main" id="{5B96560F-9416-EAF2-0E4F-4E8C90F317E8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5" y="10130725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9" name="Straight Connector 58">
                      <a:extLst>
                        <a:ext uri="{FF2B5EF4-FFF2-40B4-BE49-F238E27FC236}">
                          <a16:creationId xmlns:a16="http://schemas.microsoft.com/office/drawing/2014/main" id="{8DBCB99F-AF0E-1B7D-06FC-2CE1F0FBD87F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5522114" y="10554346"/>
                      <a:ext cx="351295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</p:grpSp>
          </p:grpSp>
        </p:grpSp>
      </p:grpSp>
      <p:cxnSp>
        <p:nvCxnSpPr>
          <p:cNvPr id="15712" name="Straight Connector 15711">
            <a:extLst>
              <a:ext uri="{FF2B5EF4-FFF2-40B4-BE49-F238E27FC236}">
                <a16:creationId xmlns:a16="http://schemas.microsoft.com/office/drawing/2014/main" id="{4BBAB568-052E-34B5-544B-C63905197C01}"/>
              </a:ext>
            </a:extLst>
          </p:cNvPr>
          <p:cNvCxnSpPr>
            <a:cxnSpLocks/>
          </p:cNvCxnSpPr>
          <p:nvPr/>
        </p:nvCxnSpPr>
        <p:spPr bwMode="auto">
          <a:xfrm>
            <a:off x="16761179" y="11181224"/>
            <a:ext cx="575561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732339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0EBE959C-E76F-26F5-3977-7B65ACC54BDB}"/>
              </a:ext>
            </a:extLst>
          </p:cNvPr>
          <p:cNvGrpSpPr/>
          <p:nvPr/>
        </p:nvGrpSpPr>
        <p:grpSpPr>
          <a:xfrm>
            <a:off x="14047943" y="1512177"/>
            <a:ext cx="7364964" cy="7636639"/>
            <a:chOff x="17267302" y="5300010"/>
            <a:chExt cx="15233772" cy="1418725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CEBC02A-D17E-C673-FF14-B2A7299CD29C}"/>
                </a:ext>
              </a:extLst>
            </p:cNvPr>
            <p:cNvGrpSpPr/>
            <p:nvPr/>
          </p:nvGrpSpPr>
          <p:grpSpPr>
            <a:xfrm>
              <a:off x="17267302" y="5300010"/>
              <a:ext cx="15233772" cy="14187253"/>
              <a:chOff x="17267302" y="5300010"/>
              <a:chExt cx="15233772" cy="14187253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7764D22-FEE2-29D5-77DA-B49907121EA6}"/>
                  </a:ext>
                </a:extLst>
              </p:cNvPr>
              <p:cNvGrpSpPr/>
              <p:nvPr/>
            </p:nvGrpSpPr>
            <p:grpSpPr>
              <a:xfrm>
                <a:off x="17267302" y="5300010"/>
                <a:ext cx="15233772" cy="12987990"/>
                <a:chOff x="17267302" y="5300010"/>
                <a:chExt cx="15233772" cy="12987990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34AFE783-B325-8261-217E-BB4718A01EFE}"/>
                    </a:ext>
                  </a:extLst>
                </p:cNvPr>
                <p:cNvSpPr/>
                <p:nvPr/>
              </p:nvSpPr>
              <p:spPr bwMode="auto">
                <a:xfrm>
                  <a:off x="17267302" y="5300010"/>
                  <a:ext cx="2814638" cy="6500813"/>
                </a:xfrm>
                <a:prstGeom prst="rect">
                  <a:avLst/>
                </a:prstGeom>
                <a:solidFill>
                  <a:schemeClr val="accent1">
                    <a:lumMod val="50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D50A6255-10BD-F4E5-2627-B4138E01A997}"/>
                    </a:ext>
                  </a:extLst>
                </p:cNvPr>
                <p:cNvSpPr/>
                <p:nvPr/>
              </p:nvSpPr>
              <p:spPr bwMode="auto">
                <a:xfrm>
                  <a:off x="23482859" y="16121903"/>
                  <a:ext cx="2814638" cy="2166097"/>
                </a:xfrm>
                <a:prstGeom prst="rect">
                  <a:avLst/>
                </a:prstGeom>
                <a:solidFill>
                  <a:schemeClr val="accent1">
                    <a:lumMod val="25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D5E1BAF2-0B1B-D6EB-D2FA-146E5C5CA6F3}"/>
                    </a:ext>
                  </a:extLst>
                </p:cNvPr>
                <p:cNvSpPr/>
                <p:nvPr/>
              </p:nvSpPr>
              <p:spPr bwMode="auto">
                <a:xfrm>
                  <a:off x="29686436" y="16121903"/>
                  <a:ext cx="2814638" cy="2166097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BC5D78FB-3804-D93A-C859-BB3859DEF4C8}"/>
                    </a:ext>
                  </a:extLst>
                </p:cNvPr>
                <p:cNvCxnSpPr>
                  <a:cxnSpLocks/>
                  <a:stCxn id="3" idx="2"/>
                </p:cNvCxnSpPr>
                <p:nvPr/>
              </p:nvCxnSpPr>
              <p:spPr bwMode="auto">
                <a:xfrm>
                  <a:off x="18674621" y="11800823"/>
                  <a:ext cx="0" cy="430614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3323A30F-EB0B-0BC4-120E-17A180965A1E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4890178" y="13968833"/>
                  <a:ext cx="0" cy="215307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094A9A13-7EB7-FB0C-327F-5A30EB7CA15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1104633" y="13968833"/>
                  <a:ext cx="0" cy="215307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dash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E6E28200-C2D5-D487-234B-026AA92A5BE8}"/>
                    </a:ext>
                  </a:extLst>
                </p:cNvPr>
                <p:cNvCxnSpPr/>
                <p:nvPr/>
              </p:nvCxnSpPr>
              <p:spPr bwMode="auto">
                <a:xfrm>
                  <a:off x="18010414" y="1612190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F1CF9C76-ADBF-601C-5AB7-771E0AFB6314}"/>
                    </a:ext>
                  </a:extLst>
                </p:cNvPr>
                <p:cNvCxnSpPr/>
                <p:nvPr/>
              </p:nvCxnSpPr>
              <p:spPr bwMode="auto">
                <a:xfrm>
                  <a:off x="24237035" y="1396883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00D94689-F8BC-3D65-2CD3-9F5CE68EF435}"/>
                    </a:ext>
                  </a:extLst>
                </p:cNvPr>
                <p:cNvCxnSpPr/>
                <p:nvPr/>
              </p:nvCxnSpPr>
              <p:spPr bwMode="auto">
                <a:xfrm>
                  <a:off x="30451490" y="13968833"/>
                  <a:ext cx="1306286" cy="0"/>
                </a:xfrm>
                <a:prstGeom prst="line">
                  <a:avLst/>
                </a:prstGeom>
                <a:solidFill>
                  <a:schemeClr val="accent1"/>
                </a:solidFill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8" name="Multiply 17">
                  <a:extLst>
                    <a:ext uri="{FF2B5EF4-FFF2-40B4-BE49-F238E27FC236}">
                      <a16:creationId xmlns:a16="http://schemas.microsoft.com/office/drawing/2014/main" id="{B86E0230-0B5B-2336-900D-8F8ED1CB2692}"/>
                    </a:ext>
                  </a:extLst>
                </p:cNvPr>
                <p:cNvSpPr/>
                <p:nvPr/>
              </p:nvSpPr>
              <p:spPr bwMode="auto">
                <a:xfrm>
                  <a:off x="30860534" y="11343623"/>
                  <a:ext cx="457200" cy="457200"/>
                </a:xfrm>
                <a:prstGeom prst="mathMultiply">
                  <a:avLst/>
                </a:prstGeom>
                <a:solidFill>
                  <a:srgbClr val="72BFC5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3DC4BE0B-55CC-21CC-228D-4D58C6F81768}"/>
                    </a:ext>
                  </a:extLst>
                </p:cNvPr>
                <p:cNvCxnSpPr/>
                <p:nvPr/>
              </p:nvCxnSpPr>
              <p:spPr bwMode="auto">
                <a:xfrm>
                  <a:off x="17301874" y="9627476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D54C43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A1CE6A5D-1BCC-6244-27A6-2E6271A4DF81}"/>
                    </a:ext>
                  </a:extLst>
                </p:cNvPr>
                <p:cNvCxnSpPr/>
                <p:nvPr/>
              </p:nvCxnSpPr>
              <p:spPr bwMode="auto">
                <a:xfrm>
                  <a:off x="23513855" y="18210955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BB423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BE1D573-BA3F-6844-0338-2311984CF2CB}"/>
                    </a:ext>
                  </a:extLst>
                </p:cNvPr>
                <p:cNvCxnSpPr/>
                <p:nvPr/>
              </p:nvCxnSpPr>
              <p:spPr bwMode="auto">
                <a:xfrm>
                  <a:off x="29707024" y="18210954"/>
                  <a:ext cx="2764221" cy="0"/>
                </a:xfrm>
                <a:prstGeom prst="line">
                  <a:avLst/>
                </a:prstGeom>
                <a:solidFill>
                  <a:schemeClr val="accent1"/>
                </a:solidFill>
                <a:ln w="101600" cap="flat" cmpd="sng" algn="ctr">
                  <a:solidFill>
                    <a:srgbClr val="EF544A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2CD6FC-4197-B0F5-EB5E-7B8778E1D9B9}"/>
                  </a:ext>
                </a:extLst>
              </p:cNvPr>
              <p:cNvSpPr txBox="1"/>
              <p:nvPr/>
            </p:nvSpPr>
            <p:spPr>
              <a:xfrm>
                <a:off x="18047432" y="18801292"/>
                <a:ext cx="1273104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Friend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FEAD576-740F-E665-EA00-7C83C68CAF0A}"/>
                  </a:ext>
                </a:extLst>
              </p:cNvPr>
              <p:cNvSpPr txBox="1"/>
              <p:nvPr/>
            </p:nvSpPr>
            <p:spPr>
              <a:xfrm>
                <a:off x="24016659" y="18801291"/>
                <a:ext cx="1657826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Stranger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4B7075-BCE9-5433-D5D4-988B3A796C17}"/>
                  </a:ext>
                </a:extLst>
              </p:cNvPr>
              <p:cNvSpPr txBox="1"/>
              <p:nvPr/>
            </p:nvSpPr>
            <p:spPr>
              <a:xfrm>
                <a:off x="30153622" y="18933265"/>
                <a:ext cx="1871025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3000" dirty="0"/>
                  <a:t>Computer</a:t>
                </a:r>
              </a:p>
            </p:txBody>
          </p:sp>
        </p:grpSp>
        <p:sp>
          <p:nvSpPr>
            <p:cNvPr id="29" name="Multiply 28">
              <a:extLst>
                <a:ext uri="{FF2B5EF4-FFF2-40B4-BE49-F238E27FC236}">
                  <a16:creationId xmlns:a16="http://schemas.microsoft.com/office/drawing/2014/main" id="{E2544558-A55A-31AE-362C-DC229ED9A5F8}"/>
                </a:ext>
              </a:extLst>
            </p:cNvPr>
            <p:cNvSpPr/>
            <p:nvPr/>
          </p:nvSpPr>
          <p:spPr bwMode="auto">
            <a:xfrm>
              <a:off x="30860534" y="9433297"/>
              <a:ext cx="457200" cy="457200"/>
            </a:xfrm>
            <a:prstGeom prst="mathMultiply">
              <a:avLst/>
            </a:prstGeom>
            <a:solidFill>
              <a:srgbClr val="72BFC5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0" name="Multiply 29">
              <a:extLst>
                <a:ext uri="{FF2B5EF4-FFF2-40B4-BE49-F238E27FC236}">
                  <a16:creationId xmlns:a16="http://schemas.microsoft.com/office/drawing/2014/main" id="{49EFB42A-BDC5-EDFE-30E2-3E0854186CEB}"/>
                </a:ext>
              </a:extLst>
            </p:cNvPr>
            <p:cNvSpPr/>
            <p:nvPr/>
          </p:nvSpPr>
          <p:spPr bwMode="auto">
            <a:xfrm>
              <a:off x="24661578" y="11557807"/>
              <a:ext cx="457200" cy="457200"/>
            </a:xfrm>
            <a:prstGeom prst="mathMultiply">
              <a:avLst/>
            </a:prstGeom>
            <a:solidFill>
              <a:srgbClr val="1D464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31" name="Multiply 30">
              <a:extLst>
                <a:ext uri="{FF2B5EF4-FFF2-40B4-BE49-F238E27FC236}">
                  <a16:creationId xmlns:a16="http://schemas.microsoft.com/office/drawing/2014/main" id="{1F137DB2-67E6-E506-A500-26336390C594}"/>
                </a:ext>
              </a:extLst>
            </p:cNvPr>
            <p:cNvSpPr/>
            <p:nvPr/>
          </p:nvSpPr>
          <p:spPr bwMode="auto">
            <a:xfrm>
              <a:off x="24661578" y="9433297"/>
              <a:ext cx="457200" cy="457200"/>
            </a:xfrm>
            <a:prstGeom prst="mathMultiply">
              <a:avLst/>
            </a:prstGeom>
            <a:solidFill>
              <a:srgbClr val="1D4647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CB27CAF-4280-AD34-B210-5080F180D2C2}"/>
              </a:ext>
            </a:extLst>
          </p:cNvPr>
          <p:cNvGrpSpPr/>
          <p:nvPr/>
        </p:nvGrpSpPr>
        <p:grpSpPr>
          <a:xfrm>
            <a:off x="3302117" y="697747"/>
            <a:ext cx="7765387" cy="8857886"/>
            <a:chOff x="15752261" y="4761579"/>
            <a:chExt cx="6351768" cy="724538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C781F48-3237-34BE-792E-D00CC6F352EC}"/>
                </a:ext>
              </a:extLst>
            </p:cNvPr>
            <p:cNvGrpSpPr/>
            <p:nvPr/>
          </p:nvGrpSpPr>
          <p:grpSpPr>
            <a:xfrm>
              <a:off x="15752261" y="4761579"/>
              <a:ext cx="6351768" cy="7245387"/>
              <a:chOff x="15752261" y="4761579"/>
              <a:chExt cx="6351768" cy="7245387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FCDB739-B6CA-6A2F-4FF4-2D6158E62F41}"/>
                  </a:ext>
                </a:extLst>
              </p:cNvPr>
              <p:cNvSpPr/>
              <p:nvPr/>
            </p:nvSpPr>
            <p:spPr bwMode="auto">
              <a:xfrm>
                <a:off x="15752261" y="4761579"/>
                <a:ext cx="6351768" cy="7245387"/>
              </a:xfrm>
              <a:prstGeom prst="rect">
                <a:avLst/>
              </a:prstGeom>
              <a:solidFill>
                <a:srgbClr val="FAF86D">
                  <a:alpha val="54118"/>
                </a:srgbClr>
              </a:solidFill>
              <a:ln w="508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8CB1042-C763-7E92-8F91-E80C5111A56D}"/>
                  </a:ext>
                </a:extLst>
              </p:cNvPr>
              <p:cNvSpPr txBox="1"/>
              <p:nvPr/>
            </p:nvSpPr>
            <p:spPr>
              <a:xfrm>
                <a:off x="15906068" y="11363259"/>
                <a:ext cx="4965131" cy="579022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n-US" altLang="en-US" sz="2000" dirty="0">
                    <a:latin typeface="Helvetica"/>
                    <a:ea typeface="MS PGothic"/>
                  </a:rPr>
                  <a:t>Kyle M. </a:t>
                </a:r>
                <a:r>
                  <a:rPr lang="en-US" altLang="en-US" sz="2000" dirty="0" err="1">
                    <a:latin typeface="Helvetica"/>
                    <a:ea typeface="MS PGothic"/>
                  </a:rPr>
                  <a:t>Woosnam</a:t>
                </a:r>
                <a:r>
                  <a:rPr lang="en-US" altLang="en-US" sz="2000" dirty="0">
                    <a:latin typeface="Helvetica"/>
                    <a:ea typeface="MS PGothic"/>
                  </a:rPr>
                  <a:t>,</a:t>
                </a:r>
              </a:p>
              <a:p>
                <a:r>
                  <a:rPr lang="en-US" altLang="en-US" sz="2000" dirty="0">
                    <a:latin typeface="Helvetica"/>
                    <a:ea typeface="MS PGothic"/>
                  </a:rPr>
                  <a:t>The inclusion of other in the self (</a:t>
                </a:r>
                <a:r>
                  <a:rPr lang="en-US" altLang="en-US" sz="2000" dirty="0" err="1">
                    <a:latin typeface="Helvetica"/>
                    <a:ea typeface="MS PGothic"/>
                  </a:rPr>
                  <a:t>ios</a:t>
                </a:r>
                <a:r>
                  <a:rPr lang="en-US" altLang="en-US" sz="2000" dirty="0">
                    <a:latin typeface="Helvetica"/>
                    <a:ea typeface="MS PGothic"/>
                  </a:rPr>
                  <a:t>) scale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D816D11-3FBA-D07E-6B9E-38A2F4EB099B}"/>
                </a:ext>
              </a:extLst>
            </p:cNvPr>
            <p:cNvGrpSpPr/>
            <p:nvPr/>
          </p:nvGrpSpPr>
          <p:grpSpPr>
            <a:xfrm>
              <a:off x="16266708" y="5102620"/>
              <a:ext cx="5346874" cy="6245250"/>
              <a:chOff x="24606262" y="5087612"/>
              <a:chExt cx="5346874" cy="624525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775D2E0-EA68-224B-714D-E08D12FB0BC4}"/>
                  </a:ext>
                </a:extLst>
              </p:cNvPr>
              <p:cNvGrpSpPr/>
              <p:nvPr/>
            </p:nvGrpSpPr>
            <p:grpSpPr>
              <a:xfrm>
                <a:off x="24606262" y="5087612"/>
                <a:ext cx="5346874" cy="2981162"/>
                <a:chOff x="24230508" y="5420973"/>
                <a:chExt cx="5346874" cy="2981162"/>
              </a:xfrm>
            </p:grpSpPr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F210A4F8-95CD-6B0C-1156-2D603B9862CF}"/>
                    </a:ext>
                  </a:extLst>
                </p:cNvPr>
                <p:cNvSpPr/>
                <p:nvPr/>
              </p:nvSpPr>
              <p:spPr bwMode="auto">
                <a:xfrm>
                  <a:off x="24230508" y="5440590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en-US" sz="3000" dirty="0">
                      <a:latin typeface="Arial" charset="0"/>
                      <a:cs typeface="Arial" charset="0"/>
                    </a:rPr>
                    <a:t>Other</a:t>
                  </a:r>
                  <a:endParaRPr kumimoji="0" lang="en-US" sz="3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094E4F7B-794E-48AC-145A-00C8986E4091}"/>
                    </a:ext>
                  </a:extLst>
                </p:cNvPr>
                <p:cNvSpPr/>
                <p:nvPr/>
              </p:nvSpPr>
              <p:spPr bwMode="auto">
                <a:xfrm>
                  <a:off x="26615837" y="5420973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30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cs typeface="Arial" charset="0"/>
                    </a:rPr>
                    <a:t>Self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9954FFDE-545B-AD1D-A25A-59FD7AEFC418}"/>
                  </a:ext>
                </a:extLst>
              </p:cNvPr>
              <p:cNvGrpSpPr/>
              <p:nvPr/>
            </p:nvGrpSpPr>
            <p:grpSpPr>
              <a:xfrm>
                <a:off x="25411939" y="8348344"/>
                <a:ext cx="3925091" cy="2984518"/>
                <a:chOff x="25130667" y="8968962"/>
                <a:chExt cx="3925091" cy="2984518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FC73058-CB31-27B0-772A-3BDDA9B99C29}"/>
                    </a:ext>
                  </a:extLst>
                </p:cNvPr>
                <p:cNvSpPr/>
                <p:nvPr/>
              </p:nvSpPr>
              <p:spPr bwMode="auto">
                <a:xfrm>
                  <a:off x="25130667" y="8968962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67D4BD0-69C1-6205-729F-359FD089EF50}"/>
                    </a:ext>
                  </a:extLst>
                </p:cNvPr>
                <p:cNvSpPr/>
                <p:nvPr/>
              </p:nvSpPr>
              <p:spPr bwMode="auto">
                <a:xfrm>
                  <a:off x="26094213" y="8991935"/>
                  <a:ext cx="2961545" cy="2961545"/>
                </a:xfrm>
                <a:prstGeom prst="ellipse">
                  <a:avLst/>
                </a:prstGeom>
                <a:noFill/>
                <a:ln w="508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</p:grpSp>
        </p:grpSp>
      </p:grpSp>
      <p:pic>
        <p:nvPicPr>
          <p:cNvPr id="44" name="Picture 43" descr="A graph with a line and dots&#10;&#10;Description automatically generated">
            <a:extLst>
              <a:ext uri="{FF2B5EF4-FFF2-40B4-BE49-F238E27FC236}">
                <a16:creationId xmlns:a16="http://schemas.microsoft.com/office/drawing/2014/main" id="{5A9B45D2-69CE-45B6-E0FF-63E075F12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7"/>
          <a:stretch/>
        </p:blipFill>
        <p:spPr>
          <a:xfrm>
            <a:off x="17565458" y="20012822"/>
            <a:ext cx="5976934" cy="6256269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3101D678-0DF9-DFE7-5AB5-E5E73F160921}"/>
              </a:ext>
            </a:extLst>
          </p:cNvPr>
          <p:cNvSpPr txBox="1"/>
          <p:nvPr/>
        </p:nvSpPr>
        <p:spPr>
          <a:xfrm>
            <a:off x="25431750" y="21945601"/>
            <a:ext cx="3377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mask Cope 10, f-s behavior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5566B34-90A2-F860-BA56-C61310F4490F}"/>
              </a:ext>
            </a:extLst>
          </p:cNvPr>
          <p:cNvGrpSpPr/>
          <p:nvPr/>
        </p:nvGrpSpPr>
        <p:grpSpPr>
          <a:xfrm>
            <a:off x="23956247" y="1593935"/>
            <a:ext cx="8009593" cy="7451869"/>
            <a:chOff x="18887859" y="360968"/>
            <a:chExt cx="6543891" cy="6151778"/>
          </a:xfrm>
        </p:grpSpPr>
        <p:pic>
          <p:nvPicPr>
            <p:cNvPr id="46" name="Picture 45" descr="A green check mark on a grey background&#10;&#10;Description automatically generated">
              <a:extLst>
                <a:ext uri="{FF2B5EF4-FFF2-40B4-BE49-F238E27FC236}">
                  <a16:creationId xmlns:a16="http://schemas.microsoft.com/office/drawing/2014/main" id="{05D821C2-E885-CC67-E0E9-FCC0C910A1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4791" t="15087" r="12450" b="22936"/>
            <a:stretch/>
          </p:blipFill>
          <p:spPr>
            <a:xfrm>
              <a:off x="19244972" y="4622666"/>
              <a:ext cx="2991981" cy="18900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7" name="Picture 46" descr="A computer screen shot&#10;&#10;Description automatically generated">
              <a:extLst>
                <a:ext uri="{FF2B5EF4-FFF2-40B4-BE49-F238E27FC236}">
                  <a16:creationId xmlns:a16="http://schemas.microsoft.com/office/drawing/2014/main" id="{25A164EB-4BEF-B4A5-B060-06D4C5267B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658" t="18357" r="18046" b="25816"/>
            <a:stretch/>
          </p:blipFill>
          <p:spPr>
            <a:xfrm>
              <a:off x="22543408" y="4676154"/>
              <a:ext cx="2888342" cy="181903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8" name="Picture 47" descr="A white cross on a gray background&#10;&#10;Description automatically generated">
              <a:extLst>
                <a:ext uri="{FF2B5EF4-FFF2-40B4-BE49-F238E27FC236}">
                  <a16:creationId xmlns:a16="http://schemas.microsoft.com/office/drawing/2014/main" id="{2A82ECC0-02D2-399E-A379-0EF13FCC0D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620" t="7420" r="2620" b="4981"/>
            <a:stretch/>
          </p:blipFill>
          <p:spPr>
            <a:xfrm>
              <a:off x="20965957" y="2971697"/>
              <a:ext cx="2848448" cy="189008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9" name="Picture 48" descr="A grey background with white text&#10;&#10;Description automatically generated">
              <a:extLst>
                <a:ext uri="{FF2B5EF4-FFF2-40B4-BE49-F238E27FC236}">
                  <a16:creationId xmlns:a16="http://schemas.microsoft.com/office/drawing/2014/main" id="{8319B2F5-A88D-8E16-A0DB-3B22400CE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926908" y="1639461"/>
              <a:ext cx="2848448" cy="1943823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0" name="Picture 49" descr="A computer and a keyboard&#10;&#10;Description automatically generated with medium confidence">
              <a:extLst>
                <a:ext uri="{FF2B5EF4-FFF2-40B4-BE49-F238E27FC236}">
                  <a16:creationId xmlns:a16="http://schemas.microsoft.com/office/drawing/2014/main" id="{462EC6A9-8181-A755-C6DF-08487EECDC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378" t="5420" r="2378" b="9853"/>
            <a:stretch/>
          </p:blipFill>
          <p:spPr>
            <a:xfrm>
              <a:off x="18887859" y="360968"/>
              <a:ext cx="2848448" cy="191943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98D2AA0-6856-8BFC-A013-3D7002419DA0}"/>
                </a:ext>
              </a:extLst>
            </p:cNvPr>
            <p:cNvGrpSpPr/>
            <p:nvPr/>
          </p:nvGrpSpPr>
          <p:grpSpPr>
            <a:xfrm>
              <a:off x="22071524" y="360968"/>
              <a:ext cx="3360226" cy="995434"/>
              <a:chOff x="3514264" y="206684"/>
              <a:chExt cx="3360226" cy="995434"/>
            </a:xfrm>
          </p:grpSpPr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8A58D4E4-38FC-FF26-3C92-D95E613FF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14264" y="206684"/>
                <a:ext cx="1027916" cy="99067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53" name="Picture 52" descr="A grey square with a person's head&#10;&#10;Description automatically generated">
                <a:extLst>
                  <a:ext uri="{FF2B5EF4-FFF2-40B4-BE49-F238E27FC236}">
                    <a16:creationId xmlns:a16="http://schemas.microsoft.com/office/drawing/2014/main" id="{DCD9D8FF-F003-604C-A09E-3B749D2631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7835" y="206684"/>
                <a:ext cx="982991" cy="995434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pic>
            <p:nvPicPr>
              <p:cNvPr id="54" name="Picture 53" descr="A person with a smile on his face&#10;&#10;Description automatically generated">
                <a:extLst>
                  <a:ext uri="{FF2B5EF4-FFF2-40B4-BE49-F238E27FC236}">
                    <a16:creationId xmlns:a16="http://schemas.microsoft.com/office/drawing/2014/main" id="{AA177AC5-6357-26F0-BFC6-A1CAE04EB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83817" y="206684"/>
                <a:ext cx="990673" cy="990673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C00000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28FCC7C-6755-8F55-4C3F-4AD8749A8074}"/>
              </a:ext>
            </a:extLst>
          </p:cNvPr>
          <p:cNvGrpSpPr/>
          <p:nvPr/>
        </p:nvGrpSpPr>
        <p:grpSpPr>
          <a:xfrm>
            <a:off x="15013924" y="12119306"/>
            <a:ext cx="4594166" cy="5455639"/>
            <a:chOff x="35245964" y="10130725"/>
            <a:chExt cx="4594166" cy="54556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CEAC77-0B26-1854-0835-68A245732429}"/>
                </a:ext>
              </a:extLst>
            </p:cNvPr>
            <p:cNvSpPr/>
            <p:nvPr/>
          </p:nvSpPr>
          <p:spPr bwMode="auto">
            <a:xfrm>
              <a:off x="35245964" y="10341033"/>
              <a:ext cx="914400" cy="5245331"/>
            </a:xfrm>
            <a:prstGeom prst="rect">
              <a:avLst/>
            </a:prstGeom>
            <a:solidFill>
              <a:srgbClr val="3C8C9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2453FC-0F32-F09C-D33F-9CF35C97F575}"/>
                </a:ext>
              </a:extLst>
            </p:cNvPr>
            <p:cNvSpPr/>
            <p:nvPr/>
          </p:nvSpPr>
          <p:spPr bwMode="auto">
            <a:xfrm>
              <a:off x="37085847" y="13716000"/>
              <a:ext cx="914400" cy="1859437"/>
            </a:xfrm>
            <a:prstGeom prst="rect">
              <a:avLst/>
            </a:prstGeom>
            <a:solidFill>
              <a:srgbClr val="72BFC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B05EE92-0D6D-24D5-3C18-F4E42B7DF8FA}"/>
                </a:ext>
              </a:extLst>
            </p:cNvPr>
            <p:cNvSpPr/>
            <p:nvPr/>
          </p:nvSpPr>
          <p:spPr bwMode="auto">
            <a:xfrm>
              <a:off x="38925730" y="13716000"/>
              <a:ext cx="914400" cy="185943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2C94823-F8B7-BD70-9443-6E0864B4040E}"/>
                </a:ext>
              </a:extLst>
            </p:cNvPr>
            <p:cNvGrpSpPr/>
            <p:nvPr/>
          </p:nvGrpSpPr>
          <p:grpSpPr>
            <a:xfrm>
              <a:off x="35522114" y="10130725"/>
              <a:ext cx="351296" cy="423621"/>
              <a:chOff x="35522114" y="10130725"/>
              <a:chExt cx="351296" cy="423621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D09282A-B515-4EE1-BDDF-AE42CA67AFB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5697998" y="10130725"/>
                <a:ext cx="0" cy="4236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156E826-50BD-B379-62AE-36A813651248}"/>
                  </a:ext>
                </a:extLst>
              </p:cNvPr>
              <p:cNvCxnSpPr/>
              <p:nvPr/>
            </p:nvCxnSpPr>
            <p:spPr bwMode="auto">
              <a:xfrm>
                <a:off x="35522115" y="10130725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B32D49D-083F-EDC8-35E2-12D77B21AD8D}"/>
                  </a:ext>
                </a:extLst>
              </p:cNvPr>
              <p:cNvCxnSpPr/>
              <p:nvPr/>
            </p:nvCxnSpPr>
            <p:spPr bwMode="auto">
              <a:xfrm>
                <a:off x="35522114" y="10554346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545418C-55A1-D407-C68A-8D6C8579D69B}"/>
                </a:ext>
              </a:extLst>
            </p:cNvPr>
            <p:cNvGrpSpPr/>
            <p:nvPr/>
          </p:nvGrpSpPr>
          <p:grpSpPr>
            <a:xfrm>
              <a:off x="37367399" y="13504189"/>
              <a:ext cx="351296" cy="423621"/>
              <a:chOff x="35522114" y="10130725"/>
              <a:chExt cx="351296" cy="423621"/>
            </a:xfrm>
          </p:grpSpPr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72E455-C99E-6522-5C21-053FE29FB28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5697998" y="10130725"/>
                <a:ext cx="0" cy="4236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8BFC4EBF-0978-F826-349C-0E7972C254F4}"/>
                  </a:ext>
                </a:extLst>
              </p:cNvPr>
              <p:cNvCxnSpPr/>
              <p:nvPr/>
            </p:nvCxnSpPr>
            <p:spPr bwMode="auto">
              <a:xfrm>
                <a:off x="35522115" y="10130725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C748ACA-A449-130C-EC6B-9C598C3F9F8F}"/>
                  </a:ext>
                </a:extLst>
              </p:cNvPr>
              <p:cNvCxnSpPr/>
              <p:nvPr/>
            </p:nvCxnSpPr>
            <p:spPr bwMode="auto">
              <a:xfrm>
                <a:off x="35522114" y="10554346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BD76B3B-0A73-E05E-DB39-CCFE628F01BD}"/>
                </a:ext>
              </a:extLst>
            </p:cNvPr>
            <p:cNvGrpSpPr/>
            <p:nvPr/>
          </p:nvGrpSpPr>
          <p:grpSpPr>
            <a:xfrm>
              <a:off x="39207283" y="13504188"/>
              <a:ext cx="351296" cy="423621"/>
              <a:chOff x="35522114" y="10130725"/>
              <a:chExt cx="351296" cy="423621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76CF0D3-AD0A-1AFF-143B-19B5E228886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5697998" y="10130725"/>
                <a:ext cx="0" cy="423621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786827D3-1F61-686E-46B2-665C8E4C9D54}"/>
                  </a:ext>
                </a:extLst>
              </p:cNvPr>
              <p:cNvCxnSpPr/>
              <p:nvPr/>
            </p:nvCxnSpPr>
            <p:spPr bwMode="auto">
              <a:xfrm>
                <a:off x="35522115" y="10130725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D572BB6-024D-AAAB-4885-44452A80C9F5}"/>
                  </a:ext>
                </a:extLst>
              </p:cNvPr>
              <p:cNvCxnSpPr/>
              <p:nvPr/>
            </p:nvCxnSpPr>
            <p:spPr bwMode="auto">
              <a:xfrm>
                <a:off x="35522114" y="10554346"/>
                <a:ext cx="351295" cy="0"/>
              </a:xfrm>
              <a:prstGeom prst="line">
                <a:avLst/>
              </a:prstGeom>
              <a:solidFill>
                <a:schemeClr val="accent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134CAF9-8C55-C08E-0820-45E82172F285}"/>
              </a:ext>
            </a:extLst>
          </p:cNvPr>
          <p:cNvGrpSpPr/>
          <p:nvPr/>
        </p:nvGrpSpPr>
        <p:grpSpPr>
          <a:xfrm>
            <a:off x="1421938" y="14767343"/>
            <a:ext cx="5770128" cy="5560255"/>
            <a:chOff x="1421938" y="14767343"/>
            <a:chExt cx="5770128" cy="556025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692C001-552E-A0BF-EAF0-D9D03AC630FD}"/>
                </a:ext>
              </a:extLst>
            </p:cNvPr>
            <p:cNvSpPr/>
            <p:nvPr/>
          </p:nvSpPr>
          <p:spPr bwMode="auto">
            <a:xfrm>
              <a:off x="1421941" y="14767343"/>
              <a:ext cx="5762869" cy="5560255"/>
            </a:xfrm>
            <a:prstGeom prst="rect">
              <a:avLst/>
            </a:prstGeom>
            <a:solidFill>
              <a:srgbClr val="EBEBE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92797BA-F206-B816-0D24-23740277F523}"/>
                </a:ext>
              </a:extLst>
            </p:cNvPr>
            <p:cNvCxnSpPr/>
            <p:nvPr/>
          </p:nvCxnSpPr>
          <p:spPr bwMode="auto">
            <a:xfrm flipH="1">
              <a:off x="4303375" y="14775666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26CDECF-345E-D128-8967-4E340409A8D4}"/>
                </a:ext>
              </a:extLst>
            </p:cNvPr>
            <p:cNvCxnSpPr/>
            <p:nvPr/>
          </p:nvCxnSpPr>
          <p:spPr bwMode="auto">
            <a:xfrm flipH="1">
              <a:off x="2840886" y="14771504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56F0576-3F33-7771-B61D-8B72E7C18AAE}"/>
                </a:ext>
              </a:extLst>
            </p:cNvPr>
            <p:cNvCxnSpPr/>
            <p:nvPr/>
          </p:nvCxnSpPr>
          <p:spPr bwMode="auto">
            <a:xfrm flipH="1">
              <a:off x="5722320" y="14767343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B3535D1D-4108-CA34-F032-77C2E850B187}"/>
                </a:ext>
              </a:extLst>
            </p:cNvPr>
            <p:cNvCxnSpPr>
              <a:stCxn id="72" idx="1"/>
              <a:endCxn id="72" idx="3"/>
            </p:cNvCxnSpPr>
            <p:nvPr/>
          </p:nvCxnSpPr>
          <p:spPr bwMode="auto">
            <a:xfrm>
              <a:off x="1421941" y="17547471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AF52D305-65CB-CEC1-9A60-BDDF5CF5B795}"/>
                </a:ext>
              </a:extLst>
            </p:cNvPr>
            <p:cNvCxnSpPr/>
            <p:nvPr/>
          </p:nvCxnSpPr>
          <p:spPr bwMode="auto">
            <a:xfrm>
              <a:off x="1421940" y="18803458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5D2F51D8-3D1A-6B2C-5FA6-27B779344ACC}"/>
                </a:ext>
              </a:extLst>
            </p:cNvPr>
            <p:cNvCxnSpPr/>
            <p:nvPr/>
          </p:nvCxnSpPr>
          <p:spPr bwMode="auto">
            <a:xfrm>
              <a:off x="1429197" y="16328272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88EF8ECA-4A75-8119-7C89-03A8BC4A6CEB}"/>
                </a:ext>
              </a:extLst>
            </p:cNvPr>
            <p:cNvCxnSpPr/>
            <p:nvPr/>
          </p:nvCxnSpPr>
          <p:spPr bwMode="auto">
            <a:xfrm>
              <a:off x="1421939" y="20048934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9BAF877-694B-9CFF-5728-FB72909E61AD}"/>
                </a:ext>
              </a:extLst>
            </p:cNvPr>
            <p:cNvCxnSpPr/>
            <p:nvPr/>
          </p:nvCxnSpPr>
          <p:spPr bwMode="auto">
            <a:xfrm>
              <a:off x="1421938" y="15088052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229746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87FEA0B6-0A74-0C0F-3FB1-0EAD7701882D}"/>
              </a:ext>
            </a:extLst>
          </p:cNvPr>
          <p:cNvGrpSpPr/>
          <p:nvPr/>
        </p:nvGrpSpPr>
        <p:grpSpPr>
          <a:xfrm>
            <a:off x="1421938" y="14767343"/>
            <a:ext cx="5770128" cy="5560255"/>
            <a:chOff x="1421938" y="14767343"/>
            <a:chExt cx="5770128" cy="556025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3C061F5-8F54-E2FF-255D-66D2D0F76517}"/>
                </a:ext>
              </a:extLst>
            </p:cNvPr>
            <p:cNvSpPr/>
            <p:nvPr/>
          </p:nvSpPr>
          <p:spPr bwMode="auto">
            <a:xfrm>
              <a:off x="1421941" y="14767343"/>
              <a:ext cx="5762869" cy="5560255"/>
            </a:xfrm>
            <a:prstGeom prst="rect">
              <a:avLst/>
            </a:prstGeom>
            <a:solidFill>
              <a:srgbClr val="EBEBE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D042BA7-5F5A-36F0-850A-C2577060B749}"/>
                </a:ext>
              </a:extLst>
            </p:cNvPr>
            <p:cNvCxnSpPr/>
            <p:nvPr/>
          </p:nvCxnSpPr>
          <p:spPr bwMode="auto">
            <a:xfrm flipH="1">
              <a:off x="4303375" y="14775666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5FD1E44-CFDC-B758-7022-A454002AE588}"/>
                </a:ext>
              </a:extLst>
            </p:cNvPr>
            <p:cNvCxnSpPr/>
            <p:nvPr/>
          </p:nvCxnSpPr>
          <p:spPr bwMode="auto">
            <a:xfrm flipH="1">
              <a:off x="2840886" y="14771504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CADB742-0CDC-DC37-ED5C-2B377B62CEF5}"/>
                </a:ext>
              </a:extLst>
            </p:cNvPr>
            <p:cNvCxnSpPr/>
            <p:nvPr/>
          </p:nvCxnSpPr>
          <p:spPr bwMode="auto">
            <a:xfrm flipH="1">
              <a:off x="5722320" y="14767343"/>
              <a:ext cx="14515" cy="5551932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5418E4F-BB4E-52E4-446B-B4C3A71E88D0}"/>
                </a:ext>
              </a:extLst>
            </p:cNvPr>
            <p:cNvCxnSpPr>
              <a:stCxn id="2" idx="1"/>
              <a:endCxn id="2" idx="3"/>
            </p:cNvCxnSpPr>
            <p:nvPr/>
          </p:nvCxnSpPr>
          <p:spPr bwMode="auto">
            <a:xfrm>
              <a:off x="1421941" y="17547471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5D41D7D-E264-B1C2-07CB-937C70260BA2}"/>
                </a:ext>
              </a:extLst>
            </p:cNvPr>
            <p:cNvCxnSpPr/>
            <p:nvPr/>
          </p:nvCxnSpPr>
          <p:spPr bwMode="auto">
            <a:xfrm>
              <a:off x="1421940" y="18803458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351987E-C902-D4BC-BEB6-8721F79F23DE}"/>
                </a:ext>
              </a:extLst>
            </p:cNvPr>
            <p:cNvCxnSpPr/>
            <p:nvPr/>
          </p:nvCxnSpPr>
          <p:spPr bwMode="auto">
            <a:xfrm>
              <a:off x="1429197" y="16328272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92C0EB5-3BE9-C9EB-E949-8240C7DC36CE}"/>
                </a:ext>
              </a:extLst>
            </p:cNvPr>
            <p:cNvCxnSpPr/>
            <p:nvPr/>
          </p:nvCxnSpPr>
          <p:spPr bwMode="auto">
            <a:xfrm>
              <a:off x="1421939" y="20048934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71399DB-660C-6CE2-8B67-DA2660ACD78E}"/>
                </a:ext>
              </a:extLst>
            </p:cNvPr>
            <p:cNvCxnSpPr/>
            <p:nvPr/>
          </p:nvCxnSpPr>
          <p:spPr bwMode="auto">
            <a:xfrm>
              <a:off x="1421938" y="15088052"/>
              <a:ext cx="5762869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478095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837406F-5692-3E0A-6846-F0234F4B64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739"/>
          <a:stretch/>
        </p:blipFill>
        <p:spPr>
          <a:xfrm>
            <a:off x="256032" y="871751"/>
            <a:ext cx="11692074" cy="1130805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BE36795-2270-B2A4-DE7D-9C6377C48B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6956"/>
          <a:stretch/>
        </p:blipFill>
        <p:spPr>
          <a:xfrm>
            <a:off x="11948106" y="871751"/>
            <a:ext cx="11719381" cy="113080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D788F-1A31-5C44-8566-4F528D1785C4}"/>
              </a:ext>
            </a:extLst>
          </p:cNvPr>
          <p:cNvSpPr txBox="1"/>
          <p:nvPr/>
        </p:nvSpPr>
        <p:spPr>
          <a:xfrm>
            <a:off x="26309510" y="21994513"/>
            <a:ext cx="1258645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Participants were asked to rate their closeness with the three partners before the task on a 7-point Likert Scale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C166C9F-8AFD-5144-B709-C6E7D9C77CF0}"/>
              </a:ext>
            </a:extLst>
          </p:cNvPr>
          <p:cNvGrpSpPr/>
          <p:nvPr/>
        </p:nvGrpSpPr>
        <p:grpSpPr>
          <a:xfrm>
            <a:off x="26566310" y="4480341"/>
            <a:ext cx="6524991" cy="6955685"/>
            <a:chOff x="23087465" y="23975816"/>
            <a:chExt cx="6524991" cy="69556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33FE7B0-A177-6F40-9F4C-961AE0B6758A}"/>
                </a:ext>
              </a:extLst>
            </p:cNvPr>
            <p:cNvGrpSpPr/>
            <p:nvPr/>
          </p:nvGrpSpPr>
          <p:grpSpPr>
            <a:xfrm>
              <a:off x="23087465" y="23975816"/>
              <a:ext cx="6524991" cy="6955685"/>
              <a:chOff x="23087465" y="23975816"/>
              <a:chExt cx="6524991" cy="6955685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7D19EB7-28AC-B744-9ABA-310DAFD29B0A}"/>
                  </a:ext>
                </a:extLst>
              </p:cNvPr>
              <p:cNvGrpSpPr/>
              <p:nvPr/>
            </p:nvGrpSpPr>
            <p:grpSpPr>
              <a:xfrm>
                <a:off x="23087465" y="23975816"/>
                <a:ext cx="6524991" cy="6955685"/>
                <a:chOff x="23087465" y="23975816"/>
                <a:chExt cx="6524991" cy="6955685"/>
              </a:xfrm>
            </p:grpSpPr>
            <p:pic>
              <p:nvPicPr>
                <p:cNvPr id="11" name="Graphic 10">
                  <a:extLst>
                    <a:ext uri="{FF2B5EF4-FFF2-40B4-BE49-F238E27FC236}">
                      <a16:creationId xmlns:a16="http://schemas.microsoft.com/office/drawing/2014/main" id="{507378A2-7B75-EB4F-912D-685D66F7F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l="10991" t="5046" r="3126" b="7756"/>
                <a:stretch/>
              </p:blipFill>
              <p:spPr>
                <a:xfrm>
                  <a:off x="23723984" y="23975816"/>
                  <a:ext cx="5888472" cy="6200049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F64BED4-0C1E-384C-B252-76748CAC1B6C}"/>
                    </a:ext>
                  </a:extLst>
                </p:cNvPr>
                <p:cNvSpPr txBox="1"/>
                <p:nvPr/>
              </p:nvSpPr>
              <p:spPr>
                <a:xfrm>
                  <a:off x="25810594" y="30223615"/>
                  <a:ext cx="1096775" cy="7078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4000" dirty="0"/>
                    <a:t>Age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34BF677-2248-9642-9CB1-6ADE36E56B3C}"/>
                    </a:ext>
                  </a:extLst>
                </p:cNvPr>
                <p:cNvSpPr txBox="1"/>
                <p:nvPr/>
              </p:nvSpPr>
              <p:spPr>
                <a:xfrm>
                  <a:off x="23166754" y="24615337"/>
                  <a:ext cx="6519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400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A2794F8-6A32-D94B-8839-99CAF4032589}"/>
                    </a:ext>
                  </a:extLst>
                </p:cNvPr>
                <p:cNvSpPr txBox="1"/>
                <p:nvPr/>
              </p:nvSpPr>
              <p:spPr>
                <a:xfrm>
                  <a:off x="23087465" y="28711327"/>
                  <a:ext cx="7400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-200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672E2E51-16E7-B342-93EF-ABF930710291}"/>
                    </a:ext>
                  </a:extLst>
                </p:cNvPr>
                <p:cNvSpPr txBox="1"/>
                <p:nvPr/>
              </p:nvSpPr>
              <p:spPr>
                <a:xfrm>
                  <a:off x="23822666" y="30181392"/>
                  <a:ext cx="505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20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E3C9A62-C76F-1041-B055-E2304EC80EB4}"/>
                    </a:ext>
                  </a:extLst>
                </p:cNvPr>
                <p:cNvSpPr txBox="1"/>
                <p:nvPr/>
              </p:nvSpPr>
              <p:spPr>
                <a:xfrm>
                  <a:off x="27974735" y="30181392"/>
                  <a:ext cx="5051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60</a:t>
                  </a:r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BA07AC-5E67-7848-9F24-BE968F5514E2}"/>
                  </a:ext>
                </a:extLst>
              </p:cNvPr>
              <p:cNvSpPr txBox="1"/>
              <p:nvPr/>
            </p:nvSpPr>
            <p:spPr>
              <a:xfrm rot="16200000">
                <a:off x="21699109" y="26614219"/>
                <a:ext cx="342062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Friend (Reciprocate &gt; Defect) &gt; Computer (Reciprocate &gt; Defect)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5CE9A9-886F-5747-B508-B31965E7B11B}"/>
                </a:ext>
              </a:extLst>
            </p:cNvPr>
            <p:cNvSpPr/>
            <p:nvPr/>
          </p:nvSpPr>
          <p:spPr bwMode="auto">
            <a:xfrm>
              <a:off x="23891921" y="24154307"/>
              <a:ext cx="5627696" cy="5921353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205221-E6BB-984A-80FC-B768489ECF10}"/>
              </a:ext>
            </a:extLst>
          </p:cNvPr>
          <p:cNvGrpSpPr/>
          <p:nvPr/>
        </p:nvGrpSpPr>
        <p:grpSpPr>
          <a:xfrm>
            <a:off x="27234750" y="13488174"/>
            <a:ext cx="6532972" cy="6817128"/>
            <a:chOff x="16026704" y="24108846"/>
            <a:chExt cx="6532972" cy="6817128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B0433B2-F60B-4A4E-9F6A-D5A3E2F8F7FF}"/>
                </a:ext>
              </a:extLst>
            </p:cNvPr>
            <p:cNvGrpSpPr/>
            <p:nvPr/>
          </p:nvGrpSpPr>
          <p:grpSpPr>
            <a:xfrm>
              <a:off x="16026704" y="24108846"/>
              <a:ext cx="6532972" cy="6817128"/>
              <a:chOff x="16026704" y="24108846"/>
              <a:chExt cx="6532972" cy="6817128"/>
            </a:xfrm>
          </p:grpSpPr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CFB3CE83-290B-E54C-965D-A1F022D2AD5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l="10756" t="6660" r="2865" b="7584"/>
              <a:stretch/>
            </p:blipFill>
            <p:spPr>
              <a:xfrm>
                <a:off x="16651056" y="24108846"/>
                <a:ext cx="5908620" cy="6083352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9C31EF0-D61A-AC42-80D7-E4C2C70A86DD}"/>
                  </a:ext>
                </a:extLst>
              </p:cNvPr>
              <p:cNvSpPr txBox="1"/>
              <p:nvPr/>
            </p:nvSpPr>
            <p:spPr>
              <a:xfrm>
                <a:off x="18654011" y="30218088"/>
                <a:ext cx="109677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ABAA111-FF13-5A4A-B69C-A3BEF7F2C2B3}"/>
                  </a:ext>
                </a:extLst>
              </p:cNvPr>
              <p:cNvSpPr txBox="1"/>
              <p:nvPr/>
            </p:nvSpPr>
            <p:spPr>
              <a:xfrm rot="16200000">
                <a:off x="14608848" y="26568394"/>
                <a:ext cx="3420629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Friend (Reciprocate &gt; Defect) &gt; Stranger (Reciprocate &gt; Defect)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6916F5A-8012-EA4D-BA81-C47464F545AD}"/>
                  </a:ext>
                </a:extLst>
              </p:cNvPr>
              <p:cNvSpPr txBox="1"/>
              <p:nvPr/>
            </p:nvSpPr>
            <p:spPr>
              <a:xfrm>
                <a:off x="16115961" y="24411311"/>
                <a:ext cx="651983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DC5619E-A9D2-A346-9083-0B1EA81D8AF9}"/>
                  </a:ext>
                </a:extLst>
              </p:cNvPr>
              <p:cNvSpPr txBox="1"/>
              <p:nvPr/>
            </p:nvSpPr>
            <p:spPr>
              <a:xfrm>
                <a:off x="16026704" y="28875791"/>
                <a:ext cx="740088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F936398-21FA-9248-BA6E-155315401154}"/>
                  </a:ext>
                </a:extLst>
              </p:cNvPr>
              <p:cNvSpPr txBox="1"/>
              <p:nvPr/>
            </p:nvSpPr>
            <p:spPr>
              <a:xfrm>
                <a:off x="16666083" y="30175865"/>
                <a:ext cx="505139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C84EDFF-F84E-1940-8B80-DC8DAD1049BE}"/>
                  </a:ext>
                </a:extLst>
              </p:cNvPr>
              <p:cNvSpPr txBox="1"/>
              <p:nvPr/>
            </p:nvSpPr>
            <p:spPr>
              <a:xfrm>
                <a:off x="20818152" y="30175865"/>
                <a:ext cx="505139" cy="424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7323B76-BAFB-8D40-86EB-D23726D85EA0}"/>
                </a:ext>
              </a:extLst>
            </p:cNvPr>
            <p:cNvSpPr/>
            <p:nvPr/>
          </p:nvSpPr>
          <p:spPr bwMode="auto">
            <a:xfrm>
              <a:off x="16871673" y="24149410"/>
              <a:ext cx="5627696" cy="5921353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3894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018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62">
            <a:extLst>
              <a:ext uri="{FF2B5EF4-FFF2-40B4-BE49-F238E27FC236}">
                <a16:creationId xmlns:a16="http://schemas.microsoft.com/office/drawing/2014/main" id="{F85C8D55-E7D1-1411-7315-1807B9914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0883" y="14071787"/>
            <a:ext cx="14827930" cy="18612720"/>
          </a:xfrm>
          <a:prstGeom prst="rect">
            <a:avLst/>
          </a:prstGeom>
          <a:noFill/>
          <a:ln w="762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274" tIns="40638" rIns="81274" bIns="40638" anchor="ctr"/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sz="1245">
              <a:latin typeface="Trebuchet MS" panose="020B0603020202020204" pitchFamily="34" charset="0"/>
            </a:endParaRPr>
          </a:p>
        </p:txBody>
      </p:sp>
      <p:sp>
        <p:nvSpPr>
          <p:cNvPr id="81" name="TextBox 86">
            <a:extLst>
              <a:ext uri="{FF2B5EF4-FFF2-40B4-BE49-F238E27FC236}">
                <a16:creationId xmlns:a16="http://schemas.microsoft.com/office/drawing/2014/main" id="{4AA4023A-FE9C-8A8F-DAD7-839D36EF1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92340" y="13743817"/>
            <a:ext cx="10223153" cy="14003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4250" b="1" dirty="0">
                <a:solidFill>
                  <a:srgbClr val="C00000"/>
                </a:solidFill>
                <a:latin typeface="Trebuchet MS"/>
                <a:ea typeface="MS PGothic"/>
              </a:rPr>
              <a:t>4. Ventral Striatal Activation Is not Associated with Age </a:t>
            </a:r>
            <a:endParaRPr lang="en-US" altLang="en-US" sz="4267" b="1" dirty="0">
              <a:solidFill>
                <a:srgbClr val="C00000"/>
              </a:solidFill>
              <a:latin typeface="Trebuchet MS" panose="020B0603020202020204" pitchFamily="34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2374AF7-01C1-54D1-AF5E-5E845D42E41B}"/>
              </a:ext>
            </a:extLst>
          </p:cNvPr>
          <p:cNvSpPr/>
          <p:nvPr/>
        </p:nvSpPr>
        <p:spPr>
          <a:xfrm>
            <a:off x="15753891" y="15011657"/>
            <a:ext cx="14650695" cy="5847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3200" i="1" dirty="0">
                <a:latin typeface="Helvetica"/>
                <a:ea typeface="MS PGothic"/>
                <a:cs typeface="Helvetica"/>
              </a:rPr>
              <a:t>We found Ventral Striatum (VS) activation for Reciprocate &gt; Defect outcomes</a:t>
            </a:r>
            <a:endParaRPr lang="en-US" sz="3200" i="1" dirty="0">
              <a:cs typeface="Helvetica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B87F1C-C65B-2365-C691-F84E272B2128}"/>
              </a:ext>
            </a:extLst>
          </p:cNvPr>
          <p:cNvSpPr txBox="1"/>
          <p:nvPr/>
        </p:nvSpPr>
        <p:spPr>
          <a:xfrm>
            <a:off x="15470883" y="23756535"/>
            <a:ext cx="14650695" cy="1077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altLang="en-US" sz="3200" dirty="0">
                <a:latin typeface="Helvetica"/>
                <a:ea typeface="MS PGothic"/>
              </a:rPr>
              <a:t>We found activation in the VS when participants were presented with a reciprocate outcome as opposed to a defect outcome.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DE505BC-359F-2B64-7BF5-86249E8BC13F}"/>
              </a:ext>
            </a:extLst>
          </p:cNvPr>
          <p:cNvGrpSpPr/>
          <p:nvPr/>
        </p:nvGrpSpPr>
        <p:grpSpPr>
          <a:xfrm>
            <a:off x="16413362" y="16845193"/>
            <a:ext cx="6012596" cy="5359483"/>
            <a:chOff x="14976740" y="15406812"/>
            <a:chExt cx="6810930" cy="6071098"/>
          </a:xfrm>
        </p:grpSpPr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8CF128A2-7337-58D4-4F0F-518CE4ACA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705594" y="15406812"/>
              <a:ext cx="6082076" cy="6071098"/>
            </a:xfrm>
            <a:prstGeom prst="rect">
              <a:avLst/>
            </a:prstGeom>
          </p:spPr>
        </p:pic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8F892C7-F6CA-BE50-D63E-C9CEF7BBEA28}"/>
                </a:ext>
              </a:extLst>
            </p:cNvPr>
            <p:cNvSpPr txBox="1"/>
            <p:nvPr/>
          </p:nvSpPr>
          <p:spPr>
            <a:xfrm>
              <a:off x="14986107" y="20885189"/>
              <a:ext cx="113319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latin typeface="Helvetica"/>
                  <a:ea typeface="MS PGothic"/>
                </a:rPr>
                <a:t>VS</a:t>
              </a:r>
              <a:endParaRPr lang="en-US" sz="3200" b="1" dirty="0">
                <a:latin typeface="Helvetica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BCFA7F6-6616-FD53-A415-FA1DC4F386A1}"/>
                </a:ext>
              </a:extLst>
            </p:cNvPr>
            <p:cNvSpPr txBox="1"/>
            <p:nvPr/>
          </p:nvSpPr>
          <p:spPr>
            <a:xfrm>
              <a:off x="14976740" y="15690149"/>
              <a:ext cx="1400615" cy="1289976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n-US" sz="4000" dirty="0">
                  <a:latin typeface="Helvetica"/>
                  <a:ea typeface="MS PGothic"/>
                </a:rPr>
                <a:t>Y=9</a:t>
              </a:r>
            </a:p>
            <a:p>
              <a:pPr algn="ctr"/>
              <a:endParaRPr lang="en-US" sz="2800" dirty="0">
                <a:latin typeface="Helvetica"/>
              </a:endParaRP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A569D325-14D6-3FBA-46F9-0533E45EEBA2}"/>
              </a:ext>
            </a:extLst>
          </p:cNvPr>
          <p:cNvSpPr txBox="1"/>
          <p:nvPr/>
        </p:nvSpPr>
        <p:spPr>
          <a:xfrm>
            <a:off x="18209595" y="31314065"/>
            <a:ext cx="985526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We found that activation in the VS was not related to age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0A3D42-2685-DD83-F550-6D419DE0CEA4}"/>
              </a:ext>
            </a:extLst>
          </p:cNvPr>
          <p:cNvGrpSpPr/>
          <p:nvPr/>
        </p:nvGrpSpPr>
        <p:grpSpPr>
          <a:xfrm>
            <a:off x="25203363" y="25624464"/>
            <a:ext cx="4662175" cy="5381809"/>
            <a:chOff x="23611670" y="15386915"/>
            <a:chExt cx="5877242" cy="6288526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B07F237-2D1D-AA5C-4846-56948C9E0ECF}"/>
                </a:ext>
              </a:extLst>
            </p:cNvPr>
            <p:cNvGrpSpPr/>
            <p:nvPr/>
          </p:nvGrpSpPr>
          <p:grpSpPr>
            <a:xfrm>
              <a:off x="23722773" y="15386915"/>
              <a:ext cx="5766139" cy="6288526"/>
              <a:chOff x="23722773" y="15386915"/>
              <a:chExt cx="5766139" cy="6288526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66B512C-6DEA-DDC7-23FB-35CCDB864537}"/>
                  </a:ext>
                </a:extLst>
              </p:cNvPr>
              <p:cNvSpPr/>
              <p:nvPr/>
            </p:nvSpPr>
            <p:spPr bwMode="auto">
              <a:xfrm>
                <a:off x="24280009" y="15747147"/>
                <a:ext cx="5109967" cy="521382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F6ECB501-C792-BAA1-2CC5-9DE81B55F030}"/>
                  </a:ext>
                </a:extLst>
              </p:cNvPr>
              <p:cNvGrpSpPr/>
              <p:nvPr/>
            </p:nvGrpSpPr>
            <p:grpSpPr>
              <a:xfrm>
                <a:off x="23722773" y="15386915"/>
                <a:ext cx="5766139" cy="6288526"/>
                <a:chOff x="23722773" y="15386915"/>
                <a:chExt cx="5766139" cy="6288526"/>
              </a:xfrm>
            </p:grpSpPr>
            <p:pic>
              <p:nvPicPr>
                <p:cNvPr id="97" name="Graphic 96">
                  <a:extLst>
                    <a:ext uri="{FF2B5EF4-FFF2-40B4-BE49-F238E27FC236}">
                      <a16:creationId xmlns:a16="http://schemas.microsoft.com/office/drawing/2014/main" id="{43C9306F-2C03-A2C8-4848-B619109DAA6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l="10234" b="7938"/>
                <a:stretch/>
              </p:blipFill>
              <p:spPr>
                <a:xfrm>
                  <a:off x="24165170" y="15386915"/>
                  <a:ext cx="5323742" cy="5662134"/>
                </a:xfrm>
                <a:prstGeom prst="rect">
                  <a:avLst/>
                </a:prstGeom>
              </p:spPr>
            </p:pic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DF1AC5B5-014D-8A7A-6881-70B646DCADDF}"/>
                    </a:ext>
                  </a:extLst>
                </p:cNvPr>
                <p:cNvSpPr txBox="1"/>
                <p:nvPr/>
              </p:nvSpPr>
              <p:spPr>
                <a:xfrm>
                  <a:off x="25887039" y="21058834"/>
                  <a:ext cx="957831" cy="6166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000" dirty="0"/>
                    <a:t>Age</a:t>
                  </a:r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E01277E7-C84C-A41A-2386-24226DEDA212}"/>
                    </a:ext>
                  </a:extLst>
                </p:cNvPr>
                <p:cNvSpPr txBox="1"/>
                <p:nvPr/>
              </p:nvSpPr>
              <p:spPr>
                <a:xfrm rot="16200000">
                  <a:off x="22764974" y="18383871"/>
                  <a:ext cx="2322987" cy="4073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500" dirty="0"/>
                    <a:t>Reciprocate &gt; Defect</a:t>
                  </a:r>
                </a:p>
              </p:txBody>
            </p:sp>
          </p:grp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2297617-5CA2-19EC-AC1C-E6A5EBEB3DA3}"/>
                </a:ext>
              </a:extLst>
            </p:cNvPr>
            <p:cNvSpPr txBox="1"/>
            <p:nvPr/>
          </p:nvSpPr>
          <p:spPr>
            <a:xfrm>
              <a:off x="23666606" y="16454726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400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6A708FA-10E2-460A-AE78-BE3AAF25F2B4}"/>
                </a:ext>
              </a:extLst>
            </p:cNvPr>
            <p:cNvSpPr txBox="1"/>
            <p:nvPr/>
          </p:nvSpPr>
          <p:spPr>
            <a:xfrm>
              <a:off x="23611670" y="20489922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-200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3D91668E-A7C9-DBD7-3DF8-EF6C30111537}"/>
                </a:ext>
              </a:extLst>
            </p:cNvPr>
            <p:cNvSpPr txBox="1"/>
            <p:nvPr/>
          </p:nvSpPr>
          <p:spPr>
            <a:xfrm>
              <a:off x="24150950" y="2102205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C03A6CC-92ED-1BA3-D06A-54B62448CA2B}"/>
                </a:ext>
              </a:extLst>
            </p:cNvPr>
            <p:cNvSpPr txBox="1"/>
            <p:nvPr/>
          </p:nvSpPr>
          <p:spPr>
            <a:xfrm>
              <a:off x="27777018" y="2102205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C529997-E613-6FA5-A7DF-DF57A82C0094}"/>
              </a:ext>
            </a:extLst>
          </p:cNvPr>
          <p:cNvGrpSpPr/>
          <p:nvPr/>
        </p:nvGrpSpPr>
        <p:grpSpPr>
          <a:xfrm>
            <a:off x="15648945" y="26169771"/>
            <a:ext cx="4327314" cy="4753042"/>
            <a:chOff x="16026704" y="24076052"/>
            <a:chExt cx="6621599" cy="6849922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C0CE68F0-AF14-6656-57CF-FFBB06F2924C}"/>
                </a:ext>
              </a:extLst>
            </p:cNvPr>
            <p:cNvGrpSpPr/>
            <p:nvPr/>
          </p:nvGrpSpPr>
          <p:grpSpPr>
            <a:xfrm>
              <a:off x="16651056" y="24076052"/>
              <a:ext cx="5997247" cy="6116146"/>
              <a:chOff x="16298215" y="23901746"/>
              <a:chExt cx="5444618" cy="5552561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765E8AC-BEF2-0C10-2C08-A7AA533B4CC4}"/>
                  </a:ext>
                </a:extLst>
              </p:cNvPr>
              <p:cNvSpPr/>
              <p:nvPr/>
            </p:nvSpPr>
            <p:spPr bwMode="auto">
              <a:xfrm>
                <a:off x="16404332" y="23901746"/>
                <a:ext cx="5338501" cy="546115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4389438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cs typeface="Arial" charset="0"/>
                </a:endParaRPr>
              </a:p>
            </p:txBody>
          </p:sp>
          <p:pic>
            <p:nvPicPr>
              <p:cNvPr id="109" name="Graphic 108">
                <a:extLst>
                  <a:ext uri="{FF2B5EF4-FFF2-40B4-BE49-F238E27FC236}">
                    <a16:creationId xmlns:a16="http://schemas.microsoft.com/office/drawing/2014/main" id="{F3F0E9D3-8D47-FE8D-3B18-3A8FE90E5C5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 l="10756" t="6660" r="2865" b="7584"/>
              <a:stretch/>
            </p:blipFill>
            <p:spPr>
              <a:xfrm>
                <a:off x="16298215" y="23931518"/>
                <a:ext cx="5364158" cy="5522789"/>
              </a:xfrm>
              <a:prstGeom prst="rect">
                <a:avLst/>
              </a:prstGeom>
            </p:spPr>
          </p:pic>
        </p:grp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D665922-354B-5F7B-52DE-B5A9E06AF3C3}"/>
                </a:ext>
              </a:extLst>
            </p:cNvPr>
            <p:cNvSpPr txBox="1"/>
            <p:nvPr/>
          </p:nvSpPr>
          <p:spPr>
            <a:xfrm>
              <a:off x="18654011" y="30218088"/>
              <a:ext cx="109677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Age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E4CE376-1456-3558-63EF-76F2B29FCC9C}"/>
                </a:ext>
              </a:extLst>
            </p:cNvPr>
            <p:cNvSpPr txBox="1"/>
            <p:nvPr/>
          </p:nvSpPr>
          <p:spPr>
            <a:xfrm rot="16200000">
              <a:off x="14608848" y="26568394"/>
              <a:ext cx="34206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Friend (Reciprocate &gt; Defect) &gt; Stranger (Reciprocate &gt; Defect)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E3A315D-C5AE-B382-C760-332506165832}"/>
                </a:ext>
              </a:extLst>
            </p:cNvPr>
            <p:cNvSpPr txBox="1"/>
            <p:nvPr/>
          </p:nvSpPr>
          <p:spPr>
            <a:xfrm>
              <a:off x="16115961" y="24411311"/>
              <a:ext cx="651983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400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3A14E67-238A-82CF-0752-574EAE3C7987}"/>
                </a:ext>
              </a:extLst>
            </p:cNvPr>
            <p:cNvSpPr txBox="1"/>
            <p:nvPr/>
          </p:nvSpPr>
          <p:spPr>
            <a:xfrm>
              <a:off x="16026704" y="28875791"/>
              <a:ext cx="740088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-200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6A6E8B3-1BEE-12B6-2F1C-7AF1856CBDE9}"/>
                </a:ext>
              </a:extLst>
            </p:cNvPr>
            <p:cNvSpPr txBox="1"/>
            <p:nvPr/>
          </p:nvSpPr>
          <p:spPr>
            <a:xfrm>
              <a:off x="16666083" y="30175865"/>
              <a:ext cx="505139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132BEBEC-04E3-AC3D-CE24-FB42999CD2B3}"/>
                </a:ext>
              </a:extLst>
            </p:cNvPr>
            <p:cNvSpPr txBox="1"/>
            <p:nvPr/>
          </p:nvSpPr>
          <p:spPr>
            <a:xfrm>
              <a:off x="20818152" y="30175865"/>
              <a:ext cx="505139" cy="424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60</a:t>
              </a: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AD1EF36-AA4E-A44B-D919-824BBFDA4A0C}"/>
              </a:ext>
            </a:extLst>
          </p:cNvPr>
          <p:cNvGrpSpPr/>
          <p:nvPr/>
        </p:nvGrpSpPr>
        <p:grpSpPr>
          <a:xfrm>
            <a:off x="20253272" y="25944605"/>
            <a:ext cx="4649725" cy="5094016"/>
            <a:chOff x="23087465" y="23975816"/>
            <a:chExt cx="6623276" cy="7256145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1DEAB958-C111-9F02-623D-071183F50D19}"/>
                </a:ext>
              </a:extLst>
            </p:cNvPr>
            <p:cNvGrpSpPr/>
            <p:nvPr/>
          </p:nvGrpSpPr>
          <p:grpSpPr>
            <a:xfrm>
              <a:off x="23087465" y="23975816"/>
              <a:ext cx="6623276" cy="7256145"/>
              <a:chOff x="23087465" y="23975816"/>
              <a:chExt cx="6623276" cy="7256145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8534103F-0EA0-62CC-7520-621D0FE2C856}"/>
                  </a:ext>
                </a:extLst>
              </p:cNvPr>
              <p:cNvGrpSpPr/>
              <p:nvPr/>
            </p:nvGrpSpPr>
            <p:grpSpPr>
              <a:xfrm>
                <a:off x="23723984" y="23975816"/>
                <a:ext cx="5986757" cy="6200049"/>
                <a:chOff x="22850799" y="23722813"/>
                <a:chExt cx="6404865" cy="6633053"/>
              </a:xfrm>
            </p:grpSpPr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08F19C4F-7188-5689-67D2-5A26E5430A88}"/>
                    </a:ext>
                  </a:extLst>
                </p:cNvPr>
                <p:cNvSpPr/>
                <p:nvPr/>
              </p:nvSpPr>
              <p:spPr bwMode="auto">
                <a:xfrm>
                  <a:off x="22910829" y="23794038"/>
                  <a:ext cx="6344835" cy="6490605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4389438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cs typeface="Arial" charset="0"/>
                  </a:endParaRPr>
                </a:p>
              </p:txBody>
            </p:sp>
            <p:pic>
              <p:nvPicPr>
                <p:cNvPr id="120" name="Graphic 119">
                  <a:extLst>
                    <a:ext uri="{FF2B5EF4-FFF2-40B4-BE49-F238E27FC236}">
                      <a16:creationId xmlns:a16="http://schemas.microsoft.com/office/drawing/2014/main" id="{939A497A-8EAF-4E1B-2E8E-15CA0621CB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 l="10991" t="5046" r="3126" b="7756"/>
                <a:stretch/>
              </p:blipFill>
              <p:spPr>
                <a:xfrm>
                  <a:off x="22850799" y="23722813"/>
                  <a:ext cx="6299716" cy="6633053"/>
                </a:xfrm>
                <a:prstGeom prst="rect">
                  <a:avLst/>
                </a:prstGeom>
              </p:spPr>
            </p:pic>
          </p:grp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3D1524EC-D92B-8FA3-D8A6-098201DDCA0F}"/>
                  </a:ext>
                </a:extLst>
              </p:cNvPr>
              <p:cNvSpPr txBox="1"/>
              <p:nvPr/>
            </p:nvSpPr>
            <p:spPr>
              <a:xfrm>
                <a:off x="25810593" y="30223616"/>
                <a:ext cx="2418355" cy="10083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dirty="0"/>
                  <a:t>Age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0DC9BEAD-E103-68DA-5790-185983E037AD}"/>
                  </a:ext>
                </a:extLst>
              </p:cNvPr>
              <p:cNvSpPr txBox="1"/>
              <p:nvPr/>
            </p:nvSpPr>
            <p:spPr>
              <a:xfrm>
                <a:off x="23166754" y="24615337"/>
                <a:ext cx="6519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400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EB83C2D-A0BE-8C30-A945-0F86106E2CDC}"/>
                  </a:ext>
                </a:extLst>
              </p:cNvPr>
              <p:cNvSpPr txBox="1"/>
              <p:nvPr/>
            </p:nvSpPr>
            <p:spPr>
              <a:xfrm>
                <a:off x="23087465" y="28711327"/>
                <a:ext cx="7400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-200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218FC39E-578D-0D68-C88D-76EE001D6E18}"/>
                  </a:ext>
                </a:extLst>
              </p:cNvPr>
              <p:cNvSpPr txBox="1"/>
              <p:nvPr/>
            </p:nvSpPr>
            <p:spPr>
              <a:xfrm>
                <a:off x="23822666" y="30181392"/>
                <a:ext cx="505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20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DE6319DE-0316-C93F-9818-3984FE3B0383}"/>
                  </a:ext>
                </a:extLst>
              </p:cNvPr>
              <p:cNvSpPr txBox="1"/>
              <p:nvPr/>
            </p:nvSpPr>
            <p:spPr>
              <a:xfrm>
                <a:off x="27974735" y="30181392"/>
                <a:ext cx="5051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60</a:t>
                </a: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9F44120-45BB-E9BC-5BC4-EAAC98EBCF93}"/>
                </a:ext>
              </a:extLst>
            </p:cNvPr>
            <p:cNvSpPr txBox="1"/>
            <p:nvPr/>
          </p:nvSpPr>
          <p:spPr>
            <a:xfrm rot="16200000">
              <a:off x="21699109" y="26614219"/>
              <a:ext cx="342062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dirty="0"/>
                <a:t>Friend (Reciprocate &gt; Defect) &gt; Computer (Reciprocate &gt; Defect)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707521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E0AC601CE7945A16C28BE7D604718" ma:contentTypeVersion="16" ma:contentTypeDescription="Create a new document." ma:contentTypeScope="" ma:versionID="7200742d51933ad5859751156d985908">
  <xsd:schema xmlns:xsd="http://www.w3.org/2001/XMLSchema" xmlns:xs="http://www.w3.org/2001/XMLSchema" xmlns:p="http://schemas.microsoft.com/office/2006/metadata/properties" xmlns:ns2="068132b6-27af-4cc5-9624-46e0bc309f9c" xmlns:ns3="1ec1d487-840c-40ff-aca1-00ff13008544" targetNamespace="http://schemas.microsoft.com/office/2006/metadata/properties" ma:root="true" ma:fieldsID="ef3bb859774f4d5f12e6e11e5f5551df" ns2:_="" ns3:_="">
    <xsd:import namespace="068132b6-27af-4cc5-9624-46e0bc309f9c"/>
    <xsd:import namespace="1ec1d487-840c-40ff-aca1-00ff130085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8132b6-27af-4cc5-9624-46e0bc309f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6aeeafc-10b8-45d8-a1af-5ed376f9e15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1d487-840c-40ff-aca1-00ff1300854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585dd9d-b35f-48e0-ab88-fcb6ff0e764c}" ma:internalName="TaxCatchAll" ma:showField="CatchAllData" ma:web="1ec1d487-840c-40ff-aca1-00ff130085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138A07-987C-4A73-AAED-022482DDD0A4}">
  <ds:schemaRefs>
    <ds:schemaRef ds:uri="068132b6-27af-4cc5-9624-46e0bc309f9c"/>
    <ds:schemaRef ds:uri="1ec1d487-840c-40ff-aca1-00ff130085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5CAE7E8-1A3A-4A91-86FB-BA9E176234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16750</TotalTime>
  <Words>876</Words>
  <Application>Microsoft Macintosh PowerPoint</Application>
  <PresentationFormat>Custom</PresentationFormat>
  <Paragraphs>147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Helvetica</vt:lpstr>
      <vt:lpstr>Trebuchet MS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DVS</dc:creator>
  <cp:lastModifiedBy>Avi Dachs</cp:lastModifiedBy>
  <cp:revision>45</cp:revision>
  <cp:lastPrinted>2023-11-10T05:05:03Z</cp:lastPrinted>
  <dcterms:created xsi:type="dcterms:W3CDTF">2007-10-30T17:33:32Z</dcterms:created>
  <dcterms:modified xsi:type="dcterms:W3CDTF">2023-11-10T18:43:00Z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