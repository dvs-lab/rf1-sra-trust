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handoutMasterIdLst>
    <p:handoutMasterId r:id="rId11"/>
  </p:handoutMasterIdLst>
  <p:sldIdLst>
    <p:sldId id="256" r:id="rId4"/>
    <p:sldId id="263" r:id="rId5"/>
    <p:sldId id="257" r:id="rId6"/>
    <p:sldId id="262" r:id="rId7"/>
    <p:sldId id="260" r:id="rId8"/>
    <p:sldId id="261" r:id="rId9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8"/>
    <p:restoredTop sz="94648"/>
  </p:normalViewPr>
  <p:slideViewPr>
    <p:cSldViewPr snapToGrid="0">
      <p:cViewPr>
        <p:scale>
          <a:sx n="30" d="100"/>
          <a:sy n="30" d="100"/>
        </p:scale>
        <p:origin x="1368" y="144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2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Pre-registration!</a:t>
              </a:r>
              <a:endParaRPr lang="en-US" sz="32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498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596" y="9947378"/>
              <a:ext cx="14639262" cy="178779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if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15060" y="24296198"/>
            <a:ext cx="6020086" cy="6220157"/>
            <a:chOff x="14968255" y="15406812"/>
            <a:chExt cx="6819415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706860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32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You are given </a:t>
              </a:r>
              <a:r>
                <a:rPr lang="en-US" sz="3500" b="1" dirty="0"/>
                <a:t>$8</a:t>
              </a:r>
              <a:r>
                <a:rPr lang="en-US" sz="3500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146890" cy="4559047"/>
              <a:chOff x="23697980" y="17116394"/>
              <a:chExt cx="3146890" cy="455904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72" y="5961910"/>
            <a:ext cx="7128218" cy="6316591"/>
            <a:chOff x="37564868" y="7096319"/>
            <a:chExt cx="5452955" cy="5130850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72212" y="7096319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569990" y="1170612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701558" y="20637420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2153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7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rcRect l="18919" t="11022" r="3480" b="15715"/>
          <a:stretch/>
        </p:blipFill>
        <p:spPr>
          <a:xfrm>
            <a:off x="36325224" y="5727924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04378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7"/>
              <a:ext cx="4003957" cy="4456527"/>
              <a:chOff x="30175830" y="13427301"/>
              <a:chExt cx="6887851" cy="8283820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3850" y="20109250"/>
                <a:ext cx="5622817" cy="16018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Helvetica"/>
                  </a:rPr>
                  <a:t>Medial Prefrontal Cortex</a:t>
                </a:r>
              </a:p>
              <a:p>
                <a:r>
                  <a:rPr lang="en-US" sz="3200" b="1" dirty="0">
                    <a:latin typeface="Helvetica"/>
                  </a:rPr>
                  <a:t>(</a:t>
                </a:r>
                <a:r>
                  <a:rPr lang="en-US" sz="3200" b="1" dirty="0" err="1">
                    <a:latin typeface="Helvetica"/>
                  </a:rPr>
                  <a:t>mPFC</a:t>
                </a:r>
                <a:r>
                  <a:rPr lang="en-US" sz="3200" b="1" dirty="0">
                    <a:latin typeface="Helvetica"/>
                  </a:rPr>
                  <a:t>)</a:t>
                </a: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93691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5237985" y="8187916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2078302" y="28890985"/>
            <a:ext cx="2276038" cy="1215276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47574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Scan the QR code to see the</a:t>
              </a:r>
              <a:endParaRPr lang="en-US" sz="2000" b="1" dirty="0"/>
            </a:p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Pre-registration!</a:t>
              </a:r>
              <a:endParaRPr lang="en-US" sz="20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403" y="25932577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511210" y="30206766"/>
            <a:ext cx="14212155" cy="206210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ventral striatum (VS) when participants were presented with a reciprocate outcome as opposed to a defect outcome, however, there was no significant association with age for any condition (Friend &gt; Stranger and Friend &gt; Computer).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576764" y="23993601"/>
            <a:ext cx="5429343" cy="4910419"/>
            <a:chOff x="14636639" y="15406812"/>
            <a:chExt cx="7151031" cy="646888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5228734" y="21105322"/>
              <a:ext cx="1193324" cy="770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Helvetica"/>
                  <a:ea typeface="MS PGothic"/>
                </a:rPr>
                <a:t>VS</a:t>
              </a:r>
              <a:endParaRPr lang="en-US" sz="3200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636639" y="15690148"/>
              <a:ext cx="2222101" cy="133801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3200" dirty="0">
                  <a:latin typeface="Helvetica"/>
                  <a:ea typeface="MS PGothic"/>
                </a:rPr>
                <a:t>Y= 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892503" y="25333818"/>
            <a:ext cx="12496564" cy="645304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activation of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 increased,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decreased,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during the processing of social outcomes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as a function of age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examine how neural and behavioral responses to trust are associated with risk for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283673" y="4727486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modulate our neural responses to reward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change as we age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2022; Cassidy et al., 2020).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48830" y="25816008"/>
            <a:ext cx="11690573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We used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 to measure closeness ratings and risk for financial exploitation.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fMRI data were preprocessed with </a:t>
            </a:r>
            <a:r>
              <a:rPr lang="en-US" sz="3200" dirty="0" err="1">
                <a:effectLst/>
                <a:latin typeface="Helvetica"/>
                <a:ea typeface="MS PGothic"/>
                <a:cs typeface="Helvetica"/>
              </a:rPr>
              <a:t>fMRIprep</a:t>
            </a: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 and statistical analyses were performed using FSL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97735" y="8562924"/>
              <a:ext cx="805531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7943587" y="8561101"/>
              <a:ext cx="1048955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99843" y="8562985"/>
              <a:ext cx="1183852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Computer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8C18AD7-82F0-2340-9AF5-4FA312159648}"/>
              </a:ext>
            </a:extLst>
          </p:cNvPr>
          <p:cNvGrpSpPr/>
          <p:nvPr/>
        </p:nvGrpSpPr>
        <p:grpSpPr>
          <a:xfrm>
            <a:off x="597367" y="15567382"/>
            <a:ext cx="13063327" cy="9292257"/>
            <a:chOff x="572915" y="16098706"/>
            <a:chExt cx="13946934" cy="1005675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E925EB6-326B-8343-87E7-5F037676B4C3}"/>
                </a:ext>
              </a:extLst>
            </p:cNvPr>
            <p:cNvGrpSpPr/>
            <p:nvPr/>
          </p:nvGrpSpPr>
          <p:grpSpPr>
            <a:xfrm>
              <a:off x="572915" y="16098706"/>
              <a:ext cx="13946934" cy="10056750"/>
              <a:chOff x="530502" y="15989696"/>
              <a:chExt cx="13946934" cy="10056750"/>
            </a:xfrm>
          </p:grpSpPr>
          <p:grpSp>
            <p:nvGrpSpPr>
              <p:cNvPr id="15621" name="Group 15620">
                <a:extLst>
                  <a:ext uri="{FF2B5EF4-FFF2-40B4-BE49-F238E27FC236}">
                    <a16:creationId xmlns:a16="http://schemas.microsoft.com/office/drawing/2014/main" id="{5C45E275-5A15-8C98-B9C5-16C75C23860A}"/>
                  </a:ext>
                </a:extLst>
              </p:cNvPr>
              <p:cNvGrpSpPr/>
              <p:nvPr/>
            </p:nvGrpSpPr>
            <p:grpSpPr>
              <a:xfrm>
                <a:off x="3779671" y="15989696"/>
                <a:ext cx="10697765" cy="10056750"/>
                <a:chOff x="3779671" y="16218296"/>
                <a:chExt cx="10697765" cy="10056750"/>
              </a:xfrm>
            </p:grpSpPr>
            <p:grpSp>
              <p:nvGrpSpPr>
                <p:cNvPr id="15606" name="Group 15605">
                  <a:extLst>
                    <a:ext uri="{FF2B5EF4-FFF2-40B4-BE49-F238E27FC236}">
                      <a16:creationId xmlns:a16="http://schemas.microsoft.com/office/drawing/2014/main" id="{B0CC5957-EC01-CDC2-ADAF-5A0141831C57}"/>
                    </a:ext>
                  </a:extLst>
                </p:cNvPr>
                <p:cNvGrpSpPr/>
                <p:nvPr/>
              </p:nvGrpSpPr>
              <p:grpSpPr>
                <a:xfrm>
                  <a:off x="3779671" y="16218296"/>
                  <a:ext cx="10697765" cy="10056750"/>
                  <a:chOff x="18887859" y="360968"/>
                  <a:chExt cx="6543891" cy="6151778"/>
                </a:xfrm>
              </p:grpSpPr>
              <p:pic>
                <p:nvPicPr>
                  <p:cNvPr id="15607" name="Picture 15606" descr="A green check mark on a grey background&#10;&#10;Description automatically generated">
                    <a:extLst>
                      <a:ext uri="{FF2B5EF4-FFF2-40B4-BE49-F238E27FC236}">
                        <a16:creationId xmlns:a16="http://schemas.microsoft.com/office/drawing/2014/main" id="{BFD42068-273C-19B5-B61E-D2752FACB1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7"/>
                  <a:srcRect l="14791" t="15087" r="12450" b="22936"/>
                  <a:stretch/>
                </p:blipFill>
                <p:spPr>
                  <a:xfrm>
                    <a:off x="19244972" y="4622666"/>
                    <a:ext cx="2991981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8" name="Picture 15607" descr="A computer screen shot&#10;&#10;Description automatically generated">
                    <a:extLst>
                      <a:ext uri="{FF2B5EF4-FFF2-40B4-BE49-F238E27FC236}">
                        <a16:creationId xmlns:a16="http://schemas.microsoft.com/office/drawing/2014/main" id="{7AF89E18-68CC-9284-01FB-59B8ECC6A7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8"/>
                  <a:srcRect l="17658" t="18357" r="18046" b="25816"/>
                  <a:stretch/>
                </p:blipFill>
                <p:spPr>
                  <a:xfrm>
                    <a:off x="22543408" y="4676154"/>
                    <a:ext cx="2888342" cy="1819031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9" name="Picture 15608" descr="A white cross on a gray background&#10;&#10;Description automatically generated">
                    <a:extLst>
                      <a:ext uri="{FF2B5EF4-FFF2-40B4-BE49-F238E27FC236}">
                        <a16:creationId xmlns:a16="http://schemas.microsoft.com/office/drawing/2014/main" id="{A316990F-59C7-631E-47E9-456D559048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9"/>
                  <a:srcRect l="2620" t="7420" r="2620" b="4981"/>
                  <a:stretch/>
                </p:blipFill>
                <p:spPr>
                  <a:xfrm>
                    <a:off x="20965957" y="2971697"/>
                    <a:ext cx="2848448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0" name="Picture 15609" descr="A grey background with white text&#10;&#10;Description automatically generated">
                    <a:extLst>
                      <a:ext uri="{FF2B5EF4-FFF2-40B4-BE49-F238E27FC236}">
                        <a16:creationId xmlns:a16="http://schemas.microsoft.com/office/drawing/2014/main" id="{E95A9EFF-122D-C651-FDF5-564B82E90BB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9926908" y="1639461"/>
                    <a:ext cx="2848448" cy="194382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1" name="Picture 15610" descr="A computer and a keyboard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BD10086D-C152-9AEB-CD34-13177C8F6D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1"/>
                  <a:srcRect l="2378" t="5420" r="2378" b="9853"/>
                  <a:stretch/>
                </p:blipFill>
                <p:spPr>
                  <a:xfrm>
                    <a:off x="18887859" y="360968"/>
                    <a:ext cx="2848448" cy="191943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grpSp>
                <p:nvGrpSpPr>
                  <p:cNvPr id="15612" name="Group 15611">
                    <a:extLst>
                      <a:ext uri="{FF2B5EF4-FFF2-40B4-BE49-F238E27FC236}">
                        <a16:creationId xmlns:a16="http://schemas.microsoft.com/office/drawing/2014/main" id="{60B2107B-4199-FD0C-4076-CA2B2F109B20}"/>
                      </a:ext>
                    </a:extLst>
                  </p:cNvPr>
                  <p:cNvGrpSpPr/>
                  <p:nvPr/>
                </p:nvGrpSpPr>
                <p:grpSpPr>
                  <a:xfrm>
                    <a:off x="22071524" y="360968"/>
                    <a:ext cx="3360226" cy="995434"/>
                    <a:chOff x="3514264" y="206684"/>
                    <a:chExt cx="3360226" cy="995434"/>
                  </a:xfrm>
                </p:grpSpPr>
                <p:pic>
                  <p:nvPicPr>
                    <p:cNvPr id="15613" name="Picture 15612">
                      <a:extLst>
                        <a:ext uri="{FF2B5EF4-FFF2-40B4-BE49-F238E27FC236}">
                          <a16:creationId xmlns:a16="http://schemas.microsoft.com/office/drawing/2014/main" id="{8F1F804F-2F4C-1C69-0ED4-456A517A34F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3514264" y="206684"/>
                      <a:ext cx="1027916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4" name="Picture 15613" descr="A grey square with a person's head&#10;&#10;Description automatically generated">
                      <a:extLst>
                        <a:ext uri="{FF2B5EF4-FFF2-40B4-BE49-F238E27FC236}">
                          <a16:creationId xmlns:a16="http://schemas.microsoft.com/office/drawing/2014/main" id="{2172C1AD-5BEC-2CFE-FCB3-472B60E2C22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4717835" y="206684"/>
                      <a:ext cx="982991" cy="995434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5" name="Picture 15614" descr="A person with a smile on his face&#10;&#10;Description automatically generated">
                      <a:extLst>
                        <a:ext uri="{FF2B5EF4-FFF2-40B4-BE49-F238E27FC236}">
                          <a16:creationId xmlns:a16="http://schemas.microsoft.com/office/drawing/2014/main" id="{7957BC4D-151A-EB1E-5CAE-777FF2B16B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883817" y="206684"/>
                      <a:ext cx="990673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</p:grpSp>
            </p:grpSp>
            <p:sp>
              <p:nvSpPr>
                <p:cNvPr id="15616" name="Rectangle 15615">
                  <a:extLst>
                    <a:ext uri="{FF2B5EF4-FFF2-40B4-BE49-F238E27FC236}">
                      <a16:creationId xmlns:a16="http://schemas.microsoft.com/office/drawing/2014/main" id="{946783DC-D597-2C29-6191-5B3893CFCF5D}"/>
                    </a:ext>
                  </a:extLst>
                </p:cNvPr>
                <p:cNvSpPr/>
                <p:nvPr/>
              </p:nvSpPr>
              <p:spPr bwMode="auto">
                <a:xfrm>
                  <a:off x="4071341" y="18677659"/>
                  <a:ext cx="2147590" cy="34045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$8</a:t>
                  </a:r>
                </a:p>
              </p:txBody>
            </p:sp>
            <p:sp>
              <p:nvSpPr>
                <p:cNvPr id="15618" name="Rectangle 15617">
                  <a:extLst>
                    <a:ext uri="{FF2B5EF4-FFF2-40B4-BE49-F238E27FC236}">
                      <a16:creationId xmlns:a16="http://schemas.microsoft.com/office/drawing/2014/main" id="{C6024063-9D2C-50D8-70B5-FC3D7C6F49F8}"/>
                    </a:ext>
                  </a:extLst>
                </p:cNvPr>
                <p:cNvSpPr/>
                <p:nvPr/>
              </p:nvSpPr>
              <p:spPr bwMode="auto">
                <a:xfrm>
                  <a:off x="6320475" y="18660155"/>
                  <a:ext cx="194290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$2</a:t>
                  </a:r>
                </a:p>
              </p:txBody>
            </p:sp>
            <p:sp>
              <p:nvSpPr>
                <p:cNvPr id="15619" name="Rectangle 15618">
                  <a:extLst>
                    <a:ext uri="{FF2B5EF4-FFF2-40B4-BE49-F238E27FC236}">
                      <a16:creationId xmlns:a16="http://schemas.microsoft.com/office/drawing/2014/main" id="{8EBB5886-1680-B3C7-DEC7-CD388B0CA60C}"/>
                    </a:ext>
                  </a:extLst>
                </p:cNvPr>
                <p:cNvSpPr/>
                <p:nvPr/>
              </p:nvSpPr>
              <p:spPr bwMode="auto">
                <a:xfrm>
                  <a:off x="6772254" y="19789015"/>
                  <a:ext cx="250319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Loading…</a:t>
                  </a:r>
                </a:p>
              </p:txBody>
            </p:sp>
            <p:sp>
              <p:nvSpPr>
                <p:cNvPr id="15620" name="Rectangle 15619">
                  <a:extLst>
                    <a:ext uri="{FF2B5EF4-FFF2-40B4-BE49-F238E27FC236}">
                      <a16:creationId xmlns:a16="http://schemas.microsoft.com/office/drawing/2014/main" id="{98A52E85-D70D-5398-4E75-D523A6EBBF49}"/>
                    </a:ext>
                  </a:extLst>
                </p:cNvPr>
                <p:cNvSpPr/>
                <p:nvPr/>
              </p:nvSpPr>
              <p:spPr bwMode="auto">
                <a:xfrm>
                  <a:off x="9139048" y="21549198"/>
                  <a:ext cx="704737" cy="71876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5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+</a:t>
                  </a:r>
                </a:p>
              </p:txBody>
            </p:sp>
          </p:grpSp>
          <p:grpSp>
            <p:nvGrpSpPr>
              <p:cNvPr id="15592" name="Group 15591">
                <a:extLst>
                  <a:ext uri="{FF2B5EF4-FFF2-40B4-BE49-F238E27FC236}">
                    <a16:creationId xmlns:a16="http://schemas.microsoft.com/office/drawing/2014/main" id="{415B0EBC-8379-F485-6113-E5DF57F87E19}"/>
                  </a:ext>
                </a:extLst>
              </p:cNvPr>
              <p:cNvGrpSpPr/>
              <p:nvPr/>
            </p:nvGrpSpPr>
            <p:grpSpPr>
              <a:xfrm>
                <a:off x="1532700" y="21512239"/>
                <a:ext cx="5203251" cy="1323439"/>
                <a:chOff x="1154328" y="21740839"/>
                <a:chExt cx="5203251" cy="1323439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07B45F-027B-576B-4808-66F0A5D95489}"/>
                    </a:ext>
                  </a:extLst>
                </p:cNvPr>
                <p:cNvSpPr txBox="1"/>
                <p:nvPr/>
              </p:nvSpPr>
              <p:spPr>
                <a:xfrm>
                  <a:off x="5031575" y="21740839"/>
                  <a:ext cx="1326004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0" b="1" dirty="0">
                      <a:solidFill>
                        <a:srgbClr val="03DF04"/>
                      </a:solidFill>
                    </a:rPr>
                    <a:t>x3</a:t>
                  </a:r>
                </a:p>
              </p:txBody>
            </p:sp>
            <p:sp>
              <p:nvSpPr>
                <p:cNvPr id="15433" name="Rounded Rectangle 15432">
                  <a:extLst>
                    <a:ext uri="{FF2B5EF4-FFF2-40B4-BE49-F238E27FC236}">
                      <a16:creationId xmlns:a16="http://schemas.microsoft.com/office/drawing/2014/main" id="{9D770554-0135-2E8B-9BC3-8228F9631C8A}"/>
                    </a:ext>
                  </a:extLst>
                </p:cNvPr>
                <p:cNvSpPr/>
                <p:nvPr/>
              </p:nvSpPr>
              <p:spPr bwMode="auto">
                <a:xfrm>
                  <a:off x="1154328" y="21817902"/>
                  <a:ext cx="3412362" cy="1168944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The money you  sent is tripled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  <p:grpSp>
            <p:nvGrpSpPr>
              <p:cNvPr id="15490" name="Group 15489">
                <a:extLst>
                  <a:ext uri="{FF2B5EF4-FFF2-40B4-BE49-F238E27FC236}">
                    <a16:creationId xmlns:a16="http://schemas.microsoft.com/office/drawing/2014/main" id="{26CF14B9-FE18-01D5-1A0A-E19BE8376A0A}"/>
                  </a:ext>
                </a:extLst>
              </p:cNvPr>
              <p:cNvGrpSpPr/>
              <p:nvPr/>
            </p:nvGrpSpPr>
            <p:grpSpPr>
              <a:xfrm>
                <a:off x="530502" y="18979791"/>
                <a:ext cx="4534151" cy="2464546"/>
                <a:chOff x="533974" y="18532980"/>
                <a:chExt cx="4534151" cy="2464546"/>
              </a:xfrm>
            </p:grpSpPr>
            <p:sp>
              <p:nvSpPr>
                <p:cNvPr id="15432" name="Rounded Rectangle 15431">
                  <a:extLst>
                    <a:ext uri="{FF2B5EF4-FFF2-40B4-BE49-F238E27FC236}">
                      <a16:creationId xmlns:a16="http://schemas.microsoft.com/office/drawing/2014/main" id="{29E5F4B4-9ECB-A12A-6B3F-C0855A0CDE34}"/>
                    </a:ext>
                  </a:extLst>
                </p:cNvPr>
                <p:cNvSpPr/>
                <p:nvPr/>
              </p:nvSpPr>
              <p:spPr bwMode="auto">
                <a:xfrm>
                  <a:off x="533974" y="19334093"/>
                  <a:ext cx="4534151" cy="1663433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choose a higher or lower amount to share with your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442" name="Elbow Connector 15441">
                  <a:extLst>
                    <a:ext uri="{FF2B5EF4-FFF2-40B4-BE49-F238E27FC236}">
                      <a16:creationId xmlns:a16="http://schemas.microsoft.com/office/drawing/2014/main" id="{FD357802-D2BB-A2AC-2582-D36E431D92F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V="1">
                  <a:off x="2361558" y="18532980"/>
                  <a:ext cx="953880" cy="801113"/>
                </a:xfrm>
                <a:prstGeom prst="bentConnector3">
                  <a:avLst>
                    <a:gd name="adj1" fmla="val -3922"/>
                  </a:avLst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grpSp>
            <p:nvGrpSpPr>
              <p:cNvPr id="15538" name="Group 15537">
                <a:extLst>
                  <a:ext uri="{FF2B5EF4-FFF2-40B4-BE49-F238E27FC236}">
                    <a16:creationId xmlns:a16="http://schemas.microsoft.com/office/drawing/2014/main" id="{4ABA81B2-5B67-77D2-5517-08033E19241B}"/>
                  </a:ext>
                </a:extLst>
              </p:cNvPr>
              <p:cNvGrpSpPr/>
              <p:nvPr/>
            </p:nvGrpSpPr>
            <p:grpSpPr>
              <a:xfrm>
                <a:off x="795814" y="16818784"/>
                <a:ext cx="4146785" cy="1569660"/>
                <a:chOff x="829782" y="16644992"/>
                <a:chExt cx="4146785" cy="1569660"/>
              </a:xfrm>
            </p:grpSpPr>
            <p:sp>
              <p:nvSpPr>
                <p:cNvPr id="15528" name="Rounded Rectangle 15527">
                  <a:extLst>
                    <a:ext uri="{FF2B5EF4-FFF2-40B4-BE49-F238E27FC236}">
                      <a16:creationId xmlns:a16="http://schemas.microsoft.com/office/drawing/2014/main" id="{AD2DBFD4-1DD0-D27D-7CB0-35408A9E32E4}"/>
                    </a:ext>
                  </a:extLst>
                </p:cNvPr>
                <p:cNvSpPr/>
                <p:nvPr/>
              </p:nvSpPr>
              <p:spPr bwMode="auto">
                <a:xfrm>
                  <a:off x="829782" y="16644992"/>
                  <a:ext cx="2516152" cy="1569660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are assigned a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537" name="Straight Arrow Connector 15536">
                  <a:extLst>
                    <a:ext uri="{FF2B5EF4-FFF2-40B4-BE49-F238E27FC236}">
                      <a16:creationId xmlns:a16="http://schemas.microsoft.com/office/drawing/2014/main" id="{7A1CFB10-A83A-AA5A-7CB9-EC39B260985E}"/>
                    </a:ext>
                  </a:extLst>
                </p:cNvPr>
                <p:cNvCxnSpPr>
                  <a:cxnSpLocks/>
                  <a:stCxn id="15528" idx="3"/>
                </p:cNvCxnSpPr>
                <p:nvPr/>
              </p:nvCxnSpPr>
              <p:spPr bwMode="auto">
                <a:xfrm>
                  <a:off x="3345934" y="17429822"/>
                  <a:ext cx="1630633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sp>
            <p:nvSpPr>
              <p:cNvPr id="15542" name="Rounded Rectangle 15541">
                <a:extLst>
                  <a:ext uri="{FF2B5EF4-FFF2-40B4-BE49-F238E27FC236}">
                    <a16:creationId xmlns:a16="http://schemas.microsoft.com/office/drawing/2014/main" id="{F919F17A-D127-CAD0-86F8-9896BB472FB5}"/>
                  </a:ext>
                </a:extLst>
              </p:cNvPr>
              <p:cNvSpPr/>
              <p:nvPr/>
            </p:nvSpPr>
            <p:spPr bwMode="auto">
              <a:xfrm>
                <a:off x="1019445" y="25077499"/>
                <a:ext cx="2843041" cy="764088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500" dirty="0"/>
                  <a:t>End of trial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15667" name="Rounded Rectangle 15666">
                <a:extLst>
                  <a:ext uri="{FF2B5EF4-FFF2-40B4-BE49-F238E27FC236}">
                    <a16:creationId xmlns:a16="http://schemas.microsoft.com/office/drawing/2014/main" id="{A04AF92B-DBCA-68B5-49E1-F021F79663D4}"/>
                  </a:ext>
                </a:extLst>
              </p:cNvPr>
              <p:cNvSpPr/>
              <p:nvPr/>
            </p:nvSpPr>
            <p:spPr bwMode="auto">
              <a:xfrm>
                <a:off x="530502" y="23379694"/>
                <a:ext cx="3455135" cy="546012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Outcome Phase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sp>
          <p:nvSpPr>
            <p:cNvPr id="15668" name="Rectangle 15667">
              <a:extLst>
                <a:ext uri="{FF2B5EF4-FFF2-40B4-BE49-F238E27FC236}">
                  <a16:creationId xmlns:a16="http://schemas.microsoft.com/office/drawing/2014/main" id="{313395CF-F0BD-08A4-741C-0E58C7C64F02}"/>
                </a:ext>
              </a:extLst>
            </p:cNvPr>
            <p:cNvSpPr/>
            <p:nvPr/>
          </p:nvSpPr>
          <p:spPr bwMode="auto">
            <a:xfrm>
              <a:off x="5210967" y="17385583"/>
              <a:ext cx="1984189" cy="552682"/>
            </a:xfrm>
            <a:prstGeom prst="rect">
              <a:avLst/>
            </a:prstGeom>
            <a:solidFill>
              <a:srgbClr val="84848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cs typeface="Arial" charset="0"/>
                </a:rPr>
                <a:t>Computer</a:t>
              </a:r>
            </a:p>
          </p:txBody>
        </p:sp>
      </p:grp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1667753" y="23179902"/>
            <a:ext cx="7277183" cy="6638191"/>
            <a:chOff x="23516336" y="15981033"/>
            <a:chExt cx="5574747" cy="4915819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516336" y="16721772"/>
              <a:ext cx="3469498" cy="4175080"/>
              <a:chOff x="23516336" y="16721772"/>
              <a:chExt cx="3469498" cy="4175080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321244" y="20486597"/>
                <a:ext cx="664590" cy="4102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59180" y="17978928"/>
                <a:ext cx="2938707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2FE0E2-6053-4146-B370-FB37B649225A}"/>
              </a:ext>
            </a:extLst>
          </p:cNvPr>
          <p:cNvGrpSpPr/>
          <p:nvPr/>
        </p:nvGrpSpPr>
        <p:grpSpPr>
          <a:xfrm>
            <a:off x="31025829" y="7128196"/>
            <a:ext cx="11585621" cy="6349248"/>
            <a:chOff x="30940769" y="6482142"/>
            <a:chExt cx="11585621" cy="6349248"/>
          </a:xfrm>
        </p:grpSpPr>
        <p:grpSp>
          <p:nvGrpSpPr>
            <p:cNvPr id="15708" name="Group 15707">
              <a:extLst>
                <a:ext uri="{FF2B5EF4-FFF2-40B4-BE49-F238E27FC236}">
                  <a16:creationId xmlns:a16="http://schemas.microsoft.com/office/drawing/2014/main" id="{F3365FFA-9BF5-9EF3-928F-677A1E435CFE}"/>
                </a:ext>
              </a:extLst>
            </p:cNvPr>
            <p:cNvGrpSpPr/>
            <p:nvPr/>
          </p:nvGrpSpPr>
          <p:grpSpPr>
            <a:xfrm>
              <a:off x="30968309" y="8084700"/>
              <a:ext cx="4158601" cy="4300330"/>
              <a:chOff x="30952728" y="4266720"/>
              <a:chExt cx="6212381" cy="7160350"/>
            </a:xfrm>
          </p:grpSpPr>
          <p:pic>
            <p:nvPicPr>
              <p:cNvPr id="15670" name="Picture 15669" descr="A brain with a red spot&#10;&#10;Description automatically generated">
                <a:extLst>
                  <a:ext uri="{FF2B5EF4-FFF2-40B4-BE49-F238E27FC236}">
                    <a16:creationId xmlns:a16="http://schemas.microsoft.com/office/drawing/2014/main" id="{BA2FE39D-46B1-0722-481F-CB4E6283E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216" y="5328136"/>
                <a:ext cx="5683649" cy="4771937"/>
              </a:xfrm>
              <a:prstGeom prst="rect">
                <a:avLst/>
              </a:prstGeom>
            </p:spPr>
          </p:pic>
          <p:sp>
            <p:nvSpPr>
              <p:cNvPr id="15674" name="TextBox 15673">
                <a:extLst>
                  <a:ext uri="{FF2B5EF4-FFF2-40B4-BE49-F238E27FC236}">
                    <a16:creationId xmlns:a16="http://schemas.microsoft.com/office/drawing/2014/main" id="{6D1FEF78-5231-7339-DB44-5A31EBAD6F9E}"/>
                  </a:ext>
                </a:extLst>
              </p:cNvPr>
              <p:cNvSpPr txBox="1"/>
              <p:nvPr/>
            </p:nvSpPr>
            <p:spPr>
              <a:xfrm>
                <a:off x="30952728" y="4266720"/>
                <a:ext cx="1894661" cy="9736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52</a:t>
                </a:r>
              </a:p>
            </p:txBody>
          </p:sp>
          <p:sp>
            <p:nvSpPr>
              <p:cNvPr id="15680" name="TextBox 15679">
                <a:extLst>
                  <a:ext uri="{FF2B5EF4-FFF2-40B4-BE49-F238E27FC236}">
                    <a16:creationId xmlns:a16="http://schemas.microsoft.com/office/drawing/2014/main" id="{0FE2F447-254E-923E-162C-DC99AACAFC55}"/>
                  </a:ext>
                </a:extLst>
              </p:cNvPr>
              <p:cNvSpPr txBox="1"/>
              <p:nvPr/>
            </p:nvSpPr>
            <p:spPr>
              <a:xfrm>
                <a:off x="31154497" y="10453379"/>
                <a:ext cx="6010612" cy="973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dlPFC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7" name="TextBox 15706">
              <a:extLst>
                <a:ext uri="{FF2B5EF4-FFF2-40B4-BE49-F238E27FC236}">
                  <a16:creationId xmlns:a16="http://schemas.microsoft.com/office/drawing/2014/main" id="{0830B512-1237-C170-3104-978D2CC18E8D}"/>
                </a:ext>
              </a:extLst>
            </p:cNvPr>
            <p:cNvSpPr txBox="1"/>
            <p:nvPr/>
          </p:nvSpPr>
          <p:spPr>
            <a:xfrm>
              <a:off x="30940769" y="6984044"/>
              <a:ext cx="42721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Defecting &gt;</a:t>
              </a:r>
              <a:r>
                <a:rPr lang="en-US" sz="2800" dirty="0">
                  <a:latin typeface="Helvetica" pitchFamily="2" charset="0"/>
                </a:rPr>
                <a:t> Computer Defecting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655AFED-3947-A740-B235-4AE33711962C}"/>
                </a:ext>
              </a:extLst>
            </p:cNvPr>
            <p:cNvGrpSpPr/>
            <p:nvPr/>
          </p:nvGrpSpPr>
          <p:grpSpPr>
            <a:xfrm>
              <a:off x="35398172" y="6482142"/>
              <a:ext cx="7128218" cy="6349248"/>
              <a:chOff x="37564868" y="7069792"/>
              <a:chExt cx="5452955" cy="5157377"/>
            </a:xfrm>
          </p:grpSpPr>
          <p:sp>
            <p:nvSpPr>
              <p:cNvPr id="15711" name="TextBox 15710">
                <a:extLst>
                  <a:ext uri="{FF2B5EF4-FFF2-40B4-BE49-F238E27FC236}">
                    <a16:creationId xmlns:a16="http://schemas.microsoft.com/office/drawing/2014/main" id="{3F0968C1-C452-1885-6B38-F154CD473A3F}"/>
                  </a:ext>
                </a:extLst>
              </p:cNvPr>
              <p:cNvSpPr txBox="1"/>
              <p:nvPr/>
            </p:nvSpPr>
            <p:spPr>
              <a:xfrm>
                <a:off x="37622248" y="7069792"/>
                <a:ext cx="601117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200</a:t>
                </a:r>
              </a:p>
            </p:txBody>
          </p:sp>
          <p:sp>
            <p:nvSpPr>
              <p:cNvPr id="15713" name="TextBox 15712">
                <a:extLst>
                  <a:ext uri="{FF2B5EF4-FFF2-40B4-BE49-F238E27FC236}">
                    <a16:creationId xmlns:a16="http://schemas.microsoft.com/office/drawing/2014/main" id="{0538FBF6-7909-445F-ACD2-9599FE92C967}"/>
                  </a:ext>
                </a:extLst>
              </p:cNvPr>
              <p:cNvSpPr txBox="1"/>
              <p:nvPr/>
            </p:nvSpPr>
            <p:spPr>
              <a:xfrm>
                <a:off x="37564868" y="11337187"/>
                <a:ext cx="693086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-300</a:t>
                </a:r>
              </a:p>
            </p:txBody>
          </p:sp>
          <p:sp>
            <p:nvSpPr>
              <p:cNvPr id="15716" name="TextBox 15715">
                <a:extLst>
                  <a:ext uri="{FF2B5EF4-FFF2-40B4-BE49-F238E27FC236}">
                    <a16:creationId xmlns:a16="http://schemas.microsoft.com/office/drawing/2014/main" id="{A7B791E9-2592-EA60-AB27-F2DBE3421768}"/>
                  </a:ext>
                </a:extLst>
              </p:cNvPr>
              <p:cNvSpPr txBox="1"/>
              <p:nvPr/>
            </p:nvSpPr>
            <p:spPr>
              <a:xfrm>
                <a:off x="38211199" y="11728946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17" name="TextBox 15716">
                <a:extLst>
                  <a:ext uri="{FF2B5EF4-FFF2-40B4-BE49-F238E27FC236}">
                    <a16:creationId xmlns:a16="http://schemas.microsoft.com/office/drawing/2014/main" id="{4288430D-B235-E5D2-0E3C-C928486D0544}"/>
                  </a:ext>
                </a:extLst>
              </p:cNvPr>
              <p:cNvSpPr txBox="1"/>
              <p:nvPr/>
            </p:nvSpPr>
            <p:spPr>
              <a:xfrm>
                <a:off x="42569990" y="11706123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18" name="TextBox 15717">
                <a:extLst>
                  <a:ext uri="{FF2B5EF4-FFF2-40B4-BE49-F238E27FC236}">
                    <a16:creationId xmlns:a16="http://schemas.microsoft.com/office/drawing/2014/main" id="{C5EDCAEC-F972-A2CD-DE27-9E216B9AC130}"/>
                  </a:ext>
                </a:extLst>
              </p:cNvPr>
              <p:cNvSpPr txBox="1"/>
              <p:nvPr/>
            </p:nvSpPr>
            <p:spPr>
              <a:xfrm>
                <a:off x="39886352" y="11652166"/>
                <a:ext cx="141316" cy="5750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4000" dirty="0"/>
              </a:p>
            </p:txBody>
          </p:sp>
          <p:sp>
            <p:nvSpPr>
              <p:cNvPr id="15715" name="TextBox 15714">
                <a:extLst>
                  <a:ext uri="{FF2B5EF4-FFF2-40B4-BE49-F238E27FC236}">
                    <a16:creationId xmlns:a16="http://schemas.microsoft.com/office/drawing/2014/main" id="{6A186BD7-7E16-8AE4-2E56-FAD05BEC16F6}"/>
                  </a:ext>
                </a:extLst>
              </p:cNvPr>
              <p:cNvSpPr txBox="1"/>
              <p:nvPr/>
            </p:nvSpPr>
            <p:spPr>
              <a:xfrm rot="16200000">
                <a:off x="36657648" y="8884400"/>
                <a:ext cx="2422148" cy="42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dlPFC</a:t>
                </a:r>
                <a:r>
                  <a:rPr lang="en-US" sz="3000" dirty="0"/>
                  <a:t> activation</a:t>
                </a:r>
              </a:p>
            </p:txBody>
          </p:sp>
        </p:grp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79" y="120653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403921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6" y="13938199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6975844" cy="6246177"/>
              <a:chOff x="22987347" y="13324694"/>
              <a:chExt cx="6975844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562" t="11969" r="3825" b="15026"/>
          <a:stretch/>
        </p:blipFill>
        <p:spPr>
          <a:xfrm>
            <a:off x="2275115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919" t="11022" r="3480" b="15715"/>
          <a:stretch/>
        </p:blipFill>
        <p:spPr>
          <a:xfrm>
            <a:off x="36346489" y="6863073"/>
            <a:ext cx="6554939" cy="5963480"/>
          </a:xfrm>
          <a:prstGeom prst="rect">
            <a:avLst/>
          </a:prstGeom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683585" y="21572364"/>
            <a:ext cx="12914399" cy="265713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medial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13968" y="15562632"/>
            <a:ext cx="11866195" cy="6632263"/>
            <a:chOff x="30862394" y="13704182"/>
            <a:chExt cx="11673248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9"/>
              <a:ext cx="4003957" cy="4057010"/>
              <a:chOff x="30175830" y="13427301"/>
              <a:chExt cx="6887851" cy="7541194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991698" cy="1086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1077" y="19881512"/>
                <a:ext cx="5622817" cy="10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mPFC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0862394" y="14253639"/>
              <a:ext cx="48011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4901103" y="8163853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6952163" y="20057868"/>
            <a:ext cx="121192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3410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Age-Related Behavioral Effects?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Whole Brain Analyses of Neural Responses to Social Outcomes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DA2ABEA-DC63-DB4B-9E64-20A700C207F0}"/>
              </a:ext>
            </a:extLst>
          </p:cNvPr>
          <p:cNvSpPr txBox="1"/>
          <p:nvPr/>
        </p:nvSpPr>
        <p:spPr>
          <a:xfrm>
            <a:off x="197691" y="14078256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(N = 62) completed a trust task with three partners: a computer, a stranger, and their chosen friend.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DE763B-F4EB-754D-A139-C1319AD540CE}"/>
              </a:ext>
            </a:extLst>
          </p:cNvPr>
          <p:cNvSpPr txBox="1"/>
          <p:nvPr/>
        </p:nvSpPr>
        <p:spPr>
          <a:xfrm>
            <a:off x="30903167" y="5403997"/>
            <a:ext cx="120360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 investigate if age-related effects were present elsewhere, we conducted a set of whole brain analyses.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D48B72-79AA-2C4A-8106-FEE9B29510DB}"/>
              </a:ext>
            </a:extLst>
          </p:cNvPr>
          <p:cNvSpPr txBox="1"/>
          <p:nvPr/>
        </p:nvSpPr>
        <p:spPr>
          <a:xfrm>
            <a:off x="20959218" y="13549230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-.21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A617A1E-C1F1-794A-A807-BBC21A37CDED}"/>
              </a:ext>
            </a:extLst>
          </p:cNvPr>
          <p:cNvSpPr txBox="1"/>
          <p:nvPr/>
        </p:nvSpPr>
        <p:spPr>
          <a:xfrm>
            <a:off x="28609845" y="5241364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-.03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99A54FF-CFDA-AA4D-9B63-2C0BC38C1F8A}"/>
              </a:ext>
            </a:extLst>
          </p:cNvPr>
          <p:cNvSpPr txBox="1"/>
          <p:nvPr/>
        </p:nvSpPr>
        <p:spPr>
          <a:xfrm>
            <a:off x="28570974" y="13544663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129937F-2145-7F4C-8C15-2C0DF8142096}"/>
              </a:ext>
            </a:extLst>
          </p:cNvPr>
          <p:cNvSpPr txBox="1"/>
          <p:nvPr/>
        </p:nvSpPr>
        <p:spPr>
          <a:xfrm>
            <a:off x="38860917" y="12726015"/>
            <a:ext cx="1464950" cy="899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9315D9-38A0-3949-8197-E825D70ED72C}"/>
              </a:ext>
            </a:extLst>
          </p:cNvPr>
          <p:cNvSpPr txBox="1"/>
          <p:nvPr/>
        </p:nvSpPr>
        <p:spPr>
          <a:xfrm>
            <a:off x="31554291" y="13490343"/>
            <a:ext cx="1082085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dorsolateral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16641</TotalTime>
  <Words>1501</Words>
  <Application>Microsoft Macintosh PowerPoint</Application>
  <PresentationFormat>Custom</PresentationFormat>
  <Paragraphs>253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42</cp:revision>
  <cp:lastPrinted>2023-11-10T05:05:03Z</cp:lastPrinted>
  <dcterms:created xsi:type="dcterms:W3CDTF">2007-10-30T17:33:32Z</dcterms:created>
  <dcterms:modified xsi:type="dcterms:W3CDTF">2023-11-10T14:02:15Z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