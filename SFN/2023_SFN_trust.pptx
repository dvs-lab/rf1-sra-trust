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7"/>
  </p:notesMasterIdLst>
  <p:handoutMasterIdLst>
    <p:handoutMasterId r:id="rId8"/>
  </p:handoutMasterIdLst>
  <p:sldIdLst>
    <p:sldId id="256" r:id="rId4"/>
    <p:sldId id="257" r:id="rId5"/>
    <p:sldId id="258" r:id="rId6"/>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5E78F60-8CE4-956A-0128-6E549761F19F}" name="Avi Dachs" initials="AD" userId="S::tur74001@temple.edu::87fc8e61-7f3a-4332-ab39-1fb75fe6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E0BA"/>
    <a:srgbClr val="FAF86D"/>
    <a:srgbClr val="D8E3C1"/>
    <a:srgbClr val="EF544A"/>
    <a:srgbClr val="BDE4CB"/>
    <a:srgbClr val="F2DD71"/>
    <a:srgbClr val="E6D7AF"/>
    <a:srgbClr val="1D4647"/>
    <a:srgbClr val="BB423A"/>
    <a:srgbClr val="A73B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46"/>
    <p:restoredTop sz="94650"/>
  </p:normalViewPr>
  <p:slideViewPr>
    <p:cSldViewPr snapToGrid="0">
      <p:cViewPr>
        <p:scale>
          <a:sx n="13" d="100"/>
          <a:sy n="13" d="100"/>
        </p:scale>
        <p:origin x="1920" y="1464"/>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slideMaster" Target="slideMasters/slideMaster1.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viewProps" Target="viewProps.xml"/><Relationship Id="rId5" Type="http://schemas.openxmlformats.org/officeDocument/2006/relationships/slide" Target="slides/slide2.xml"/><Relationship Id="rId10"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commentAuthors" Target="commentAuthors.xml"/><Relationship Id="rId14" Type="http://schemas.microsoft.com/office/2018/10/relationships/authors" Target="authors.xml"/></Relationships>
</file>

<file path=ppt/comments/modernComment_100_0.xml><?xml version="1.0" encoding="utf-8"?>
<p188:cmLst xmlns:a="http://schemas.openxmlformats.org/drawingml/2006/main" xmlns:r="http://schemas.openxmlformats.org/officeDocument/2006/relationships" xmlns:p188="http://schemas.microsoft.com/office/powerpoint/2018/8/main">
  <p188:cm id="{D23A0D81-1941-D64D-81BB-607D72B1FF1C}" authorId="{65E78F60-8CE4-956A-0128-6E549761F19F}" created="2023-11-07T16:53:51.619">
    <pc:sldMkLst xmlns:pc="http://schemas.microsoft.com/office/powerpoint/2013/main/command">
      <pc:docMk/>
      <pc:sldMk cId="0" sldId="256"/>
    </pc:sldMkLst>
    <p188:txBody>
      <a:bodyPr/>
      <a:lstStyle/>
      <a:p>
        <a:r>
          <a:rPr lang="en-US"/>
          <a:t>Emphasize that there are more or less options
</a:t>
        </a:r>
      </a:p>
    </p188:txBody>
  </p188:cm>
  <p188:cm id="{CC48533B-D1C0-A74B-B37A-5080B4ACE579}" authorId="{65E78F60-8CE4-956A-0128-6E549761F19F}" created="2023-11-07T16:55:53.662">
    <pc:sldMkLst xmlns:pc="http://schemas.microsoft.com/office/powerpoint/2013/main/command">
      <pc:docMk/>
      <pc:sldMk cId="0" sldId="256"/>
    </pc:sldMkLst>
    <p188:replyLst>
      <p188:reply id="{F29969D8-7A32-6F4B-8D80-0E35760E3C7D}" authorId="{65E78F60-8CE4-956A-0128-6E549761F19F}" created="2023-11-07T16:56:29.916">
        <p188:txBody>
          <a:bodyPr/>
          <a:lstStyle/>
          <a:p>
            <a:r>
              <a:rPr lang="en-US"/>
              <a:t>Add scatterplots comparing differences in IOS by age</a:t>
            </a:r>
          </a:p>
        </p188:txBody>
      </p188:reply>
    </p188:replyLst>
    <p188:txBody>
      <a:bodyPr/>
      <a:lstStyle/>
      <a:p>
        <a:r>
          <a:rPr lang="en-US"/>
          <a:t>Instead of IOS, show investment behavior (invest more with friends vs strangers)</a:t>
        </a:r>
      </a:p>
    </p188:txBody>
  </p188:cm>
  <p188:cm id="{9DA9D318-9C32-3F46-9432-5D1054A1DBA1}" authorId="{65E78F60-8CE4-956A-0128-6E549761F19F}" created="2023-11-07T17:00:04.995">
    <pc:sldMkLst xmlns:pc="http://schemas.microsoft.com/office/powerpoint/2013/main/command">
      <pc:docMk/>
      <pc:sldMk cId="0" sldId="256"/>
    </pc:sldMkLst>
    <p188:replyLst>
      <p188:reply id="{40BA6E1B-B16C-524E-8F36-7E2B438230AB}" authorId="{65E78F60-8CE4-956A-0128-6E549761F19F}" created="2023-11-07T17:00:35.259">
        <p188:txBody>
          <a:bodyPr/>
          <a:lstStyle/>
          <a:p>
            <a:r>
              <a:rPr lang="en-US"/>
              <a:t>And then throw IOS in as a covariate</a:t>
            </a:r>
          </a:p>
        </p188:txBody>
      </p188:reply>
    </p188:replyLst>
    <p188:txBody>
      <a:bodyPr/>
      <a:lstStyle/>
      <a:p>
        <a:r>
          <a:rPr lang="en-US"/>
          <a:t>5. run cope (friend-stranger, reciprocate-defect)</a:t>
        </a:r>
      </a:p>
    </p188:txBody>
  </p188:cm>
  <p188:cm id="{0C35DB4D-15E2-494A-BA1D-ACBBE90A5B0E}" authorId="{65E78F60-8CE4-956A-0128-6E549761F19F}" created="2023-11-07T17:03:11.920">
    <pc:sldMkLst xmlns:pc="http://schemas.microsoft.com/office/powerpoint/2013/main/command">
      <pc:docMk/>
      <pc:sldMk cId="0" sldId="256"/>
    </pc:sldMkLst>
    <p188:txBody>
      <a:bodyPr/>
      <a:lstStyle/>
      <a:p>
        <a:r>
          <a:rPr lang="en-US"/>
          <a:t>4. Scatterplot of VS act and age (f-s)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0_0.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8.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552" name="Picture 15551" descr="A screenshot of a computer&#10;&#10;Description automatically generated">
            <a:extLst>
              <a:ext uri="{FF2B5EF4-FFF2-40B4-BE49-F238E27FC236}">
                <a16:creationId xmlns:a16="http://schemas.microsoft.com/office/drawing/2014/main" id="{C441D72E-B9F8-D29B-8CF8-93A49CC4C2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6228" y="16012624"/>
            <a:ext cx="11025931" cy="10428550"/>
          </a:xfrm>
          <a:prstGeom prst="rect">
            <a:avLst/>
          </a:prstGeom>
        </p:spPr>
      </p:pic>
      <p:grpSp>
        <p:nvGrpSpPr>
          <p:cNvPr id="15428" name="Group 15427">
            <a:extLst>
              <a:ext uri="{FF2B5EF4-FFF2-40B4-BE49-F238E27FC236}">
                <a16:creationId xmlns:a16="http://schemas.microsoft.com/office/drawing/2014/main" id="{788D9291-9D84-C5C9-22EF-259D72BF4C72}"/>
              </a:ext>
            </a:extLst>
          </p:cNvPr>
          <p:cNvGrpSpPr/>
          <p:nvPr/>
        </p:nvGrpSpPr>
        <p:grpSpPr>
          <a:xfrm>
            <a:off x="10524474" y="18375577"/>
            <a:ext cx="4086526" cy="4565394"/>
            <a:chOff x="10579516" y="17749339"/>
            <a:chExt cx="4086526" cy="4565394"/>
          </a:xfrm>
        </p:grpSpPr>
        <p:grpSp>
          <p:nvGrpSpPr>
            <p:cNvPr id="65" name="Group 64">
              <a:extLst>
                <a:ext uri="{FF2B5EF4-FFF2-40B4-BE49-F238E27FC236}">
                  <a16:creationId xmlns:a16="http://schemas.microsoft.com/office/drawing/2014/main" id="{89055108-BE18-C2C5-0FF5-A55BEBB4A05F}"/>
                </a:ext>
              </a:extLst>
            </p:cNvPr>
            <p:cNvGrpSpPr/>
            <p:nvPr/>
          </p:nvGrpSpPr>
          <p:grpSpPr>
            <a:xfrm>
              <a:off x="10579516" y="17749339"/>
              <a:ext cx="3543576" cy="1716829"/>
              <a:chOff x="10597863" y="17642945"/>
              <a:chExt cx="3543576" cy="1716829"/>
            </a:xfrm>
          </p:grpSpPr>
          <p:sp>
            <p:nvSpPr>
              <p:cNvPr id="15" name="Rectangle 14">
                <a:extLst>
                  <a:ext uri="{FF2B5EF4-FFF2-40B4-BE49-F238E27FC236}">
                    <a16:creationId xmlns:a16="http://schemas.microsoft.com/office/drawing/2014/main" id="{353421B0-7681-A37B-CA3F-986E07C1DB77}"/>
                  </a:ext>
                </a:extLst>
              </p:cNvPr>
              <p:cNvSpPr/>
              <p:nvPr/>
            </p:nvSpPr>
            <p:spPr bwMode="auto">
              <a:xfrm>
                <a:off x="10597863" y="17642945"/>
                <a:ext cx="3543576" cy="1716829"/>
              </a:xfrm>
              <a:prstGeom prst="rect">
                <a:avLst/>
              </a:prstGeom>
              <a:solidFill>
                <a:srgbClr val="FAF86D">
                  <a:alpha val="82294"/>
                </a:srgbClr>
              </a:solid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8" name="TextBox 7">
                <a:extLst>
                  <a:ext uri="{FF2B5EF4-FFF2-40B4-BE49-F238E27FC236}">
                    <a16:creationId xmlns:a16="http://schemas.microsoft.com/office/drawing/2014/main" id="{8F94C34F-C114-09E7-7592-2C68A047774A}"/>
                  </a:ext>
                </a:extLst>
              </p:cNvPr>
              <p:cNvSpPr txBox="1"/>
              <p:nvPr/>
            </p:nvSpPr>
            <p:spPr>
              <a:xfrm>
                <a:off x="10597863" y="17717299"/>
                <a:ext cx="3386365"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gr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5"/>
            <a:stretch>
              <a:fillRect/>
            </a:stretch>
          </p:blipFill>
          <p:spPr>
            <a:xfrm>
              <a:off x="12246737" y="19903601"/>
              <a:ext cx="2419305" cy="2411132"/>
            </a:xfrm>
            <a:prstGeom prst="rect">
              <a:avLst/>
            </a:prstGeom>
          </p:spPr>
        </p:pic>
      </p:grpSp>
      <p:sp>
        <p:nvSpPr>
          <p:cNvPr id="15365" name="Rectangle 162"/>
          <p:cNvSpPr>
            <a:spLocks noChangeArrowheads="1"/>
          </p:cNvSpPr>
          <p:nvPr/>
        </p:nvSpPr>
        <p:spPr bwMode="auto">
          <a:xfrm>
            <a:off x="162957" y="12488003"/>
            <a:ext cx="14710114" cy="18312188"/>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7554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imes New Roman" panose="02020603050405020304" pitchFamily="18" charset="0"/>
              </a:rPr>
              <a:t>Abraham Dachs</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Cooper J. Sharp</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Enes Yanilmaz</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James B. </a:t>
            </a:r>
            <a:r>
              <a:rPr lang="en-US" sz="4000" i="0" dirty="0" err="1">
                <a:solidFill>
                  <a:srgbClr val="000000"/>
                </a:solidFill>
                <a:effectLst/>
                <a:latin typeface="Times New Roman" panose="02020603050405020304" pitchFamily="18" charset="0"/>
              </a:rPr>
              <a:t>Wyngaarden</a:t>
            </a:r>
            <a:r>
              <a:rPr lang="en-US" sz="4000" i="0" dirty="0">
                <a:solidFill>
                  <a:srgbClr val="000000"/>
                </a:solidFill>
                <a:effectLst/>
                <a:latin typeface="Times New Roman" panose="02020603050405020304" pitchFamily="18" charset="0"/>
              </a:rPr>
              <a:t> III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Ori Zaff</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Tia Tropea</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Daniel Sazhin</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Rita Ludwig</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Tania Giovannetti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Dominic S. Fareri</a:t>
            </a:r>
            <a:r>
              <a:rPr lang="en-US" sz="4000" baseline="30000" dirty="0">
                <a:solidFill>
                  <a:srgbClr val="000000"/>
                </a:solidFill>
                <a:latin typeface="Times New Roman" panose="02020603050405020304" pitchFamily="18" charset="0"/>
              </a:rPr>
              <a:t>3</a:t>
            </a:r>
            <a:r>
              <a:rPr lang="en-US" sz="4000" i="0" dirty="0">
                <a:solidFill>
                  <a:srgbClr val="000000"/>
                </a:solidFill>
                <a:effectLst/>
                <a:latin typeface="Times New Roman" panose="02020603050405020304" pitchFamily="18" charset="0"/>
              </a:rPr>
              <a:t>, David V. Smith</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a:t>
            </a:r>
            <a:br>
              <a:rPr lang="en-US" sz="4000" dirty="0">
                <a:cs typeface="Helvetica" panose="020B0604020202020204" pitchFamily="34" charset="0"/>
              </a:rPr>
            </a:br>
            <a:endParaRPr lang="en-US" altLang="en-US" sz="4000" dirty="0">
              <a:cs typeface="Helvetica" panose="020B0604020202020204" pitchFamily="34" charset="0"/>
            </a:endParaRPr>
          </a:p>
        </p:txBody>
      </p:sp>
      <p:sp>
        <p:nvSpPr>
          <p:cNvPr id="15371" name="TextBox 15370"/>
          <p:cNvSpPr txBox="1"/>
          <p:nvPr/>
        </p:nvSpPr>
        <p:spPr>
          <a:xfrm>
            <a:off x="2079425" y="50008"/>
            <a:ext cx="40393584" cy="1827103"/>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11000" b="1" i="0" dirty="0">
                <a:solidFill>
                  <a:srgbClr val="000000"/>
                </a:solidFill>
                <a:effectLst/>
                <a:latin typeface="Times New Roman" panose="02020603050405020304" pitchFamily="18" charset="0"/>
              </a:rPr>
              <a:t>Examining Age-Related Differences in Neural Responses to Trust</a:t>
            </a:r>
            <a:endParaRPr lang="en-US" sz="11000" dirty="0">
              <a:effectLst/>
              <a:latin typeface="Helvetica"/>
              <a:ea typeface="Calibri" panose="020F0502020204030204" pitchFamily="34" charset="0"/>
              <a:cs typeface="Helvetica"/>
            </a:endParaRP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13" name="TextBox 12">
            <a:extLst>
              <a:ext uri="{FF2B5EF4-FFF2-40B4-BE49-F238E27FC236}">
                <a16:creationId xmlns:a16="http://schemas.microsoft.com/office/drawing/2014/main" id="{52042A99-5FFC-0E4E-8C20-72304DDA44FF}"/>
              </a:ext>
            </a:extLst>
          </p:cNvPr>
          <p:cNvSpPr txBox="1"/>
          <p:nvPr/>
        </p:nvSpPr>
        <p:spPr>
          <a:xfrm>
            <a:off x="86681" y="13228864"/>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0032177"/>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4287424" y="3926011"/>
            <a:ext cx="5683649"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6. PPI result #1</a:t>
            </a:r>
            <a:endParaRPr lang="en-US" altLang="en-US" sz="4250" b="1" dirty="0">
              <a:solidFill>
                <a:srgbClr val="C00000"/>
              </a:solidFill>
              <a:latin typeface="Trebuchet MS"/>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1861272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842418" y="13831228"/>
            <a:ext cx="10223153"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Ventral Striatal Activation </a:t>
            </a:r>
            <a:endParaRPr lang="en-US" altLang="en-US" sz="4267" b="1" dirty="0">
              <a:solidFill>
                <a:srgbClr val="C00000"/>
              </a:solidFill>
              <a:latin typeface="Trebuchet MS" panose="020B0603020202020204" pitchFamily="34" charset="0"/>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24394" y="14746184"/>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599737" y="22075030"/>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activation in the VS when participants were presented with a reciprocate outcome as opposed to a defect outcome.</a:t>
            </a:r>
          </a:p>
        </p:txBody>
      </p:sp>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grpSp>
        <p:nvGrpSpPr>
          <p:cNvPr id="15525" name="Group 15524">
            <a:extLst>
              <a:ext uri="{FF2B5EF4-FFF2-40B4-BE49-F238E27FC236}">
                <a16:creationId xmlns:a16="http://schemas.microsoft.com/office/drawing/2014/main" id="{495044C5-5185-1E74-1C51-F36E8CA64CBA}"/>
              </a:ext>
            </a:extLst>
          </p:cNvPr>
          <p:cNvGrpSpPr/>
          <p:nvPr/>
        </p:nvGrpSpPr>
        <p:grpSpPr>
          <a:xfrm>
            <a:off x="169367" y="3967558"/>
            <a:ext cx="14831195" cy="8123743"/>
            <a:chOff x="211346" y="3968278"/>
            <a:chExt cx="14831195" cy="8123743"/>
          </a:xfrm>
        </p:grpSpPr>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9" name="Rectangle 162"/>
            <p:cNvSpPr>
              <a:spLocks noChangeArrowheads="1"/>
            </p:cNvSpPr>
            <p:nvPr/>
          </p:nvSpPr>
          <p:spPr bwMode="auto">
            <a:xfrm>
              <a:off x="211346" y="4331110"/>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dirty="0">
                <a:latin typeface="Trebuchet MS" panose="020B0603020202020204" pitchFamily="34" charset="0"/>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dirty="0">
                  <a:solidFill>
                    <a:srgbClr val="C00000"/>
                  </a:solidFill>
                  <a:latin typeface="Trebuchet MS" panose="020B0603020202020204" pitchFamily="34" charset="0"/>
                </a:rPr>
                <a:t>1. Introduction</a:t>
              </a: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grpSp>
      <p:grpSp>
        <p:nvGrpSpPr>
          <p:cNvPr id="15402" name="Group 15401">
            <a:extLst>
              <a:ext uri="{FF2B5EF4-FFF2-40B4-BE49-F238E27FC236}">
                <a16:creationId xmlns:a16="http://schemas.microsoft.com/office/drawing/2014/main" id="{4E348B4E-8C13-0FE0-DCD0-FB762FA1FDBA}"/>
              </a:ext>
            </a:extLst>
          </p:cNvPr>
          <p:cNvGrpSpPr/>
          <p:nvPr/>
        </p:nvGrpSpPr>
        <p:grpSpPr>
          <a:xfrm>
            <a:off x="798440" y="27974692"/>
            <a:ext cx="5941540" cy="2277700"/>
            <a:chOff x="569101" y="26252269"/>
            <a:chExt cx="6854956" cy="2277700"/>
          </a:xfrm>
        </p:grpSpPr>
        <p:sp>
          <p:nvSpPr>
            <p:cNvPr id="2" name="Rectangle 1">
              <a:extLst>
                <a:ext uri="{FF2B5EF4-FFF2-40B4-BE49-F238E27FC236}">
                  <a16:creationId xmlns:a16="http://schemas.microsoft.com/office/drawing/2014/main" id="{7DF677AF-CCA7-3603-6675-25A047C2E384}"/>
                </a:ext>
              </a:extLst>
            </p:cNvPr>
            <p:cNvSpPr/>
            <p:nvPr/>
          </p:nvSpPr>
          <p:spPr bwMode="auto">
            <a:xfrm>
              <a:off x="569101" y="26252269"/>
              <a:ext cx="6854956" cy="2277700"/>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387" name="TextBox 15386">
              <a:extLst>
                <a:ext uri="{FF2B5EF4-FFF2-40B4-BE49-F238E27FC236}">
                  <a16:creationId xmlns:a16="http://schemas.microsoft.com/office/drawing/2014/main" id="{05E5766B-3559-5152-42B4-205546A1ED5E}"/>
                </a:ext>
              </a:extLst>
            </p:cNvPr>
            <p:cNvSpPr txBox="1"/>
            <p:nvPr/>
          </p:nvSpPr>
          <p:spPr>
            <a:xfrm>
              <a:off x="984094" y="26573709"/>
              <a:ext cx="6326927" cy="1569660"/>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latin typeface="Helvetica" pitchFamily="2" charset="0"/>
                  <a:ea typeface="Times New Roman" panose="02020603050405020304" pitchFamily="18" charset="0"/>
                  <a:cs typeface="Helvetica"/>
                </a:rPr>
                <a:t>C</a:t>
              </a:r>
              <a:r>
                <a:rPr lang="en-US" sz="3200" dirty="0">
                  <a:effectLst/>
                  <a:latin typeface="Helvetica" pitchFamily="2" charset="0"/>
                  <a:ea typeface="Times New Roman" panose="02020603050405020304" pitchFamily="18" charset="0"/>
                  <a:cs typeface="Helvetica"/>
                </a:rPr>
                <a:t>ompleted the </a:t>
              </a:r>
              <a:r>
                <a:rPr lang="en-US" sz="3200" b="0" i="0" dirty="0">
                  <a:effectLst/>
                  <a:latin typeface="Helvetica" pitchFamily="2" charset="0"/>
                </a:rPr>
                <a:t>Older Adults Financial Exploitation and Vulnerability Scale.</a:t>
              </a:r>
              <a:endParaRPr lang="en-US" sz="3200" dirty="0">
                <a:effectLst/>
                <a:latin typeface="Helvetica"/>
                <a:ea typeface="Times New Roman" panose="02020603050405020304" pitchFamily="18" charset="0"/>
                <a:cs typeface="Helvetica"/>
              </a:endParaRPr>
            </a:p>
          </p:txBody>
        </p:sp>
      </p:grpSp>
      <p:grpSp>
        <p:nvGrpSpPr>
          <p:cNvPr id="15426" name="Group 15425">
            <a:extLst>
              <a:ext uri="{FF2B5EF4-FFF2-40B4-BE49-F238E27FC236}">
                <a16:creationId xmlns:a16="http://schemas.microsoft.com/office/drawing/2014/main" id="{7261B70B-11A8-74A1-AA73-CF4BB2AED55A}"/>
              </a:ext>
            </a:extLst>
          </p:cNvPr>
          <p:cNvGrpSpPr/>
          <p:nvPr/>
        </p:nvGrpSpPr>
        <p:grpSpPr>
          <a:xfrm>
            <a:off x="7403615" y="26951422"/>
            <a:ext cx="7122687" cy="3300970"/>
            <a:chOff x="7734234" y="28572618"/>
            <a:chExt cx="7122687" cy="3300970"/>
          </a:xfrm>
        </p:grpSpPr>
        <p:sp>
          <p:nvSpPr>
            <p:cNvPr id="15385" name="Rectangle 15384">
              <a:extLst>
                <a:ext uri="{FF2B5EF4-FFF2-40B4-BE49-F238E27FC236}">
                  <a16:creationId xmlns:a16="http://schemas.microsoft.com/office/drawing/2014/main" id="{3285C709-B618-5904-7A31-44E8D825CD5B}"/>
                </a:ext>
              </a:extLst>
            </p:cNvPr>
            <p:cNvSpPr/>
            <p:nvPr/>
          </p:nvSpPr>
          <p:spPr bwMode="auto">
            <a:xfrm>
              <a:off x="7734234" y="28572618"/>
              <a:ext cx="6933771" cy="3300970"/>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 name="TextBox 2">
              <a:extLst>
                <a:ext uri="{FF2B5EF4-FFF2-40B4-BE49-F238E27FC236}">
                  <a16:creationId xmlns:a16="http://schemas.microsoft.com/office/drawing/2014/main" id="{D0B0B240-43AB-5B1F-C75F-FEA7463EE9F3}"/>
                </a:ext>
              </a:extLst>
            </p:cNvPr>
            <p:cNvSpPr txBox="1"/>
            <p:nvPr/>
          </p:nvSpPr>
          <p:spPr>
            <a:xfrm>
              <a:off x="8081003" y="29021524"/>
              <a:ext cx="6775918" cy="2554545"/>
            </a:xfrm>
            <a:prstGeom prst="rect">
              <a:avLst/>
            </a:prstGeom>
            <a:noFill/>
          </p:spPr>
          <p:txBody>
            <a:bodyPr wrap="square" lIns="91440" tIns="45720" rIns="91440" bIns="45720" anchor="t">
              <a:spAutoFit/>
            </a:bodyPr>
            <a:lstStyle/>
            <a:p>
              <a:r>
                <a:rPr lang="en-US" sz="3200" dirty="0">
                  <a:latin typeface="Helvetica"/>
                  <a:ea typeface="MS PGothic"/>
                  <a:cs typeface="Helvetica"/>
                </a:rPr>
                <a:t>Whole brain results were </a:t>
              </a:r>
              <a:r>
                <a:rPr lang="en-US" sz="3200" dirty="0" err="1">
                  <a:latin typeface="Helvetica"/>
                  <a:ea typeface="MS PGothic"/>
                  <a:cs typeface="Helvetica"/>
                </a:rPr>
                <a:t>thresholded</a:t>
              </a:r>
              <a:r>
                <a:rPr lang="en-US" sz="3200" dirty="0">
                  <a:latin typeface="Helvetica"/>
                  <a:ea typeface="MS PGothic"/>
                  <a:cs typeface="Helvetica"/>
                </a:rPr>
                <a:t> at Z &gt; 3.1 and Family Wise Error corrected at p &gt; .05</a:t>
              </a:r>
            </a:p>
            <a:p>
              <a:r>
                <a:rPr lang="en-US" sz="3200" dirty="0">
                  <a:latin typeface="Helvetica"/>
                  <a:ea typeface="MS PGothic"/>
                  <a:cs typeface="Helvetica"/>
                </a:rPr>
                <a:t>Masks were extracted from Harvard–Oxford and Mars atlases. </a:t>
              </a:r>
              <a:endParaRPr lang="en-US" sz="3200" dirty="0">
                <a:ea typeface="MS PGothic"/>
                <a:cs typeface="Helvetica"/>
              </a:endParaRPr>
            </a:p>
          </p:txBody>
        </p:sp>
      </p:grpSp>
      <p:grpSp>
        <p:nvGrpSpPr>
          <p:cNvPr id="15508" name="Group 15507">
            <a:extLst>
              <a:ext uri="{FF2B5EF4-FFF2-40B4-BE49-F238E27FC236}">
                <a16:creationId xmlns:a16="http://schemas.microsoft.com/office/drawing/2014/main" id="{ACE08C75-5E52-BA85-3BBA-E0BBC55E5D24}"/>
              </a:ext>
            </a:extLst>
          </p:cNvPr>
          <p:cNvGrpSpPr/>
          <p:nvPr/>
        </p:nvGrpSpPr>
        <p:grpSpPr>
          <a:xfrm>
            <a:off x="15724394" y="15529972"/>
            <a:ext cx="8049317" cy="6071098"/>
            <a:chOff x="15705595" y="15406813"/>
            <a:chExt cx="8049317" cy="6071098"/>
          </a:xfrm>
        </p:grpSpPr>
        <p:sp>
          <p:nvSpPr>
            <p:cNvPr id="35" name="TextBox 34">
              <a:extLst>
                <a:ext uri="{FF2B5EF4-FFF2-40B4-BE49-F238E27FC236}">
                  <a16:creationId xmlns:a16="http://schemas.microsoft.com/office/drawing/2014/main" id="{D37958DE-5E24-D58C-4A7D-3AB8A936FE13}"/>
                </a:ext>
              </a:extLst>
            </p:cNvPr>
            <p:cNvSpPr txBox="1"/>
            <p:nvPr/>
          </p:nvSpPr>
          <p:spPr>
            <a:xfrm>
              <a:off x="21821456" y="15519657"/>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21094087" y="2043806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Y=9</a:t>
              </a:r>
            </a:p>
            <a:p>
              <a:pPr algn="ctr"/>
              <a:endParaRPr lang="en-US" sz="2800" dirty="0">
                <a:latin typeface="Helvetica"/>
              </a:endParaRPr>
            </a:p>
          </p:txBody>
        </p:sp>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6"/>
            <a:stretch>
              <a:fillRect/>
            </a:stretch>
          </p:blipFill>
          <p:spPr>
            <a:xfrm>
              <a:off x="15705595" y="15406813"/>
              <a:ext cx="6082076" cy="6071098"/>
            </a:xfrm>
            <a:prstGeom prst="rect">
              <a:avLst/>
            </a:prstGeom>
          </p:spPr>
        </p:pic>
      </p:grpSp>
      <p:sp>
        <p:nvSpPr>
          <p:cNvPr id="15398" name="TextBox 15397">
            <a:extLst>
              <a:ext uri="{FF2B5EF4-FFF2-40B4-BE49-F238E27FC236}">
                <a16:creationId xmlns:a16="http://schemas.microsoft.com/office/drawing/2014/main" id="{525D5E19-4B3C-AFF6-A95E-21518D8D505D}"/>
              </a:ext>
            </a:extLst>
          </p:cNvPr>
          <p:cNvSpPr txBox="1"/>
          <p:nvPr/>
        </p:nvSpPr>
        <p:spPr>
          <a:xfrm>
            <a:off x="16049619" y="12144591"/>
            <a:ext cx="1258645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Participants were asked to rate their closeness with the three partners before the task on a 7-point Likert Scale</a:t>
            </a:r>
          </a:p>
        </p:txBody>
      </p:sp>
      <p:sp>
        <p:nvSpPr>
          <p:cNvPr id="15400" name="Rectangle 54"/>
          <p:cNvSpPr>
            <a:spLocks noChangeArrowheads="1"/>
          </p:cNvSpPr>
          <p:nvPr/>
        </p:nvSpPr>
        <p:spPr bwMode="auto">
          <a:xfrm>
            <a:off x="30676645" y="24531321"/>
            <a:ext cx="12928282" cy="81531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8.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2708434"/>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a:t>
            </a:r>
          </a:p>
          <a:p>
            <a:pPr>
              <a:spcBef>
                <a:spcPts val="360"/>
              </a:spcBef>
              <a:spcAft>
                <a:spcPts val="0"/>
              </a:spcAft>
              <a:buFont typeface="Arial" panose="020B0604020202020204" pitchFamily="34" charset="0"/>
              <a:buChar char="•"/>
            </a:pPr>
            <a:r>
              <a:rPr lang="en-US" sz="4000" dirty="0">
                <a:latin typeface="Helvetica"/>
                <a:ea typeface="MS PGothic"/>
                <a:cs typeface="Helvetica"/>
              </a:rPr>
              <a:t> …</a:t>
            </a:r>
          </a:p>
          <a:p>
            <a:pPr>
              <a:spcBef>
                <a:spcPts val="360"/>
              </a:spcBef>
              <a:spcAft>
                <a:spcPts val="0"/>
              </a:spcAft>
              <a:buFont typeface="Arial" panose="020B0604020202020204" pitchFamily="34" charset="0"/>
              <a:buChar char="•"/>
            </a:pPr>
            <a:r>
              <a:rPr lang="en-US" sz="4000" dirty="0">
                <a:latin typeface="Helvetica"/>
                <a:ea typeface="MS PGothic"/>
                <a:cs typeface="Helvetica"/>
              </a:rPr>
              <a:t> …</a:t>
            </a:r>
          </a:p>
          <a:p>
            <a:pPr>
              <a:spcBef>
                <a:spcPts val="360"/>
              </a:spcBef>
              <a:spcAft>
                <a:spcPts val="0"/>
              </a:spcAft>
            </a:pPr>
            <a:endParaRPr lang="en-US" sz="4000" b="1" dirty="0">
              <a:latin typeface="Helvetica"/>
              <a:ea typeface="MS PGothic"/>
              <a:cs typeface="Helvetica"/>
            </a:endParaRPr>
          </a:p>
        </p:txBody>
      </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738664"/>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Our findings help to ???</a:t>
            </a:r>
            <a:endParaRPr lang="en-US" sz="4200" dirty="0"/>
          </a:p>
        </p:txBody>
      </p:sp>
      <p:sp>
        <p:nvSpPr>
          <p:cNvPr id="15414" name="Rectangle 162">
            <a:extLst>
              <a:ext uri="{FF2B5EF4-FFF2-40B4-BE49-F238E27FC236}">
                <a16:creationId xmlns:a16="http://schemas.microsoft.com/office/drawing/2014/main" id="{25A230EB-5F32-4224-56A1-756BF91CCD15}"/>
              </a:ext>
            </a:extLst>
          </p:cNvPr>
          <p:cNvSpPr>
            <a:spLocks noChangeArrowheads="1"/>
          </p:cNvSpPr>
          <p:nvPr/>
        </p:nvSpPr>
        <p:spPr bwMode="auto">
          <a:xfrm>
            <a:off x="30683073" y="14695105"/>
            <a:ext cx="12967320" cy="936971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429" name="Rounded Rectangle 15428">
            <a:extLst>
              <a:ext uri="{FF2B5EF4-FFF2-40B4-BE49-F238E27FC236}">
                <a16:creationId xmlns:a16="http://schemas.microsoft.com/office/drawing/2014/main" id="{4B7D9A17-B83C-E5E9-1709-3AF83FDD5AD6}"/>
              </a:ext>
            </a:extLst>
          </p:cNvPr>
          <p:cNvSpPr/>
          <p:nvPr/>
        </p:nvSpPr>
        <p:spPr bwMode="auto">
          <a:xfrm>
            <a:off x="681129" y="15250685"/>
            <a:ext cx="6101659" cy="707229"/>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500" u="sng" dirty="0"/>
              <a:t>You are given </a:t>
            </a:r>
            <a:r>
              <a:rPr lang="en-US" sz="3500" b="1" u="sng" dirty="0"/>
              <a:t>$8</a:t>
            </a:r>
            <a:r>
              <a:rPr lang="en-US" sz="3500" u="sng" dirty="0"/>
              <a:t> for the trial. </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92" name="Group 15591">
            <a:extLst>
              <a:ext uri="{FF2B5EF4-FFF2-40B4-BE49-F238E27FC236}">
                <a16:creationId xmlns:a16="http://schemas.microsoft.com/office/drawing/2014/main" id="{415B0EBC-8379-F485-6113-E5DF57F87E19}"/>
              </a:ext>
            </a:extLst>
          </p:cNvPr>
          <p:cNvGrpSpPr/>
          <p:nvPr/>
        </p:nvGrpSpPr>
        <p:grpSpPr>
          <a:xfrm>
            <a:off x="2182475" y="21738507"/>
            <a:ext cx="4667290" cy="1325771"/>
            <a:chOff x="1804103" y="21738507"/>
            <a:chExt cx="4667290" cy="1325771"/>
          </a:xfrm>
        </p:grpSpPr>
        <p:sp>
          <p:nvSpPr>
            <p:cNvPr id="52" name="TextBox 51">
              <a:extLst>
                <a:ext uri="{FF2B5EF4-FFF2-40B4-BE49-F238E27FC236}">
                  <a16:creationId xmlns:a16="http://schemas.microsoft.com/office/drawing/2014/main" id="{4707B45F-027B-576B-4808-66F0A5D95489}"/>
                </a:ext>
              </a:extLst>
            </p:cNvPr>
            <p:cNvSpPr txBox="1"/>
            <p:nvPr/>
          </p:nvSpPr>
          <p:spPr>
            <a:xfrm>
              <a:off x="5031575" y="21740839"/>
              <a:ext cx="1439818" cy="1323439"/>
            </a:xfrm>
            <a:prstGeom prst="rect">
              <a:avLst/>
            </a:prstGeom>
            <a:noFill/>
          </p:spPr>
          <p:txBody>
            <a:bodyPr wrap="none" rtlCol="0">
              <a:spAutoFit/>
            </a:bodyPr>
            <a:lstStyle/>
            <a:p>
              <a:r>
                <a:rPr lang="en-US" sz="8000" b="1" dirty="0">
                  <a:solidFill>
                    <a:srgbClr val="03DF04"/>
                  </a:solidFill>
                </a:rPr>
                <a:t>X3</a:t>
              </a:r>
            </a:p>
          </p:txBody>
        </p:sp>
        <p:sp>
          <p:nvSpPr>
            <p:cNvPr id="15433" name="Rounded Rectangle 15432">
              <a:extLst>
                <a:ext uri="{FF2B5EF4-FFF2-40B4-BE49-F238E27FC236}">
                  <a16:creationId xmlns:a16="http://schemas.microsoft.com/office/drawing/2014/main" id="{9D770554-0135-2E8B-9BC3-8228F9631C8A}"/>
                </a:ext>
              </a:extLst>
            </p:cNvPr>
            <p:cNvSpPr/>
            <p:nvPr/>
          </p:nvSpPr>
          <p:spPr bwMode="auto">
            <a:xfrm>
              <a:off x="1804103" y="21738507"/>
              <a:ext cx="2967279" cy="1168944"/>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The money you  sent is tripled</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15490" name="Group 15489">
            <a:extLst>
              <a:ext uri="{FF2B5EF4-FFF2-40B4-BE49-F238E27FC236}">
                <a16:creationId xmlns:a16="http://schemas.microsoft.com/office/drawing/2014/main" id="{26CF14B9-FE18-01D5-1A0A-E19BE8376A0A}"/>
              </a:ext>
            </a:extLst>
          </p:cNvPr>
          <p:cNvGrpSpPr/>
          <p:nvPr/>
        </p:nvGrpSpPr>
        <p:grpSpPr>
          <a:xfrm>
            <a:off x="530502" y="18979791"/>
            <a:ext cx="4534151" cy="2464546"/>
            <a:chOff x="533974" y="18532980"/>
            <a:chExt cx="4534151" cy="2464546"/>
          </a:xfrm>
        </p:grpSpPr>
        <p:sp>
          <p:nvSpPr>
            <p:cNvPr id="15432" name="Rounded Rectangle 15431">
              <a:extLst>
                <a:ext uri="{FF2B5EF4-FFF2-40B4-BE49-F238E27FC236}">
                  <a16:creationId xmlns:a16="http://schemas.microsoft.com/office/drawing/2014/main" id="{29E5F4B4-9ECB-A12A-6B3F-C0855A0CDE34}"/>
                </a:ext>
              </a:extLst>
            </p:cNvPr>
            <p:cNvSpPr/>
            <p:nvPr/>
          </p:nvSpPr>
          <p:spPr bwMode="auto">
            <a:xfrm>
              <a:off x="533974" y="19334093"/>
              <a:ext cx="4534151" cy="1663433"/>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choose a higher or lower amount to share with your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42" name="Elbow Connector 15441">
              <a:extLst>
                <a:ext uri="{FF2B5EF4-FFF2-40B4-BE49-F238E27FC236}">
                  <a16:creationId xmlns:a16="http://schemas.microsoft.com/office/drawing/2014/main" id="{FD357802-D2BB-A2AC-2582-D36E431D92F1}"/>
                </a:ext>
              </a:extLst>
            </p:cNvPr>
            <p:cNvCxnSpPr>
              <a:cxnSpLocks/>
            </p:cNvCxnSpPr>
            <p:nvPr/>
          </p:nvCxnSpPr>
          <p:spPr bwMode="auto">
            <a:xfrm flipV="1">
              <a:off x="2361558" y="18532980"/>
              <a:ext cx="953880" cy="801113"/>
            </a:xfrm>
            <a:prstGeom prst="bentConnector3">
              <a:avLst>
                <a:gd name="adj1" fmla="val -3922"/>
              </a:avLst>
            </a:prstGeom>
            <a:solidFill>
              <a:schemeClr val="accent1"/>
            </a:solidFill>
            <a:ln w="50800" cap="flat" cmpd="sng" algn="ctr">
              <a:solidFill>
                <a:schemeClr val="tx1"/>
              </a:solidFill>
              <a:prstDash val="solid"/>
              <a:round/>
              <a:headEnd type="none" w="med" len="med"/>
              <a:tailEnd type="triangle"/>
            </a:ln>
            <a:effectLst/>
          </p:spPr>
        </p:cxnSp>
      </p:grpSp>
      <p:grpSp>
        <p:nvGrpSpPr>
          <p:cNvPr id="15524" name="Group 15523">
            <a:extLst>
              <a:ext uri="{FF2B5EF4-FFF2-40B4-BE49-F238E27FC236}">
                <a16:creationId xmlns:a16="http://schemas.microsoft.com/office/drawing/2014/main" id="{2BE13E56-51BA-1AA5-3DFC-DFF18406D067}"/>
              </a:ext>
            </a:extLst>
          </p:cNvPr>
          <p:cNvGrpSpPr/>
          <p:nvPr/>
        </p:nvGrpSpPr>
        <p:grpSpPr>
          <a:xfrm>
            <a:off x="175846" y="31162938"/>
            <a:ext cx="14969676" cy="1521569"/>
            <a:chOff x="348551" y="31162937"/>
            <a:chExt cx="14969676" cy="1521569"/>
          </a:xfrm>
        </p:grpSpPr>
        <p:sp>
          <p:nvSpPr>
            <p:cNvPr id="15522" name="Rectangle 162">
              <a:extLst>
                <a:ext uri="{FF2B5EF4-FFF2-40B4-BE49-F238E27FC236}">
                  <a16:creationId xmlns:a16="http://schemas.microsoft.com/office/drawing/2014/main" id="{FE02C6A3-84E3-8711-744E-4E036833F418}"/>
                </a:ext>
              </a:extLst>
            </p:cNvPr>
            <p:cNvSpPr>
              <a:spLocks noChangeArrowheads="1"/>
            </p:cNvSpPr>
            <p:nvPr/>
          </p:nvSpPr>
          <p:spPr bwMode="auto">
            <a:xfrm>
              <a:off x="348551" y="31162937"/>
              <a:ext cx="14710114" cy="152156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523" name="TextBox 15522">
              <a:extLst>
                <a:ext uri="{FF2B5EF4-FFF2-40B4-BE49-F238E27FC236}">
                  <a16:creationId xmlns:a16="http://schemas.microsoft.com/office/drawing/2014/main" id="{D58D20F7-A26B-E2DB-0B9B-4184ACFBEF53}"/>
                </a:ext>
              </a:extLst>
            </p:cNvPr>
            <p:cNvSpPr txBox="1"/>
            <p:nvPr/>
          </p:nvSpPr>
          <p:spPr>
            <a:xfrm>
              <a:off x="452491" y="31399184"/>
              <a:ext cx="14865736" cy="1015663"/>
            </a:xfrm>
            <a:prstGeom prst="rect">
              <a:avLst/>
            </a:prstGeom>
            <a:noFill/>
          </p:spPr>
          <p:txBody>
            <a:bodyPr wrap="none" rtlCol="0">
              <a:spAutoFit/>
            </a:bodyPr>
            <a:lstStyle/>
            <a:p>
              <a:r>
                <a:rPr lang="en-US" sz="2900" b="0" i="0" dirty="0">
                  <a:effectLst/>
                  <a:highlight>
                    <a:srgbClr val="D8E3C1"/>
                  </a:highlight>
                  <a:latin typeface="Slack-Lato"/>
                </a:rPr>
                <a:t>This study was supported by National Institutes of Health grant RF1-AG67011 (David V. Smith).</a:t>
              </a:r>
              <a:br>
                <a:rPr lang="en-US" sz="2900" dirty="0">
                  <a:highlight>
                    <a:srgbClr val="D8E3C1"/>
                  </a:highlight>
                </a:rPr>
              </a:br>
              <a:r>
                <a:rPr lang="en-US" sz="2900" b="0" i="0" dirty="0">
                  <a:effectLst/>
                  <a:highlight>
                    <a:srgbClr val="D8E3C1"/>
                  </a:highlight>
                  <a:latin typeface="Slack-Lato"/>
                </a:rPr>
                <a:t>Contact information: </a:t>
              </a:r>
              <a:r>
                <a:rPr lang="en-US" sz="2900" b="0" i="0" dirty="0" err="1">
                  <a:effectLst/>
                  <a:highlight>
                    <a:srgbClr val="D8E3C1"/>
                  </a:highlight>
                  <a:latin typeface="Slack-Lato"/>
                </a:rPr>
                <a:t>Avi.Dachs@temple.edu</a:t>
              </a:r>
              <a:r>
                <a:rPr lang="en-US" sz="2900" b="0" i="0" dirty="0">
                  <a:effectLst/>
                  <a:highlight>
                    <a:srgbClr val="D8E3C1"/>
                  </a:highlight>
                  <a:latin typeface="Slack-Lato"/>
                </a:rPr>
                <a:t>, </a:t>
              </a:r>
              <a:r>
                <a:rPr lang="en-US" sz="2900" b="0" i="0" dirty="0" err="1">
                  <a:effectLst/>
                  <a:highlight>
                    <a:srgbClr val="D8E3C1"/>
                  </a:highlight>
                  <a:latin typeface="Slack-Lato"/>
                </a:rPr>
                <a:t>Cooper.Sharp@temple.edu</a:t>
              </a:r>
              <a:endParaRPr lang="en-US" sz="2900" dirty="0">
                <a:highlight>
                  <a:srgbClr val="D8E3C1"/>
                </a:highlight>
              </a:endParaRPr>
            </a:p>
          </p:txBody>
        </p:sp>
      </p:grpSp>
      <p:sp>
        <p:nvSpPr>
          <p:cNvPr id="15415" name="TextBox 86">
            <a:extLst>
              <a:ext uri="{FF2B5EF4-FFF2-40B4-BE49-F238E27FC236}">
                <a16:creationId xmlns:a16="http://schemas.microsoft.com/office/drawing/2014/main" id="{B1E3A897-53DA-649F-39B9-6F4056C35336}"/>
              </a:ext>
            </a:extLst>
          </p:cNvPr>
          <p:cNvSpPr txBox="1">
            <a:spLocks noChangeArrowheads="1"/>
          </p:cNvSpPr>
          <p:nvPr/>
        </p:nvSpPr>
        <p:spPr bwMode="auto">
          <a:xfrm>
            <a:off x="33696613" y="14379109"/>
            <a:ext cx="7345905" cy="749436"/>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70" b="1" dirty="0">
                <a:solidFill>
                  <a:srgbClr val="C00000"/>
                </a:solidFill>
                <a:latin typeface="Trebuchet MS"/>
                <a:ea typeface="MS PGothic"/>
              </a:rPr>
              <a:t>7. PPI result #2</a:t>
            </a:r>
            <a:endParaRPr lang="en-US" altLang="en-US" sz="4270" b="1" dirty="0">
              <a:solidFill>
                <a:srgbClr val="C00000"/>
              </a:solidFill>
              <a:latin typeface="Trebuchet MS" panose="020B0603020202020204" pitchFamily="34" charset="0"/>
            </a:endParaRPr>
          </a:p>
        </p:txBody>
      </p:sp>
      <p:grpSp>
        <p:nvGrpSpPr>
          <p:cNvPr id="15538" name="Group 15537">
            <a:extLst>
              <a:ext uri="{FF2B5EF4-FFF2-40B4-BE49-F238E27FC236}">
                <a16:creationId xmlns:a16="http://schemas.microsoft.com/office/drawing/2014/main" id="{4ABA81B2-5B67-77D2-5517-08033E19241B}"/>
              </a:ext>
            </a:extLst>
          </p:cNvPr>
          <p:cNvGrpSpPr/>
          <p:nvPr/>
        </p:nvGrpSpPr>
        <p:grpSpPr>
          <a:xfrm>
            <a:off x="1384367" y="16779478"/>
            <a:ext cx="3578072" cy="1569660"/>
            <a:chOff x="1368567" y="16273740"/>
            <a:chExt cx="3578072" cy="1569660"/>
          </a:xfrm>
        </p:grpSpPr>
        <p:sp>
          <p:nvSpPr>
            <p:cNvPr id="15528" name="Rounded Rectangle 15527">
              <a:extLst>
                <a:ext uri="{FF2B5EF4-FFF2-40B4-BE49-F238E27FC236}">
                  <a16:creationId xmlns:a16="http://schemas.microsoft.com/office/drawing/2014/main" id="{AD2DBFD4-1DD0-D27D-7CB0-35408A9E32E4}"/>
                </a:ext>
              </a:extLst>
            </p:cNvPr>
            <p:cNvSpPr/>
            <p:nvPr/>
          </p:nvSpPr>
          <p:spPr bwMode="auto">
            <a:xfrm>
              <a:off x="1368567" y="16273740"/>
              <a:ext cx="1947439"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are assigned a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537" name="Straight Arrow Connector 15536">
              <a:extLst>
                <a:ext uri="{FF2B5EF4-FFF2-40B4-BE49-F238E27FC236}">
                  <a16:creationId xmlns:a16="http://schemas.microsoft.com/office/drawing/2014/main" id="{7A1CFB10-A83A-AA5A-7CB9-EC39B260985E}"/>
                </a:ext>
              </a:extLst>
            </p:cNvPr>
            <p:cNvCxnSpPr>
              <a:cxnSpLocks/>
              <a:stCxn id="15528" idx="3"/>
            </p:cNvCxnSpPr>
            <p:nvPr/>
          </p:nvCxnSpPr>
          <p:spPr bwMode="auto">
            <a:xfrm>
              <a:off x="3316006" y="17058570"/>
              <a:ext cx="1630633" cy="0"/>
            </a:xfrm>
            <a:prstGeom prst="straightConnector1">
              <a:avLst/>
            </a:prstGeom>
            <a:solidFill>
              <a:schemeClr val="accent1"/>
            </a:solidFill>
            <a:ln w="50800" cap="flat" cmpd="sng" algn="ctr">
              <a:solidFill>
                <a:schemeClr val="tx1"/>
              </a:solidFill>
              <a:prstDash val="solid"/>
              <a:round/>
              <a:headEnd type="none" w="med" len="med"/>
              <a:tailEnd type="triangle"/>
            </a:ln>
            <a:effectLst/>
          </p:spPr>
        </p:cxnSp>
      </p:grpSp>
      <p:sp>
        <p:nvSpPr>
          <p:cNvPr id="15542" name="Rounded Rectangle 15541">
            <a:extLst>
              <a:ext uri="{FF2B5EF4-FFF2-40B4-BE49-F238E27FC236}">
                <a16:creationId xmlns:a16="http://schemas.microsoft.com/office/drawing/2014/main" id="{F919F17A-D127-CAD0-86F8-9896BB472FB5}"/>
              </a:ext>
            </a:extLst>
          </p:cNvPr>
          <p:cNvSpPr/>
          <p:nvPr/>
        </p:nvSpPr>
        <p:spPr bwMode="auto">
          <a:xfrm>
            <a:off x="4284198" y="26701556"/>
            <a:ext cx="2843041" cy="764088"/>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4000" u="sng" dirty="0"/>
              <a:t>End of trial</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68" name="Group 15567">
            <a:extLst>
              <a:ext uri="{FF2B5EF4-FFF2-40B4-BE49-F238E27FC236}">
                <a16:creationId xmlns:a16="http://schemas.microsoft.com/office/drawing/2014/main" id="{15DD4E5E-824D-8CD0-AEF7-EDA6F18DC3E5}"/>
              </a:ext>
            </a:extLst>
          </p:cNvPr>
          <p:cNvGrpSpPr/>
          <p:nvPr/>
        </p:nvGrpSpPr>
        <p:grpSpPr>
          <a:xfrm>
            <a:off x="15706304" y="4645369"/>
            <a:ext cx="6309165" cy="7075327"/>
            <a:chOff x="15750270" y="4673598"/>
            <a:chExt cx="5084582" cy="5606469"/>
          </a:xfrm>
        </p:grpSpPr>
        <p:pic>
          <p:nvPicPr>
            <p:cNvPr id="15564" name="Picture 15563" descr="A graph with blue bars&#10;&#10;Description automatically generated">
              <a:extLst>
                <a:ext uri="{FF2B5EF4-FFF2-40B4-BE49-F238E27FC236}">
                  <a16:creationId xmlns:a16="http://schemas.microsoft.com/office/drawing/2014/main" id="{DB0F843B-3328-E19E-285A-D4405E43DE85}"/>
                </a:ext>
              </a:extLst>
            </p:cNvPr>
            <p:cNvPicPr>
              <a:picLocks noChangeAspect="1"/>
            </p:cNvPicPr>
            <p:nvPr/>
          </p:nvPicPr>
          <p:blipFill rotWithShape="1">
            <a:blip r:embed="rId7">
              <a:extLst>
                <a:ext uri="{28A0092B-C50C-407E-A947-70E740481C1C}">
                  <a14:useLocalDpi xmlns:a14="http://schemas.microsoft.com/office/drawing/2010/main" val="0"/>
                </a:ext>
              </a:extLst>
            </a:blip>
            <a:srcRect t="4600" b="9355"/>
            <a:stretch/>
          </p:blipFill>
          <p:spPr>
            <a:xfrm>
              <a:off x="15750270" y="4673598"/>
              <a:ext cx="5084582" cy="5271134"/>
            </a:xfrm>
            <a:prstGeom prst="rect">
              <a:avLst/>
            </a:prstGeom>
          </p:spPr>
        </p:pic>
        <p:sp>
          <p:nvSpPr>
            <p:cNvPr id="15565" name="TextBox 15564">
              <a:extLst>
                <a:ext uri="{FF2B5EF4-FFF2-40B4-BE49-F238E27FC236}">
                  <a16:creationId xmlns:a16="http://schemas.microsoft.com/office/drawing/2014/main" id="{365B860D-9018-7B32-A679-E688302B13FE}"/>
                </a:ext>
              </a:extLst>
            </p:cNvPr>
            <p:cNvSpPr txBox="1"/>
            <p:nvPr/>
          </p:nvSpPr>
          <p:spPr>
            <a:xfrm>
              <a:off x="16502476" y="9962289"/>
              <a:ext cx="1030571" cy="317778"/>
            </a:xfrm>
            <a:prstGeom prst="rect">
              <a:avLst/>
            </a:prstGeom>
            <a:noFill/>
          </p:spPr>
          <p:txBody>
            <a:bodyPr wrap="none" rtlCol="0">
              <a:spAutoFit/>
            </a:bodyPr>
            <a:lstStyle/>
            <a:p>
              <a:pPr algn="ctr"/>
              <a:r>
                <a:rPr lang="en-US" dirty="0"/>
                <a:t>Computer</a:t>
              </a:r>
            </a:p>
          </p:txBody>
        </p:sp>
        <p:sp>
          <p:nvSpPr>
            <p:cNvPr id="15566" name="TextBox 15565">
              <a:extLst>
                <a:ext uri="{FF2B5EF4-FFF2-40B4-BE49-F238E27FC236}">
                  <a16:creationId xmlns:a16="http://schemas.microsoft.com/office/drawing/2014/main" id="{F3DEEAB1-FC82-F27A-2480-B47275269909}"/>
                </a:ext>
              </a:extLst>
            </p:cNvPr>
            <p:cNvSpPr txBox="1"/>
            <p:nvPr/>
          </p:nvSpPr>
          <p:spPr>
            <a:xfrm>
              <a:off x="18111167" y="9962289"/>
              <a:ext cx="721620" cy="317778"/>
            </a:xfrm>
            <a:prstGeom prst="rect">
              <a:avLst/>
            </a:prstGeom>
            <a:noFill/>
          </p:spPr>
          <p:txBody>
            <a:bodyPr wrap="none" rtlCol="0">
              <a:spAutoFit/>
            </a:bodyPr>
            <a:lstStyle/>
            <a:p>
              <a:pPr algn="ctr"/>
              <a:r>
                <a:rPr lang="en-US" dirty="0"/>
                <a:t>Friend</a:t>
              </a:r>
            </a:p>
          </p:txBody>
        </p:sp>
        <p:sp>
          <p:nvSpPr>
            <p:cNvPr id="15567" name="TextBox 15566">
              <a:extLst>
                <a:ext uri="{FF2B5EF4-FFF2-40B4-BE49-F238E27FC236}">
                  <a16:creationId xmlns:a16="http://schemas.microsoft.com/office/drawing/2014/main" id="{4D3F700C-EA10-1411-613F-C7CCDD3031E0}"/>
                </a:ext>
              </a:extLst>
            </p:cNvPr>
            <p:cNvSpPr txBox="1"/>
            <p:nvPr/>
          </p:nvSpPr>
          <p:spPr>
            <a:xfrm>
              <a:off x="19443106" y="9962289"/>
              <a:ext cx="920232" cy="317778"/>
            </a:xfrm>
            <a:prstGeom prst="rect">
              <a:avLst/>
            </a:prstGeom>
            <a:noFill/>
          </p:spPr>
          <p:txBody>
            <a:bodyPr wrap="none" rtlCol="0">
              <a:spAutoFit/>
            </a:bodyPr>
            <a:lstStyle/>
            <a:p>
              <a:pPr algn="ctr"/>
              <a:r>
                <a:rPr lang="en-US" dirty="0"/>
                <a:t>Stranger</a:t>
              </a:r>
            </a:p>
          </p:txBody>
        </p:sp>
      </p:grpSp>
      <p:grpSp>
        <p:nvGrpSpPr>
          <p:cNvPr id="15570" name="Group 15569">
            <a:extLst>
              <a:ext uri="{FF2B5EF4-FFF2-40B4-BE49-F238E27FC236}">
                <a16:creationId xmlns:a16="http://schemas.microsoft.com/office/drawing/2014/main" id="{C1A47842-8843-10BD-987C-4CF10B4A7000}"/>
              </a:ext>
            </a:extLst>
          </p:cNvPr>
          <p:cNvGrpSpPr/>
          <p:nvPr/>
        </p:nvGrpSpPr>
        <p:grpSpPr>
          <a:xfrm>
            <a:off x="798440" y="24599604"/>
            <a:ext cx="3189734" cy="2991886"/>
            <a:chOff x="606454" y="26219689"/>
            <a:chExt cx="5586954" cy="2277700"/>
          </a:xfrm>
        </p:grpSpPr>
        <p:sp>
          <p:nvSpPr>
            <p:cNvPr id="15571" name="Rectangle 15570">
              <a:extLst>
                <a:ext uri="{FF2B5EF4-FFF2-40B4-BE49-F238E27FC236}">
                  <a16:creationId xmlns:a16="http://schemas.microsoft.com/office/drawing/2014/main" id="{1BCA2259-D5DC-FD9D-A1CB-68FAAECB32D0}"/>
                </a:ext>
              </a:extLst>
            </p:cNvPr>
            <p:cNvSpPr/>
            <p:nvPr/>
          </p:nvSpPr>
          <p:spPr bwMode="auto">
            <a:xfrm>
              <a:off x="606454" y="26219689"/>
              <a:ext cx="5418229" cy="2277700"/>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572" name="TextBox 15571">
              <a:extLst>
                <a:ext uri="{FF2B5EF4-FFF2-40B4-BE49-F238E27FC236}">
                  <a16:creationId xmlns:a16="http://schemas.microsoft.com/office/drawing/2014/main" id="{383C5437-FEBC-DA64-E321-D83A0D87565D}"/>
                </a:ext>
              </a:extLst>
            </p:cNvPr>
            <p:cNvSpPr txBox="1"/>
            <p:nvPr/>
          </p:nvSpPr>
          <p:spPr>
            <a:xfrm>
              <a:off x="1036663" y="26346047"/>
              <a:ext cx="5156745" cy="1944756"/>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latin typeface="Helvetica" pitchFamily="2" charset="0"/>
                  <a:ea typeface="Times New Roman" panose="02020603050405020304" pitchFamily="18" charset="0"/>
                  <a:cs typeface="Helvetica"/>
                </a:rPr>
                <a:t>C</a:t>
              </a:r>
              <a:r>
                <a:rPr lang="en-US" sz="3200" dirty="0">
                  <a:effectLst/>
                  <a:latin typeface="Helvetica" pitchFamily="2" charset="0"/>
                  <a:ea typeface="Times New Roman" panose="02020603050405020304" pitchFamily="18" charset="0"/>
                  <a:cs typeface="Helvetica"/>
                </a:rPr>
                <a:t>ompleted the </a:t>
              </a:r>
              <a:r>
                <a:rPr lang="en-US" sz="3200" b="0" i="0" dirty="0">
                  <a:effectLst/>
                  <a:latin typeface="Helvetica" pitchFamily="2" charset="0"/>
                </a:rPr>
                <a:t>Inclusion of Other in Self Scale.</a:t>
              </a:r>
              <a:endParaRPr lang="en-US" sz="3200" dirty="0">
                <a:effectLst/>
                <a:latin typeface="Helvetica"/>
                <a:ea typeface="Times New Roman" panose="02020603050405020304" pitchFamily="18" charset="0"/>
                <a:cs typeface="Helvetica"/>
              </a:endParaRPr>
            </a:p>
          </p:txBody>
        </p:sp>
      </p:grpSp>
      <p:grpSp>
        <p:nvGrpSpPr>
          <p:cNvPr id="15583" name="Group 15582">
            <a:extLst>
              <a:ext uri="{FF2B5EF4-FFF2-40B4-BE49-F238E27FC236}">
                <a16:creationId xmlns:a16="http://schemas.microsoft.com/office/drawing/2014/main" id="{81424957-973F-2BA6-23A6-71C1377BD2AF}"/>
              </a:ext>
            </a:extLst>
          </p:cNvPr>
          <p:cNvGrpSpPr/>
          <p:nvPr/>
        </p:nvGrpSpPr>
        <p:grpSpPr>
          <a:xfrm>
            <a:off x="23069225" y="5328136"/>
            <a:ext cx="6472299" cy="6595040"/>
            <a:chOff x="23205210" y="4927197"/>
            <a:chExt cx="5400682" cy="6202336"/>
          </a:xfrm>
        </p:grpSpPr>
        <p:pic>
          <p:nvPicPr>
            <p:cNvPr id="15574" name="Picture 15573" descr="A graph of a line&#10;&#10;Description automatically generated with medium confidence">
              <a:extLst>
                <a:ext uri="{FF2B5EF4-FFF2-40B4-BE49-F238E27FC236}">
                  <a16:creationId xmlns:a16="http://schemas.microsoft.com/office/drawing/2014/main" id="{C54D0E15-DCC7-A19B-7997-13F421CEA2FB}"/>
                </a:ext>
              </a:extLst>
            </p:cNvPr>
            <p:cNvPicPr>
              <a:picLocks noChangeAspect="1"/>
            </p:cNvPicPr>
            <p:nvPr/>
          </p:nvPicPr>
          <p:blipFill rotWithShape="1">
            <a:blip r:embed="rId8">
              <a:extLst>
                <a:ext uri="{28A0092B-C50C-407E-A947-70E740481C1C}">
                  <a14:useLocalDpi xmlns:a14="http://schemas.microsoft.com/office/drawing/2010/main" val="0"/>
                </a:ext>
              </a:extLst>
            </a:blip>
            <a:srcRect r="3644" b="9068"/>
            <a:stretch/>
          </p:blipFill>
          <p:spPr>
            <a:xfrm>
              <a:off x="24004670" y="4927197"/>
              <a:ext cx="4601222" cy="5427765"/>
            </a:xfrm>
            <a:prstGeom prst="rect">
              <a:avLst/>
            </a:prstGeom>
          </p:spPr>
        </p:pic>
        <p:sp>
          <p:nvSpPr>
            <p:cNvPr id="15575" name="TextBox 15574">
              <a:extLst>
                <a:ext uri="{FF2B5EF4-FFF2-40B4-BE49-F238E27FC236}">
                  <a16:creationId xmlns:a16="http://schemas.microsoft.com/office/drawing/2014/main" id="{136D78E5-71EA-17ED-91C9-F9CCADA262FF}"/>
                </a:ext>
              </a:extLst>
            </p:cNvPr>
            <p:cNvSpPr txBox="1"/>
            <p:nvPr/>
          </p:nvSpPr>
          <p:spPr>
            <a:xfrm rot="16200000">
              <a:off x="21066163" y="7584362"/>
              <a:ext cx="4647426" cy="369332"/>
            </a:xfrm>
            <a:prstGeom prst="rect">
              <a:avLst/>
            </a:prstGeom>
            <a:noFill/>
          </p:spPr>
          <p:txBody>
            <a:bodyPr wrap="none" rtlCol="0">
              <a:spAutoFit/>
            </a:bodyPr>
            <a:lstStyle/>
            <a:p>
              <a:r>
                <a:rPr lang="en-US" dirty="0"/>
                <a:t>Sharing with Friend – Sharing with Stranger</a:t>
              </a:r>
            </a:p>
          </p:txBody>
        </p:sp>
        <p:sp>
          <p:nvSpPr>
            <p:cNvPr id="15576" name="TextBox 15575">
              <a:extLst>
                <a:ext uri="{FF2B5EF4-FFF2-40B4-BE49-F238E27FC236}">
                  <a16:creationId xmlns:a16="http://schemas.microsoft.com/office/drawing/2014/main" id="{7E602785-88A0-0942-659B-9A750B46996F}"/>
                </a:ext>
              </a:extLst>
            </p:cNvPr>
            <p:cNvSpPr txBox="1"/>
            <p:nvPr/>
          </p:nvSpPr>
          <p:spPr>
            <a:xfrm>
              <a:off x="23603500" y="9333929"/>
              <a:ext cx="389850" cy="369332"/>
            </a:xfrm>
            <a:prstGeom prst="rect">
              <a:avLst/>
            </a:prstGeom>
            <a:noFill/>
          </p:spPr>
          <p:txBody>
            <a:bodyPr wrap="none" rtlCol="0">
              <a:spAutoFit/>
            </a:bodyPr>
            <a:lstStyle/>
            <a:p>
              <a:r>
                <a:rPr lang="en-US" dirty="0"/>
                <a:t>-2</a:t>
              </a:r>
            </a:p>
          </p:txBody>
        </p:sp>
        <p:sp>
          <p:nvSpPr>
            <p:cNvPr id="15577" name="TextBox 15576">
              <a:extLst>
                <a:ext uri="{FF2B5EF4-FFF2-40B4-BE49-F238E27FC236}">
                  <a16:creationId xmlns:a16="http://schemas.microsoft.com/office/drawing/2014/main" id="{44C014BB-4057-CE6F-8488-5075607DFC5B}"/>
                </a:ext>
              </a:extLst>
            </p:cNvPr>
            <p:cNvSpPr txBox="1"/>
            <p:nvPr/>
          </p:nvSpPr>
          <p:spPr>
            <a:xfrm>
              <a:off x="23684874" y="6124920"/>
              <a:ext cx="312906" cy="369332"/>
            </a:xfrm>
            <a:prstGeom prst="rect">
              <a:avLst/>
            </a:prstGeom>
            <a:noFill/>
          </p:spPr>
          <p:txBody>
            <a:bodyPr wrap="none" rtlCol="0">
              <a:spAutoFit/>
            </a:bodyPr>
            <a:lstStyle/>
            <a:p>
              <a:r>
                <a:rPr lang="en-US" dirty="0"/>
                <a:t>2</a:t>
              </a:r>
            </a:p>
          </p:txBody>
        </p:sp>
        <p:sp>
          <p:nvSpPr>
            <p:cNvPr id="15578" name="TextBox 15577">
              <a:extLst>
                <a:ext uri="{FF2B5EF4-FFF2-40B4-BE49-F238E27FC236}">
                  <a16:creationId xmlns:a16="http://schemas.microsoft.com/office/drawing/2014/main" id="{7FC9F9D2-B5EE-482C-7F35-E7345B0CA197}"/>
                </a:ext>
              </a:extLst>
            </p:cNvPr>
            <p:cNvSpPr txBox="1"/>
            <p:nvPr/>
          </p:nvSpPr>
          <p:spPr>
            <a:xfrm>
              <a:off x="23666269" y="7699893"/>
              <a:ext cx="312906" cy="369332"/>
            </a:xfrm>
            <a:prstGeom prst="rect">
              <a:avLst/>
            </a:prstGeom>
            <a:noFill/>
          </p:spPr>
          <p:txBody>
            <a:bodyPr wrap="none" rtlCol="0">
              <a:spAutoFit/>
            </a:bodyPr>
            <a:lstStyle/>
            <a:p>
              <a:r>
                <a:rPr lang="en-US" dirty="0"/>
                <a:t>0</a:t>
              </a:r>
            </a:p>
          </p:txBody>
        </p:sp>
        <p:sp>
          <p:nvSpPr>
            <p:cNvPr id="15579" name="TextBox 15578">
              <a:extLst>
                <a:ext uri="{FF2B5EF4-FFF2-40B4-BE49-F238E27FC236}">
                  <a16:creationId xmlns:a16="http://schemas.microsoft.com/office/drawing/2014/main" id="{115532EB-4683-39F0-80DC-27E22F24AA20}"/>
                </a:ext>
              </a:extLst>
            </p:cNvPr>
            <p:cNvSpPr txBox="1"/>
            <p:nvPr/>
          </p:nvSpPr>
          <p:spPr>
            <a:xfrm>
              <a:off x="23984464" y="10392031"/>
              <a:ext cx="441146" cy="369332"/>
            </a:xfrm>
            <a:prstGeom prst="rect">
              <a:avLst/>
            </a:prstGeom>
            <a:noFill/>
          </p:spPr>
          <p:txBody>
            <a:bodyPr wrap="none" rtlCol="0">
              <a:spAutoFit/>
            </a:bodyPr>
            <a:lstStyle/>
            <a:p>
              <a:r>
                <a:rPr lang="en-US" dirty="0"/>
                <a:t>20</a:t>
              </a:r>
            </a:p>
          </p:txBody>
        </p:sp>
        <p:sp>
          <p:nvSpPr>
            <p:cNvPr id="15580" name="TextBox 15579">
              <a:extLst>
                <a:ext uri="{FF2B5EF4-FFF2-40B4-BE49-F238E27FC236}">
                  <a16:creationId xmlns:a16="http://schemas.microsoft.com/office/drawing/2014/main" id="{3A319DEB-B897-3E25-DF07-7B459ED170BF}"/>
                </a:ext>
              </a:extLst>
            </p:cNvPr>
            <p:cNvSpPr txBox="1"/>
            <p:nvPr/>
          </p:nvSpPr>
          <p:spPr>
            <a:xfrm>
              <a:off x="25529056" y="10429100"/>
              <a:ext cx="441146" cy="369332"/>
            </a:xfrm>
            <a:prstGeom prst="rect">
              <a:avLst/>
            </a:prstGeom>
            <a:noFill/>
          </p:spPr>
          <p:txBody>
            <a:bodyPr wrap="none" rtlCol="0">
              <a:spAutoFit/>
            </a:bodyPr>
            <a:lstStyle/>
            <a:p>
              <a:r>
                <a:rPr lang="en-US" dirty="0"/>
                <a:t>40</a:t>
              </a:r>
            </a:p>
          </p:txBody>
        </p:sp>
        <p:sp>
          <p:nvSpPr>
            <p:cNvPr id="15581" name="TextBox 15580">
              <a:extLst>
                <a:ext uri="{FF2B5EF4-FFF2-40B4-BE49-F238E27FC236}">
                  <a16:creationId xmlns:a16="http://schemas.microsoft.com/office/drawing/2014/main" id="{92207841-AB47-B838-56C4-7A8991CBC082}"/>
                </a:ext>
              </a:extLst>
            </p:cNvPr>
            <p:cNvSpPr txBox="1"/>
            <p:nvPr/>
          </p:nvSpPr>
          <p:spPr>
            <a:xfrm>
              <a:off x="27155348" y="10416605"/>
              <a:ext cx="441146" cy="369332"/>
            </a:xfrm>
            <a:prstGeom prst="rect">
              <a:avLst/>
            </a:prstGeom>
            <a:noFill/>
          </p:spPr>
          <p:txBody>
            <a:bodyPr wrap="none" rtlCol="0">
              <a:spAutoFit/>
            </a:bodyPr>
            <a:lstStyle/>
            <a:p>
              <a:r>
                <a:rPr lang="en-US" dirty="0"/>
                <a:t>60</a:t>
              </a:r>
            </a:p>
          </p:txBody>
        </p:sp>
        <p:sp>
          <p:nvSpPr>
            <p:cNvPr id="15582" name="TextBox 15581">
              <a:extLst>
                <a:ext uri="{FF2B5EF4-FFF2-40B4-BE49-F238E27FC236}">
                  <a16:creationId xmlns:a16="http://schemas.microsoft.com/office/drawing/2014/main" id="{3BD77EC1-C3D3-3CE1-B336-0F6F0DC0255C}"/>
                </a:ext>
              </a:extLst>
            </p:cNvPr>
            <p:cNvSpPr txBox="1"/>
            <p:nvPr/>
          </p:nvSpPr>
          <p:spPr>
            <a:xfrm>
              <a:off x="25933780" y="10760201"/>
              <a:ext cx="595035" cy="369332"/>
            </a:xfrm>
            <a:prstGeom prst="rect">
              <a:avLst/>
            </a:prstGeom>
            <a:noFill/>
          </p:spPr>
          <p:txBody>
            <a:bodyPr wrap="none" rtlCol="0">
              <a:spAutoFit/>
            </a:bodyPr>
            <a:lstStyle/>
            <a:p>
              <a:r>
                <a:rPr lang="en-US" dirty="0"/>
                <a:t>Age</a:t>
              </a:r>
            </a:p>
          </p:txBody>
        </p:sp>
      </p:grpSp>
      <p:grpSp>
        <p:nvGrpSpPr>
          <p:cNvPr id="15587" name="Group 15586">
            <a:extLst>
              <a:ext uri="{FF2B5EF4-FFF2-40B4-BE49-F238E27FC236}">
                <a16:creationId xmlns:a16="http://schemas.microsoft.com/office/drawing/2014/main" id="{57BE42D1-D947-A011-A901-F26C21D3FBA6}"/>
              </a:ext>
            </a:extLst>
          </p:cNvPr>
          <p:cNvGrpSpPr/>
          <p:nvPr/>
        </p:nvGrpSpPr>
        <p:grpSpPr>
          <a:xfrm>
            <a:off x="23831562" y="15483235"/>
            <a:ext cx="4822423" cy="6591794"/>
            <a:chOff x="23748065" y="15407376"/>
            <a:chExt cx="5097317" cy="5969000"/>
          </a:xfrm>
        </p:grpSpPr>
        <p:pic>
          <p:nvPicPr>
            <p:cNvPr id="15585" name="Picture 15584" descr="A graph with black dots and blue dotted lines&#10;&#10;Description automatically generated">
              <a:extLst>
                <a:ext uri="{FF2B5EF4-FFF2-40B4-BE49-F238E27FC236}">
                  <a16:creationId xmlns:a16="http://schemas.microsoft.com/office/drawing/2014/main" id="{598519B8-9B21-7540-A2A5-828BC7F408F8}"/>
                </a:ext>
              </a:extLst>
            </p:cNvPr>
            <p:cNvPicPr>
              <a:picLocks noChangeAspect="1"/>
            </p:cNvPicPr>
            <p:nvPr/>
          </p:nvPicPr>
          <p:blipFill rotWithShape="1">
            <a:blip r:embed="rId9">
              <a:extLst>
                <a:ext uri="{28A0092B-C50C-407E-A947-70E740481C1C}">
                  <a14:useLocalDpi xmlns:a14="http://schemas.microsoft.com/office/drawing/2010/main" val="0"/>
                </a:ext>
              </a:extLst>
            </a:blip>
            <a:srcRect l="4171" r="4414"/>
            <a:stretch/>
          </p:blipFill>
          <p:spPr>
            <a:xfrm>
              <a:off x="24027316" y="15407376"/>
              <a:ext cx="4818066" cy="5969000"/>
            </a:xfrm>
            <a:prstGeom prst="rect">
              <a:avLst/>
            </a:prstGeom>
          </p:spPr>
        </p:pic>
        <p:sp>
          <p:nvSpPr>
            <p:cNvPr id="15586" name="TextBox 15585">
              <a:extLst>
                <a:ext uri="{FF2B5EF4-FFF2-40B4-BE49-F238E27FC236}">
                  <a16:creationId xmlns:a16="http://schemas.microsoft.com/office/drawing/2014/main" id="{A0153BBE-778C-5CAD-D96B-A250B1AF85E3}"/>
                </a:ext>
              </a:extLst>
            </p:cNvPr>
            <p:cNvSpPr txBox="1"/>
            <p:nvPr/>
          </p:nvSpPr>
          <p:spPr>
            <a:xfrm rot="16200000">
              <a:off x="22759974" y="17825166"/>
              <a:ext cx="2345514" cy="369332"/>
            </a:xfrm>
            <a:prstGeom prst="rect">
              <a:avLst/>
            </a:prstGeom>
            <a:noFill/>
          </p:spPr>
          <p:txBody>
            <a:bodyPr wrap="none" rtlCol="0">
              <a:spAutoFit/>
            </a:bodyPr>
            <a:lstStyle/>
            <a:p>
              <a:r>
                <a:rPr lang="en-US" dirty="0"/>
                <a:t>Reciprocate &gt; Defect</a:t>
              </a:r>
            </a:p>
          </p:txBody>
        </p:sp>
      </p:grpSp>
      <p:pic>
        <p:nvPicPr>
          <p:cNvPr id="15589" name="Picture 15588" descr="A graph with black dots&#10;&#10;Description automatically generated">
            <a:extLst>
              <a:ext uri="{FF2B5EF4-FFF2-40B4-BE49-F238E27FC236}">
                <a16:creationId xmlns:a16="http://schemas.microsoft.com/office/drawing/2014/main" id="{4BFEB967-8D3E-4677-F23E-77749588839D}"/>
              </a:ext>
            </a:extLst>
          </p:cNvPr>
          <p:cNvPicPr>
            <a:picLocks noChangeAspect="1"/>
          </p:cNvPicPr>
          <p:nvPr/>
        </p:nvPicPr>
        <p:blipFill rotWithShape="1">
          <a:blip r:embed="rId10">
            <a:extLst>
              <a:ext uri="{28A0092B-C50C-407E-A947-70E740481C1C}">
                <a14:useLocalDpi xmlns:a14="http://schemas.microsoft.com/office/drawing/2010/main" val="0"/>
              </a:ext>
            </a:extLst>
          </a:blip>
          <a:srcRect r="4889"/>
          <a:stretch/>
        </p:blipFill>
        <p:spPr>
          <a:xfrm>
            <a:off x="17399205" y="23832491"/>
            <a:ext cx="4818939" cy="6591795"/>
          </a:xfrm>
          <a:prstGeom prst="rect">
            <a:avLst/>
          </a:prstGeom>
        </p:spPr>
      </p:pic>
      <p:pic>
        <p:nvPicPr>
          <p:cNvPr id="15591" name="Picture 15590" descr="A graph with black dots&#10;&#10;Description automatically generated">
            <a:extLst>
              <a:ext uri="{FF2B5EF4-FFF2-40B4-BE49-F238E27FC236}">
                <a16:creationId xmlns:a16="http://schemas.microsoft.com/office/drawing/2014/main" id="{11E209B1-E673-CE6E-75F6-8293649AD060}"/>
              </a:ext>
            </a:extLst>
          </p:cNvPr>
          <p:cNvPicPr>
            <a:picLocks noChangeAspect="1"/>
          </p:cNvPicPr>
          <p:nvPr/>
        </p:nvPicPr>
        <p:blipFill rotWithShape="1">
          <a:blip r:embed="rId11">
            <a:extLst>
              <a:ext uri="{28A0092B-C50C-407E-A947-70E740481C1C}">
                <a14:useLocalDpi xmlns:a14="http://schemas.microsoft.com/office/drawing/2010/main" val="0"/>
              </a:ext>
            </a:extLst>
          </a:blip>
          <a:srcRect r="4889"/>
          <a:stretch/>
        </p:blipFill>
        <p:spPr>
          <a:xfrm>
            <a:off x="23862249" y="23819109"/>
            <a:ext cx="4818939" cy="6665769"/>
          </a:xfrm>
          <a:prstGeom prst="rect">
            <a:avLst/>
          </a:prstGeom>
        </p:spPr>
      </p:pic>
      <p:sp>
        <p:nvSpPr>
          <p:cNvPr id="15595" name="TextBox 15594">
            <a:extLst>
              <a:ext uri="{FF2B5EF4-FFF2-40B4-BE49-F238E27FC236}">
                <a16:creationId xmlns:a16="http://schemas.microsoft.com/office/drawing/2014/main" id="{BD0DF8CA-4563-3ED7-8925-AC53B7E7547D}"/>
              </a:ext>
            </a:extLst>
          </p:cNvPr>
          <p:cNvSpPr txBox="1"/>
          <p:nvPr/>
        </p:nvSpPr>
        <p:spPr>
          <a:xfrm>
            <a:off x="18362902" y="31104529"/>
            <a:ext cx="9855262" cy="553998"/>
          </a:xfrm>
          <a:prstGeom prst="rect">
            <a:avLst/>
          </a:prstGeom>
          <a:noFill/>
        </p:spPr>
        <p:txBody>
          <a:bodyPr wrap="none" rtlCol="0">
            <a:spAutoFit/>
          </a:bodyPr>
          <a:lstStyle/>
          <a:p>
            <a:r>
              <a:rPr lang="en-US" sz="3000" dirty="0"/>
              <a:t>We found that activation in the VS was not related to age</a:t>
            </a:r>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EBE959C-E76F-26F5-3977-7B65ACC54BDB}"/>
              </a:ext>
            </a:extLst>
          </p:cNvPr>
          <p:cNvGrpSpPr/>
          <p:nvPr/>
        </p:nvGrpSpPr>
        <p:grpSpPr>
          <a:xfrm>
            <a:off x="14894830" y="6574861"/>
            <a:ext cx="7364964" cy="7636639"/>
            <a:chOff x="17267302" y="5300010"/>
            <a:chExt cx="15233772" cy="14187253"/>
          </a:xfrm>
        </p:grpSpPr>
        <p:grpSp>
          <p:nvGrpSpPr>
            <p:cNvPr id="28" name="Group 27">
              <a:extLst>
                <a:ext uri="{FF2B5EF4-FFF2-40B4-BE49-F238E27FC236}">
                  <a16:creationId xmlns:a16="http://schemas.microsoft.com/office/drawing/2014/main" id="{ACEBC02A-D17E-C673-FF14-B2A7299CD29C}"/>
                </a:ext>
              </a:extLst>
            </p:cNvPr>
            <p:cNvGrpSpPr/>
            <p:nvPr/>
          </p:nvGrpSpPr>
          <p:grpSpPr>
            <a:xfrm>
              <a:off x="17267302" y="5300010"/>
              <a:ext cx="15233772" cy="14187253"/>
              <a:chOff x="17267302" y="5300010"/>
              <a:chExt cx="15233772" cy="14187253"/>
            </a:xfrm>
          </p:grpSpPr>
          <p:grpSp>
            <p:nvGrpSpPr>
              <p:cNvPr id="24" name="Group 23">
                <a:extLst>
                  <a:ext uri="{FF2B5EF4-FFF2-40B4-BE49-F238E27FC236}">
                    <a16:creationId xmlns:a16="http://schemas.microsoft.com/office/drawing/2014/main" id="{E7764D22-FEE2-29D5-77DA-B49907121EA6}"/>
                  </a:ext>
                </a:extLst>
              </p:cNvPr>
              <p:cNvGrpSpPr/>
              <p:nvPr/>
            </p:nvGrpSpPr>
            <p:grpSpPr>
              <a:xfrm>
                <a:off x="17267302" y="5300010"/>
                <a:ext cx="15233772" cy="12987990"/>
                <a:chOff x="17267302" y="5300010"/>
                <a:chExt cx="15233772" cy="12987990"/>
              </a:xfrm>
            </p:grpSpPr>
            <p:sp>
              <p:nvSpPr>
                <p:cNvPr id="3" name="Rectangle 2">
                  <a:extLst>
                    <a:ext uri="{FF2B5EF4-FFF2-40B4-BE49-F238E27FC236}">
                      <a16:creationId xmlns:a16="http://schemas.microsoft.com/office/drawing/2014/main" id="{34AFE783-B325-8261-217E-BB4718A01EFE}"/>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 name="Rectangle 3">
                  <a:extLst>
                    <a:ext uri="{FF2B5EF4-FFF2-40B4-BE49-F238E27FC236}">
                      <a16:creationId xmlns:a16="http://schemas.microsoft.com/office/drawing/2014/main" id="{D50A6255-10BD-F4E5-2627-B4138E01A997}"/>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 name="Rectangle 4">
                  <a:extLst>
                    <a:ext uri="{FF2B5EF4-FFF2-40B4-BE49-F238E27FC236}">
                      <a16:creationId xmlns:a16="http://schemas.microsoft.com/office/drawing/2014/main" id="{D5E1BAF2-0B1B-D6EB-D2FA-146E5C5CA6F3}"/>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7" name="Straight Connector 6">
                  <a:extLst>
                    <a:ext uri="{FF2B5EF4-FFF2-40B4-BE49-F238E27FC236}">
                      <a16:creationId xmlns:a16="http://schemas.microsoft.com/office/drawing/2014/main" id="{BC5D78FB-3804-D93A-C859-BB3859DEF4C8}"/>
                    </a:ext>
                  </a:extLst>
                </p:cNvPr>
                <p:cNvCxnSpPr>
                  <a:cxnSpLocks/>
                  <a:stCxn id="3"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9" name="Straight Connector 8">
                  <a:extLst>
                    <a:ext uri="{FF2B5EF4-FFF2-40B4-BE49-F238E27FC236}">
                      <a16:creationId xmlns:a16="http://schemas.microsoft.com/office/drawing/2014/main" id="{3323A30F-EB0B-0BC4-120E-17A180965A1E}"/>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1" name="Straight Connector 10">
                  <a:extLst>
                    <a:ext uri="{FF2B5EF4-FFF2-40B4-BE49-F238E27FC236}">
                      <a16:creationId xmlns:a16="http://schemas.microsoft.com/office/drawing/2014/main" id="{094A9A13-7EB7-FB0C-327F-5A30EB7CA157}"/>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3" name="Straight Connector 12">
                  <a:extLst>
                    <a:ext uri="{FF2B5EF4-FFF2-40B4-BE49-F238E27FC236}">
                      <a16:creationId xmlns:a16="http://schemas.microsoft.com/office/drawing/2014/main" id="{E6E28200-C2D5-D487-234B-026AA92A5BE8}"/>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4" name="Straight Connector 13">
                  <a:extLst>
                    <a:ext uri="{FF2B5EF4-FFF2-40B4-BE49-F238E27FC236}">
                      <a16:creationId xmlns:a16="http://schemas.microsoft.com/office/drawing/2014/main" id="{F1CF9C76-ADBF-601C-5AB7-771E0AFB631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00D94689-F8BC-3D65-2CD3-9F5CE68EF435}"/>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8" name="Multiply 17">
                  <a:extLst>
                    <a:ext uri="{FF2B5EF4-FFF2-40B4-BE49-F238E27FC236}">
                      <a16:creationId xmlns:a16="http://schemas.microsoft.com/office/drawing/2014/main" id="{B86E0230-0B5B-2336-900D-8F8ED1CB2692}"/>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21" name="Straight Connector 20">
                  <a:extLst>
                    <a:ext uri="{FF2B5EF4-FFF2-40B4-BE49-F238E27FC236}">
                      <a16:creationId xmlns:a16="http://schemas.microsoft.com/office/drawing/2014/main" id="{3DC4BE0B-55CC-21CC-228D-4D58C6F81768}"/>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A1CE6A5D-1BCC-6244-27A6-2E6271A4DF81}"/>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ABE1D573-BA3F-6844-0338-2311984CF2C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25" name="TextBox 24">
                <a:extLst>
                  <a:ext uri="{FF2B5EF4-FFF2-40B4-BE49-F238E27FC236}">
                    <a16:creationId xmlns:a16="http://schemas.microsoft.com/office/drawing/2014/main" id="{E82CD6FC-4197-B0F5-EB5E-7B8778E1D9B9}"/>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26" name="TextBox 25">
                <a:extLst>
                  <a:ext uri="{FF2B5EF4-FFF2-40B4-BE49-F238E27FC236}">
                    <a16:creationId xmlns:a16="http://schemas.microsoft.com/office/drawing/2014/main" id="{5FEAD576-740F-E665-EA00-7C83C68CAF0A}"/>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27" name="TextBox 26">
                <a:extLst>
                  <a:ext uri="{FF2B5EF4-FFF2-40B4-BE49-F238E27FC236}">
                    <a16:creationId xmlns:a16="http://schemas.microsoft.com/office/drawing/2014/main" id="{484B7075-BCE9-5433-D5D4-988B3A796C1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29" name="Multiply 28">
              <a:extLst>
                <a:ext uri="{FF2B5EF4-FFF2-40B4-BE49-F238E27FC236}">
                  <a16:creationId xmlns:a16="http://schemas.microsoft.com/office/drawing/2014/main" id="{E2544558-A55A-31AE-362C-DC229ED9A5F8}"/>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0" name="Multiply 29">
              <a:extLst>
                <a:ext uri="{FF2B5EF4-FFF2-40B4-BE49-F238E27FC236}">
                  <a16:creationId xmlns:a16="http://schemas.microsoft.com/office/drawing/2014/main" id="{49EFB42A-BDC5-EDFE-30E2-3E0854186CEB}"/>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1" name="Multiply 30">
              <a:extLst>
                <a:ext uri="{FF2B5EF4-FFF2-40B4-BE49-F238E27FC236}">
                  <a16:creationId xmlns:a16="http://schemas.microsoft.com/office/drawing/2014/main" id="{1F137DB2-67E6-E506-A500-26336390C594}"/>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33" name="Group 32">
            <a:extLst>
              <a:ext uri="{FF2B5EF4-FFF2-40B4-BE49-F238E27FC236}">
                <a16:creationId xmlns:a16="http://schemas.microsoft.com/office/drawing/2014/main" id="{3CB27CAF-4280-AD34-B210-5080F180D2C2}"/>
              </a:ext>
            </a:extLst>
          </p:cNvPr>
          <p:cNvGrpSpPr/>
          <p:nvPr/>
        </p:nvGrpSpPr>
        <p:grpSpPr>
          <a:xfrm>
            <a:off x="3015059" y="6187482"/>
            <a:ext cx="7765387" cy="8857886"/>
            <a:chOff x="15752261" y="4761579"/>
            <a:chExt cx="6351768" cy="7245387"/>
          </a:xfrm>
        </p:grpSpPr>
        <p:grpSp>
          <p:nvGrpSpPr>
            <p:cNvPr id="34" name="Group 33">
              <a:extLst>
                <a:ext uri="{FF2B5EF4-FFF2-40B4-BE49-F238E27FC236}">
                  <a16:creationId xmlns:a16="http://schemas.microsoft.com/office/drawing/2014/main" id="{8C781F48-3237-34BE-792E-D00CC6F352EC}"/>
                </a:ext>
              </a:extLst>
            </p:cNvPr>
            <p:cNvGrpSpPr/>
            <p:nvPr/>
          </p:nvGrpSpPr>
          <p:grpSpPr>
            <a:xfrm>
              <a:off x="15752261" y="4761579"/>
              <a:ext cx="6351768" cy="7245387"/>
              <a:chOff x="15752261" y="4761579"/>
              <a:chExt cx="6351768" cy="7245387"/>
            </a:xfrm>
          </p:grpSpPr>
          <p:sp>
            <p:nvSpPr>
              <p:cNvPr id="42" name="Rectangle 41">
                <a:extLst>
                  <a:ext uri="{FF2B5EF4-FFF2-40B4-BE49-F238E27FC236}">
                    <a16:creationId xmlns:a16="http://schemas.microsoft.com/office/drawing/2014/main" id="{AFCDB739-B6CA-6A2F-4FF4-2D6158E62F41}"/>
                  </a:ext>
                </a:extLst>
              </p:cNvPr>
              <p:cNvSpPr/>
              <p:nvPr/>
            </p:nvSpPr>
            <p:spPr bwMode="auto">
              <a:xfrm>
                <a:off x="15752261" y="4761579"/>
                <a:ext cx="6351768" cy="7245387"/>
              </a:xfrm>
              <a:prstGeom prst="rect">
                <a:avLst/>
              </a:prstGeom>
              <a:solidFill>
                <a:srgbClr val="FAF86D">
                  <a:alpha val="54118"/>
                </a:srgb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3" name="TextBox 42">
                <a:extLst>
                  <a:ext uri="{FF2B5EF4-FFF2-40B4-BE49-F238E27FC236}">
                    <a16:creationId xmlns:a16="http://schemas.microsoft.com/office/drawing/2014/main" id="{D8CB1042-C763-7E92-8F91-E80C5111A56D}"/>
                  </a:ext>
                </a:extLst>
              </p:cNvPr>
              <p:cNvSpPr txBox="1"/>
              <p:nvPr/>
            </p:nvSpPr>
            <p:spPr>
              <a:xfrm>
                <a:off x="15906068" y="11363259"/>
                <a:ext cx="4965131" cy="579022"/>
              </a:xfrm>
              <a:prstGeom prst="rect">
                <a:avLst/>
              </a:prstGeom>
              <a:noFill/>
            </p:spPr>
            <p:txBody>
              <a:bodyPr wrap="square" lIns="91440" tIns="45720" rIns="91440" bIns="45720" anchor="t">
                <a:spAutoFit/>
              </a:bodyPr>
              <a:lstStyle/>
              <a:p>
                <a:r>
                  <a:rPr lang="en-US" altLang="en-US" sz="2000" dirty="0">
                    <a:latin typeface="Helvetica"/>
                    <a:ea typeface="MS PGothic"/>
                  </a:rPr>
                  <a:t>Kyle M. </a:t>
                </a:r>
                <a:r>
                  <a:rPr lang="en-US" altLang="en-US" sz="2000" dirty="0" err="1">
                    <a:latin typeface="Helvetica"/>
                    <a:ea typeface="MS PGothic"/>
                  </a:rPr>
                  <a:t>Woosnam</a:t>
                </a:r>
                <a:r>
                  <a:rPr lang="en-US" altLang="en-US" sz="2000" dirty="0">
                    <a:latin typeface="Helvetica"/>
                    <a:ea typeface="MS PGothic"/>
                  </a:rPr>
                  <a:t>,</a:t>
                </a:r>
              </a:p>
              <a:p>
                <a:r>
                  <a:rPr lang="en-US" altLang="en-US" sz="2000" dirty="0">
                    <a:latin typeface="Helvetica"/>
                    <a:ea typeface="MS PGothic"/>
                  </a:rPr>
                  <a:t>The inclusion of other in the self (</a:t>
                </a:r>
                <a:r>
                  <a:rPr lang="en-US" altLang="en-US" sz="2000" dirty="0" err="1">
                    <a:latin typeface="Helvetica"/>
                    <a:ea typeface="MS PGothic"/>
                  </a:rPr>
                  <a:t>ios</a:t>
                </a:r>
                <a:r>
                  <a:rPr lang="en-US" altLang="en-US" sz="2000" dirty="0">
                    <a:latin typeface="Helvetica"/>
                    <a:ea typeface="MS PGothic"/>
                  </a:rPr>
                  <a:t>) scale</a:t>
                </a:r>
              </a:p>
            </p:txBody>
          </p:sp>
        </p:grpSp>
        <p:grpSp>
          <p:nvGrpSpPr>
            <p:cNvPr id="35" name="Group 34">
              <a:extLst>
                <a:ext uri="{FF2B5EF4-FFF2-40B4-BE49-F238E27FC236}">
                  <a16:creationId xmlns:a16="http://schemas.microsoft.com/office/drawing/2014/main" id="{7D816D11-3FBA-D07E-6B9E-38A2F4EB099B}"/>
                </a:ext>
              </a:extLst>
            </p:cNvPr>
            <p:cNvGrpSpPr/>
            <p:nvPr/>
          </p:nvGrpSpPr>
          <p:grpSpPr>
            <a:xfrm>
              <a:off x="16266708" y="5102620"/>
              <a:ext cx="5346874" cy="6245250"/>
              <a:chOff x="24606262" y="5087612"/>
              <a:chExt cx="5346874" cy="6245250"/>
            </a:xfrm>
          </p:grpSpPr>
          <p:grpSp>
            <p:nvGrpSpPr>
              <p:cNvPr id="36" name="Group 35">
                <a:extLst>
                  <a:ext uri="{FF2B5EF4-FFF2-40B4-BE49-F238E27FC236}">
                    <a16:creationId xmlns:a16="http://schemas.microsoft.com/office/drawing/2014/main" id="{6775D2E0-EA68-224B-714D-E08D12FB0BC4}"/>
                  </a:ext>
                </a:extLst>
              </p:cNvPr>
              <p:cNvGrpSpPr/>
              <p:nvPr/>
            </p:nvGrpSpPr>
            <p:grpSpPr>
              <a:xfrm>
                <a:off x="24606262" y="5087612"/>
                <a:ext cx="5346874" cy="2981162"/>
                <a:chOff x="24230508" y="5420973"/>
                <a:chExt cx="5346874" cy="2981162"/>
              </a:xfrm>
            </p:grpSpPr>
            <p:sp>
              <p:nvSpPr>
                <p:cNvPr id="40" name="Oval 39">
                  <a:extLst>
                    <a:ext uri="{FF2B5EF4-FFF2-40B4-BE49-F238E27FC236}">
                      <a16:creationId xmlns:a16="http://schemas.microsoft.com/office/drawing/2014/main" id="{F210A4F8-95CD-6B0C-1156-2D603B9862CF}"/>
                    </a:ext>
                  </a:extLst>
                </p:cNvPr>
                <p:cNvSpPr/>
                <p:nvPr/>
              </p:nvSpPr>
              <p:spPr bwMode="auto">
                <a:xfrm>
                  <a:off x="24230508" y="5440590"/>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lang="en-US" sz="3000" dirty="0">
                      <a:latin typeface="Arial" charset="0"/>
                      <a:cs typeface="Arial" charset="0"/>
                    </a:rPr>
                    <a:t>Other</a:t>
                  </a:r>
                  <a:endParaRPr kumimoji="0" lang="en-US" sz="3000" b="0" i="0" u="none" strike="noStrike" cap="none" normalizeH="0" baseline="0" dirty="0">
                    <a:ln>
                      <a:noFill/>
                    </a:ln>
                    <a:solidFill>
                      <a:schemeClr val="tx1"/>
                    </a:solidFill>
                    <a:effectLst/>
                    <a:latin typeface="Arial" charset="0"/>
                    <a:cs typeface="Arial" charset="0"/>
                  </a:endParaRPr>
                </a:p>
              </p:txBody>
            </p:sp>
            <p:sp>
              <p:nvSpPr>
                <p:cNvPr id="41" name="Oval 40">
                  <a:extLst>
                    <a:ext uri="{FF2B5EF4-FFF2-40B4-BE49-F238E27FC236}">
                      <a16:creationId xmlns:a16="http://schemas.microsoft.com/office/drawing/2014/main" id="{094E4F7B-794E-48AC-145A-00C8986E4091}"/>
                    </a:ext>
                  </a:extLst>
                </p:cNvPr>
                <p:cNvSpPr/>
                <p:nvPr/>
              </p:nvSpPr>
              <p:spPr bwMode="auto">
                <a:xfrm>
                  <a:off x="26615837" y="5420973"/>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tx1"/>
                      </a:solidFill>
                      <a:effectLst/>
                      <a:latin typeface="Arial" charset="0"/>
                      <a:cs typeface="Arial" charset="0"/>
                    </a:rPr>
                    <a:t>Self</a:t>
                  </a:r>
                </a:p>
              </p:txBody>
            </p:sp>
          </p:grpSp>
          <p:grpSp>
            <p:nvGrpSpPr>
              <p:cNvPr id="37" name="Group 36">
                <a:extLst>
                  <a:ext uri="{FF2B5EF4-FFF2-40B4-BE49-F238E27FC236}">
                    <a16:creationId xmlns:a16="http://schemas.microsoft.com/office/drawing/2014/main" id="{9954FFDE-545B-AD1D-A25A-59FD7AEFC418}"/>
                  </a:ext>
                </a:extLst>
              </p:cNvPr>
              <p:cNvGrpSpPr/>
              <p:nvPr/>
            </p:nvGrpSpPr>
            <p:grpSpPr>
              <a:xfrm>
                <a:off x="25411939" y="8348344"/>
                <a:ext cx="3925091" cy="2984518"/>
                <a:chOff x="25130667" y="8968962"/>
                <a:chExt cx="3925091" cy="2984518"/>
              </a:xfrm>
            </p:grpSpPr>
            <p:sp>
              <p:nvSpPr>
                <p:cNvPr id="38" name="Oval 37">
                  <a:extLst>
                    <a:ext uri="{FF2B5EF4-FFF2-40B4-BE49-F238E27FC236}">
                      <a16:creationId xmlns:a16="http://schemas.microsoft.com/office/drawing/2014/main" id="{BFC73058-CB31-27B0-772A-3BDDA9B99C29}"/>
                    </a:ext>
                  </a:extLst>
                </p:cNvPr>
                <p:cNvSpPr/>
                <p:nvPr/>
              </p:nvSpPr>
              <p:spPr bwMode="auto">
                <a:xfrm>
                  <a:off x="25130667" y="8968962"/>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9" name="Oval 38">
                  <a:extLst>
                    <a:ext uri="{FF2B5EF4-FFF2-40B4-BE49-F238E27FC236}">
                      <a16:creationId xmlns:a16="http://schemas.microsoft.com/office/drawing/2014/main" id="{067D4BD0-69C1-6205-729F-359FD089EF50}"/>
                    </a:ext>
                  </a:extLst>
                </p:cNvPr>
                <p:cNvSpPr/>
                <p:nvPr/>
              </p:nvSpPr>
              <p:spPr bwMode="auto">
                <a:xfrm>
                  <a:off x="26094213" y="8991935"/>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grpSp>
      <p:pic>
        <p:nvPicPr>
          <p:cNvPr id="44" name="Picture 43" descr="A graph with a line and dots&#10;&#10;Description automatically generated">
            <a:extLst>
              <a:ext uri="{FF2B5EF4-FFF2-40B4-BE49-F238E27FC236}">
                <a16:creationId xmlns:a16="http://schemas.microsoft.com/office/drawing/2014/main" id="{5A9B45D2-69CE-45B6-E0FF-63E075F123C8}"/>
              </a:ext>
            </a:extLst>
          </p:cNvPr>
          <p:cNvPicPr>
            <a:picLocks noChangeAspect="1"/>
          </p:cNvPicPr>
          <p:nvPr/>
        </p:nvPicPr>
        <p:blipFill rotWithShape="1">
          <a:blip r:embed="rId2">
            <a:extLst>
              <a:ext uri="{28A0092B-C50C-407E-A947-70E740481C1C}">
                <a14:useLocalDpi xmlns:a14="http://schemas.microsoft.com/office/drawing/2010/main" val="0"/>
              </a:ext>
            </a:extLst>
          </a:blip>
          <a:srcRect r="6237"/>
          <a:stretch/>
        </p:blipFill>
        <p:spPr>
          <a:xfrm>
            <a:off x="23459712" y="15585535"/>
            <a:ext cx="5976934" cy="6256269"/>
          </a:xfrm>
          <a:prstGeom prst="rect">
            <a:avLst/>
          </a:prstGeom>
        </p:spPr>
      </p:pic>
      <p:sp>
        <p:nvSpPr>
          <p:cNvPr id="45" name="TextBox 44">
            <a:extLst>
              <a:ext uri="{FF2B5EF4-FFF2-40B4-BE49-F238E27FC236}">
                <a16:creationId xmlns:a16="http://schemas.microsoft.com/office/drawing/2014/main" id="{3101D678-0DF9-DFE7-5AB5-E5E73F160921}"/>
              </a:ext>
            </a:extLst>
          </p:cNvPr>
          <p:cNvSpPr txBox="1"/>
          <p:nvPr/>
        </p:nvSpPr>
        <p:spPr>
          <a:xfrm>
            <a:off x="25431750" y="21945601"/>
            <a:ext cx="3377848" cy="369332"/>
          </a:xfrm>
          <a:prstGeom prst="rect">
            <a:avLst/>
          </a:prstGeom>
          <a:noFill/>
        </p:spPr>
        <p:txBody>
          <a:bodyPr wrap="none" rtlCol="0">
            <a:spAutoFit/>
          </a:bodyPr>
          <a:lstStyle/>
          <a:p>
            <a:r>
              <a:rPr lang="en-US" dirty="0"/>
              <a:t>VS mask Cope 10, f-s behavior</a:t>
            </a:r>
          </a:p>
        </p:txBody>
      </p:sp>
    </p:spTree>
    <p:extLst>
      <p:ext uri="{BB962C8B-B14F-4D97-AF65-F5344CB8AC3E}">
        <p14:creationId xmlns:p14="http://schemas.microsoft.com/office/powerpoint/2010/main" val="2447354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31C0DE81-8A4C-6567-44BB-87FD7E9A051D}"/>
              </a:ext>
            </a:extLst>
          </p:cNvPr>
          <p:cNvGrpSpPr/>
          <p:nvPr/>
        </p:nvGrpSpPr>
        <p:grpSpPr>
          <a:xfrm>
            <a:off x="2001587" y="2646281"/>
            <a:ext cx="9383122" cy="9072496"/>
            <a:chOff x="2001587" y="1558326"/>
            <a:chExt cx="9383122" cy="9072496"/>
          </a:xfrm>
        </p:grpSpPr>
        <p:pic>
          <p:nvPicPr>
            <p:cNvPr id="17" name="Picture 16">
              <a:extLst>
                <a:ext uri="{FF2B5EF4-FFF2-40B4-BE49-F238E27FC236}">
                  <a16:creationId xmlns:a16="http://schemas.microsoft.com/office/drawing/2014/main" id="{22522DAF-799F-7CB0-F2A4-DD33CCAA882B}"/>
                </a:ext>
              </a:extLst>
            </p:cNvPr>
            <p:cNvPicPr>
              <a:picLocks noChangeAspect="1"/>
            </p:cNvPicPr>
            <p:nvPr/>
          </p:nvPicPr>
          <p:blipFill>
            <a:blip r:embed="rId2"/>
            <a:stretch>
              <a:fillRect/>
            </a:stretch>
          </p:blipFill>
          <p:spPr>
            <a:xfrm>
              <a:off x="2355852" y="1558326"/>
              <a:ext cx="7480300" cy="8089900"/>
            </a:xfrm>
            <a:prstGeom prst="rect">
              <a:avLst/>
            </a:prstGeom>
          </p:spPr>
        </p:pic>
        <p:sp>
          <p:nvSpPr>
            <p:cNvPr id="18" name="TextBox 17">
              <a:extLst>
                <a:ext uri="{FF2B5EF4-FFF2-40B4-BE49-F238E27FC236}">
                  <a16:creationId xmlns:a16="http://schemas.microsoft.com/office/drawing/2014/main" id="{06001986-6DE9-E7E9-6308-44C8C5897430}"/>
                </a:ext>
              </a:extLst>
            </p:cNvPr>
            <p:cNvSpPr txBox="1"/>
            <p:nvPr/>
          </p:nvSpPr>
          <p:spPr>
            <a:xfrm>
              <a:off x="2001587" y="9922936"/>
              <a:ext cx="9383122" cy="707886"/>
            </a:xfrm>
            <a:prstGeom prst="rect">
              <a:avLst/>
            </a:prstGeom>
            <a:noFill/>
          </p:spPr>
          <p:txBody>
            <a:bodyPr wrap="square" rtlCol="0">
              <a:spAutoFit/>
            </a:bodyPr>
            <a:lstStyle/>
            <a:p>
              <a:r>
                <a:rPr lang="en-US" sz="4000" b="0" i="0" dirty="0">
                  <a:effectLst/>
                  <a:latin typeface="Helvetica" pitchFamily="2" charset="0"/>
                </a:rPr>
                <a:t>Cope 12, Age model, Group positive</a:t>
              </a:r>
              <a:endParaRPr lang="en-US" sz="4000" dirty="0">
                <a:latin typeface="Helvetica" pitchFamily="2" charset="0"/>
              </a:endParaRPr>
            </a:p>
          </p:txBody>
        </p:sp>
      </p:grpSp>
      <p:sp>
        <p:nvSpPr>
          <p:cNvPr id="19" name="TextBox 18">
            <a:extLst>
              <a:ext uri="{FF2B5EF4-FFF2-40B4-BE49-F238E27FC236}">
                <a16:creationId xmlns:a16="http://schemas.microsoft.com/office/drawing/2014/main" id="{CBE74ECB-F834-4055-3258-70B6AD398365}"/>
              </a:ext>
            </a:extLst>
          </p:cNvPr>
          <p:cNvSpPr txBox="1"/>
          <p:nvPr/>
        </p:nvSpPr>
        <p:spPr>
          <a:xfrm>
            <a:off x="1253067" y="591007"/>
            <a:ext cx="5145961" cy="1323439"/>
          </a:xfrm>
          <a:prstGeom prst="rect">
            <a:avLst/>
          </a:prstGeom>
          <a:noFill/>
        </p:spPr>
        <p:txBody>
          <a:bodyPr wrap="none" rtlCol="0">
            <a:spAutoFit/>
          </a:bodyPr>
          <a:lstStyle/>
          <a:p>
            <a:r>
              <a:rPr lang="en-US" sz="8000" dirty="0"/>
              <a:t>PPI results</a:t>
            </a:r>
          </a:p>
        </p:txBody>
      </p:sp>
      <p:grpSp>
        <p:nvGrpSpPr>
          <p:cNvPr id="24" name="Group 23">
            <a:extLst>
              <a:ext uri="{FF2B5EF4-FFF2-40B4-BE49-F238E27FC236}">
                <a16:creationId xmlns:a16="http://schemas.microsoft.com/office/drawing/2014/main" id="{47139FF2-D87E-F00E-39F7-11EAFE30801E}"/>
              </a:ext>
            </a:extLst>
          </p:cNvPr>
          <p:cNvGrpSpPr/>
          <p:nvPr/>
        </p:nvGrpSpPr>
        <p:grpSpPr>
          <a:xfrm>
            <a:off x="11625288" y="2646281"/>
            <a:ext cx="7941533" cy="9072496"/>
            <a:chOff x="11394672" y="1558326"/>
            <a:chExt cx="7941533" cy="9072496"/>
          </a:xfrm>
        </p:grpSpPr>
        <p:pic>
          <p:nvPicPr>
            <p:cNvPr id="20" name="Picture 19">
              <a:extLst>
                <a:ext uri="{FF2B5EF4-FFF2-40B4-BE49-F238E27FC236}">
                  <a16:creationId xmlns:a16="http://schemas.microsoft.com/office/drawing/2014/main" id="{E5B4CF3F-B845-054A-959C-A031EC342804}"/>
                </a:ext>
              </a:extLst>
            </p:cNvPr>
            <p:cNvPicPr>
              <a:picLocks noChangeAspect="1"/>
            </p:cNvPicPr>
            <p:nvPr/>
          </p:nvPicPr>
          <p:blipFill>
            <a:blip r:embed="rId3"/>
            <a:stretch>
              <a:fillRect/>
            </a:stretch>
          </p:blipFill>
          <p:spPr>
            <a:xfrm>
              <a:off x="11394672" y="1558326"/>
              <a:ext cx="7480300" cy="8089900"/>
            </a:xfrm>
            <a:prstGeom prst="rect">
              <a:avLst/>
            </a:prstGeom>
          </p:spPr>
        </p:pic>
        <p:sp>
          <p:nvSpPr>
            <p:cNvPr id="21" name="TextBox 20">
              <a:extLst>
                <a:ext uri="{FF2B5EF4-FFF2-40B4-BE49-F238E27FC236}">
                  <a16:creationId xmlns:a16="http://schemas.microsoft.com/office/drawing/2014/main" id="{1B4E32A2-5F23-AD97-4095-5B89ACA10E64}"/>
                </a:ext>
              </a:extLst>
            </p:cNvPr>
            <p:cNvSpPr txBox="1"/>
            <p:nvPr/>
          </p:nvSpPr>
          <p:spPr>
            <a:xfrm>
              <a:off x="11394672" y="9922936"/>
              <a:ext cx="7941533" cy="707886"/>
            </a:xfrm>
            <a:prstGeom prst="rect">
              <a:avLst/>
            </a:prstGeom>
            <a:noFill/>
          </p:spPr>
          <p:txBody>
            <a:bodyPr wrap="none" rtlCol="0">
              <a:spAutoFit/>
            </a:bodyPr>
            <a:lstStyle/>
            <a:p>
              <a:pPr algn="l"/>
              <a:r>
                <a:rPr lang="en-US" sz="4000" b="0" i="0" dirty="0">
                  <a:effectLst/>
                  <a:latin typeface="Helvetica" pitchFamily="2" charset="0"/>
                </a:rPr>
                <a:t>Cope 16, Age model, Age Positive</a:t>
              </a:r>
            </a:p>
          </p:txBody>
        </p:sp>
      </p:grpSp>
      <p:grpSp>
        <p:nvGrpSpPr>
          <p:cNvPr id="25" name="Group 24">
            <a:extLst>
              <a:ext uri="{FF2B5EF4-FFF2-40B4-BE49-F238E27FC236}">
                <a16:creationId xmlns:a16="http://schemas.microsoft.com/office/drawing/2014/main" id="{C8DDFC19-FC31-3774-8807-3C3EF96E9565}"/>
              </a:ext>
            </a:extLst>
          </p:cNvPr>
          <p:cNvGrpSpPr/>
          <p:nvPr/>
        </p:nvGrpSpPr>
        <p:grpSpPr>
          <a:xfrm>
            <a:off x="21945600" y="2646281"/>
            <a:ext cx="8428076" cy="9177870"/>
            <a:chOff x="20433492" y="1452952"/>
            <a:chExt cx="8428076" cy="9177870"/>
          </a:xfrm>
        </p:grpSpPr>
        <p:pic>
          <p:nvPicPr>
            <p:cNvPr id="22" name="Picture 21">
              <a:extLst>
                <a:ext uri="{FF2B5EF4-FFF2-40B4-BE49-F238E27FC236}">
                  <a16:creationId xmlns:a16="http://schemas.microsoft.com/office/drawing/2014/main" id="{67E84F56-FBCC-4DE3-7E5B-32B7C3ADA05C}"/>
                </a:ext>
              </a:extLst>
            </p:cNvPr>
            <p:cNvPicPr>
              <a:picLocks noChangeAspect="1"/>
            </p:cNvPicPr>
            <p:nvPr/>
          </p:nvPicPr>
          <p:blipFill>
            <a:blip r:embed="rId4"/>
            <a:stretch>
              <a:fillRect/>
            </a:stretch>
          </p:blipFill>
          <p:spPr>
            <a:xfrm>
              <a:off x="20433492" y="1452952"/>
              <a:ext cx="7480300" cy="8089900"/>
            </a:xfrm>
            <a:prstGeom prst="rect">
              <a:avLst/>
            </a:prstGeom>
          </p:spPr>
        </p:pic>
        <p:sp>
          <p:nvSpPr>
            <p:cNvPr id="23" name="TextBox 22">
              <a:extLst>
                <a:ext uri="{FF2B5EF4-FFF2-40B4-BE49-F238E27FC236}">
                  <a16:creationId xmlns:a16="http://schemas.microsoft.com/office/drawing/2014/main" id="{F8BCD694-E882-A9B9-EE6C-FBF2A1361470}"/>
                </a:ext>
              </a:extLst>
            </p:cNvPr>
            <p:cNvSpPr txBox="1"/>
            <p:nvPr/>
          </p:nvSpPr>
          <p:spPr>
            <a:xfrm>
              <a:off x="20433492" y="9922936"/>
              <a:ext cx="8428076" cy="707886"/>
            </a:xfrm>
            <a:prstGeom prst="rect">
              <a:avLst/>
            </a:prstGeom>
            <a:noFill/>
          </p:spPr>
          <p:txBody>
            <a:bodyPr wrap="none" rtlCol="0">
              <a:spAutoFit/>
            </a:bodyPr>
            <a:lstStyle/>
            <a:p>
              <a:r>
                <a:rPr lang="en-US" sz="4000" dirty="0"/>
                <a:t>Cope 18, Age model, Group positive</a:t>
              </a:r>
            </a:p>
          </p:txBody>
        </p:sp>
      </p:grpSp>
      <p:grpSp>
        <p:nvGrpSpPr>
          <p:cNvPr id="33" name="Group 32">
            <a:extLst>
              <a:ext uri="{FF2B5EF4-FFF2-40B4-BE49-F238E27FC236}">
                <a16:creationId xmlns:a16="http://schemas.microsoft.com/office/drawing/2014/main" id="{DD696CD7-5292-F3A4-E510-5F758D8BD271}"/>
              </a:ext>
            </a:extLst>
          </p:cNvPr>
          <p:cNvGrpSpPr/>
          <p:nvPr/>
        </p:nvGrpSpPr>
        <p:grpSpPr>
          <a:xfrm>
            <a:off x="2001587" y="12780010"/>
            <a:ext cx="11392029" cy="9551984"/>
            <a:chOff x="2001587" y="12780010"/>
            <a:chExt cx="11392029" cy="9551984"/>
          </a:xfrm>
        </p:grpSpPr>
        <p:pic>
          <p:nvPicPr>
            <p:cNvPr id="27" name="Picture 26">
              <a:extLst>
                <a:ext uri="{FF2B5EF4-FFF2-40B4-BE49-F238E27FC236}">
                  <a16:creationId xmlns:a16="http://schemas.microsoft.com/office/drawing/2014/main" id="{1D0EE518-C609-7A41-3342-9F84A48761EA}"/>
                </a:ext>
              </a:extLst>
            </p:cNvPr>
            <p:cNvPicPr>
              <a:picLocks noChangeAspect="1"/>
            </p:cNvPicPr>
            <p:nvPr/>
          </p:nvPicPr>
          <p:blipFill>
            <a:blip r:embed="rId5"/>
            <a:stretch>
              <a:fillRect/>
            </a:stretch>
          </p:blipFill>
          <p:spPr>
            <a:xfrm>
              <a:off x="2001587" y="12780010"/>
              <a:ext cx="7480300" cy="8089900"/>
            </a:xfrm>
            <a:prstGeom prst="rect">
              <a:avLst/>
            </a:prstGeom>
          </p:spPr>
        </p:pic>
        <p:sp>
          <p:nvSpPr>
            <p:cNvPr id="29" name="TextBox 28">
              <a:extLst>
                <a:ext uri="{FF2B5EF4-FFF2-40B4-BE49-F238E27FC236}">
                  <a16:creationId xmlns:a16="http://schemas.microsoft.com/office/drawing/2014/main" id="{C8D16C29-F3C7-1783-356F-A3C74F3DBD7D}"/>
                </a:ext>
              </a:extLst>
            </p:cNvPr>
            <p:cNvSpPr txBox="1"/>
            <p:nvPr/>
          </p:nvSpPr>
          <p:spPr>
            <a:xfrm>
              <a:off x="2001587" y="21624108"/>
              <a:ext cx="11392029" cy="707886"/>
            </a:xfrm>
            <a:prstGeom prst="rect">
              <a:avLst/>
            </a:prstGeom>
            <a:noFill/>
          </p:spPr>
          <p:txBody>
            <a:bodyPr wrap="none" rtlCol="0">
              <a:spAutoFit/>
            </a:bodyPr>
            <a:lstStyle/>
            <a:p>
              <a:r>
                <a:rPr lang="en-US" sz="4000" dirty="0"/>
                <a:t>Cope 18, Model 1 (IOS F-C, Age), Group Positive</a:t>
              </a:r>
            </a:p>
          </p:txBody>
        </p:sp>
      </p:grpSp>
      <p:grpSp>
        <p:nvGrpSpPr>
          <p:cNvPr id="34" name="Group 33">
            <a:extLst>
              <a:ext uri="{FF2B5EF4-FFF2-40B4-BE49-F238E27FC236}">
                <a16:creationId xmlns:a16="http://schemas.microsoft.com/office/drawing/2014/main" id="{27C3868E-1F23-6E65-B152-CF6B71F362D1}"/>
              </a:ext>
            </a:extLst>
          </p:cNvPr>
          <p:cNvGrpSpPr/>
          <p:nvPr/>
        </p:nvGrpSpPr>
        <p:grpSpPr>
          <a:xfrm>
            <a:off x="17294226" y="12780010"/>
            <a:ext cx="11392029" cy="9551984"/>
            <a:chOff x="15596055" y="12780010"/>
            <a:chExt cx="11392029" cy="9551984"/>
          </a:xfrm>
        </p:grpSpPr>
        <p:pic>
          <p:nvPicPr>
            <p:cNvPr id="30" name="Picture 29">
              <a:extLst>
                <a:ext uri="{FF2B5EF4-FFF2-40B4-BE49-F238E27FC236}">
                  <a16:creationId xmlns:a16="http://schemas.microsoft.com/office/drawing/2014/main" id="{84ADF550-18C6-94EB-A794-CC9D7BA1AC8C}"/>
                </a:ext>
              </a:extLst>
            </p:cNvPr>
            <p:cNvPicPr>
              <a:picLocks noChangeAspect="1"/>
            </p:cNvPicPr>
            <p:nvPr/>
          </p:nvPicPr>
          <p:blipFill>
            <a:blip r:embed="rId6"/>
            <a:stretch>
              <a:fillRect/>
            </a:stretch>
          </p:blipFill>
          <p:spPr>
            <a:xfrm>
              <a:off x="15596055" y="12780010"/>
              <a:ext cx="7480300" cy="8089900"/>
            </a:xfrm>
            <a:prstGeom prst="rect">
              <a:avLst/>
            </a:prstGeom>
          </p:spPr>
        </p:pic>
        <p:sp>
          <p:nvSpPr>
            <p:cNvPr id="31" name="TextBox 30">
              <a:extLst>
                <a:ext uri="{FF2B5EF4-FFF2-40B4-BE49-F238E27FC236}">
                  <a16:creationId xmlns:a16="http://schemas.microsoft.com/office/drawing/2014/main" id="{D8BE2C47-3961-8ADE-C230-2331727AF208}"/>
                </a:ext>
              </a:extLst>
            </p:cNvPr>
            <p:cNvSpPr txBox="1"/>
            <p:nvPr/>
          </p:nvSpPr>
          <p:spPr>
            <a:xfrm>
              <a:off x="15596055" y="21624108"/>
              <a:ext cx="11392029" cy="707886"/>
            </a:xfrm>
            <a:prstGeom prst="rect">
              <a:avLst/>
            </a:prstGeom>
            <a:noFill/>
          </p:spPr>
          <p:txBody>
            <a:bodyPr wrap="none" rtlCol="0">
              <a:spAutoFit/>
            </a:bodyPr>
            <a:lstStyle/>
            <a:p>
              <a:r>
                <a:rPr lang="en-US" sz="4000" dirty="0"/>
                <a:t>Cope 12, Model 2 (IOS F-S, Age), Group Positive</a:t>
              </a:r>
            </a:p>
          </p:txBody>
        </p:sp>
      </p:grpSp>
    </p:spTree>
    <p:extLst>
      <p:ext uri="{BB962C8B-B14F-4D97-AF65-F5344CB8AC3E}">
        <p14:creationId xmlns:p14="http://schemas.microsoft.com/office/powerpoint/2010/main" val="1612651699"/>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5CAE7E8-1A3A-4A91-86FB-BA9E176234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15270</TotalTime>
  <Words>567</Words>
  <Application>Microsoft Macintosh PowerPoint</Application>
  <PresentationFormat>Custom</PresentationFormat>
  <Paragraphs>66</Paragraphs>
  <Slides>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Arial</vt:lpstr>
      <vt:lpstr>Helvetica</vt:lpstr>
      <vt:lpstr>Slack-Lato</vt:lpstr>
      <vt:lpstr>Times New Roman</vt:lpstr>
      <vt:lpstr>Trebuchet MS</vt:lpstr>
      <vt:lpstr>Default Design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22</cp:revision>
  <cp:lastPrinted>2018-05-07T13:24:31Z</cp:lastPrinted>
  <dcterms:created xsi:type="dcterms:W3CDTF">2007-10-30T17:33:32Z</dcterms:created>
  <dcterms:modified xsi:type="dcterms:W3CDTF">2023-11-09T13:01:45Z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