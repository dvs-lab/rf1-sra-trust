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8"/>
  </p:notesMasterIdLst>
  <p:handoutMasterIdLst>
    <p:handoutMasterId r:id="rId9"/>
  </p:handoutMasterIdLst>
  <p:sldIdLst>
    <p:sldId id="256" r:id="rId4"/>
    <p:sldId id="257" r:id="rId5"/>
    <p:sldId id="260" r:id="rId6"/>
    <p:sldId id="261" r:id="rId7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99"/>
    <p:restoredTop sz="94648"/>
  </p:normalViewPr>
  <p:slideViewPr>
    <p:cSldViewPr snapToGrid="0">
      <p:cViewPr>
        <p:scale>
          <a:sx n="27" d="100"/>
          <a:sy n="27" d="100"/>
        </p:scale>
        <p:origin x="1008" y="-48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8/10/relationships/authors" Target="authors.xml"/><Relationship Id="rId10" Type="http://schemas.openxmlformats.org/officeDocument/2006/relationships/commentAuthors" Target="commentAuthors.xml"/><Relationship Id="rId4" Type="http://schemas.openxmlformats.org/officeDocument/2006/relationships/slide" Target="slides/slide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0.xml"/><Relationship Id="rId21" Type="http://schemas.openxmlformats.org/officeDocument/2006/relationships/image" Target="../media/image18.svg"/><Relationship Id="rId7" Type="http://schemas.openxmlformats.org/officeDocument/2006/relationships/image" Target="../media/image4.sv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29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svg"/><Relationship Id="rId28" Type="http://schemas.openxmlformats.org/officeDocument/2006/relationships/image" Target="../media/image25.svg"/><Relationship Id="rId10" Type="http://schemas.openxmlformats.org/officeDocument/2006/relationships/image" Target="../media/image7.png"/><Relationship Id="rId19" Type="http://schemas.openxmlformats.org/officeDocument/2006/relationships/image" Target="../media/image16.svg"/><Relationship Id="rId31" Type="http://schemas.openxmlformats.org/officeDocument/2006/relationships/image" Target="../media/image28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png"/><Relationship Id="rId30" Type="http://schemas.openxmlformats.org/officeDocument/2006/relationships/image" Target="../media/image2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svg"/><Relationship Id="rId7" Type="http://schemas.openxmlformats.org/officeDocument/2006/relationships/image" Target="../media/image35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Relationship Id="rId9" Type="http://schemas.openxmlformats.org/officeDocument/2006/relationships/image" Target="../media/image3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svg"/><Relationship Id="rId3" Type="http://schemas.openxmlformats.org/officeDocument/2006/relationships/image" Target="../media/image15.png"/><Relationship Id="rId7" Type="http://schemas.openxmlformats.org/officeDocument/2006/relationships/image" Target="../media/image3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BD86F45B-B6EA-D11B-FE87-C7FDF14080C8}"/>
              </a:ext>
            </a:extLst>
          </p:cNvPr>
          <p:cNvGrpSpPr/>
          <p:nvPr/>
        </p:nvGrpSpPr>
        <p:grpSpPr>
          <a:xfrm>
            <a:off x="10912317" y="28607914"/>
            <a:ext cx="3543576" cy="1716829"/>
            <a:chOff x="11083249" y="26380930"/>
            <a:chExt cx="3543576" cy="171682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53421B0-7681-A37B-CA3F-986E07C1DB77}"/>
                </a:ext>
              </a:extLst>
            </p:cNvPr>
            <p:cNvSpPr/>
            <p:nvPr/>
          </p:nvSpPr>
          <p:spPr bwMode="auto">
            <a:xfrm>
              <a:off x="11083249" y="26380930"/>
              <a:ext cx="3543576" cy="1716829"/>
            </a:xfrm>
            <a:prstGeom prst="rect">
              <a:avLst/>
            </a:prstGeom>
            <a:solidFill>
              <a:srgbClr val="FAF86D">
                <a:alpha val="82294"/>
              </a:srgbClr>
            </a:solidFill>
            <a:ln w="571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94C34F-C114-09E7-7592-2C68A047774A}"/>
                </a:ext>
              </a:extLst>
            </p:cNvPr>
            <p:cNvSpPr txBox="1"/>
            <p:nvPr/>
          </p:nvSpPr>
          <p:spPr>
            <a:xfrm>
              <a:off x="11186208" y="26454514"/>
              <a:ext cx="3386365" cy="15696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3200" b="1" dirty="0">
                  <a:latin typeface="Helvetica"/>
                  <a:ea typeface="MS PGothic"/>
                </a:rPr>
                <a:t>Scan the QR code to see the</a:t>
              </a:r>
              <a:endParaRPr lang="en-US" sz="3200" b="1" dirty="0"/>
            </a:p>
            <a:p>
              <a:pPr algn="ctr"/>
              <a:r>
                <a:rPr lang="en-US" sz="3200" b="1" u="sng" dirty="0">
                  <a:latin typeface="Helvetica"/>
                  <a:ea typeface="MS PGothic"/>
                </a:rPr>
                <a:t>Pre-registration!</a:t>
              </a:r>
              <a:endParaRPr lang="en-US" sz="3200" b="1" u="sng" dirty="0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5B61256-0745-91A9-AD49-FA138651C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7902" y="26012680"/>
            <a:ext cx="2340933" cy="2333025"/>
          </a:xfrm>
          <a:prstGeom prst="rect">
            <a:avLst/>
          </a:prstGeom>
        </p:spPr>
      </p:pic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3516081"/>
            <a:ext cx="14710114" cy="1728411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50339" y="13204012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5671037" y="3834958"/>
            <a:ext cx="14465760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Subjects Are Closer With Friends than With Strangers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9230365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0167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798" y="9507352"/>
              <a:ext cx="14639262" cy="2031325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how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22551" y="24296197"/>
            <a:ext cx="6012596" cy="5358384"/>
            <a:chOff x="14976740" y="15406812"/>
            <a:chExt cx="6810930" cy="607109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261609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8" y="25095850"/>
            <a:ext cx="12496564" cy="6401753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reciprocation elicited activation in the ventral striatum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.</a:t>
            </a: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Additionally, we find that the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and </a:t>
            </a:r>
            <a:r>
              <a:rPr lang="en-US" sz="4000" b="1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 activation </a:t>
            </a:r>
            <a:r>
              <a:rPr lang="en-US" sz="4000" b="1" dirty="0">
                <a:latin typeface="Helvetica"/>
                <a:ea typeface="MS PGothic"/>
                <a:cs typeface="Helvetica"/>
              </a:rPr>
              <a:t>differs between older and younger adults relative to social context. </a:t>
            </a: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</a:p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b="1" dirty="0">
                <a:latin typeface="Helvetica"/>
                <a:ea typeface="MS PGothic"/>
                <a:cs typeface="Helvetica"/>
              </a:rPr>
              <a:t> </a:t>
            </a:r>
            <a:r>
              <a:rPr lang="en-US" sz="4000" dirty="0">
                <a:latin typeface="Helvetica"/>
                <a:ea typeface="MS PGothic"/>
                <a:cs typeface="Helvetica"/>
              </a:rPr>
              <a:t>Future analyses will further examine age-related differences in neural responses to monetary outcomes relative to social context and risk of financial exploitation. </a:t>
            </a:r>
            <a:endParaRPr lang="en-US" sz="4000" b="1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376129"/>
              <a:ext cx="14865736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0" i="0" dirty="0">
                  <a:effectLst/>
                  <a:latin typeface="Helvetica" pitchFamily="2" charset="0"/>
                </a:rPr>
                <a:t>This study was supported by NIH grant RF1-AG67011 (David V. Smith).</a:t>
              </a:r>
              <a:br>
                <a:rPr lang="en-US" sz="3200" dirty="0">
                  <a:latin typeface="Helvetica" pitchFamily="2" charset="0"/>
                </a:rPr>
              </a:br>
              <a:r>
                <a:rPr lang="en-US" sz="32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3200" b="0" i="0" dirty="0">
                  <a:effectLst/>
                  <a:latin typeface="Helvetica" pitchFamily="2" charset="0"/>
                </a:rPr>
                <a:t>, </a:t>
              </a:r>
              <a:r>
                <a:rPr lang="en-US" sz="32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3200" dirty="0">
                <a:latin typeface="Helvetica" pitchFamily="2" charset="0"/>
              </a:endParaRPr>
            </a:p>
          </p:txBody>
        </p:sp>
      </p:grp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423843" y="26895455"/>
            <a:ext cx="9969217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28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28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2800" b="0" i="0" dirty="0">
                <a:effectLst/>
                <a:latin typeface="Helvetica" pitchFamily="2" charset="0"/>
              </a:rPr>
              <a:t>Inclusion of Other in Self Scale and 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2800" b="0" i="0" dirty="0">
                <a:effectLst/>
                <a:latin typeface="Helvetica" pitchFamily="2" charset="0"/>
              </a:rPr>
              <a:t>Older Adults Financial Exploitation and Vulnerability Scale.</a:t>
            </a:r>
          </a:p>
          <a:p>
            <a:pPr algn="ctr"/>
            <a:endParaRPr lang="en-US" sz="28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28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28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28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25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5661" name="TextBox 15660">
              <a:extLst>
                <a:ext uri="{FF2B5EF4-FFF2-40B4-BE49-F238E27FC236}">
                  <a16:creationId xmlns:a16="http://schemas.microsoft.com/office/drawing/2014/main" id="{617C1651-3CCF-B80A-1012-2C16CC7ED704}"/>
                </a:ext>
              </a:extLst>
            </p:cNvPr>
            <p:cNvSpPr txBox="1"/>
            <p:nvPr/>
          </p:nvSpPr>
          <p:spPr>
            <a:xfrm>
              <a:off x="16288042" y="706929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574224" y="14845624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8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2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u="sng" dirty="0"/>
                <a:t>You are given </a:t>
              </a:r>
              <a:r>
                <a:rPr lang="en-US" sz="3500" b="1" u="sng" dirty="0"/>
                <a:t>$8</a:t>
              </a:r>
              <a:r>
                <a:rPr lang="en-US" sz="3500" u="sng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4000" u="sng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250937" y="17041236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10" name="Group 15709">
            <a:extLst>
              <a:ext uri="{FF2B5EF4-FFF2-40B4-BE49-F238E27FC236}">
                <a16:creationId xmlns:a16="http://schemas.microsoft.com/office/drawing/2014/main" id="{9AFA48F8-C584-C811-C9F5-EFCA333DD7C1}"/>
              </a:ext>
            </a:extLst>
          </p:cNvPr>
          <p:cNvGrpSpPr/>
          <p:nvPr/>
        </p:nvGrpSpPr>
        <p:grpSpPr>
          <a:xfrm>
            <a:off x="30912367" y="15288689"/>
            <a:ext cx="4003957" cy="3793200"/>
            <a:chOff x="30175830" y="13427301"/>
            <a:chExt cx="6887851" cy="7050823"/>
          </a:xfrm>
        </p:grpSpPr>
        <p:pic>
          <p:nvPicPr>
            <p:cNvPr id="15672" name="Picture 15671" descr="A close-up of a brain&#10;&#10;Description automatically generated">
              <a:extLst>
                <a:ext uri="{FF2B5EF4-FFF2-40B4-BE49-F238E27FC236}">
                  <a16:creationId xmlns:a16="http://schemas.microsoft.com/office/drawing/2014/main" id="{D3F7B839-9C15-BAE8-4B9F-D9E5FA416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86058" y="14307843"/>
              <a:ext cx="6377623" cy="5333837"/>
            </a:xfrm>
            <a:prstGeom prst="rect">
              <a:avLst/>
            </a:prstGeom>
          </p:spPr>
        </p:pic>
        <p:sp>
          <p:nvSpPr>
            <p:cNvPr id="15673" name="TextBox 15672">
              <a:extLst>
                <a:ext uri="{FF2B5EF4-FFF2-40B4-BE49-F238E27FC236}">
                  <a16:creationId xmlns:a16="http://schemas.microsoft.com/office/drawing/2014/main" id="{B7572CC2-F582-E038-F57D-36186A2AD7CD}"/>
                </a:ext>
              </a:extLst>
            </p:cNvPr>
            <p:cNvSpPr txBox="1"/>
            <p:nvPr/>
          </p:nvSpPr>
          <p:spPr>
            <a:xfrm>
              <a:off x="30175830" y="13427301"/>
              <a:ext cx="1827438" cy="9879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-8</a:t>
              </a:r>
            </a:p>
          </p:txBody>
        </p:sp>
        <p:sp>
          <p:nvSpPr>
            <p:cNvPr id="15679" name="TextBox 15678">
              <a:extLst>
                <a:ext uri="{FF2B5EF4-FFF2-40B4-BE49-F238E27FC236}">
                  <a16:creationId xmlns:a16="http://schemas.microsoft.com/office/drawing/2014/main" id="{C5CCA665-31CA-7E9E-5033-AF62B19B1AEF}"/>
                </a:ext>
              </a:extLst>
            </p:cNvPr>
            <p:cNvSpPr txBox="1"/>
            <p:nvPr/>
          </p:nvSpPr>
          <p:spPr>
            <a:xfrm>
              <a:off x="30483851" y="19661963"/>
              <a:ext cx="2587045" cy="8161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mPFC</a:t>
              </a:r>
              <a:endParaRPr lang="en-US" sz="3200" b="1" dirty="0">
                <a:latin typeface="Helvetica"/>
              </a:endParaRPr>
            </a:p>
          </p:txBody>
        </p:sp>
      </p:grp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892788" y="7424174"/>
            <a:ext cx="3962327" cy="4113783"/>
            <a:chOff x="30936691" y="4266720"/>
            <a:chExt cx="5919174" cy="6849738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0936691" y="10239860"/>
              <a:ext cx="2517094" cy="8765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dlPFC</a:t>
              </a:r>
              <a:endParaRPr lang="en-US" sz="3200" b="1" dirty="0">
                <a:latin typeface="Helvetica"/>
              </a:endParaRP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sp>
        <p:nvSpPr>
          <p:cNvPr id="15709" name="TextBox 15708">
            <a:extLst>
              <a:ext uri="{FF2B5EF4-FFF2-40B4-BE49-F238E27FC236}">
                <a16:creationId xmlns:a16="http://schemas.microsoft.com/office/drawing/2014/main" id="{80412985-0DFC-4CC7-0908-955D07FD1104}"/>
              </a:ext>
            </a:extLst>
          </p:cNvPr>
          <p:cNvSpPr txBox="1"/>
          <p:nvPr/>
        </p:nvSpPr>
        <p:spPr>
          <a:xfrm>
            <a:off x="31089809" y="13842164"/>
            <a:ext cx="48011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Reciprocate &gt; Computer Reciprocate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grpSp>
        <p:nvGrpSpPr>
          <p:cNvPr id="15731" name="Group 15730">
            <a:extLst>
              <a:ext uri="{FF2B5EF4-FFF2-40B4-BE49-F238E27FC236}">
                <a16:creationId xmlns:a16="http://schemas.microsoft.com/office/drawing/2014/main" id="{06155C43-338B-1F84-917E-F663403BFB29}"/>
              </a:ext>
            </a:extLst>
          </p:cNvPr>
          <p:cNvGrpSpPr/>
          <p:nvPr/>
        </p:nvGrpSpPr>
        <p:grpSpPr>
          <a:xfrm>
            <a:off x="22227608" y="22377639"/>
            <a:ext cx="7672050" cy="8491864"/>
            <a:chOff x="23053763" y="15328939"/>
            <a:chExt cx="6729801" cy="7219447"/>
          </a:xfrm>
        </p:grpSpPr>
        <p:grpSp>
          <p:nvGrpSpPr>
            <p:cNvPr id="15637" name="Group 15636">
              <a:extLst>
                <a:ext uri="{FF2B5EF4-FFF2-40B4-BE49-F238E27FC236}">
                  <a16:creationId xmlns:a16="http://schemas.microsoft.com/office/drawing/2014/main" id="{3A2B419D-DEB8-5DE4-6994-E09E435EDE6A}"/>
                </a:ext>
              </a:extLst>
            </p:cNvPr>
            <p:cNvGrpSpPr/>
            <p:nvPr/>
          </p:nvGrpSpPr>
          <p:grpSpPr>
            <a:xfrm>
              <a:off x="23053763" y="15328939"/>
              <a:ext cx="6729801" cy="7219447"/>
              <a:chOff x="23611670" y="15386915"/>
              <a:chExt cx="5877242" cy="6288526"/>
            </a:xfrm>
          </p:grpSpPr>
          <p:grpSp>
            <p:nvGrpSpPr>
              <p:cNvPr id="15627" name="Group 15626">
                <a:extLst>
                  <a:ext uri="{FF2B5EF4-FFF2-40B4-BE49-F238E27FC236}">
                    <a16:creationId xmlns:a16="http://schemas.microsoft.com/office/drawing/2014/main" id="{06AA4FCA-34DA-E471-770A-8C935B50E788}"/>
                  </a:ext>
                </a:extLst>
              </p:cNvPr>
              <p:cNvGrpSpPr/>
              <p:nvPr/>
            </p:nvGrpSpPr>
            <p:grpSpPr>
              <a:xfrm>
                <a:off x="23684560" y="15386915"/>
                <a:ext cx="5804352" cy="6288526"/>
                <a:chOff x="23684560" y="15386915"/>
                <a:chExt cx="5804352" cy="6288526"/>
              </a:xfrm>
            </p:grpSpPr>
            <p:pic>
              <p:nvPicPr>
                <p:cNvPr id="15623" name="Graphic 15622">
                  <a:extLst>
                    <a:ext uri="{FF2B5EF4-FFF2-40B4-BE49-F238E27FC236}">
                      <a16:creationId xmlns:a16="http://schemas.microsoft.com/office/drawing/2014/main" id="{D58E3C64-D70B-D4DC-2B91-07C64E1936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9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15625" name="TextBox 15624">
                  <a:extLst>
                    <a:ext uri="{FF2B5EF4-FFF2-40B4-BE49-F238E27FC236}">
                      <a16:creationId xmlns:a16="http://schemas.microsoft.com/office/drawing/2014/main" id="{7328C975-6B3E-4A8B-7D28-2CBF3C3AA243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5626" name="TextBox 15625">
                  <a:extLst>
                    <a:ext uri="{FF2B5EF4-FFF2-40B4-BE49-F238E27FC236}">
                      <a16:creationId xmlns:a16="http://schemas.microsoft.com/office/drawing/2014/main" id="{0741CC01-E666-6FF6-4DCF-5C0AEA54A228}"/>
                    </a:ext>
                  </a:extLst>
                </p:cNvPr>
                <p:cNvSpPr txBox="1"/>
                <p:nvPr/>
              </p:nvSpPr>
              <p:spPr>
                <a:xfrm rot="16200000">
                  <a:off x="22278692" y="18345658"/>
                  <a:ext cx="3295551" cy="4838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Reciprocate &gt; Defect</a:t>
                  </a:r>
                </a:p>
              </p:txBody>
            </p:sp>
          </p:grpSp>
          <p:sp>
            <p:nvSpPr>
              <p:cNvPr id="15632" name="TextBox 15631">
                <a:extLst>
                  <a:ext uri="{FF2B5EF4-FFF2-40B4-BE49-F238E27FC236}">
                    <a16:creationId xmlns:a16="http://schemas.microsoft.com/office/drawing/2014/main" id="{DB5643A6-0963-1889-743A-BE329E7DFA26}"/>
                  </a:ext>
                </a:extLst>
              </p:cNvPr>
              <p:cNvSpPr txBox="1"/>
              <p:nvPr/>
            </p:nvSpPr>
            <p:spPr>
              <a:xfrm>
                <a:off x="23666606" y="16454726"/>
                <a:ext cx="5693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5633" name="TextBox 15632">
                <a:extLst>
                  <a:ext uri="{FF2B5EF4-FFF2-40B4-BE49-F238E27FC236}">
                    <a16:creationId xmlns:a16="http://schemas.microsoft.com/office/drawing/2014/main" id="{F005320C-94E9-2CF4-6842-98DA1FA46221}"/>
                  </a:ext>
                </a:extLst>
              </p:cNvPr>
              <p:cNvSpPr txBox="1"/>
              <p:nvPr/>
            </p:nvSpPr>
            <p:spPr>
              <a:xfrm>
                <a:off x="23611670" y="20489922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5634" name="TextBox 15633">
                <a:extLst>
                  <a:ext uri="{FF2B5EF4-FFF2-40B4-BE49-F238E27FC236}">
                    <a16:creationId xmlns:a16="http://schemas.microsoft.com/office/drawing/2014/main" id="{E721D839-B7EC-B05A-38DA-D9704D0EBA2E}"/>
                  </a:ext>
                </a:extLst>
              </p:cNvPr>
              <p:cNvSpPr txBox="1"/>
              <p:nvPr/>
            </p:nvSpPr>
            <p:spPr>
              <a:xfrm>
                <a:off x="24150950" y="21022056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5635" name="TextBox 15634">
                <a:extLst>
                  <a:ext uri="{FF2B5EF4-FFF2-40B4-BE49-F238E27FC236}">
                    <a16:creationId xmlns:a16="http://schemas.microsoft.com/office/drawing/2014/main" id="{61C5ED5A-0A65-9C1A-0AC3-7712D59B3795}"/>
                  </a:ext>
                </a:extLst>
              </p:cNvPr>
              <p:cNvSpPr txBox="1"/>
              <p:nvPr/>
            </p:nvSpPr>
            <p:spPr>
              <a:xfrm>
                <a:off x="27777018" y="21022056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5730" name="Rectangle 15729">
              <a:extLst>
                <a:ext uri="{FF2B5EF4-FFF2-40B4-BE49-F238E27FC236}">
                  <a16:creationId xmlns:a16="http://schemas.microsoft.com/office/drawing/2014/main" id="{FDF15931-1516-DE49-340B-5A133AA95A93}"/>
                </a:ext>
              </a:extLst>
            </p:cNvPr>
            <p:cNvSpPr/>
            <p:nvPr/>
          </p:nvSpPr>
          <p:spPr bwMode="auto">
            <a:xfrm>
              <a:off x="23923841" y="15957914"/>
              <a:ext cx="5627696" cy="5591284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94EC582-60D1-2B41-B3B4-7BDF0B9C3848}"/>
              </a:ext>
            </a:extLst>
          </p:cNvPr>
          <p:cNvGrpSpPr/>
          <p:nvPr/>
        </p:nvGrpSpPr>
        <p:grpSpPr>
          <a:xfrm>
            <a:off x="35263511" y="11894668"/>
            <a:ext cx="7923930" cy="8561607"/>
            <a:chOff x="37324753" y="15097157"/>
            <a:chExt cx="6030525" cy="6738219"/>
          </a:xfrm>
        </p:grpSpPr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7324753" y="15097157"/>
              <a:ext cx="5956404" cy="6738219"/>
              <a:chOff x="37462544" y="15444990"/>
              <a:chExt cx="5956404" cy="6738219"/>
            </a:xfrm>
          </p:grpSpPr>
          <p:pic>
            <p:nvPicPr>
              <p:cNvPr id="15654" name="Graphic 15653">
                <a:extLst>
                  <a:ext uri="{FF2B5EF4-FFF2-40B4-BE49-F238E27FC236}">
                    <a16:creationId xmlns:a16="http://schemas.microsoft.com/office/drawing/2014/main" id="{10803621-C472-7ABD-EBF3-5EE9AE8C4D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 l="12332" r="4359" b="8540"/>
              <a:stretch/>
            </p:blipFill>
            <p:spPr>
              <a:xfrm>
                <a:off x="38085758" y="15444990"/>
                <a:ext cx="5333190" cy="6071802"/>
              </a:xfrm>
              <a:prstGeom prst="rect">
                <a:avLst/>
              </a:prstGeom>
            </p:spPr>
          </p:pic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16370" y="16909110"/>
                <a:ext cx="5693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462544" y="20542022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109468" y="21552103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1781537" y="21614547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784621" y="21475323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sp>
          <p:nvSpPr>
            <p:cNvPr id="15736" name="Rectangle 15735">
              <a:extLst>
                <a:ext uri="{FF2B5EF4-FFF2-40B4-BE49-F238E27FC236}">
                  <a16:creationId xmlns:a16="http://schemas.microsoft.com/office/drawing/2014/main" id="{885157CA-2A93-73F2-A17C-8ACD95507E22}"/>
                </a:ext>
              </a:extLst>
            </p:cNvPr>
            <p:cNvSpPr/>
            <p:nvPr/>
          </p:nvSpPr>
          <p:spPr bwMode="auto">
            <a:xfrm>
              <a:off x="38024698" y="15618426"/>
              <a:ext cx="5330580" cy="5411310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88" y="4514399"/>
            <a:ext cx="8025077" cy="7764103"/>
            <a:chOff x="37564868" y="5920531"/>
            <a:chExt cx="6139033" cy="6306638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16989" y="6979043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1883268" y="11791390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pic>
          <p:nvPicPr>
            <p:cNvPr id="15650" name="Graphic 15649">
              <a:extLst>
                <a:ext uri="{FF2B5EF4-FFF2-40B4-BE49-F238E27FC236}">
                  <a16:creationId xmlns:a16="http://schemas.microsoft.com/office/drawing/2014/main" id="{A066B4DE-396E-E58D-5D45-BFC7D72F81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l="10653" b="8997"/>
            <a:stretch/>
          </p:blipFill>
          <p:spPr>
            <a:xfrm>
              <a:off x="38145721" y="5920531"/>
              <a:ext cx="5558180" cy="5870860"/>
            </a:xfrm>
            <a:prstGeom prst="rect">
              <a:avLst/>
            </a:prstGeom>
          </p:spPr>
        </p:pic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  <p:sp>
          <p:nvSpPr>
            <p:cNvPr id="15737" name="Rectangle 15736">
              <a:extLst>
                <a:ext uri="{FF2B5EF4-FFF2-40B4-BE49-F238E27FC236}">
                  <a16:creationId xmlns:a16="http://schemas.microsoft.com/office/drawing/2014/main" id="{EEA0696C-64C6-F5A4-E63B-F257E6A68B97}"/>
                </a:ext>
              </a:extLst>
            </p:cNvPr>
            <p:cNvSpPr/>
            <p:nvPr/>
          </p:nvSpPr>
          <p:spPr bwMode="auto">
            <a:xfrm>
              <a:off x="38192920" y="6275932"/>
              <a:ext cx="5330580" cy="5411310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813844" y="20893442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EB1F679-B03D-7ABA-4916-B7FDEEB0D1A4}"/>
              </a:ext>
            </a:extLst>
          </p:cNvPr>
          <p:cNvGrpSpPr/>
          <p:nvPr/>
        </p:nvGrpSpPr>
        <p:grpSpPr>
          <a:xfrm>
            <a:off x="23148115" y="5384800"/>
            <a:ext cx="6758936" cy="6609771"/>
            <a:chOff x="23148115" y="5384800"/>
            <a:chExt cx="6758936" cy="6609771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B46F0626-1999-AF24-21F0-FAE5DF9DEC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rcRect l="8522" t="6842" r="2180" b="9488"/>
            <a:stretch/>
          </p:blipFill>
          <p:spPr>
            <a:xfrm>
              <a:off x="23745788" y="5384800"/>
              <a:ext cx="6161263" cy="598687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5E4488D-320E-3C93-EC8D-7C3BAA78FA30}"/>
                </a:ext>
              </a:extLst>
            </p:cNvPr>
            <p:cNvSpPr txBox="1"/>
            <p:nvPr/>
          </p:nvSpPr>
          <p:spPr>
            <a:xfrm rot="16200000">
              <a:off x="21388338" y="7970314"/>
              <a:ext cx="4073551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IOS Friend - Computer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8B9CE20-98EC-DB3B-E27B-D3E16039CA7B}"/>
                </a:ext>
              </a:extLst>
            </p:cNvPr>
            <p:cNvSpPr txBox="1"/>
            <p:nvPr/>
          </p:nvSpPr>
          <p:spPr>
            <a:xfrm>
              <a:off x="26458500" y="11440573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2F055F7-F4AD-16D6-0DC4-090889B5AC94}"/>
                </a:ext>
              </a:extLst>
            </p:cNvPr>
            <p:cNvSpPr txBox="1"/>
            <p:nvPr/>
          </p:nvSpPr>
          <p:spPr>
            <a:xfrm>
              <a:off x="23201591" y="10960780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9F335FD-74A6-0034-2C62-5E101F9EF9FA}"/>
                </a:ext>
              </a:extLst>
            </p:cNvPr>
            <p:cNvSpPr txBox="1"/>
            <p:nvPr/>
          </p:nvSpPr>
          <p:spPr>
            <a:xfrm>
              <a:off x="23315993" y="5536168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2A872D9-BAA2-926E-8BF6-557B36359A89}"/>
                </a:ext>
              </a:extLst>
            </p:cNvPr>
            <p:cNvSpPr txBox="1"/>
            <p:nvPr/>
          </p:nvSpPr>
          <p:spPr>
            <a:xfrm>
              <a:off x="23772582" y="1148047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B7890C1-56FC-BC07-26D2-E3906F91A2E1}"/>
                </a:ext>
              </a:extLst>
            </p:cNvPr>
            <p:cNvSpPr txBox="1"/>
            <p:nvPr/>
          </p:nvSpPr>
          <p:spPr>
            <a:xfrm>
              <a:off x="29136171" y="1148047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70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F1414F7-3E57-76CD-1C5A-70BE29BA366D}"/>
              </a:ext>
            </a:extLst>
          </p:cNvPr>
          <p:cNvGrpSpPr/>
          <p:nvPr/>
        </p:nvGrpSpPr>
        <p:grpSpPr>
          <a:xfrm>
            <a:off x="15661774" y="13131455"/>
            <a:ext cx="6737168" cy="6699112"/>
            <a:chOff x="15911046" y="13078023"/>
            <a:chExt cx="6737168" cy="6699112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282843A3-A752-B35C-D565-E19252213AC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rcRect l="9868" t="6783" r="2069" b="8627"/>
            <a:stretch/>
          </p:blipFill>
          <p:spPr>
            <a:xfrm>
              <a:off x="16500268" y="13078023"/>
              <a:ext cx="6147946" cy="6124247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9D692A7-4FAE-7F86-3669-63E5EB7B73B4}"/>
                </a:ext>
              </a:extLst>
            </p:cNvPr>
            <p:cNvSpPr txBox="1"/>
            <p:nvPr/>
          </p:nvSpPr>
          <p:spPr>
            <a:xfrm>
              <a:off x="16059122" y="1329722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35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C6D13B2-263D-82AD-D27A-9146F541402C}"/>
                </a:ext>
              </a:extLst>
            </p:cNvPr>
            <p:cNvSpPr txBox="1"/>
            <p:nvPr/>
          </p:nvSpPr>
          <p:spPr>
            <a:xfrm>
              <a:off x="16147265" y="1871255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B573673-D070-01BC-38C0-015CC202624E}"/>
                </a:ext>
              </a:extLst>
            </p:cNvPr>
            <p:cNvSpPr txBox="1"/>
            <p:nvPr/>
          </p:nvSpPr>
          <p:spPr>
            <a:xfrm rot="16200000">
              <a:off x="15411230" y="15931050"/>
              <a:ext cx="1553630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OAFEM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BA56891-1EA7-63D6-781A-F4B314CA5404}"/>
                </a:ext>
              </a:extLst>
            </p:cNvPr>
            <p:cNvSpPr txBox="1"/>
            <p:nvPr/>
          </p:nvSpPr>
          <p:spPr>
            <a:xfrm>
              <a:off x="19201039" y="19223137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1D0DA85-42B5-2604-1257-444398E49E78}"/>
                </a:ext>
              </a:extLst>
            </p:cNvPr>
            <p:cNvSpPr txBox="1"/>
            <p:nvPr/>
          </p:nvSpPr>
          <p:spPr>
            <a:xfrm>
              <a:off x="16515121" y="19263038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809160B-2F6C-BA84-02F1-D80F287E78AE}"/>
                </a:ext>
              </a:extLst>
            </p:cNvPr>
            <p:cNvSpPr txBox="1"/>
            <p:nvPr/>
          </p:nvSpPr>
          <p:spPr>
            <a:xfrm>
              <a:off x="21878710" y="19263038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70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BDD7E15-33CB-E293-2CA9-95B8CCDF48ED}"/>
              </a:ext>
            </a:extLst>
          </p:cNvPr>
          <p:cNvGrpSpPr/>
          <p:nvPr/>
        </p:nvGrpSpPr>
        <p:grpSpPr>
          <a:xfrm>
            <a:off x="23056612" y="13074616"/>
            <a:ext cx="6850435" cy="6849449"/>
            <a:chOff x="23056612" y="13074616"/>
            <a:chExt cx="6850435" cy="6849449"/>
          </a:xfrm>
        </p:grpSpPr>
        <p:grpSp>
          <p:nvGrpSpPr>
            <p:cNvPr id="15583" name="Group 15582">
              <a:extLst>
                <a:ext uri="{FF2B5EF4-FFF2-40B4-BE49-F238E27FC236}">
                  <a16:creationId xmlns:a16="http://schemas.microsoft.com/office/drawing/2014/main" id="{81424957-973F-2BA6-23A6-71C1377BD2AF}"/>
                </a:ext>
              </a:extLst>
            </p:cNvPr>
            <p:cNvGrpSpPr/>
            <p:nvPr/>
          </p:nvGrpSpPr>
          <p:grpSpPr>
            <a:xfrm>
              <a:off x="23056612" y="13074616"/>
              <a:ext cx="6850435" cy="6786447"/>
              <a:chOff x="23252603" y="4927197"/>
              <a:chExt cx="5353289" cy="5834166"/>
            </a:xfrm>
          </p:grpSpPr>
          <p:pic>
            <p:nvPicPr>
              <p:cNvPr id="15574" name="Picture 15573" descr="A graph of a line&#10;&#10;Description automatically generated with medium confidence">
                <a:extLst>
                  <a:ext uri="{FF2B5EF4-FFF2-40B4-BE49-F238E27FC236}">
                    <a16:creationId xmlns:a16="http://schemas.microsoft.com/office/drawing/2014/main" id="{C54D0E15-DCC7-A19B-7997-13F421CEA2F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3644" b="9068"/>
              <a:stretch/>
            </p:blipFill>
            <p:spPr>
              <a:xfrm>
                <a:off x="24004670" y="4927197"/>
                <a:ext cx="4601222" cy="5427765"/>
              </a:xfrm>
              <a:prstGeom prst="rect">
                <a:avLst/>
              </a:prstGeom>
            </p:spPr>
          </p:pic>
          <p:sp>
            <p:nvSpPr>
              <p:cNvPr id="15575" name="TextBox 15574">
                <a:extLst>
                  <a:ext uri="{FF2B5EF4-FFF2-40B4-BE49-F238E27FC236}">
                    <a16:creationId xmlns:a16="http://schemas.microsoft.com/office/drawing/2014/main" id="{136D78E5-71EA-17ED-91C9-F9CCADA262FF}"/>
                  </a:ext>
                </a:extLst>
              </p:cNvPr>
              <p:cNvSpPr txBox="1"/>
              <p:nvPr/>
            </p:nvSpPr>
            <p:spPr>
              <a:xfrm rot="16200000">
                <a:off x="20819591" y="7575196"/>
                <a:ext cx="5298947" cy="4329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/>
                  <a:t>Sharing with Friend –With Stranger</a:t>
                </a:r>
              </a:p>
            </p:txBody>
          </p:sp>
          <p:sp>
            <p:nvSpPr>
              <p:cNvPr id="15576" name="TextBox 15575">
                <a:extLst>
                  <a:ext uri="{FF2B5EF4-FFF2-40B4-BE49-F238E27FC236}">
                    <a16:creationId xmlns:a16="http://schemas.microsoft.com/office/drawing/2014/main" id="{7E602785-88A0-0942-659B-9A750B46996F}"/>
                  </a:ext>
                </a:extLst>
              </p:cNvPr>
              <p:cNvSpPr txBox="1"/>
              <p:nvPr/>
            </p:nvSpPr>
            <p:spPr>
              <a:xfrm>
                <a:off x="23603500" y="9333929"/>
                <a:ext cx="3898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</a:t>
                </a:r>
              </a:p>
            </p:txBody>
          </p:sp>
          <p:sp>
            <p:nvSpPr>
              <p:cNvPr id="15577" name="TextBox 15576">
                <a:extLst>
                  <a:ext uri="{FF2B5EF4-FFF2-40B4-BE49-F238E27FC236}">
                    <a16:creationId xmlns:a16="http://schemas.microsoft.com/office/drawing/2014/main" id="{44C014BB-4057-CE6F-8488-5075607DFC5B}"/>
                  </a:ext>
                </a:extLst>
              </p:cNvPr>
              <p:cNvSpPr txBox="1"/>
              <p:nvPr/>
            </p:nvSpPr>
            <p:spPr>
              <a:xfrm>
                <a:off x="23684874" y="6124920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</a:t>
                </a:r>
              </a:p>
            </p:txBody>
          </p:sp>
          <p:sp>
            <p:nvSpPr>
              <p:cNvPr id="15578" name="TextBox 15577">
                <a:extLst>
                  <a:ext uri="{FF2B5EF4-FFF2-40B4-BE49-F238E27FC236}">
                    <a16:creationId xmlns:a16="http://schemas.microsoft.com/office/drawing/2014/main" id="{7FC9F9D2-B5EE-482C-7F35-E7345B0CA197}"/>
                  </a:ext>
                </a:extLst>
              </p:cNvPr>
              <p:cNvSpPr txBox="1"/>
              <p:nvPr/>
            </p:nvSpPr>
            <p:spPr>
              <a:xfrm>
                <a:off x="23666269" y="7699893"/>
                <a:ext cx="3129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</a:t>
                </a:r>
              </a:p>
            </p:txBody>
          </p:sp>
          <p:sp>
            <p:nvSpPr>
              <p:cNvPr id="15579" name="TextBox 15578">
                <a:extLst>
                  <a:ext uri="{FF2B5EF4-FFF2-40B4-BE49-F238E27FC236}">
                    <a16:creationId xmlns:a16="http://schemas.microsoft.com/office/drawing/2014/main" id="{115532EB-4683-39F0-80DC-27E22F24AA20}"/>
                  </a:ext>
                </a:extLst>
              </p:cNvPr>
              <p:cNvSpPr txBox="1"/>
              <p:nvPr/>
            </p:nvSpPr>
            <p:spPr>
              <a:xfrm>
                <a:off x="23984464" y="10392031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971FA06-90F6-38D8-E376-EAC7F8F86D37}"/>
                </a:ext>
              </a:extLst>
            </p:cNvPr>
            <p:cNvSpPr txBox="1"/>
            <p:nvPr/>
          </p:nvSpPr>
          <p:spPr>
            <a:xfrm>
              <a:off x="26534606" y="19370067"/>
              <a:ext cx="867545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/>
                <a:t>Age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A8551F-72DA-08BF-83FF-D876E48BD6C0}"/>
                </a:ext>
              </a:extLst>
            </p:cNvPr>
            <p:cNvSpPr txBox="1"/>
            <p:nvPr/>
          </p:nvSpPr>
          <p:spPr>
            <a:xfrm>
              <a:off x="29379086" y="19390085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70</a:t>
              </a:r>
            </a:p>
          </p:txBody>
        </p:sp>
      </p:grp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15919</TotalTime>
  <Words>740</Words>
  <Application>Microsoft Macintosh PowerPoint</Application>
  <PresentationFormat>Custom</PresentationFormat>
  <Paragraphs>135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Cooper Joseph Sharp</cp:lastModifiedBy>
  <cp:revision>31</cp:revision>
  <cp:lastPrinted>2018-05-07T13:24:31Z</cp:lastPrinted>
  <dcterms:created xsi:type="dcterms:W3CDTF">2007-10-30T17:33:32Z</dcterms:created>
  <dcterms:modified xsi:type="dcterms:W3CDTF">2023-11-10T00:00:56Z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